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1" r:id="rId1"/>
  </p:sldMasterIdLst>
  <p:notesMasterIdLst>
    <p:notesMasterId r:id="rId26"/>
  </p:notesMasterIdLst>
  <p:handoutMasterIdLst>
    <p:handoutMasterId r:id="rId27"/>
  </p:handoutMasterIdLst>
  <p:sldIdLst>
    <p:sldId id="256" r:id="rId2"/>
    <p:sldId id="259" r:id="rId3"/>
    <p:sldId id="260" r:id="rId4"/>
    <p:sldId id="261" r:id="rId5"/>
    <p:sldId id="262" r:id="rId6"/>
    <p:sldId id="263" r:id="rId7"/>
    <p:sldId id="264" r:id="rId8"/>
    <p:sldId id="266" r:id="rId9"/>
    <p:sldId id="267" r:id="rId10"/>
    <p:sldId id="268" r:id="rId11"/>
    <p:sldId id="269" r:id="rId12"/>
    <p:sldId id="271" r:id="rId13"/>
    <p:sldId id="272" r:id="rId14"/>
    <p:sldId id="273" r:id="rId15"/>
    <p:sldId id="274" r:id="rId16"/>
    <p:sldId id="276" r:id="rId17"/>
    <p:sldId id="277" r:id="rId18"/>
    <p:sldId id="278" r:id="rId19"/>
    <p:sldId id="279" r:id="rId20"/>
    <p:sldId id="280" r:id="rId21"/>
    <p:sldId id="281" r:id="rId22"/>
    <p:sldId id="284" r:id="rId23"/>
    <p:sldId id="285" r:id="rId24"/>
    <p:sldId id="289"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000"/>
    <a:srgbClr val="000000"/>
    <a:srgbClr val="E8DEDE"/>
    <a:srgbClr val="9E3611"/>
    <a:srgbClr val="D34817"/>
    <a:srgbClr val="A28448"/>
    <a:srgbClr val="ECE8E1"/>
    <a:srgbClr val="353232"/>
    <a:srgbClr val="7D786B"/>
    <a:srgbClr val="AC1A2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414" autoAdjust="0"/>
    <p:restoredTop sz="89932" autoAdjust="0"/>
  </p:normalViewPr>
  <p:slideViewPr>
    <p:cSldViewPr snapToGrid="0">
      <p:cViewPr varScale="1">
        <p:scale>
          <a:sx n="115" d="100"/>
          <a:sy n="115" d="100"/>
        </p:scale>
        <p:origin x="1216" y="184"/>
      </p:cViewPr>
      <p:guideLst/>
    </p:cSldViewPr>
  </p:slideViewPr>
  <p:notesTextViewPr>
    <p:cViewPr>
      <p:scale>
        <a:sx n="3" d="2"/>
        <a:sy n="3" d="2"/>
      </p:scale>
      <p:origin x="0" y="0"/>
    </p:cViewPr>
  </p:notesTextViewPr>
  <p:notesViewPr>
    <p:cSldViewPr snapToGrid="0">
      <p:cViewPr varScale="1">
        <p:scale>
          <a:sx n="65" d="100"/>
          <a:sy n="65" d="100"/>
        </p:scale>
        <p:origin x="3154" y="53"/>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D68FD4D-40C0-4F62-A5E2-21965D1842F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2289F3B-B524-42C6-BCF5-F100849A58E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2F8E467-19B5-46AF-90B6-813870024E7C}" type="datetimeFigureOut">
              <a:rPr lang="en-US" smtClean="0"/>
              <a:t>2/16/26</a:t>
            </a:fld>
            <a:endParaRPr lang="en-US"/>
          </a:p>
        </p:txBody>
      </p:sp>
      <p:sp>
        <p:nvSpPr>
          <p:cNvPr id="4" name="Footer Placeholder 3">
            <a:extLst>
              <a:ext uri="{FF2B5EF4-FFF2-40B4-BE49-F238E27FC236}">
                <a16:creationId xmlns:a16="http://schemas.microsoft.com/office/drawing/2014/main" id="{71A51003-348D-4FC9-B4AB-1221F238031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3A6F952-6C53-491B-AED1-68E9E3206B0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74D4D8D-7686-4B4D-85B3-DED9A45A4360}" type="slidenum">
              <a:rPr lang="en-US" smtClean="0"/>
              <a:t>‹#›</a:t>
            </a:fld>
            <a:endParaRPr lang="en-US"/>
          </a:p>
        </p:txBody>
      </p:sp>
    </p:spTree>
    <p:extLst>
      <p:ext uri="{BB962C8B-B14F-4D97-AF65-F5344CB8AC3E}">
        <p14:creationId xmlns:p14="http://schemas.microsoft.com/office/powerpoint/2010/main" val="38100400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B1B394-12A3-4DC9-80FB-811A47EB22FC}" type="datetimeFigureOut">
              <a:rPr lang="en-US" smtClean="0"/>
              <a:t>2/16/26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9A2D32-6F87-4CE7-81EA-FAC54A396ABA}" type="slidenum">
              <a:rPr lang="en-US" smtClean="0"/>
              <a:t>‹#›</a:t>
            </a:fld>
            <a:endParaRPr lang="en-US"/>
          </a:p>
        </p:txBody>
      </p:sp>
    </p:spTree>
    <p:extLst>
      <p:ext uri="{BB962C8B-B14F-4D97-AF65-F5344CB8AC3E}">
        <p14:creationId xmlns:p14="http://schemas.microsoft.com/office/powerpoint/2010/main" val="9988543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C639D-AF1B-40AA-8E1C-C9A678662919}"/>
              </a:ext>
            </a:extLst>
          </p:cNvPr>
          <p:cNvSpPr>
            <a:spLocks noGrp="1"/>
          </p:cNvSpPr>
          <p:nvPr>
            <p:ph type="ctrTitle"/>
          </p:nvPr>
        </p:nvSpPr>
        <p:spPr>
          <a:xfrm>
            <a:off x="1524000" y="1122363"/>
            <a:ext cx="9144000" cy="2387600"/>
          </a:xfrm>
        </p:spPr>
        <p:txBody>
          <a:bodyPr anchor="b"/>
          <a:lstStyle>
            <a:lvl1pPr algn="ctr">
              <a:defRPr sz="6000">
                <a:latin typeface="Arial" panose="020B0604020202020204" pitchFamily="34" charset="0"/>
                <a:cs typeface="Arial" panose="020B0604020202020204" pitchFamily="34" charset="0"/>
              </a:defRPr>
            </a:lvl1pPr>
          </a:lstStyle>
          <a:p>
            <a:r>
              <a:rPr lang="en-US"/>
              <a:t>Click to edit Master title style</a:t>
            </a:r>
          </a:p>
        </p:txBody>
      </p:sp>
      <p:sp>
        <p:nvSpPr>
          <p:cNvPr id="3" name="Subtitle 2">
            <a:extLst>
              <a:ext uri="{FF2B5EF4-FFF2-40B4-BE49-F238E27FC236}">
                <a16:creationId xmlns:a16="http://schemas.microsoft.com/office/drawing/2014/main" id="{3AF16DA6-EBEA-4DFF-9177-EEDB709AE880}"/>
              </a:ext>
            </a:extLst>
          </p:cNvPr>
          <p:cNvSpPr>
            <a:spLocks noGrp="1"/>
          </p:cNvSpPr>
          <p:nvPr>
            <p:ph type="subTitle" idx="1"/>
          </p:nvPr>
        </p:nvSpPr>
        <p:spPr>
          <a:xfrm>
            <a:off x="1524000" y="3602038"/>
            <a:ext cx="9144000" cy="1655762"/>
          </a:xfrm>
        </p:spPr>
        <p:txBody>
          <a:bodyPr/>
          <a:lstStyle>
            <a:lvl1pPr marL="0" indent="0" algn="ctr">
              <a:buNone/>
              <a:defRPr sz="2400">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4BB1429-07EB-4668-9B3C-1EBC8B210EBE}"/>
              </a:ext>
            </a:extLst>
          </p:cNvPr>
          <p:cNvSpPr>
            <a:spLocks noGrp="1"/>
          </p:cNvSpPr>
          <p:nvPr>
            <p:ph type="dt" sz="half" idx="10"/>
          </p:nvPr>
        </p:nvSpPr>
        <p:spPr/>
        <p:txBody>
          <a:bodyPr/>
          <a:lstStyle/>
          <a:p>
            <a:fld id="{FFE3D5AF-4248-4C92-ADB4-22225EECC4D1}" type="datetime1">
              <a:rPr lang="en-US" smtClean="0"/>
              <a:t>2/16/26</a:t>
            </a:fld>
            <a:endParaRPr lang="en-US"/>
          </a:p>
        </p:txBody>
      </p:sp>
      <p:sp>
        <p:nvSpPr>
          <p:cNvPr id="5" name="Footer Placeholder 4">
            <a:extLst>
              <a:ext uri="{FF2B5EF4-FFF2-40B4-BE49-F238E27FC236}">
                <a16:creationId xmlns:a16="http://schemas.microsoft.com/office/drawing/2014/main" id="{932C8572-EDC6-485A-9BBE-6730F7F041E3}"/>
              </a:ext>
            </a:extLst>
          </p:cNvPr>
          <p:cNvSpPr>
            <a:spLocks noGrp="1"/>
          </p:cNvSpPr>
          <p:nvPr>
            <p:ph type="ftr" sz="quarter" idx="11"/>
          </p:nvPr>
        </p:nvSpPr>
        <p:spPr/>
        <p:txBody>
          <a:bodyPr/>
          <a:lstStyle/>
          <a:p>
            <a:endParaRPr lang="en-US"/>
          </a:p>
        </p:txBody>
      </p:sp>
      <p:sp>
        <p:nvSpPr>
          <p:cNvPr id="12" name="Slide Number Placeholder 3">
            <a:extLst>
              <a:ext uri="{FF2B5EF4-FFF2-40B4-BE49-F238E27FC236}">
                <a16:creationId xmlns:a16="http://schemas.microsoft.com/office/drawing/2014/main" id="{66785AF3-019E-4C0C-B8A0-C9D3D7E7CA93}"/>
              </a:ext>
            </a:extLst>
          </p:cNvPr>
          <p:cNvSpPr>
            <a:spLocks noGrp="1"/>
          </p:cNvSpPr>
          <p:nvPr>
            <p:ph type="sldNum" sz="quarter" idx="4"/>
          </p:nvPr>
        </p:nvSpPr>
        <p:spPr>
          <a:xfrm>
            <a:off x="11431904" y="80010"/>
            <a:ext cx="722433" cy="548640"/>
          </a:xfrm>
          <a:prstGeom prst="ellipse">
            <a:avLst/>
          </a:prstGeom>
          <a:solidFill>
            <a:srgbClr val="7F7F7F"/>
          </a:solidFill>
        </p:spPr>
        <p:txBody>
          <a:bodyPr vert="horz" lIns="91440" tIns="45720" rIns="91440" bIns="45720" rtlCol="0" anchor="ctr">
            <a:normAutofit/>
          </a:bodyPr>
          <a:lstStyle/>
          <a:p>
            <a:pPr algn="ctr" defTabSz="457200">
              <a:spcAft>
                <a:spcPts val="600"/>
              </a:spcAft>
            </a:pPr>
            <a:fld id="{D1417333-00BA-4379-A4C8-F7A4E25774AB}" type="slidenum">
              <a:rPr lang="en-US" sz="1500">
                <a:solidFill>
                  <a:srgbClr val="FFFFFF"/>
                </a:solidFill>
              </a:rPr>
              <a:pPr algn="ctr" defTabSz="457200">
                <a:spcAft>
                  <a:spcPts val="600"/>
                </a:spcAft>
              </a:pPr>
              <a:t>‹#›</a:t>
            </a:fld>
            <a:endParaRPr lang="en-US" sz="1500">
              <a:solidFill>
                <a:srgbClr val="FFFFFF"/>
              </a:solidFill>
            </a:endParaRPr>
          </a:p>
        </p:txBody>
      </p:sp>
    </p:spTree>
    <p:extLst>
      <p:ext uri="{BB962C8B-B14F-4D97-AF65-F5344CB8AC3E}">
        <p14:creationId xmlns:p14="http://schemas.microsoft.com/office/powerpoint/2010/main" val="22745054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83B78-A811-4111-9FF9-41719B44AEB4}"/>
              </a:ext>
            </a:extLst>
          </p:cNvPr>
          <p:cNvSpPr>
            <a:spLocks noGrp="1"/>
          </p:cNvSpPr>
          <p:nvPr>
            <p:ph type="title"/>
          </p:nvPr>
        </p:nvSpPr>
        <p:spPr/>
        <p:txBody>
          <a:bodyPr/>
          <a:lstStyle>
            <a:lvl1pPr>
              <a:defRPr>
                <a:latin typeface="Arial" panose="020B0604020202020204" pitchFamily="34" charset="0"/>
                <a:cs typeface="Arial" panose="020B0604020202020204"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EB9A23DC-9917-4F4C-B2CE-8381986E96AB}"/>
              </a:ext>
            </a:extLst>
          </p:cNvPr>
          <p:cNvSpPr>
            <a:spLocks noGrp="1"/>
          </p:cNvSpPr>
          <p:nvPr>
            <p:ph idx="1"/>
          </p:nvPr>
        </p:nvSpPr>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70EA96-0599-45CD-B9AE-E918E6FB7E00}"/>
              </a:ext>
            </a:extLst>
          </p:cNvPr>
          <p:cNvSpPr>
            <a:spLocks noGrp="1"/>
          </p:cNvSpPr>
          <p:nvPr>
            <p:ph type="dt" sz="half" idx="10"/>
          </p:nvPr>
        </p:nvSpPr>
        <p:spPr/>
        <p:txBody>
          <a:bodyPr/>
          <a:lstStyle/>
          <a:p>
            <a:fld id="{FB6ACBFF-EEA5-46E7-ADB1-366EDEE66780}" type="datetime1">
              <a:rPr lang="en-US" smtClean="0"/>
              <a:t>2/16/26</a:t>
            </a:fld>
            <a:endParaRPr lang="en-US"/>
          </a:p>
        </p:txBody>
      </p:sp>
      <p:sp>
        <p:nvSpPr>
          <p:cNvPr id="5" name="Footer Placeholder 4">
            <a:extLst>
              <a:ext uri="{FF2B5EF4-FFF2-40B4-BE49-F238E27FC236}">
                <a16:creationId xmlns:a16="http://schemas.microsoft.com/office/drawing/2014/main" id="{7BD99ACE-55E1-449B-A563-AD0146198B67}"/>
              </a:ext>
            </a:extLst>
          </p:cNvPr>
          <p:cNvSpPr>
            <a:spLocks noGrp="1"/>
          </p:cNvSpPr>
          <p:nvPr>
            <p:ph type="ftr" sz="quarter" idx="11"/>
          </p:nvPr>
        </p:nvSpPr>
        <p:spPr/>
        <p:txBody>
          <a:bodyPr/>
          <a:lstStyle/>
          <a:p>
            <a:endParaRPr lang="en-US"/>
          </a:p>
        </p:txBody>
      </p:sp>
      <p:sp>
        <p:nvSpPr>
          <p:cNvPr id="8" name="Slide Number Placeholder 3">
            <a:extLst>
              <a:ext uri="{FF2B5EF4-FFF2-40B4-BE49-F238E27FC236}">
                <a16:creationId xmlns:a16="http://schemas.microsoft.com/office/drawing/2014/main" id="{7E697F6E-BE24-434E-A2E9-7896FEF5EC08}"/>
              </a:ext>
            </a:extLst>
          </p:cNvPr>
          <p:cNvSpPr>
            <a:spLocks noGrp="1"/>
          </p:cNvSpPr>
          <p:nvPr>
            <p:ph type="sldNum" sz="quarter" idx="4"/>
          </p:nvPr>
        </p:nvSpPr>
        <p:spPr>
          <a:xfrm>
            <a:off x="11431904" y="80010"/>
            <a:ext cx="722433" cy="548640"/>
          </a:xfrm>
          <a:prstGeom prst="ellipse">
            <a:avLst/>
          </a:prstGeom>
          <a:solidFill>
            <a:srgbClr val="7F7F7F"/>
          </a:solidFill>
        </p:spPr>
        <p:txBody>
          <a:bodyPr vert="horz" lIns="91440" tIns="45720" rIns="91440" bIns="45720" rtlCol="0" anchor="ctr">
            <a:normAutofit/>
          </a:bodyPr>
          <a:lstStyle/>
          <a:p>
            <a:pPr algn="ctr" defTabSz="457200">
              <a:spcAft>
                <a:spcPts val="600"/>
              </a:spcAft>
            </a:pPr>
            <a:fld id="{D1417333-00BA-4379-A4C8-F7A4E25774AB}" type="slidenum">
              <a:rPr lang="en-US" sz="1500">
                <a:solidFill>
                  <a:srgbClr val="FFFFFF"/>
                </a:solidFill>
              </a:rPr>
              <a:pPr algn="ctr" defTabSz="457200">
                <a:spcAft>
                  <a:spcPts val="600"/>
                </a:spcAft>
              </a:pPr>
              <a:t>‹#›</a:t>
            </a:fld>
            <a:endParaRPr lang="en-US" sz="1500">
              <a:solidFill>
                <a:srgbClr val="FFFFFF"/>
              </a:solidFill>
            </a:endParaRPr>
          </a:p>
        </p:txBody>
      </p:sp>
    </p:spTree>
    <p:extLst>
      <p:ext uri="{BB962C8B-B14F-4D97-AF65-F5344CB8AC3E}">
        <p14:creationId xmlns:p14="http://schemas.microsoft.com/office/powerpoint/2010/main" val="31508487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E41B9-F1D2-4F5B-9A80-103E3B98BE8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AC823D5-E53B-4B27-9937-3E96A87E1AE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08424B2D-8EB9-42DE-851A-502F1685C55E}"/>
              </a:ext>
            </a:extLst>
          </p:cNvPr>
          <p:cNvSpPr>
            <a:spLocks noGrp="1"/>
          </p:cNvSpPr>
          <p:nvPr>
            <p:ph type="dt" sz="half" idx="10"/>
          </p:nvPr>
        </p:nvSpPr>
        <p:spPr/>
        <p:txBody>
          <a:bodyPr/>
          <a:lstStyle/>
          <a:p>
            <a:fld id="{3C4CE0D5-8BF9-4B0B-9E9B-74D15229671F}" type="datetime1">
              <a:rPr lang="en-US" smtClean="0"/>
              <a:t>2/16/26</a:t>
            </a:fld>
            <a:endParaRPr lang="en-US"/>
          </a:p>
        </p:txBody>
      </p:sp>
      <p:sp>
        <p:nvSpPr>
          <p:cNvPr id="5" name="Footer Placeholder 4">
            <a:extLst>
              <a:ext uri="{FF2B5EF4-FFF2-40B4-BE49-F238E27FC236}">
                <a16:creationId xmlns:a16="http://schemas.microsoft.com/office/drawing/2014/main" id="{2E051122-3C65-4C0F-9955-E6D8F46B477C}"/>
              </a:ext>
            </a:extLst>
          </p:cNvPr>
          <p:cNvSpPr>
            <a:spLocks noGrp="1"/>
          </p:cNvSpPr>
          <p:nvPr>
            <p:ph type="ftr" sz="quarter" idx="11"/>
          </p:nvPr>
        </p:nvSpPr>
        <p:spPr/>
        <p:txBody>
          <a:bodyPr/>
          <a:lstStyle/>
          <a:p>
            <a:endParaRPr lang="en-US"/>
          </a:p>
        </p:txBody>
      </p:sp>
      <p:sp>
        <p:nvSpPr>
          <p:cNvPr id="7" name="Slide Number Placeholder 3">
            <a:extLst>
              <a:ext uri="{FF2B5EF4-FFF2-40B4-BE49-F238E27FC236}">
                <a16:creationId xmlns:a16="http://schemas.microsoft.com/office/drawing/2014/main" id="{CE54E537-CF84-46DD-9585-8C55878C602B}"/>
              </a:ext>
            </a:extLst>
          </p:cNvPr>
          <p:cNvSpPr>
            <a:spLocks noGrp="1"/>
          </p:cNvSpPr>
          <p:nvPr>
            <p:ph type="sldNum" sz="quarter" idx="4"/>
          </p:nvPr>
        </p:nvSpPr>
        <p:spPr>
          <a:xfrm>
            <a:off x="11431904" y="80010"/>
            <a:ext cx="722433" cy="548640"/>
          </a:xfrm>
          <a:prstGeom prst="ellipse">
            <a:avLst/>
          </a:prstGeom>
          <a:solidFill>
            <a:srgbClr val="7F7F7F"/>
          </a:solidFill>
        </p:spPr>
        <p:txBody>
          <a:bodyPr vert="horz" lIns="91440" tIns="45720" rIns="91440" bIns="45720" rtlCol="0" anchor="ctr">
            <a:normAutofit/>
          </a:bodyPr>
          <a:lstStyle/>
          <a:p>
            <a:pPr algn="ctr" defTabSz="457200">
              <a:spcAft>
                <a:spcPts val="600"/>
              </a:spcAft>
            </a:pPr>
            <a:fld id="{D1417333-00BA-4379-A4C8-F7A4E25774AB}" type="slidenum">
              <a:rPr lang="en-US" sz="1500">
                <a:solidFill>
                  <a:srgbClr val="FFFFFF"/>
                </a:solidFill>
              </a:rPr>
              <a:pPr algn="ctr" defTabSz="457200">
                <a:spcAft>
                  <a:spcPts val="600"/>
                </a:spcAft>
              </a:pPr>
              <a:t>‹#›</a:t>
            </a:fld>
            <a:endParaRPr lang="en-US" sz="1500">
              <a:solidFill>
                <a:srgbClr val="FFFFFF"/>
              </a:solidFill>
            </a:endParaRPr>
          </a:p>
        </p:txBody>
      </p:sp>
    </p:spTree>
    <p:extLst>
      <p:ext uri="{BB962C8B-B14F-4D97-AF65-F5344CB8AC3E}">
        <p14:creationId xmlns:p14="http://schemas.microsoft.com/office/powerpoint/2010/main" val="1590258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4654F-85C0-455B-8103-C4A3133922E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D631336-D2B8-48FC-A9B0-B77E7EBD52DF}"/>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7454D0-F7EC-40EA-8AEC-0DC9EC2D5391}"/>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AFCB7CF-2E24-44E8-A117-020E3E25C2FF}"/>
              </a:ext>
            </a:extLst>
          </p:cNvPr>
          <p:cNvSpPr>
            <a:spLocks noGrp="1"/>
          </p:cNvSpPr>
          <p:nvPr>
            <p:ph type="dt" sz="half" idx="10"/>
          </p:nvPr>
        </p:nvSpPr>
        <p:spPr/>
        <p:txBody>
          <a:bodyPr/>
          <a:lstStyle/>
          <a:p>
            <a:fld id="{DB4BB9B5-C822-40A7-A50F-174220BEE249}" type="datetime1">
              <a:rPr lang="en-US" smtClean="0"/>
              <a:t>2/16/26</a:t>
            </a:fld>
            <a:endParaRPr lang="en-US"/>
          </a:p>
        </p:txBody>
      </p:sp>
      <p:sp>
        <p:nvSpPr>
          <p:cNvPr id="6" name="Footer Placeholder 5">
            <a:extLst>
              <a:ext uri="{FF2B5EF4-FFF2-40B4-BE49-F238E27FC236}">
                <a16:creationId xmlns:a16="http://schemas.microsoft.com/office/drawing/2014/main" id="{A30705E5-9805-47C4-A7B0-4A9B75243FE7}"/>
              </a:ext>
            </a:extLst>
          </p:cNvPr>
          <p:cNvSpPr>
            <a:spLocks noGrp="1"/>
          </p:cNvSpPr>
          <p:nvPr>
            <p:ph type="ftr" sz="quarter" idx="11"/>
          </p:nvPr>
        </p:nvSpPr>
        <p:spPr/>
        <p:txBody>
          <a:bodyPr/>
          <a:lstStyle/>
          <a:p>
            <a:endParaRPr lang="en-US"/>
          </a:p>
        </p:txBody>
      </p:sp>
      <p:sp>
        <p:nvSpPr>
          <p:cNvPr id="8" name="Slide Number Placeholder 3">
            <a:extLst>
              <a:ext uri="{FF2B5EF4-FFF2-40B4-BE49-F238E27FC236}">
                <a16:creationId xmlns:a16="http://schemas.microsoft.com/office/drawing/2014/main" id="{57EDF35D-9169-4168-AEE4-E48DB43E1209}"/>
              </a:ext>
            </a:extLst>
          </p:cNvPr>
          <p:cNvSpPr>
            <a:spLocks noGrp="1"/>
          </p:cNvSpPr>
          <p:nvPr>
            <p:ph type="sldNum" sz="quarter" idx="4"/>
          </p:nvPr>
        </p:nvSpPr>
        <p:spPr>
          <a:xfrm>
            <a:off x="11431904" y="80010"/>
            <a:ext cx="722433" cy="548640"/>
          </a:xfrm>
          <a:prstGeom prst="ellipse">
            <a:avLst/>
          </a:prstGeom>
          <a:solidFill>
            <a:srgbClr val="7F7F7F"/>
          </a:solidFill>
        </p:spPr>
        <p:txBody>
          <a:bodyPr vert="horz" lIns="91440" tIns="45720" rIns="91440" bIns="45720" rtlCol="0" anchor="ctr">
            <a:normAutofit/>
          </a:bodyPr>
          <a:lstStyle/>
          <a:p>
            <a:pPr algn="ctr" defTabSz="457200">
              <a:spcAft>
                <a:spcPts val="600"/>
              </a:spcAft>
            </a:pPr>
            <a:fld id="{D1417333-00BA-4379-A4C8-F7A4E25774AB}" type="slidenum">
              <a:rPr lang="en-US" sz="1500">
                <a:solidFill>
                  <a:srgbClr val="FFFFFF"/>
                </a:solidFill>
              </a:rPr>
              <a:pPr algn="ctr" defTabSz="457200">
                <a:spcAft>
                  <a:spcPts val="600"/>
                </a:spcAft>
              </a:pPr>
              <a:t>‹#›</a:t>
            </a:fld>
            <a:endParaRPr lang="en-US" sz="1500">
              <a:solidFill>
                <a:srgbClr val="FFFFFF"/>
              </a:solidFill>
            </a:endParaRPr>
          </a:p>
        </p:txBody>
      </p:sp>
    </p:spTree>
    <p:extLst>
      <p:ext uri="{BB962C8B-B14F-4D97-AF65-F5344CB8AC3E}">
        <p14:creationId xmlns:p14="http://schemas.microsoft.com/office/powerpoint/2010/main" val="16778626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86C344-1EC0-4C39-9004-1B83B333FC8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8FECB-28A7-4E3F-8738-802CABAFA2B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DBD663C-8EB9-452E-B069-5579F274B9C4}"/>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9FEC5DB-3F30-430F-B34C-D7EE4055D3F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2EDB53DD-6305-4928-B467-E7D2017AD286}"/>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D28C6D6-B5BF-4936-AA85-31A97DE36E57}"/>
              </a:ext>
            </a:extLst>
          </p:cNvPr>
          <p:cNvSpPr>
            <a:spLocks noGrp="1"/>
          </p:cNvSpPr>
          <p:nvPr>
            <p:ph type="dt" sz="half" idx="10"/>
          </p:nvPr>
        </p:nvSpPr>
        <p:spPr/>
        <p:txBody>
          <a:bodyPr/>
          <a:lstStyle/>
          <a:p>
            <a:fld id="{33AFA764-CE72-42BE-8300-24BD3FDE8FBF}" type="datetime1">
              <a:rPr lang="en-US" smtClean="0"/>
              <a:t>2/16/26</a:t>
            </a:fld>
            <a:endParaRPr lang="en-US"/>
          </a:p>
        </p:txBody>
      </p:sp>
      <p:sp>
        <p:nvSpPr>
          <p:cNvPr id="8" name="Footer Placeholder 7">
            <a:extLst>
              <a:ext uri="{FF2B5EF4-FFF2-40B4-BE49-F238E27FC236}">
                <a16:creationId xmlns:a16="http://schemas.microsoft.com/office/drawing/2014/main" id="{9D992FC2-C4E1-4A55-A5BC-94A95A2FFA73}"/>
              </a:ext>
            </a:extLst>
          </p:cNvPr>
          <p:cNvSpPr>
            <a:spLocks noGrp="1"/>
          </p:cNvSpPr>
          <p:nvPr>
            <p:ph type="ftr" sz="quarter" idx="11"/>
          </p:nvPr>
        </p:nvSpPr>
        <p:spPr/>
        <p:txBody>
          <a:bodyPr/>
          <a:lstStyle/>
          <a:p>
            <a:endParaRPr lang="en-US"/>
          </a:p>
        </p:txBody>
      </p:sp>
      <p:sp>
        <p:nvSpPr>
          <p:cNvPr id="10" name="Slide Number Placeholder 3">
            <a:extLst>
              <a:ext uri="{FF2B5EF4-FFF2-40B4-BE49-F238E27FC236}">
                <a16:creationId xmlns:a16="http://schemas.microsoft.com/office/drawing/2014/main" id="{847013F5-8106-48DD-A23A-BD5DE3959976}"/>
              </a:ext>
            </a:extLst>
          </p:cNvPr>
          <p:cNvSpPr>
            <a:spLocks noGrp="1"/>
          </p:cNvSpPr>
          <p:nvPr>
            <p:ph type="sldNum" sz="quarter" idx="12"/>
          </p:nvPr>
        </p:nvSpPr>
        <p:spPr>
          <a:xfrm>
            <a:off x="11431904" y="80010"/>
            <a:ext cx="722433" cy="548640"/>
          </a:xfrm>
          <a:prstGeom prst="ellipse">
            <a:avLst/>
          </a:prstGeom>
          <a:solidFill>
            <a:srgbClr val="7F7F7F"/>
          </a:solidFill>
        </p:spPr>
        <p:txBody>
          <a:bodyPr vert="horz" lIns="91440" tIns="45720" rIns="91440" bIns="45720" rtlCol="0" anchor="ctr">
            <a:normAutofit/>
          </a:bodyPr>
          <a:lstStyle/>
          <a:p>
            <a:pPr algn="ctr" defTabSz="457200">
              <a:spcAft>
                <a:spcPts val="600"/>
              </a:spcAft>
            </a:pPr>
            <a:fld id="{D1417333-00BA-4379-A4C8-F7A4E25774AB}" type="slidenum">
              <a:rPr lang="en-US" sz="1500">
                <a:solidFill>
                  <a:srgbClr val="FFFFFF"/>
                </a:solidFill>
              </a:rPr>
              <a:pPr algn="ctr" defTabSz="457200">
                <a:spcAft>
                  <a:spcPts val="600"/>
                </a:spcAft>
              </a:pPr>
              <a:t>‹#›</a:t>
            </a:fld>
            <a:endParaRPr lang="en-US" sz="1500">
              <a:solidFill>
                <a:srgbClr val="FFFFFF"/>
              </a:solidFill>
            </a:endParaRPr>
          </a:p>
        </p:txBody>
      </p:sp>
    </p:spTree>
    <p:extLst>
      <p:ext uri="{BB962C8B-B14F-4D97-AF65-F5344CB8AC3E}">
        <p14:creationId xmlns:p14="http://schemas.microsoft.com/office/powerpoint/2010/main" val="20240681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A8EC0-927E-4CD1-A438-E33A7350AF8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F6F7DBE-79AB-4267-9BBF-A820D7B689AE}"/>
              </a:ext>
            </a:extLst>
          </p:cNvPr>
          <p:cNvSpPr>
            <a:spLocks noGrp="1"/>
          </p:cNvSpPr>
          <p:nvPr>
            <p:ph type="dt" sz="half" idx="10"/>
          </p:nvPr>
        </p:nvSpPr>
        <p:spPr/>
        <p:txBody>
          <a:bodyPr/>
          <a:lstStyle/>
          <a:p>
            <a:fld id="{A8BADF71-A2BF-4A64-8241-324090CB13F1}" type="datetime1">
              <a:rPr lang="en-US" smtClean="0"/>
              <a:t>2/16/26</a:t>
            </a:fld>
            <a:endParaRPr lang="en-US"/>
          </a:p>
        </p:txBody>
      </p:sp>
      <p:sp>
        <p:nvSpPr>
          <p:cNvPr id="4" name="Footer Placeholder 3">
            <a:extLst>
              <a:ext uri="{FF2B5EF4-FFF2-40B4-BE49-F238E27FC236}">
                <a16:creationId xmlns:a16="http://schemas.microsoft.com/office/drawing/2014/main" id="{8B696F7C-4212-4D84-AB2C-106822DB8E0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FD82657-F035-4D36-901C-495F75887785}"/>
              </a:ext>
            </a:extLst>
          </p:cNvPr>
          <p:cNvSpPr>
            <a:spLocks noGrp="1"/>
          </p:cNvSpPr>
          <p:nvPr>
            <p:ph type="sldNum" sz="quarter" idx="12"/>
          </p:nvPr>
        </p:nvSpPr>
        <p:spPr>
          <a:xfrm>
            <a:off x="3819086" y="6394942"/>
            <a:ext cx="2743200" cy="365125"/>
          </a:xfrm>
          <a:prstGeom prst="rect">
            <a:avLst/>
          </a:prstGeom>
        </p:spPr>
        <p:txBody>
          <a:bodyPr/>
          <a:lstStyle/>
          <a:p>
            <a:fld id="{D1417333-00BA-4379-A4C8-F7A4E25774AB}" type="slidenum">
              <a:rPr lang="en-US" smtClean="0"/>
              <a:t>‹#›</a:t>
            </a:fld>
            <a:endParaRPr lang="en-US"/>
          </a:p>
        </p:txBody>
      </p:sp>
    </p:spTree>
    <p:extLst>
      <p:ext uri="{BB962C8B-B14F-4D97-AF65-F5344CB8AC3E}">
        <p14:creationId xmlns:p14="http://schemas.microsoft.com/office/powerpoint/2010/main" val="28063025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2FE517D-2F94-409E-B452-ACEF93A88CB3}"/>
              </a:ext>
            </a:extLst>
          </p:cNvPr>
          <p:cNvSpPr>
            <a:spLocks noGrp="1"/>
          </p:cNvSpPr>
          <p:nvPr>
            <p:ph type="dt" sz="half" idx="10"/>
          </p:nvPr>
        </p:nvSpPr>
        <p:spPr/>
        <p:txBody>
          <a:bodyPr/>
          <a:lstStyle/>
          <a:p>
            <a:fld id="{DAA30CC3-3EB8-4FF4-B232-93A36C01AAA4}" type="datetime1">
              <a:rPr lang="en-US" smtClean="0"/>
              <a:t>2/16/26</a:t>
            </a:fld>
            <a:endParaRPr lang="en-US"/>
          </a:p>
        </p:txBody>
      </p:sp>
      <p:sp>
        <p:nvSpPr>
          <p:cNvPr id="3" name="Footer Placeholder 2">
            <a:extLst>
              <a:ext uri="{FF2B5EF4-FFF2-40B4-BE49-F238E27FC236}">
                <a16:creationId xmlns:a16="http://schemas.microsoft.com/office/drawing/2014/main" id="{3CAC1C05-D132-40C9-BC4F-147299F5757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979D0D1-5E98-4E64-BEC9-67FE66121C33}"/>
              </a:ext>
            </a:extLst>
          </p:cNvPr>
          <p:cNvSpPr>
            <a:spLocks noGrp="1"/>
          </p:cNvSpPr>
          <p:nvPr>
            <p:ph type="sldNum" sz="quarter" idx="12"/>
          </p:nvPr>
        </p:nvSpPr>
        <p:spPr>
          <a:xfrm>
            <a:off x="3819086" y="6394942"/>
            <a:ext cx="2743200" cy="365125"/>
          </a:xfrm>
          <a:prstGeom prst="rect">
            <a:avLst/>
          </a:prstGeom>
        </p:spPr>
        <p:txBody>
          <a:bodyPr/>
          <a:lstStyle/>
          <a:p>
            <a:fld id="{D1417333-00BA-4379-A4C8-F7A4E25774AB}" type="slidenum">
              <a:rPr lang="en-US" smtClean="0"/>
              <a:t>‹#›</a:t>
            </a:fld>
            <a:endParaRPr lang="en-US"/>
          </a:p>
        </p:txBody>
      </p:sp>
    </p:spTree>
    <p:extLst>
      <p:ext uri="{BB962C8B-B14F-4D97-AF65-F5344CB8AC3E}">
        <p14:creationId xmlns:p14="http://schemas.microsoft.com/office/powerpoint/2010/main" val="27963735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E79B2-429F-41EE-9A18-21F8094296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2FEBE63-D482-4171-B99E-9FE14E1AB75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6071987-475A-4428-BA58-50115595B3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CC52B8C-2CD4-4C4A-9591-46FC603A03B8}"/>
              </a:ext>
            </a:extLst>
          </p:cNvPr>
          <p:cNvSpPr>
            <a:spLocks noGrp="1"/>
          </p:cNvSpPr>
          <p:nvPr>
            <p:ph type="dt" sz="half" idx="10"/>
          </p:nvPr>
        </p:nvSpPr>
        <p:spPr/>
        <p:txBody>
          <a:bodyPr/>
          <a:lstStyle/>
          <a:p>
            <a:fld id="{E99309B4-9215-4990-B633-0E1693E7B35C}" type="datetime1">
              <a:rPr lang="en-US" smtClean="0"/>
              <a:t>2/16/26</a:t>
            </a:fld>
            <a:endParaRPr lang="en-US"/>
          </a:p>
        </p:txBody>
      </p:sp>
      <p:sp>
        <p:nvSpPr>
          <p:cNvPr id="6" name="Footer Placeholder 5">
            <a:extLst>
              <a:ext uri="{FF2B5EF4-FFF2-40B4-BE49-F238E27FC236}">
                <a16:creationId xmlns:a16="http://schemas.microsoft.com/office/drawing/2014/main" id="{FD76435B-C60B-4DC9-B070-D22A708F4F6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9450C3-38D0-41F5-9595-0B878642BC90}"/>
              </a:ext>
            </a:extLst>
          </p:cNvPr>
          <p:cNvSpPr>
            <a:spLocks noGrp="1"/>
          </p:cNvSpPr>
          <p:nvPr>
            <p:ph type="sldNum" sz="quarter" idx="12"/>
          </p:nvPr>
        </p:nvSpPr>
        <p:spPr>
          <a:xfrm>
            <a:off x="3819086" y="6394942"/>
            <a:ext cx="2743200" cy="365125"/>
          </a:xfrm>
          <a:prstGeom prst="rect">
            <a:avLst/>
          </a:prstGeom>
        </p:spPr>
        <p:txBody>
          <a:bodyPr/>
          <a:lstStyle/>
          <a:p>
            <a:fld id="{D1417333-00BA-4379-A4C8-F7A4E25774AB}" type="slidenum">
              <a:rPr lang="en-US" smtClean="0"/>
              <a:t>‹#›</a:t>
            </a:fld>
            <a:endParaRPr lang="en-US"/>
          </a:p>
        </p:txBody>
      </p:sp>
    </p:spTree>
    <p:extLst>
      <p:ext uri="{BB962C8B-B14F-4D97-AF65-F5344CB8AC3E}">
        <p14:creationId xmlns:p14="http://schemas.microsoft.com/office/powerpoint/2010/main" val="33672000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66927-9B3D-4DA5-B06E-E6600760AD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D9778BC-6F0E-469D-A57A-B9558E108E0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B34D122-63FE-4DE1-97D6-39ECDBB842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D3755C2-985D-4966-BFB3-80C1B3633A8F}"/>
              </a:ext>
            </a:extLst>
          </p:cNvPr>
          <p:cNvSpPr>
            <a:spLocks noGrp="1"/>
          </p:cNvSpPr>
          <p:nvPr>
            <p:ph type="dt" sz="half" idx="10"/>
          </p:nvPr>
        </p:nvSpPr>
        <p:spPr/>
        <p:txBody>
          <a:bodyPr/>
          <a:lstStyle/>
          <a:p>
            <a:fld id="{234A3717-349B-4DBE-9175-4410B1509D05}" type="datetime1">
              <a:rPr lang="en-US" smtClean="0"/>
              <a:t>2/16/26</a:t>
            </a:fld>
            <a:endParaRPr lang="en-US"/>
          </a:p>
        </p:txBody>
      </p:sp>
      <p:sp>
        <p:nvSpPr>
          <p:cNvPr id="6" name="Footer Placeholder 5">
            <a:extLst>
              <a:ext uri="{FF2B5EF4-FFF2-40B4-BE49-F238E27FC236}">
                <a16:creationId xmlns:a16="http://schemas.microsoft.com/office/drawing/2014/main" id="{54A79D97-89F8-40DD-97FA-3460EC1843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BDE49D6-36AE-49EA-B5C5-AB809DB33D72}"/>
              </a:ext>
            </a:extLst>
          </p:cNvPr>
          <p:cNvSpPr>
            <a:spLocks noGrp="1"/>
          </p:cNvSpPr>
          <p:nvPr>
            <p:ph type="sldNum" sz="quarter" idx="12"/>
          </p:nvPr>
        </p:nvSpPr>
        <p:spPr>
          <a:xfrm>
            <a:off x="3819086" y="6394942"/>
            <a:ext cx="2743200" cy="365125"/>
          </a:xfrm>
          <a:prstGeom prst="rect">
            <a:avLst/>
          </a:prstGeom>
        </p:spPr>
        <p:txBody>
          <a:bodyPr/>
          <a:lstStyle/>
          <a:p>
            <a:fld id="{D1417333-00BA-4379-A4C8-F7A4E25774AB}" type="slidenum">
              <a:rPr lang="en-US" smtClean="0"/>
              <a:t>‹#›</a:t>
            </a:fld>
            <a:endParaRPr lang="en-US"/>
          </a:p>
        </p:txBody>
      </p:sp>
    </p:spTree>
    <p:extLst>
      <p:ext uri="{BB962C8B-B14F-4D97-AF65-F5344CB8AC3E}">
        <p14:creationId xmlns:p14="http://schemas.microsoft.com/office/powerpoint/2010/main" val="23953267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014344-83D1-46A1-B80A-FF2D0FAD0F7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2D0D799-4A8F-44A8-A149-627C336AD959}"/>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7A0356-6C53-4219-A7D6-E0380551195B}"/>
              </a:ext>
            </a:extLst>
          </p:cNvPr>
          <p:cNvSpPr>
            <a:spLocks noGrp="1"/>
          </p:cNvSpPr>
          <p:nvPr>
            <p:ph type="dt" sz="half" idx="10"/>
          </p:nvPr>
        </p:nvSpPr>
        <p:spPr/>
        <p:txBody>
          <a:bodyPr/>
          <a:lstStyle/>
          <a:p>
            <a:fld id="{6F53F07B-056F-44BE-86A4-2A9C5685036E}" type="datetime1">
              <a:rPr lang="en-US" smtClean="0"/>
              <a:t>2/16/26</a:t>
            </a:fld>
            <a:endParaRPr lang="en-US"/>
          </a:p>
        </p:txBody>
      </p:sp>
      <p:sp>
        <p:nvSpPr>
          <p:cNvPr id="5" name="Footer Placeholder 4">
            <a:extLst>
              <a:ext uri="{FF2B5EF4-FFF2-40B4-BE49-F238E27FC236}">
                <a16:creationId xmlns:a16="http://schemas.microsoft.com/office/drawing/2014/main" id="{E5F9CA34-BA43-4B06-9A96-16F4220205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F4EDCB-66B3-40E0-9A33-6978C03DD062}"/>
              </a:ext>
            </a:extLst>
          </p:cNvPr>
          <p:cNvSpPr>
            <a:spLocks noGrp="1"/>
          </p:cNvSpPr>
          <p:nvPr>
            <p:ph type="sldNum" sz="quarter" idx="12"/>
          </p:nvPr>
        </p:nvSpPr>
        <p:spPr>
          <a:xfrm>
            <a:off x="3819086" y="6394942"/>
            <a:ext cx="2743200" cy="365125"/>
          </a:xfrm>
          <a:prstGeom prst="rect">
            <a:avLst/>
          </a:prstGeom>
        </p:spPr>
        <p:txBody>
          <a:bodyPr/>
          <a:lstStyle/>
          <a:p>
            <a:fld id="{D1417333-00BA-4379-A4C8-F7A4E25774AB}" type="slidenum">
              <a:rPr lang="en-US" smtClean="0"/>
              <a:t>‹#›</a:t>
            </a:fld>
            <a:endParaRPr lang="en-US"/>
          </a:p>
        </p:txBody>
      </p:sp>
    </p:spTree>
    <p:extLst>
      <p:ext uri="{BB962C8B-B14F-4D97-AF65-F5344CB8AC3E}">
        <p14:creationId xmlns:p14="http://schemas.microsoft.com/office/powerpoint/2010/main" val="33127058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370BCE0-A3E7-4DB0-B6E8-98995E848BA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D8D3037-19B9-482B-A9E2-DA8E9A1FC6C3}"/>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020CDE-09B4-407B-8949-677884D3C836}"/>
              </a:ext>
            </a:extLst>
          </p:cNvPr>
          <p:cNvSpPr>
            <a:spLocks noGrp="1"/>
          </p:cNvSpPr>
          <p:nvPr>
            <p:ph type="dt" sz="half" idx="10"/>
          </p:nvPr>
        </p:nvSpPr>
        <p:spPr/>
        <p:txBody>
          <a:bodyPr/>
          <a:lstStyle/>
          <a:p>
            <a:fld id="{0AAEADA7-0BA0-4B70-AE0F-E45D4A2BCE9E}" type="datetime1">
              <a:rPr lang="en-US" smtClean="0"/>
              <a:t>2/16/26</a:t>
            </a:fld>
            <a:endParaRPr lang="en-US"/>
          </a:p>
        </p:txBody>
      </p:sp>
      <p:sp>
        <p:nvSpPr>
          <p:cNvPr id="5" name="Footer Placeholder 4">
            <a:extLst>
              <a:ext uri="{FF2B5EF4-FFF2-40B4-BE49-F238E27FC236}">
                <a16:creationId xmlns:a16="http://schemas.microsoft.com/office/drawing/2014/main" id="{EB967465-70C7-4EF0-A355-B9F1667AF1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F8E197-9408-4FE8-88F4-121418E808C3}"/>
              </a:ext>
            </a:extLst>
          </p:cNvPr>
          <p:cNvSpPr>
            <a:spLocks noGrp="1"/>
          </p:cNvSpPr>
          <p:nvPr>
            <p:ph type="sldNum" sz="quarter" idx="12"/>
          </p:nvPr>
        </p:nvSpPr>
        <p:spPr>
          <a:xfrm>
            <a:off x="3819086" y="6394942"/>
            <a:ext cx="2743200" cy="365125"/>
          </a:xfrm>
          <a:prstGeom prst="rect">
            <a:avLst/>
          </a:prstGeom>
        </p:spPr>
        <p:txBody>
          <a:bodyPr/>
          <a:lstStyle/>
          <a:p>
            <a:fld id="{D1417333-00BA-4379-A4C8-F7A4E25774AB}" type="slidenum">
              <a:rPr lang="en-US" smtClean="0"/>
              <a:t>‹#›</a:t>
            </a:fld>
            <a:endParaRPr lang="en-US"/>
          </a:p>
        </p:txBody>
      </p:sp>
    </p:spTree>
    <p:extLst>
      <p:ext uri="{BB962C8B-B14F-4D97-AF65-F5344CB8AC3E}">
        <p14:creationId xmlns:p14="http://schemas.microsoft.com/office/powerpoint/2010/main" val="24231746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FA9DF23F-EB44-446B-A348-407623573490}"/>
              </a:ext>
            </a:extLst>
          </p:cNvPr>
          <p:cNvPicPr>
            <a:picLocks noChangeAspect="1"/>
          </p:cNvPicPr>
          <p:nvPr userDrawn="1"/>
        </p:nvPicPr>
        <p:blipFill>
          <a:blip r:embed="rId2">
            <a:duotone>
              <a:schemeClr val="bg2">
                <a:shade val="45000"/>
                <a:satMod val="135000"/>
              </a:schemeClr>
              <a:prstClr val="white"/>
            </a:duotone>
            <a:extLst>
              <a:ext uri="{28A0092B-C50C-407E-A947-70E740481C1C}">
                <a14:useLocalDpi xmlns:a14="http://schemas.microsoft.com/office/drawing/2010/main"/>
              </a:ext>
            </a:extLst>
          </a:blip>
          <a:stretch>
            <a:fillRect/>
          </a:stretch>
        </p:blipFill>
        <p:spPr>
          <a:xfrm>
            <a:off x="6465138" y="262593"/>
            <a:ext cx="2096967" cy="394166"/>
          </a:xfrm>
          <a:prstGeom prst="rect">
            <a:avLst/>
          </a:prstGeom>
        </p:spPr>
      </p:pic>
      <p:pic>
        <p:nvPicPr>
          <p:cNvPr id="11" name="Picture 2" descr="Image result for oregon state university">
            <a:extLst>
              <a:ext uri="{FF2B5EF4-FFF2-40B4-BE49-F238E27FC236}">
                <a16:creationId xmlns:a16="http://schemas.microsoft.com/office/drawing/2014/main" id="{9E5E44AC-A220-4421-9AFE-A67FB192D9B6}"/>
              </a:ext>
            </a:extLst>
          </p:cNvPr>
          <p:cNvPicPr>
            <a:picLocks noChangeAspect="1" noChangeArrowheads="1"/>
          </p:cNvPicPr>
          <p:nvPr userDrawn="1"/>
        </p:nvPicPr>
        <p:blipFill>
          <a:blip r:embed="rId3">
            <a:extLst>
              <a:ext uri="{28A0092B-C50C-407E-A947-70E740481C1C}">
                <a14:useLocalDpi xmlns:a14="http://schemas.microsoft.com/office/drawing/2010/main"/>
              </a:ext>
            </a:extLst>
          </a:blip>
          <a:srcRect/>
          <a:stretch>
            <a:fillRect/>
          </a:stretch>
        </p:blipFill>
        <p:spPr bwMode="auto">
          <a:xfrm>
            <a:off x="0" y="33090"/>
            <a:ext cx="1750603" cy="732470"/>
          </a:xfrm>
          <a:prstGeom prst="rect">
            <a:avLst/>
          </a:prstGeom>
          <a:noFill/>
          <a:extLst>
            <a:ext uri="{909E8E84-426E-40DD-AFC4-6F175D3DCCD1}">
              <a14:hiddenFill xmlns:a14="http://schemas.microsoft.com/office/drawing/2010/main">
                <a:solidFill>
                  <a:srgbClr val="FFFFFF"/>
                </a:solidFill>
              </a14:hiddenFill>
            </a:ext>
          </a:extLst>
        </p:spPr>
      </p:pic>
      <p:sp>
        <p:nvSpPr>
          <p:cNvPr id="13" name="Title 12">
            <a:extLst>
              <a:ext uri="{FF2B5EF4-FFF2-40B4-BE49-F238E27FC236}">
                <a16:creationId xmlns:a16="http://schemas.microsoft.com/office/drawing/2014/main" id="{7E2B3B4B-9B04-4702-B85D-756091BE1EA9}"/>
              </a:ext>
            </a:extLst>
          </p:cNvPr>
          <p:cNvSpPr>
            <a:spLocks noGrp="1"/>
          </p:cNvSpPr>
          <p:nvPr>
            <p:ph type="title"/>
          </p:nvPr>
        </p:nvSpPr>
        <p:spPr/>
        <p:txBody>
          <a:bodyPr/>
          <a:lstStyle/>
          <a:p>
            <a:r>
              <a:rPr lang="en-US"/>
              <a:t>Click to edit Master title style</a:t>
            </a:r>
          </a:p>
        </p:txBody>
      </p:sp>
      <p:sp>
        <p:nvSpPr>
          <p:cNvPr id="14" name="Date Placeholder 13">
            <a:extLst>
              <a:ext uri="{FF2B5EF4-FFF2-40B4-BE49-F238E27FC236}">
                <a16:creationId xmlns:a16="http://schemas.microsoft.com/office/drawing/2014/main" id="{80671A31-DD8E-4B80-AA1A-70A7BB06DA2E}"/>
              </a:ext>
            </a:extLst>
          </p:cNvPr>
          <p:cNvSpPr>
            <a:spLocks noGrp="1"/>
          </p:cNvSpPr>
          <p:nvPr>
            <p:ph type="dt" sz="half" idx="10"/>
          </p:nvPr>
        </p:nvSpPr>
        <p:spPr/>
        <p:txBody>
          <a:bodyPr/>
          <a:lstStyle/>
          <a:p>
            <a:fld id="{B3968345-2DF1-45D2-969A-30ACEF732B2C}" type="datetime1">
              <a:rPr lang="en-US" smtClean="0"/>
              <a:t>2/16/26</a:t>
            </a:fld>
            <a:endParaRPr lang="en-US"/>
          </a:p>
        </p:txBody>
      </p:sp>
      <p:sp>
        <p:nvSpPr>
          <p:cNvPr id="15" name="Footer Placeholder 14">
            <a:extLst>
              <a:ext uri="{FF2B5EF4-FFF2-40B4-BE49-F238E27FC236}">
                <a16:creationId xmlns:a16="http://schemas.microsoft.com/office/drawing/2014/main" id="{D75B824A-9959-4BA6-A831-4FE98F84412B}"/>
              </a:ext>
            </a:extLst>
          </p:cNvPr>
          <p:cNvSpPr>
            <a:spLocks noGrp="1"/>
          </p:cNvSpPr>
          <p:nvPr>
            <p:ph type="ftr" sz="quarter" idx="11"/>
          </p:nvPr>
        </p:nvSpPr>
        <p:spPr/>
        <p:txBody>
          <a:bodyPr/>
          <a:lstStyle/>
          <a:p>
            <a:endParaRPr lang="en-US"/>
          </a:p>
        </p:txBody>
      </p:sp>
      <p:sp>
        <p:nvSpPr>
          <p:cNvPr id="16" name="Slide Number Placeholder 15">
            <a:extLst>
              <a:ext uri="{FF2B5EF4-FFF2-40B4-BE49-F238E27FC236}">
                <a16:creationId xmlns:a16="http://schemas.microsoft.com/office/drawing/2014/main" id="{B64C484B-F560-460D-8F36-F3F36CFBC88A}"/>
              </a:ext>
            </a:extLst>
          </p:cNvPr>
          <p:cNvSpPr>
            <a:spLocks noGrp="1"/>
          </p:cNvSpPr>
          <p:nvPr>
            <p:ph type="sldNum" sz="quarter" idx="12"/>
          </p:nvPr>
        </p:nvSpPr>
        <p:spPr>
          <a:xfrm>
            <a:off x="3819086" y="6394942"/>
            <a:ext cx="2743200" cy="365125"/>
          </a:xfrm>
          <a:prstGeom prst="rect">
            <a:avLst/>
          </a:prstGeom>
        </p:spPr>
        <p:txBody>
          <a:bodyPr/>
          <a:lstStyle/>
          <a:p>
            <a:fld id="{D1417333-00BA-4379-A4C8-F7A4E25774AB}" type="slidenum">
              <a:rPr lang="en-US" smtClean="0"/>
              <a:t>‹#›</a:t>
            </a:fld>
            <a:endParaRPr lang="en-US" dirty="0"/>
          </a:p>
        </p:txBody>
      </p:sp>
    </p:spTree>
    <p:extLst>
      <p:ext uri="{BB962C8B-B14F-4D97-AF65-F5344CB8AC3E}">
        <p14:creationId xmlns:p14="http://schemas.microsoft.com/office/powerpoint/2010/main" val="30274320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CONTENT_SLIDE">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11250049" y="6583680"/>
            <a:ext cx="731711" cy="274320"/>
          </a:xfrm>
          <a:prstGeom prst="rect">
            <a:avLst/>
          </a:prstGeom>
          <a:noFill/>
          <a:ln/>
        </p:spPr>
        <p:txBody>
          <a:bodyPr wrap="square" rtlCol="0" anchor="ctr"/>
          <a:lstStyle/>
          <a:p>
            <a:pPr marL="0" indent="0" algn="r">
              <a:buNone/>
            </a:pPr>
            <a:r>
              <a:rPr lang="en-US" sz="1000" dirty="0">
                <a:solidFill>
                  <a:srgbClr val="666666"/>
                </a:solidFill>
              </a:rPr>
              <a:t>SLIDE_NUMBER</a:t>
            </a:r>
            <a:endParaRPr lang="en-US" sz="1000" dirty="0"/>
          </a:p>
        </p:txBody>
      </p:sp>
    </p:spTree>
    <p:extLst>
      <p:ext uri="{BB962C8B-B14F-4D97-AF65-F5344CB8AC3E}">
        <p14:creationId xmlns:p14="http://schemas.microsoft.com/office/powerpoint/2010/main" val="24978880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Shape 27">
            <a:extLst>
              <a:ext uri="{FF2B5EF4-FFF2-40B4-BE49-F238E27FC236}">
                <a16:creationId xmlns:a16="http://schemas.microsoft.com/office/drawing/2014/main" id="{2422D9DF-A16F-4985-A2A3-0E0D5736BA41}"/>
              </a:ext>
            </a:extLst>
          </p:cNvPr>
          <p:cNvSpPr/>
          <p:nvPr userDrawn="1"/>
        </p:nvSpPr>
        <p:spPr>
          <a:xfrm>
            <a:off x="0" y="0"/>
            <a:ext cx="12192000" cy="741995"/>
          </a:xfrm>
          <a:prstGeom prst="rect">
            <a:avLst/>
          </a:prstGeom>
          <a:solidFill>
            <a:srgbClr val="000000"/>
          </a:solidFill>
          <a:ln>
            <a:noFill/>
          </a:ln>
        </p:spPr>
        <p:txBody>
          <a:bodyPr lIns="91425" tIns="91425" rIns="91425" bIns="91425" anchor="ctr" anchorCtr="0">
            <a:noAutofit/>
          </a:bodyPr>
          <a:lstStyle/>
          <a:p>
            <a:pPr lvl="0">
              <a:spcBef>
                <a:spcPts val="0"/>
              </a:spcBef>
              <a:buNone/>
            </a:pPr>
            <a:endParaRPr/>
          </a:p>
        </p:txBody>
      </p:sp>
      <p:sp>
        <p:nvSpPr>
          <p:cNvPr id="2" name="Title Placeholder 1">
            <a:extLst>
              <a:ext uri="{FF2B5EF4-FFF2-40B4-BE49-F238E27FC236}">
                <a16:creationId xmlns:a16="http://schemas.microsoft.com/office/drawing/2014/main" id="{098FDE90-097A-4626-8AF3-2A46A09C99B4}"/>
              </a:ext>
            </a:extLst>
          </p:cNvPr>
          <p:cNvSpPr>
            <a:spLocks noGrp="1"/>
          </p:cNvSpPr>
          <p:nvPr>
            <p:ph type="title"/>
          </p:nvPr>
        </p:nvSpPr>
        <p:spPr>
          <a:xfrm>
            <a:off x="838200" y="-252413"/>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48673E9B-793F-46A8-B7DC-919B5F8069E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2F03C5-9BC0-4D72-8A5B-7D7AD8D963F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ECAE2E2-4126-4F53-A0E3-EAF0809821A6}" type="datetime1">
              <a:rPr lang="en-US" smtClean="0"/>
              <a:t>2/16/26</a:t>
            </a:fld>
            <a:endParaRPr lang="en-US"/>
          </a:p>
        </p:txBody>
      </p:sp>
      <p:sp>
        <p:nvSpPr>
          <p:cNvPr id="5" name="Footer Placeholder 4">
            <a:extLst>
              <a:ext uri="{FF2B5EF4-FFF2-40B4-BE49-F238E27FC236}">
                <a16:creationId xmlns:a16="http://schemas.microsoft.com/office/drawing/2014/main" id="{E71E14B1-D5CA-40F7-B3B9-FD2CD3342A8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11" name="Slide Number Placeholder 3">
            <a:extLst>
              <a:ext uri="{FF2B5EF4-FFF2-40B4-BE49-F238E27FC236}">
                <a16:creationId xmlns:a16="http://schemas.microsoft.com/office/drawing/2014/main" id="{02D9A1CB-6C3F-46B2-B3B8-3906D8BECE93}"/>
              </a:ext>
            </a:extLst>
          </p:cNvPr>
          <p:cNvSpPr>
            <a:spLocks noGrp="1"/>
          </p:cNvSpPr>
          <p:nvPr>
            <p:ph type="sldNum" sz="quarter" idx="4"/>
          </p:nvPr>
        </p:nvSpPr>
        <p:spPr>
          <a:xfrm>
            <a:off x="11431904" y="80010"/>
            <a:ext cx="722433" cy="548640"/>
          </a:xfrm>
          <a:prstGeom prst="ellipse">
            <a:avLst/>
          </a:prstGeom>
          <a:solidFill>
            <a:srgbClr val="7F7F7F"/>
          </a:solidFill>
        </p:spPr>
        <p:txBody>
          <a:bodyPr vert="horz" lIns="91440" tIns="45720" rIns="91440" bIns="45720" rtlCol="0" anchor="ctr">
            <a:normAutofit/>
          </a:bodyPr>
          <a:lstStyle/>
          <a:p>
            <a:pPr algn="ctr" defTabSz="457200">
              <a:spcAft>
                <a:spcPts val="600"/>
              </a:spcAft>
            </a:pPr>
            <a:fld id="{D1417333-00BA-4379-A4C8-F7A4E25774AB}" type="slidenum">
              <a:rPr lang="en-US" sz="1500">
                <a:solidFill>
                  <a:srgbClr val="FFFFFF"/>
                </a:solidFill>
              </a:rPr>
              <a:pPr algn="ctr" defTabSz="457200">
                <a:spcAft>
                  <a:spcPts val="600"/>
                </a:spcAft>
              </a:pPr>
              <a:t>‹#›</a:t>
            </a:fld>
            <a:endParaRPr lang="en-US" sz="1500">
              <a:solidFill>
                <a:srgbClr val="FFFFFF"/>
              </a:solidFill>
            </a:endParaRPr>
          </a:p>
        </p:txBody>
      </p:sp>
      <p:pic>
        <p:nvPicPr>
          <p:cNvPr id="1026" name="Picture 2" descr="mage result for rit logo"/>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130630" y="61777"/>
            <a:ext cx="1453520" cy="5668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5844486"/>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661" r:id="rId12"/>
    <p:sldLayoutId id="2147483713" r:id="rId13"/>
  </p:sldLayoutIdLst>
  <p:hf hdr="0" ftr="0" dt="0"/>
  <p:txStyles>
    <p:titleStyle>
      <a:lvl1pPr algn="ctr" defTabSz="914400" rtl="0" eaLnBrk="1" latinLnBrk="0" hangingPunct="1">
        <a:lnSpc>
          <a:spcPct val="90000"/>
        </a:lnSpc>
        <a:spcBef>
          <a:spcPct val="0"/>
        </a:spcBef>
        <a:buNone/>
        <a:defRPr sz="4400"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8" name="Straight Connector 11">
            <a:extLst>
              <a:ext uri="{FF2B5EF4-FFF2-40B4-BE49-F238E27FC236}">
                <a16:creationId xmlns:a16="http://schemas.microsoft.com/office/drawing/2014/main" id="{F0C57C7C-DFE9-4A1E-B7A9-DF40E63366B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5891" y="2057399"/>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8449BCF1-8931-4026-B983-88C634CA5C23}"/>
              </a:ext>
            </a:extLst>
          </p:cNvPr>
          <p:cNvSpPr>
            <a:spLocks noGrp="1"/>
          </p:cNvSpPr>
          <p:nvPr>
            <p:ph type="ctrTitle"/>
          </p:nvPr>
        </p:nvSpPr>
        <p:spPr>
          <a:xfrm>
            <a:off x="3817354" y="965199"/>
            <a:ext cx="8411485" cy="4927601"/>
          </a:xfrm>
        </p:spPr>
        <p:txBody>
          <a:bodyPr anchor="ctr">
            <a:normAutofit/>
          </a:bodyPr>
          <a:lstStyle/>
          <a:p>
            <a:r>
              <a:rPr lang="en-US" sz="5300" dirty="0">
                <a:solidFill>
                  <a:schemeClr val="tx1">
                    <a:lumMod val="85000"/>
                    <a:lumOff val="15000"/>
                  </a:schemeClr>
                </a:solidFill>
              </a:rPr>
              <a:t> </a:t>
            </a:r>
            <a:r>
              <a:rPr lang="en-US" sz="5300" dirty="0" err="1">
                <a:solidFill>
                  <a:schemeClr val="tx1">
                    <a:lumMod val="85000"/>
                    <a:lumOff val="15000"/>
                  </a:schemeClr>
                </a:solidFill>
              </a:rPr>
              <a:t>BioRobotics</a:t>
            </a:r>
            <a:endParaRPr lang="en-US" sz="5300" dirty="0">
              <a:solidFill>
                <a:schemeClr val="tx1">
                  <a:lumMod val="85000"/>
                  <a:lumOff val="15000"/>
                </a:schemeClr>
              </a:solidFill>
            </a:endParaRPr>
          </a:p>
        </p:txBody>
      </p:sp>
    </p:spTree>
    <p:extLst>
      <p:ext uri="{BB962C8B-B14F-4D97-AF65-F5344CB8AC3E}">
        <p14:creationId xmlns:p14="http://schemas.microsoft.com/office/powerpoint/2010/main" val="16040515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2120320" y="92555"/>
            <a:ext cx="10972800" cy="640080"/>
          </a:xfrm>
          <a:prstGeom prst="rect">
            <a:avLst/>
          </a:prstGeom>
          <a:noFill/>
          <a:ln/>
        </p:spPr>
        <p:txBody>
          <a:bodyPr wrap="square" rtlCol="0" anchor="ctr"/>
          <a:lstStyle/>
          <a:p>
            <a:r>
              <a:rPr lang="en-US" sz="3600" b="1" dirty="0">
                <a:solidFill>
                  <a:schemeClr val="bg1"/>
                </a:solidFill>
                <a:latin typeface="Arial Black" pitchFamily="34" charset="0"/>
                <a:ea typeface="Arial Black" pitchFamily="34" charset="-122"/>
                <a:cs typeface="Arial Black" pitchFamily="34" charset="-120"/>
              </a:rPr>
              <a:t>What is Galvanic Skin Response?</a:t>
            </a:r>
            <a:endParaRPr lang="en-US" sz="3600" dirty="0">
              <a:solidFill>
                <a:schemeClr val="bg1"/>
              </a:solidFill>
            </a:endParaRPr>
          </a:p>
        </p:txBody>
      </p:sp>
      <p:sp>
        <p:nvSpPr>
          <p:cNvPr id="4" name="Text 2"/>
          <p:cNvSpPr/>
          <p:nvPr/>
        </p:nvSpPr>
        <p:spPr>
          <a:xfrm>
            <a:off x="458788" y="1097280"/>
            <a:ext cx="10972800" cy="365760"/>
          </a:xfrm>
          <a:prstGeom prst="rect">
            <a:avLst/>
          </a:prstGeom>
          <a:noFill/>
          <a:ln/>
        </p:spPr>
        <p:txBody>
          <a:bodyPr wrap="square" rtlCol="0" anchor="ctr"/>
          <a:lstStyle/>
          <a:p>
            <a:r>
              <a:rPr lang="en-US" sz="1600" dirty="0">
                <a:solidFill>
                  <a:srgbClr val="666666"/>
                </a:solidFill>
                <a:latin typeface="Arial" pitchFamily="34" charset="0"/>
                <a:ea typeface="Arial" pitchFamily="34" charset="-122"/>
                <a:cs typeface="Arial" pitchFamily="34" charset="-120"/>
              </a:rPr>
              <a:t>Also known as Electrodermal Activity (EDA) or Skin Conductance</a:t>
            </a:r>
            <a:endParaRPr lang="en-US" sz="1600" dirty="0"/>
          </a:p>
        </p:txBody>
      </p:sp>
      <p:sp>
        <p:nvSpPr>
          <p:cNvPr id="5" name="Shape 3"/>
          <p:cNvSpPr/>
          <p:nvPr/>
        </p:nvSpPr>
        <p:spPr>
          <a:xfrm>
            <a:off x="458788" y="1645920"/>
            <a:ext cx="5303520" cy="4114800"/>
          </a:xfrm>
          <a:prstGeom prst="roundRect">
            <a:avLst/>
          </a:prstGeom>
          <a:solidFill>
            <a:srgbClr val="F5F5F5"/>
          </a:solidFill>
          <a:ln/>
        </p:spPr>
        <p:txBody>
          <a:bodyPr/>
          <a:lstStyle/>
          <a:p>
            <a:endParaRPr lang="en-US"/>
          </a:p>
        </p:txBody>
      </p:sp>
      <p:sp>
        <p:nvSpPr>
          <p:cNvPr id="6" name="Text 4"/>
          <p:cNvSpPr/>
          <p:nvPr/>
        </p:nvSpPr>
        <p:spPr>
          <a:xfrm>
            <a:off x="641668" y="1828800"/>
            <a:ext cx="4937760" cy="365760"/>
          </a:xfrm>
          <a:prstGeom prst="rect">
            <a:avLst/>
          </a:prstGeom>
          <a:noFill/>
          <a:ln/>
        </p:spPr>
        <p:txBody>
          <a:bodyPr wrap="square" rtlCol="0" anchor="ctr"/>
          <a:lstStyle/>
          <a:p>
            <a:r>
              <a:rPr lang="en-US" b="1" dirty="0">
                <a:solidFill>
                  <a:srgbClr val="F76902"/>
                </a:solidFill>
                <a:latin typeface="Arial" pitchFamily="34" charset="0"/>
                <a:ea typeface="Arial" pitchFamily="34" charset="-122"/>
                <a:cs typeface="Arial" pitchFamily="34" charset="-120"/>
              </a:rPr>
              <a:t>Core Concept</a:t>
            </a:r>
            <a:endParaRPr lang="en-US" dirty="0"/>
          </a:p>
        </p:txBody>
      </p:sp>
      <p:sp>
        <p:nvSpPr>
          <p:cNvPr id="7" name="Text 5"/>
          <p:cNvSpPr/>
          <p:nvPr/>
        </p:nvSpPr>
        <p:spPr>
          <a:xfrm>
            <a:off x="641668" y="2286000"/>
            <a:ext cx="4937760" cy="1097280"/>
          </a:xfrm>
          <a:prstGeom prst="rect">
            <a:avLst/>
          </a:prstGeom>
          <a:noFill/>
          <a:ln/>
        </p:spPr>
        <p:txBody>
          <a:bodyPr wrap="square" rtlCol="0" anchor="ctr"/>
          <a:lstStyle/>
          <a:p>
            <a:r>
              <a:rPr lang="en-US" sz="1500" dirty="0">
                <a:solidFill>
                  <a:srgbClr val="1A1A1A"/>
                </a:solidFill>
                <a:latin typeface="Arial" pitchFamily="34" charset="0"/>
                <a:ea typeface="Arial" pitchFamily="34" charset="-122"/>
                <a:cs typeface="Arial" pitchFamily="34" charset="-120"/>
              </a:rPr>
              <a:t>GSR measures the electrical conductance of the skin, which varies with sweat gland activity controlled by the sympathetic nervous system.</a:t>
            </a:r>
            <a:endParaRPr lang="en-US" sz="1500" dirty="0"/>
          </a:p>
        </p:txBody>
      </p:sp>
      <p:sp>
        <p:nvSpPr>
          <p:cNvPr id="8" name="Text 6"/>
          <p:cNvSpPr/>
          <p:nvPr/>
        </p:nvSpPr>
        <p:spPr>
          <a:xfrm>
            <a:off x="641668" y="3474720"/>
            <a:ext cx="4937760" cy="914400"/>
          </a:xfrm>
          <a:prstGeom prst="rect">
            <a:avLst/>
          </a:prstGeom>
          <a:noFill/>
          <a:ln/>
        </p:spPr>
        <p:txBody>
          <a:bodyPr wrap="square" rtlCol="0" anchor="ctr"/>
          <a:lstStyle/>
          <a:p>
            <a:r>
              <a:rPr lang="en-US" sz="1400" i="1" dirty="0">
                <a:solidFill>
                  <a:srgbClr val="666666"/>
                </a:solidFill>
                <a:latin typeface="Arial" pitchFamily="34" charset="0"/>
                <a:ea typeface="Arial" pitchFamily="34" charset="-122"/>
                <a:cs typeface="Arial" pitchFamily="34" charset="-120"/>
              </a:rPr>
              <a:t>Emotional arousal → Sympathetic activation → Sweat secretion → Increased skin conductance</a:t>
            </a:r>
            <a:endParaRPr lang="en-US" sz="1400" dirty="0"/>
          </a:p>
        </p:txBody>
      </p:sp>
      <p:sp>
        <p:nvSpPr>
          <p:cNvPr id="9" name="Text 7"/>
          <p:cNvSpPr/>
          <p:nvPr/>
        </p:nvSpPr>
        <p:spPr>
          <a:xfrm>
            <a:off x="641668" y="4572000"/>
            <a:ext cx="4937760" cy="914400"/>
          </a:xfrm>
          <a:prstGeom prst="rect">
            <a:avLst/>
          </a:prstGeom>
          <a:noFill/>
          <a:ln/>
        </p:spPr>
        <p:txBody>
          <a:bodyPr wrap="square" rtlCol="0" anchor="ctr"/>
          <a:lstStyle/>
          <a:p>
            <a:r>
              <a:rPr lang="en-US" sz="1400" dirty="0">
                <a:solidFill>
                  <a:srgbClr val="1A1A1A"/>
                </a:solidFill>
                <a:latin typeface="Arial" pitchFamily="34" charset="0"/>
                <a:ea typeface="Arial" pitchFamily="34" charset="-122"/>
                <a:cs typeface="Arial" pitchFamily="34" charset="-120"/>
              </a:rPr>
              <a:t>The response is involuntary and difficult to consciously control, making it a reliable indicator of autonomic arousal.</a:t>
            </a:r>
            <a:endParaRPr lang="en-US" sz="1400" dirty="0"/>
          </a:p>
        </p:txBody>
      </p:sp>
      <p:sp>
        <p:nvSpPr>
          <p:cNvPr id="10" name="Text 8"/>
          <p:cNvSpPr/>
          <p:nvPr/>
        </p:nvSpPr>
        <p:spPr>
          <a:xfrm>
            <a:off x="6128068" y="1645920"/>
            <a:ext cx="5303520" cy="365760"/>
          </a:xfrm>
          <a:prstGeom prst="rect">
            <a:avLst/>
          </a:prstGeom>
          <a:noFill/>
          <a:ln/>
        </p:spPr>
        <p:txBody>
          <a:bodyPr wrap="square" rtlCol="0" anchor="ctr"/>
          <a:lstStyle/>
          <a:p>
            <a:r>
              <a:rPr lang="en-US" b="1" dirty="0">
                <a:solidFill>
                  <a:srgbClr val="1A1A1A"/>
                </a:solidFill>
                <a:latin typeface="Arial" pitchFamily="34" charset="0"/>
                <a:ea typeface="Arial" pitchFamily="34" charset="-122"/>
                <a:cs typeface="Arial" pitchFamily="34" charset="-120"/>
              </a:rPr>
              <a:t>Key Facts</a:t>
            </a:r>
            <a:endParaRPr lang="en-US" dirty="0"/>
          </a:p>
        </p:txBody>
      </p:sp>
      <p:sp>
        <p:nvSpPr>
          <p:cNvPr id="11" name="Text 9"/>
          <p:cNvSpPr/>
          <p:nvPr/>
        </p:nvSpPr>
        <p:spPr>
          <a:xfrm>
            <a:off x="6128068" y="2194560"/>
            <a:ext cx="2286000" cy="365760"/>
          </a:xfrm>
          <a:prstGeom prst="rect">
            <a:avLst/>
          </a:prstGeom>
          <a:noFill/>
          <a:ln/>
        </p:spPr>
        <p:txBody>
          <a:bodyPr wrap="square" rtlCol="0" anchor="ctr"/>
          <a:lstStyle/>
          <a:p>
            <a:r>
              <a:rPr lang="en-US" sz="1300" b="1" dirty="0">
                <a:solidFill>
                  <a:srgbClr val="666666"/>
                </a:solidFill>
                <a:latin typeface="Arial" pitchFamily="34" charset="0"/>
                <a:ea typeface="Arial" pitchFamily="34" charset="-122"/>
                <a:cs typeface="Arial" pitchFamily="34" charset="-120"/>
              </a:rPr>
              <a:t>Signal Source</a:t>
            </a:r>
            <a:endParaRPr lang="en-US" sz="1300" dirty="0"/>
          </a:p>
        </p:txBody>
      </p:sp>
      <p:sp>
        <p:nvSpPr>
          <p:cNvPr id="12" name="Text 10"/>
          <p:cNvSpPr/>
          <p:nvPr/>
        </p:nvSpPr>
        <p:spPr>
          <a:xfrm>
            <a:off x="6128068" y="2514600"/>
            <a:ext cx="5029200" cy="365760"/>
          </a:xfrm>
          <a:prstGeom prst="rect">
            <a:avLst/>
          </a:prstGeom>
          <a:noFill/>
          <a:ln/>
        </p:spPr>
        <p:txBody>
          <a:bodyPr wrap="square" rtlCol="0" anchor="ctr"/>
          <a:lstStyle/>
          <a:p>
            <a:r>
              <a:rPr lang="en-US" sz="1500" dirty="0">
                <a:solidFill>
                  <a:srgbClr val="1A1A1A"/>
                </a:solidFill>
                <a:latin typeface="Arial" pitchFamily="34" charset="0"/>
                <a:ea typeface="Arial" pitchFamily="34" charset="-122"/>
                <a:cs typeface="Arial" pitchFamily="34" charset="-120"/>
              </a:rPr>
              <a:t>Eccrine sweat glands</a:t>
            </a:r>
            <a:endParaRPr lang="en-US" sz="1500" dirty="0"/>
          </a:p>
        </p:txBody>
      </p:sp>
      <p:sp>
        <p:nvSpPr>
          <p:cNvPr id="13" name="Text 11"/>
          <p:cNvSpPr/>
          <p:nvPr/>
        </p:nvSpPr>
        <p:spPr>
          <a:xfrm>
            <a:off x="6128068" y="2971800"/>
            <a:ext cx="2286000" cy="365760"/>
          </a:xfrm>
          <a:prstGeom prst="rect">
            <a:avLst/>
          </a:prstGeom>
          <a:noFill/>
          <a:ln/>
        </p:spPr>
        <p:txBody>
          <a:bodyPr wrap="square" rtlCol="0" anchor="ctr"/>
          <a:lstStyle/>
          <a:p>
            <a:r>
              <a:rPr lang="en-US" sz="1300" b="1" dirty="0">
                <a:solidFill>
                  <a:srgbClr val="666666"/>
                </a:solidFill>
                <a:latin typeface="Arial" pitchFamily="34" charset="0"/>
                <a:ea typeface="Arial" pitchFamily="34" charset="-122"/>
                <a:cs typeface="Arial" pitchFamily="34" charset="-120"/>
              </a:rPr>
              <a:t>Controlled By</a:t>
            </a:r>
            <a:endParaRPr lang="en-US" sz="1300" dirty="0"/>
          </a:p>
        </p:txBody>
      </p:sp>
      <p:sp>
        <p:nvSpPr>
          <p:cNvPr id="14" name="Text 12"/>
          <p:cNvSpPr/>
          <p:nvPr/>
        </p:nvSpPr>
        <p:spPr>
          <a:xfrm>
            <a:off x="6128068" y="3291840"/>
            <a:ext cx="5029200" cy="365760"/>
          </a:xfrm>
          <a:prstGeom prst="rect">
            <a:avLst/>
          </a:prstGeom>
          <a:noFill/>
          <a:ln/>
        </p:spPr>
        <p:txBody>
          <a:bodyPr wrap="square" rtlCol="0" anchor="ctr"/>
          <a:lstStyle/>
          <a:p>
            <a:r>
              <a:rPr lang="en-US" sz="1500" dirty="0">
                <a:solidFill>
                  <a:srgbClr val="1A1A1A"/>
                </a:solidFill>
                <a:latin typeface="Arial" pitchFamily="34" charset="0"/>
                <a:ea typeface="Arial" pitchFamily="34" charset="-122"/>
                <a:cs typeface="Arial" pitchFamily="34" charset="-120"/>
              </a:rPr>
              <a:t>Sympathetic nervous system</a:t>
            </a:r>
            <a:endParaRPr lang="en-US" sz="1500" dirty="0"/>
          </a:p>
        </p:txBody>
      </p:sp>
      <p:sp>
        <p:nvSpPr>
          <p:cNvPr id="15" name="Text 13"/>
          <p:cNvSpPr/>
          <p:nvPr/>
        </p:nvSpPr>
        <p:spPr>
          <a:xfrm>
            <a:off x="6128068" y="3749040"/>
            <a:ext cx="2286000" cy="365760"/>
          </a:xfrm>
          <a:prstGeom prst="rect">
            <a:avLst/>
          </a:prstGeom>
          <a:noFill/>
          <a:ln/>
        </p:spPr>
        <p:txBody>
          <a:bodyPr wrap="square" rtlCol="0" anchor="ctr"/>
          <a:lstStyle/>
          <a:p>
            <a:r>
              <a:rPr lang="en-US" sz="1300" b="1" dirty="0">
                <a:solidFill>
                  <a:srgbClr val="666666"/>
                </a:solidFill>
                <a:latin typeface="Arial" pitchFamily="34" charset="0"/>
                <a:ea typeface="Arial" pitchFamily="34" charset="-122"/>
                <a:cs typeface="Arial" pitchFamily="34" charset="-120"/>
              </a:rPr>
              <a:t>Reflects</a:t>
            </a:r>
            <a:endParaRPr lang="en-US" sz="1300" dirty="0"/>
          </a:p>
        </p:txBody>
      </p:sp>
      <p:sp>
        <p:nvSpPr>
          <p:cNvPr id="16" name="Text 14"/>
          <p:cNvSpPr/>
          <p:nvPr/>
        </p:nvSpPr>
        <p:spPr>
          <a:xfrm>
            <a:off x="6128068" y="4069080"/>
            <a:ext cx="5029200" cy="365760"/>
          </a:xfrm>
          <a:prstGeom prst="rect">
            <a:avLst/>
          </a:prstGeom>
          <a:noFill/>
          <a:ln/>
        </p:spPr>
        <p:txBody>
          <a:bodyPr wrap="square" rtlCol="0" anchor="ctr"/>
          <a:lstStyle/>
          <a:p>
            <a:r>
              <a:rPr lang="en-US" sz="1500" dirty="0">
                <a:solidFill>
                  <a:srgbClr val="1A1A1A"/>
                </a:solidFill>
                <a:latin typeface="Arial" pitchFamily="34" charset="0"/>
                <a:ea typeface="Arial" pitchFamily="34" charset="-122"/>
                <a:cs typeface="Arial" pitchFamily="34" charset="-120"/>
              </a:rPr>
              <a:t>Psychological/physiological arousal</a:t>
            </a:r>
            <a:endParaRPr lang="en-US" sz="1500" dirty="0"/>
          </a:p>
        </p:txBody>
      </p:sp>
      <p:sp>
        <p:nvSpPr>
          <p:cNvPr id="17" name="Text 15"/>
          <p:cNvSpPr/>
          <p:nvPr/>
        </p:nvSpPr>
        <p:spPr>
          <a:xfrm>
            <a:off x="6128068" y="4526280"/>
            <a:ext cx="2286000" cy="365760"/>
          </a:xfrm>
          <a:prstGeom prst="rect">
            <a:avLst/>
          </a:prstGeom>
          <a:noFill/>
          <a:ln/>
        </p:spPr>
        <p:txBody>
          <a:bodyPr wrap="square" rtlCol="0" anchor="ctr"/>
          <a:lstStyle/>
          <a:p>
            <a:r>
              <a:rPr lang="en-US" sz="1300" b="1" dirty="0">
                <a:solidFill>
                  <a:srgbClr val="666666"/>
                </a:solidFill>
                <a:latin typeface="Arial" pitchFamily="34" charset="0"/>
                <a:ea typeface="Arial" pitchFamily="34" charset="-122"/>
                <a:cs typeface="Arial" pitchFamily="34" charset="-120"/>
              </a:rPr>
              <a:t>Amplitude</a:t>
            </a:r>
            <a:endParaRPr lang="en-US" sz="1300" dirty="0"/>
          </a:p>
        </p:txBody>
      </p:sp>
      <p:sp>
        <p:nvSpPr>
          <p:cNvPr id="18" name="Text 16"/>
          <p:cNvSpPr/>
          <p:nvPr/>
        </p:nvSpPr>
        <p:spPr>
          <a:xfrm>
            <a:off x="6128068" y="4846320"/>
            <a:ext cx="5029200" cy="365760"/>
          </a:xfrm>
          <a:prstGeom prst="rect">
            <a:avLst/>
          </a:prstGeom>
          <a:noFill/>
          <a:ln/>
        </p:spPr>
        <p:txBody>
          <a:bodyPr wrap="square" rtlCol="0" anchor="ctr"/>
          <a:lstStyle/>
          <a:p>
            <a:r>
              <a:rPr lang="en-US" sz="1500" dirty="0">
                <a:solidFill>
                  <a:srgbClr val="1A1A1A"/>
                </a:solidFill>
                <a:latin typeface="Arial" pitchFamily="34" charset="0"/>
                <a:ea typeface="Arial" pitchFamily="34" charset="-122"/>
                <a:cs typeface="Arial" pitchFamily="34" charset="-120"/>
              </a:rPr>
              <a:t>0.1 - 30 μS (microsiemens)</a:t>
            </a:r>
            <a:endParaRPr lang="en-US" sz="1500" dirty="0"/>
          </a:p>
        </p:txBody>
      </p:sp>
      <p:sp>
        <p:nvSpPr>
          <p:cNvPr id="19" name="Text 17"/>
          <p:cNvSpPr/>
          <p:nvPr/>
        </p:nvSpPr>
        <p:spPr>
          <a:xfrm>
            <a:off x="6128068" y="5303520"/>
            <a:ext cx="2286000" cy="365760"/>
          </a:xfrm>
          <a:prstGeom prst="rect">
            <a:avLst/>
          </a:prstGeom>
          <a:noFill/>
          <a:ln/>
        </p:spPr>
        <p:txBody>
          <a:bodyPr wrap="square" rtlCol="0" anchor="ctr"/>
          <a:lstStyle/>
          <a:p>
            <a:r>
              <a:rPr lang="en-US" sz="1300" b="1" dirty="0">
                <a:solidFill>
                  <a:srgbClr val="666666"/>
                </a:solidFill>
                <a:latin typeface="Arial" pitchFamily="34" charset="0"/>
                <a:ea typeface="Arial" pitchFamily="34" charset="-122"/>
                <a:cs typeface="Arial" pitchFamily="34" charset="-120"/>
              </a:rPr>
              <a:t>Response Latency</a:t>
            </a:r>
            <a:endParaRPr lang="en-US" sz="1300" dirty="0"/>
          </a:p>
        </p:txBody>
      </p:sp>
      <p:sp>
        <p:nvSpPr>
          <p:cNvPr id="20" name="Text 18"/>
          <p:cNvSpPr/>
          <p:nvPr/>
        </p:nvSpPr>
        <p:spPr>
          <a:xfrm>
            <a:off x="6128068" y="5623560"/>
            <a:ext cx="5029200" cy="365760"/>
          </a:xfrm>
          <a:prstGeom prst="rect">
            <a:avLst/>
          </a:prstGeom>
          <a:noFill/>
          <a:ln/>
        </p:spPr>
        <p:txBody>
          <a:bodyPr wrap="square" rtlCol="0" anchor="ctr"/>
          <a:lstStyle/>
          <a:p>
            <a:r>
              <a:rPr lang="en-US" sz="1500" dirty="0">
                <a:solidFill>
                  <a:srgbClr val="1A1A1A"/>
                </a:solidFill>
                <a:latin typeface="Arial" pitchFamily="34" charset="0"/>
                <a:ea typeface="Arial" pitchFamily="34" charset="-122"/>
                <a:cs typeface="Arial" pitchFamily="34" charset="-120"/>
              </a:rPr>
              <a:t>1-3 seconds after stimulus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2599822" y="114858"/>
            <a:ext cx="10972800" cy="640080"/>
          </a:xfrm>
          <a:prstGeom prst="rect">
            <a:avLst/>
          </a:prstGeom>
          <a:noFill/>
          <a:ln/>
        </p:spPr>
        <p:txBody>
          <a:bodyPr wrap="square" rtlCol="0" anchor="ctr"/>
          <a:lstStyle/>
          <a:p>
            <a:r>
              <a:rPr lang="en-US" sz="3600" b="1" dirty="0">
                <a:solidFill>
                  <a:schemeClr val="bg1"/>
                </a:solidFill>
                <a:latin typeface="Arial Black" pitchFamily="34" charset="0"/>
                <a:ea typeface="Arial Black" pitchFamily="34" charset="-122"/>
                <a:cs typeface="Arial Black" pitchFamily="34" charset="-120"/>
              </a:rPr>
              <a:t>Skin Anatomy &amp; Sweat Glands</a:t>
            </a:r>
            <a:endParaRPr lang="en-US" sz="3600" dirty="0">
              <a:solidFill>
                <a:schemeClr val="bg1"/>
              </a:solidFill>
            </a:endParaRPr>
          </a:p>
        </p:txBody>
      </p:sp>
      <p:sp>
        <p:nvSpPr>
          <p:cNvPr id="4" name="Text 2"/>
          <p:cNvSpPr/>
          <p:nvPr/>
        </p:nvSpPr>
        <p:spPr>
          <a:xfrm>
            <a:off x="458788" y="1097280"/>
            <a:ext cx="10972800" cy="365760"/>
          </a:xfrm>
          <a:prstGeom prst="rect">
            <a:avLst/>
          </a:prstGeom>
          <a:noFill/>
          <a:ln/>
        </p:spPr>
        <p:txBody>
          <a:bodyPr wrap="square" rtlCol="0" anchor="ctr"/>
          <a:lstStyle/>
          <a:p>
            <a:r>
              <a:rPr lang="en-US" sz="1600" dirty="0">
                <a:solidFill>
                  <a:srgbClr val="666666"/>
                </a:solidFill>
                <a:latin typeface="Arial" pitchFamily="34" charset="0"/>
                <a:ea typeface="Arial" pitchFamily="34" charset="-122"/>
                <a:cs typeface="Arial" pitchFamily="34" charset="-120"/>
              </a:rPr>
              <a:t>The physiological basis of electrodermal activity</a:t>
            </a:r>
            <a:endParaRPr lang="en-US" sz="1600" dirty="0"/>
          </a:p>
        </p:txBody>
      </p:sp>
      <p:sp>
        <p:nvSpPr>
          <p:cNvPr id="5" name="Shape 3"/>
          <p:cNvSpPr/>
          <p:nvPr/>
        </p:nvSpPr>
        <p:spPr>
          <a:xfrm>
            <a:off x="458788" y="1645920"/>
            <a:ext cx="5303520" cy="2560320"/>
          </a:xfrm>
          <a:prstGeom prst="roundRect">
            <a:avLst/>
          </a:prstGeom>
          <a:solidFill>
            <a:srgbClr val="F5F5F5"/>
          </a:solidFill>
          <a:ln/>
        </p:spPr>
        <p:txBody>
          <a:bodyPr/>
          <a:lstStyle/>
          <a:p>
            <a:endParaRPr lang="en-US"/>
          </a:p>
        </p:txBody>
      </p:sp>
      <p:sp>
        <p:nvSpPr>
          <p:cNvPr id="6" name="Text 4"/>
          <p:cNvSpPr/>
          <p:nvPr/>
        </p:nvSpPr>
        <p:spPr>
          <a:xfrm>
            <a:off x="641668" y="1828800"/>
            <a:ext cx="4937760" cy="365760"/>
          </a:xfrm>
          <a:prstGeom prst="rect">
            <a:avLst/>
          </a:prstGeom>
          <a:noFill/>
          <a:ln/>
        </p:spPr>
        <p:txBody>
          <a:bodyPr wrap="square" rtlCol="0" anchor="ctr"/>
          <a:lstStyle/>
          <a:p>
            <a:r>
              <a:rPr lang="en-US" b="1" dirty="0">
                <a:solidFill>
                  <a:srgbClr val="F76902"/>
                </a:solidFill>
                <a:latin typeface="Arial" pitchFamily="34" charset="0"/>
                <a:ea typeface="Arial" pitchFamily="34" charset="-122"/>
                <a:cs typeface="Arial" pitchFamily="34" charset="-120"/>
              </a:rPr>
              <a:t>Eccrine Sweat Glands</a:t>
            </a:r>
            <a:endParaRPr lang="en-US" dirty="0"/>
          </a:p>
        </p:txBody>
      </p:sp>
      <p:sp>
        <p:nvSpPr>
          <p:cNvPr id="7" name="Text 5"/>
          <p:cNvSpPr/>
          <p:nvPr/>
        </p:nvSpPr>
        <p:spPr>
          <a:xfrm>
            <a:off x="641668" y="2286000"/>
            <a:ext cx="4937760" cy="1828800"/>
          </a:xfrm>
          <a:prstGeom prst="rect">
            <a:avLst/>
          </a:prstGeom>
          <a:noFill/>
          <a:ln/>
        </p:spPr>
        <p:txBody>
          <a:bodyPr wrap="square" rtlCol="0" anchor="ctr"/>
          <a:lstStyle/>
          <a:p>
            <a:r>
              <a:rPr lang="en-US" sz="1400" dirty="0">
                <a:solidFill>
                  <a:srgbClr val="1A1A1A"/>
                </a:solidFill>
                <a:latin typeface="Arial" pitchFamily="34" charset="0"/>
                <a:ea typeface="Arial" pitchFamily="34" charset="-122"/>
                <a:cs typeface="Arial" pitchFamily="34" charset="-120"/>
              </a:rPr>
              <a:t>• Highest density on palms and soles
• ~2,000-4,000 glands per cm² on palm
• Respond to emotional stimuli
• Innervated by sympathetic nervous system
• Secrete sweat containing electrolytes</a:t>
            </a:r>
            <a:endParaRPr lang="en-US" sz="1400" dirty="0"/>
          </a:p>
        </p:txBody>
      </p:sp>
      <p:sp>
        <p:nvSpPr>
          <p:cNvPr id="8" name="Shape 6"/>
          <p:cNvSpPr/>
          <p:nvPr/>
        </p:nvSpPr>
        <p:spPr>
          <a:xfrm>
            <a:off x="6128068" y="1645920"/>
            <a:ext cx="5303520" cy="2560320"/>
          </a:xfrm>
          <a:prstGeom prst="roundRect">
            <a:avLst/>
          </a:prstGeom>
          <a:solidFill>
            <a:srgbClr val="F5F5F5"/>
          </a:solidFill>
          <a:ln/>
        </p:spPr>
        <p:txBody>
          <a:bodyPr/>
          <a:lstStyle/>
          <a:p>
            <a:endParaRPr lang="en-US"/>
          </a:p>
        </p:txBody>
      </p:sp>
      <p:sp>
        <p:nvSpPr>
          <p:cNvPr id="9" name="Text 7"/>
          <p:cNvSpPr/>
          <p:nvPr/>
        </p:nvSpPr>
        <p:spPr>
          <a:xfrm>
            <a:off x="6310948" y="1828800"/>
            <a:ext cx="4937760" cy="365760"/>
          </a:xfrm>
          <a:prstGeom prst="rect">
            <a:avLst/>
          </a:prstGeom>
          <a:noFill/>
          <a:ln/>
        </p:spPr>
        <p:txBody>
          <a:bodyPr wrap="square" rtlCol="0" anchor="ctr"/>
          <a:lstStyle/>
          <a:p>
            <a:r>
              <a:rPr lang="en-US" b="1" dirty="0">
                <a:solidFill>
                  <a:srgbClr val="F76902"/>
                </a:solidFill>
                <a:latin typeface="Arial" pitchFamily="34" charset="0"/>
                <a:ea typeface="Arial" pitchFamily="34" charset="-122"/>
                <a:cs typeface="Arial" pitchFamily="34" charset="-120"/>
              </a:rPr>
              <a:t>Why the Palms?</a:t>
            </a:r>
            <a:endParaRPr lang="en-US" dirty="0"/>
          </a:p>
        </p:txBody>
      </p:sp>
      <p:sp>
        <p:nvSpPr>
          <p:cNvPr id="10" name="Text 8"/>
          <p:cNvSpPr/>
          <p:nvPr/>
        </p:nvSpPr>
        <p:spPr>
          <a:xfrm>
            <a:off x="6310948" y="2286000"/>
            <a:ext cx="4937760" cy="1828800"/>
          </a:xfrm>
          <a:prstGeom prst="rect">
            <a:avLst/>
          </a:prstGeom>
          <a:noFill/>
          <a:ln/>
        </p:spPr>
        <p:txBody>
          <a:bodyPr wrap="square" rtlCol="0" anchor="ctr"/>
          <a:lstStyle/>
          <a:p>
            <a:r>
              <a:rPr lang="en-US" sz="1400" dirty="0">
                <a:solidFill>
                  <a:srgbClr val="1A1A1A"/>
                </a:solidFill>
                <a:latin typeface="Arial" pitchFamily="34" charset="0"/>
                <a:ea typeface="Arial" pitchFamily="34" charset="-122"/>
                <a:cs typeface="Arial" pitchFamily="34" charset="-120"/>
              </a:rPr>
              <a:t>• Highest concentration of eccrine glands
• Most sensitive to emotional stimuli
• Easy electrode placement
• Minimal interference from movement
• Standard measurement location</a:t>
            </a:r>
            <a:endParaRPr lang="en-US" sz="1400" dirty="0"/>
          </a:p>
        </p:txBody>
      </p:sp>
      <p:sp>
        <p:nvSpPr>
          <p:cNvPr id="11" name="Shape 9"/>
          <p:cNvSpPr/>
          <p:nvPr/>
        </p:nvSpPr>
        <p:spPr>
          <a:xfrm>
            <a:off x="458788" y="4389120"/>
            <a:ext cx="11274552" cy="1645920"/>
          </a:xfrm>
          <a:prstGeom prst="roundRect">
            <a:avLst/>
          </a:prstGeom>
          <a:solidFill>
            <a:srgbClr val="1A1A1A"/>
          </a:solidFill>
          <a:ln/>
        </p:spPr>
        <p:txBody>
          <a:bodyPr/>
          <a:lstStyle/>
          <a:p>
            <a:endParaRPr lang="en-US"/>
          </a:p>
        </p:txBody>
      </p:sp>
      <p:sp>
        <p:nvSpPr>
          <p:cNvPr id="12" name="Text 10"/>
          <p:cNvSpPr/>
          <p:nvPr/>
        </p:nvSpPr>
        <p:spPr>
          <a:xfrm>
            <a:off x="641668" y="4572000"/>
            <a:ext cx="10881360" cy="365760"/>
          </a:xfrm>
          <a:prstGeom prst="rect">
            <a:avLst/>
          </a:prstGeom>
          <a:noFill/>
          <a:ln/>
        </p:spPr>
        <p:txBody>
          <a:bodyPr wrap="square" rtlCol="0" anchor="ctr"/>
          <a:lstStyle/>
          <a:p>
            <a:r>
              <a:rPr lang="en-US" sz="1600" b="1" dirty="0">
                <a:solidFill>
                  <a:srgbClr val="F76902"/>
                </a:solidFill>
                <a:latin typeface="Arial" pitchFamily="34" charset="0"/>
                <a:ea typeface="Arial" pitchFamily="34" charset="-122"/>
                <a:cs typeface="Arial" pitchFamily="34" charset="-120"/>
              </a:rPr>
              <a:t>Measurement Principle</a:t>
            </a:r>
            <a:endParaRPr lang="en-US" sz="1600" dirty="0"/>
          </a:p>
        </p:txBody>
      </p:sp>
      <p:sp>
        <p:nvSpPr>
          <p:cNvPr id="13" name="Text 11"/>
          <p:cNvSpPr/>
          <p:nvPr/>
        </p:nvSpPr>
        <p:spPr>
          <a:xfrm>
            <a:off x="641668" y="4983480"/>
            <a:ext cx="10881360" cy="914400"/>
          </a:xfrm>
          <a:prstGeom prst="rect">
            <a:avLst/>
          </a:prstGeom>
          <a:noFill/>
          <a:ln/>
        </p:spPr>
        <p:txBody>
          <a:bodyPr wrap="square" rtlCol="0" anchor="ctr"/>
          <a:lstStyle/>
          <a:p>
            <a:r>
              <a:rPr lang="en-US" sz="1400" dirty="0">
                <a:solidFill>
                  <a:srgbClr val="FFFFFF"/>
                </a:solidFill>
                <a:latin typeface="Arial" pitchFamily="34" charset="0"/>
                <a:ea typeface="Arial" pitchFamily="34" charset="-122"/>
                <a:cs typeface="Arial" pitchFamily="34" charset="-120"/>
              </a:rPr>
              <a:t>A small constant voltage (typically 0.5V DC) is applied between two electrodes. As sweat fills the ducts, the ionic solution creates conductive pathways, increasing skin conductance. This change is measured in microsiemens (μS).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2042261" y="103706"/>
            <a:ext cx="10972800" cy="640080"/>
          </a:xfrm>
          <a:prstGeom prst="rect">
            <a:avLst/>
          </a:prstGeom>
          <a:noFill/>
          <a:ln/>
        </p:spPr>
        <p:txBody>
          <a:bodyPr wrap="square" rtlCol="0" anchor="ctr"/>
          <a:lstStyle/>
          <a:p>
            <a:r>
              <a:rPr lang="en-US" sz="3600" b="1" dirty="0">
                <a:solidFill>
                  <a:schemeClr val="bg1"/>
                </a:solidFill>
                <a:latin typeface="Arial Black" pitchFamily="34" charset="0"/>
                <a:ea typeface="Arial Black" pitchFamily="34" charset="-122"/>
                <a:cs typeface="Arial Black" pitchFamily="34" charset="-120"/>
              </a:rPr>
              <a:t>Tonic vs Phasic Components</a:t>
            </a:r>
            <a:endParaRPr lang="en-US" sz="3600" dirty="0">
              <a:solidFill>
                <a:schemeClr val="bg1"/>
              </a:solidFill>
            </a:endParaRPr>
          </a:p>
        </p:txBody>
      </p:sp>
      <p:sp>
        <p:nvSpPr>
          <p:cNvPr id="4" name="Text 2"/>
          <p:cNvSpPr/>
          <p:nvPr/>
        </p:nvSpPr>
        <p:spPr>
          <a:xfrm>
            <a:off x="458788" y="1097280"/>
            <a:ext cx="10972800" cy="365760"/>
          </a:xfrm>
          <a:prstGeom prst="rect">
            <a:avLst/>
          </a:prstGeom>
          <a:noFill/>
          <a:ln/>
        </p:spPr>
        <p:txBody>
          <a:bodyPr wrap="square" rtlCol="0" anchor="ctr"/>
          <a:lstStyle/>
          <a:p>
            <a:r>
              <a:rPr lang="en-US" sz="1600" dirty="0">
                <a:solidFill>
                  <a:srgbClr val="666666"/>
                </a:solidFill>
                <a:latin typeface="Arial" pitchFamily="34" charset="0"/>
                <a:ea typeface="Arial" pitchFamily="34" charset="-122"/>
                <a:cs typeface="Arial" pitchFamily="34" charset="-120"/>
              </a:rPr>
              <a:t>Two distinct aspects of the GSR signal</a:t>
            </a:r>
            <a:endParaRPr lang="en-US" sz="1600" dirty="0"/>
          </a:p>
        </p:txBody>
      </p:sp>
      <p:sp>
        <p:nvSpPr>
          <p:cNvPr id="5" name="Shape 3"/>
          <p:cNvSpPr/>
          <p:nvPr/>
        </p:nvSpPr>
        <p:spPr>
          <a:xfrm>
            <a:off x="458788" y="1645920"/>
            <a:ext cx="5303520" cy="4389120"/>
          </a:xfrm>
          <a:prstGeom prst="roundRect">
            <a:avLst/>
          </a:prstGeom>
          <a:solidFill>
            <a:srgbClr val="F5F5F5"/>
          </a:solidFill>
          <a:ln/>
        </p:spPr>
        <p:txBody>
          <a:bodyPr/>
          <a:lstStyle/>
          <a:p>
            <a:endParaRPr lang="en-US"/>
          </a:p>
        </p:txBody>
      </p:sp>
      <p:sp>
        <p:nvSpPr>
          <p:cNvPr id="6" name="Text 4"/>
          <p:cNvSpPr/>
          <p:nvPr/>
        </p:nvSpPr>
        <p:spPr>
          <a:xfrm>
            <a:off x="641668" y="1828800"/>
            <a:ext cx="4937760" cy="365760"/>
          </a:xfrm>
          <a:prstGeom prst="rect">
            <a:avLst/>
          </a:prstGeom>
          <a:noFill/>
          <a:ln/>
        </p:spPr>
        <p:txBody>
          <a:bodyPr wrap="square" rtlCol="0" anchor="ctr"/>
          <a:lstStyle/>
          <a:p>
            <a:r>
              <a:rPr lang="en-US" sz="2000" b="1" dirty="0">
                <a:solidFill>
                  <a:srgbClr val="F76902"/>
                </a:solidFill>
                <a:latin typeface="Arial" pitchFamily="34" charset="0"/>
                <a:ea typeface="Arial" pitchFamily="34" charset="-122"/>
                <a:cs typeface="Arial" pitchFamily="34" charset="-120"/>
              </a:rPr>
              <a:t>Tonic Component</a:t>
            </a:r>
            <a:endParaRPr lang="en-US" sz="2000" dirty="0"/>
          </a:p>
        </p:txBody>
      </p:sp>
      <p:sp>
        <p:nvSpPr>
          <p:cNvPr id="7" name="Text 5"/>
          <p:cNvSpPr/>
          <p:nvPr/>
        </p:nvSpPr>
        <p:spPr>
          <a:xfrm>
            <a:off x="641668" y="2286000"/>
            <a:ext cx="4937760" cy="274320"/>
          </a:xfrm>
          <a:prstGeom prst="rect">
            <a:avLst/>
          </a:prstGeom>
          <a:noFill/>
          <a:ln/>
        </p:spPr>
        <p:txBody>
          <a:bodyPr wrap="square" rtlCol="0" anchor="ctr"/>
          <a:lstStyle/>
          <a:p>
            <a:r>
              <a:rPr lang="en-US" sz="1400" b="1" dirty="0">
                <a:solidFill>
                  <a:srgbClr val="1A1A1A"/>
                </a:solidFill>
                <a:latin typeface="Arial" pitchFamily="34" charset="0"/>
                <a:ea typeface="Arial" pitchFamily="34" charset="-122"/>
                <a:cs typeface="Arial" pitchFamily="34" charset="-120"/>
              </a:rPr>
              <a:t>Skin Conductance Level (SCL)</a:t>
            </a:r>
            <a:endParaRPr lang="en-US" sz="1400" dirty="0"/>
          </a:p>
        </p:txBody>
      </p:sp>
      <p:sp>
        <p:nvSpPr>
          <p:cNvPr id="8" name="Text 6"/>
          <p:cNvSpPr/>
          <p:nvPr/>
        </p:nvSpPr>
        <p:spPr>
          <a:xfrm>
            <a:off x="641668" y="2651760"/>
            <a:ext cx="4937760" cy="2286000"/>
          </a:xfrm>
          <a:prstGeom prst="rect">
            <a:avLst/>
          </a:prstGeom>
          <a:noFill/>
          <a:ln/>
        </p:spPr>
        <p:txBody>
          <a:bodyPr wrap="square" rtlCol="0" anchor="ctr"/>
          <a:lstStyle/>
          <a:p>
            <a:pPr>
              <a:lnSpc>
                <a:spcPts val="2200"/>
              </a:lnSpc>
            </a:pPr>
            <a:r>
              <a:rPr lang="en-US" sz="1400" dirty="0">
                <a:solidFill>
                  <a:srgbClr val="1A1A1A"/>
                </a:solidFill>
                <a:latin typeface="Arial" pitchFamily="34" charset="0"/>
                <a:ea typeface="Arial" pitchFamily="34" charset="-122"/>
                <a:cs typeface="Arial" pitchFamily="34" charset="-120"/>
              </a:rPr>
              <a:t>• Slow-changing baseline conductance
• Changes over minutes to hours
• Reflects general arousal state
• High individual variability
• Typically 2-20 μS range
• Useful for overall stress levels</a:t>
            </a:r>
            <a:endParaRPr lang="en-US" sz="1400" dirty="0"/>
          </a:p>
        </p:txBody>
      </p:sp>
      <p:sp>
        <p:nvSpPr>
          <p:cNvPr id="9" name="Text 7"/>
          <p:cNvSpPr/>
          <p:nvPr/>
        </p:nvSpPr>
        <p:spPr>
          <a:xfrm>
            <a:off x="641668" y="5303520"/>
            <a:ext cx="4937760" cy="457200"/>
          </a:xfrm>
          <a:prstGeom prst="rect">
            <a:avLst/>
          </a:prstGeom>
          <a:noFill/>
          <a:ln/>
        </p:spPr>
        <p:txBody>
          <a:bodyPr wrap="square" rtlCol="0" anchor="ctr"/>
          <a:lstStyle/>
          <a:p>
            <a:r>
              <a:rPr lang="en-US" sz="1200" i="1" dirty="0">
                <a:solidFill>
                  <a:srgbClr val="666666"/>
                </a:solidFill>
                <a:latin typeface="Arial" pitchFamily="34" charset="0"/>
                <a:ea typeface="Arial" pitchFamily="34" charset="-122"/>
                <a:cs typeface="Arial" pitchFamily="34" charset="-120"/>
              </a:rPr>
              <a:t>Think of it as the "background" arousal level</a:t>
            </a:r>
            <a:endParaRPr lang="en-US" sz="1200" dirty="0"/>
          </a:p>
        </p:txBody>
      </p:sp>
      <p:sp>
        <p:nvSpPr>
          <p:cNvPr id="10" name="Shape 8"/>
          <p:cNvSpPr/>
          <p:nvPr/>
        </p:nvSpPr>
        <p:spPr>
          <a:xfrm>
            <a:off x="6128068" y="1645920"/>
            <a:ext cx="5303520" cy="4389120"/>
          </a:xfrm>
          <a:prstGeom prst="roundRect">
            <a:avLst/>
          </a:prstGeom>
          <a:solidFill>
            <a:srgbClr val="1A1A1A"/>
          </a:solidFill>
          <a:ln/>
        </p:spPr>
        <p:txBody>
          <a:bodyPr/>
          <a:lstStyle/>
          <a:p>
            <a:endParaRPr lang="en-US"/>
          </a:p>
        </p:txBody>
      </p:sp>
      <p:sp>
        <p:nvSpPr>
          <p:cNvPr id="11" name="Text 9"/>
          <p:cNvSpPr/>
          <p:nvPr/>
        </p:nvSpPr>
        <p:spPr>
          <a:xfrm>
            <a:off x="6310948" y="1828800"/>
            <a:ext cx="4937760" cy="365760"/>
          </a:xfrm>
          <a:prstGeom prst="rect">
            <a:avLst/>
          </a:prstGeom>
          <a:noFill/>
          <a:ln/>
        </p:spPr>
        <p:txBody>
          <a:bodyPr wrap="square" rtlCol="0" anchor="ctr"/>
          <a:lstStyle/>
          <a:p>
            <a:r>
              <a:rPr lang="en-US" sz="2000" b="1" dirty="0">
                <a:solidFill>
                  <a:srgbClr val="F76902"/>
                </a:solidFill>
                <a:latin typeface="Arial" pitchFamily="34" charset="0"/>
                <a:ea typeface="Arial" pitchFamily="34" charset="-122"/>
                <a:cs typeface="Arial" pitchFamily="34" charset="-120"/>
              </a:rPr>
              <a:t>Phasic Component</a:t>
            </a:r>
            <a:endParaRPr lang="en-US" sz="2000" dirty="0"/>
          </a:p>
        </p:txBody>
      </p:sp>
      <p:sp>
        <p:nvSpPr>
          <p:cNvPr id="12" name="Text 10"/>
          <p:cNvSpPr/>
          <p:nvPr/>
        </p:nvSpPr>
        <p:spPr>
          <a:xfrm>
            <a:off x="6310948" y="2286000"/>
            <a:ext cx="4937760" cy="274320"/>
          </a:xfrm>
          <a:prstGeom prst="rect">
            <a:avLst/>
          </a:prstGeom>
          <a:noFill/>
          <a:ln/>
        </p:spPr>
        <p:txBody>
          <a:bodyPr wrap="square" rtlCol="0" anchor="ctr"/>
          <a:lstStyle/>
          <a:p>
            <a:r>
              <a:rPr lang="en-US" sz="1400" b="1" dirty="0">
                <a:solidFill>
                  <a:srgbClr val="FFFFFF"/>
                </a:solidFill>
                <a:latin typeface="Arial" pitchFamily="34" charset="0"/>
                <a:ea typeface="Arial" pitchFamily="34" charset="-122"/>
                <a:cs typeface="Arial" pitchFamily="34" charset="-120"/>
              </a:rPr>
              <a:t>Skin Conductance Response (SCR)</a:t>
            </a:r>
            <a:endParaRPr lang="en-US" sz="1400" dirty="0"/>
          </a:p>
        </p:txBody>
      </p:sp>
      <p:sp>
        <p:nvSpPr>
          <p:cNvPr id="13" name="Text 11"/>
          <p:cNvSpPr/>
          <p:nvPr/>
        </p:nvSpPr>
        <p:spPr>
          <a:xfrm>
            <a:off x="6310948" y="2651760"/>
            <a:ext cx="4937760" cy="2286000"/>
          </a:xfrm>
          <a:prstGeom prst="rect">
            <a:avLst/>
          </a:prstGeom>
          <a:noFill/>
          <a:ln/>
        </p:spPr>
        <p:txBody>
          <a:bodyPr wrap="square" rtlCol="0" anchor="ctr"/>
          <a:lstStyle/>
          <a:p>
            <a:pPr>
              <a:lnSpc>
                <a:spcPts val="2200"/>
              </a:lnSpc>
            </a:pPr>
            <a:r>
              <a:rPr lang="en-US" sz="1400" dirty="0">
                <a:solidFill>
                  <a:srgbClr val="FFFFFF"/>
                </a:solidFill>
                <a:latin typeface="Arial" pitchFamily="34" charset="0"/>
                <a:ea typeface="Arial" pitchFamily="34" charset="-122"/>
                <a:cs typeface="Arial" pitchFamily="34" charset="-120"/>
              </a:rPr>
              <a:t>• Rapid, event-related changes
• Onset 1-3 seconds after stimulus
• Duration 1-5 seconds
• Amplitude 0.1-1.0 μS typical
• More consistent across individuals
• Used for event-related analysis</a:t>
            </a:r>
            <a:endParaRPr lang="en-US" sz="1400" dirty="0"/>
          </a:p>
        </p:txBody>
      </p:sp>
      <p:sp>
        <p:nvSpPr>
          <p:cNvPr id="14" name="Text 12"/>
          <p:cNvSpPr/>
          <p:nvPr/>
        </p:nvSpPr>
        <p:spPr>
          <a:xfrm>
            <a:off x="6310948" y="5303520"/>
            <a:ext cx="4937760" cy="457200"/>
          </a:xfrm>
          <a:prstGeom prst="rect">
            <a:avLst/>
          </a:prstGeom>
          <a:noFill/>
          <a:ln/>
        </p:spPr>
        <p:txBody>
          <a:bodyPr wrap="square" rtlCol="0" anchor="ctr"/>
          <a:lstStyle/>
          <a:p>
            <a:r>
              <a:rPr lang="en-US" sz="1200" i="1" dirty="0">
                <a:solidFill>
                  <a:schemeClr val="bg1"/>
                </a:solidFill>
                <a:latin typeface="Arial" pitchFamily="34" charset="0"/>
                <a:ea typeface="Arial" pitchFamily="34" charset="-122"/>
                <a:cs typeface="Arial" pitchFamily="34" charset="-120"/>
              </a:rPr>
              <a:t>Think of it as "spikes" in response to events</a:t>
            </a:r>
            <a:endParaRPr lang="en-US" sz="1200" dirty="0">
              <a:solidFill>
                <a:schemeClr val="bg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2058988" y="160578"/>
            <a:ext cx="10972800" cy="640080"/>
          </a:xfrm>
          <a:prstGeom prst="rect">
            <a:avLst/>
          </a:prstGeom>
          <a:noFill/>
          <a:ln/>
        </p:spPr>
        <p:txBody>
          <a:bodyPr wrap="square" rtlCol="0" anchor="ctr"/>
          <a:lstStyle/>
          <a:p>
            <a:r>
              <a:rPr lang="en-US" sz="3600" b="1" dirty="0">
                <a:solidFill>
                  <a:schemeClr val="bg1"/>
                </a:solidFill>
                <a:latin typeface="Arial Black" pitchFamily="34" charset="0"/>
                <a:ea typeface="Arial Black" pitchFamily="34" charset="-122"/>
                <a:cs typeface="Arial Black" pitchFamily="34" charset="-120"/>
              </a:rPr>
              <a:t>SCR Characteristics</a:t>
            </a:r>
            <a:endParaRPr lang="en-US" sz="3600" dirty="0">
              <a:solidFill>
                <a:schemeClr val="bg1"/>
              </a:solidFill>
            </a:endParaRPr>
          </a:p>
        </p:txBody>
      </p:sp>
      <p:sp>
        <p:nvSpPr>
          <p:cNvPr id="4" name="Text 2"/>
          <p:cNvSpPr/>
          <p:nvPr/>
        </p:nvSpPr>
        <p:spPr>
          <a:xfrm>
            <a:off x="458788" y="1097280"/>
            <a:ext cx="10972800" cy="365760"/>
          </a:xfrm>
          <a:prstGeom prst="rect">
            <a:avLst/>
          </a:prstGeom>
          <a:noFill/>
          <a:ln/>
        </p:spPr>
        <p:txBody>
          <a:bodyPr wrap="square" rtlCol="0" anchor="ctr"/>
          <a:lstStyle/>
          <a:p>
            <a:r>
              <a:rPr lang="en-US" sz="1600" dirty="0">
                <a:solidFill>
                  <a:srgbClr val="666666"/>
                </a:solidFill>
                <a:latin typeface="Arial" pitchFamily="34" charset="0"/>
                <a:ea typeface="Arial" pitchFamily="34" charset="-122"/>
                <a:cs typeface="Arial" pitchFamily="34" charset="-120"/>
              </a:rPr>
              <a:t>Anatomy of a skin conductance response</a:t>
            </a:r>
            <a:endParaRPr lang="en-US" sz="1600" dirty="0"/>
          </a:p>
        </p:txBody>
      </p:sp>
      <p:sp>
        <p:nvSpPr>
          <p:cNvPr id="14" name="Text 12"/>
          <p:cNvSpPr/>
          <p:nvPr/>
        </p:nvSpPr>
        <p:spPr>
          <a:xfrm>
            <a:off x="6219508" y="1645920"/>
            <a:ext cx="5303520" cy="365760"/>
          </a:xfrm>
          <a:prstGeom prst="rect">
            <a:avLst/>
          </a:prstGeom>
          <a:noFill/>
          <a:ln/>
        </p:spPr>
        <p:txBody>
          <a:bodyPr wrap="square" rtlCol="0" anchor="ctr"/>
          <a:lstStyle/>
          <a:p>
            <a:r>
              <a:rPr lang="en-US" b="1" dirty="0">
                <a:solidFill>
                  <a:srgbClr val="1A1A1A"/>
                </a:solidFill>
                <a:latin typeface="Arial" pitchFamily="34" charset="0"/>
                <a:ea typeface="Arial" pitchFamily="34" charset="-122"/>
                <a:cs typeface="Arial" pitchFamily="34" charset="-120"/>
              </a:rPr>
              <a:t>Key Parameters</a:t>
            </a:r>
            <a:endParaRPr lang="en-US" dirty="0"/>
          </a:p>
        </p:txBody>
      </p:sp>
      <p:sp>
        <p:nvSpPr>
          <p:cNvPr id="15" name="Shape 13"/>
          <p:cNvSpPr/>
          <p:nvPr/>
        </p:nvSpPr>
        <p:spPr>
          <a:xfrm>
            <a:off x="6219508" y="2103120"/>
            <a:ext cx="5303520" cy="914400"/>
          </a:xfrm>
          <a:prstGeom prst="roundRect">
            <a:avLst/>
          </a:prstGeom>
          <a:solidFill>
            <a:srgbClr val="F5F5F5"/>
          </a:solidFill>
          <a:ln/>
        </p:spPr>
        <p:txBody>
          <a:bodyPr/>
          <a:lstStyle/>
          <a:p>
            <a:endParaRPr lang="en-US"/>
          </a:p>
        </p:txBody>
      </p:sp>
      <p:sp>
        <p:nvSpPr>
          <p:cNvPr id="16" name="Text 14"/>
          <p:cNvSpPr/>
          <p:nvPr/>
        </p:nvSpPr>
        <p:spPr>
          <a:xfrm>
            <a:off x="6402388" y="2194560"/>
            <a:ext cx="2286000" cy="320040"/>
          </a:xfrm>
          <a:prstGeom prst="rect">
            <a:avLst/>
          </a:prstGeom>
          <a:noFill/>
          <a:ln/>
        </p:spPr>
        <p:txBody>
          <a:bodyPr wrap="square" rtlCol="0" anchor="ctr"/>
          <a:lstStyle/>
          <a:p>
            <a:r>
              <a:rPr lang="en-US" sz="1400" b="1" dirty="0">
                <a:solidFill>
                  <a:srgbClr val="F76902"/>
                </a:solidFill>
                <a:latin typeface="Arial" pitchFamily="34" charset="0"/>
                <a:ea typeface="Arial" pitchFamily="34" charset="-122"/>
                <a:cs typeface="Arial" pitchFamily="34" charset="-120"/>
              </a:rPr>
              <a:t>Latency</a:t>
            </a:r>
            <a:endParaRPr lang="en-US" sz="1400" dirty="0"/>
          </a:p>
        </p:txBody>
      </p:sp>
      <p:sp>
        <p:nvSpPr>
          <p:cNvPr id="17" name="Text 15"/>
          <p:cNvSpPr/>
          <p:nvPr/>
        </p:nvSpPr>
        <p:spPr>
          <a:xfrm>
            <a:off x="8688388" y="2194560"/>
            <a:ext cx="2560320" cy="320040"/>
          </a:xfrm>
          <a:prstGeom prst="rect">
            <a:avLst/>
          </a:prstGeom>
          <a:noFill/>
          <a:ln/>
        </p:spPr>
        <p:txBody>
          <a:bodyPr wrap="square" rtlCol="0" anchor="ctr"/>
          <a:lstStyle/>
          <a:p>
            <a:pPr algn="r"/>
            <a:r>
              <a:rPr lang="en-US" sz="1400" b="1" dirty="0">
                <a:solidFill>
                  <a:srgbClr val="1A1A1A"/>
                </a:solidFill>
                <a:latin typeface="Arial" pitchFamily="34" charset="0"/>
                <a:ea typeface="Arial" pitchFamily="34" charset="-122"/>
                <a:cs typeface="Arial" pitchFamily="34" charset="-120"/>
              </a:rPr>
              <a:t>1-3 seconds</a:t>
            </a:r>
            <a:endParaRPr lang="en-US" sz="1400" dirty="0"/>
          </a:p>
        </p:txBody>
      </p:sp>
      <p:sp>
        <p:nvSpPr>
          <p:cNvPr id="18" name="Text 16"/>
          <p:cNvSpPr/>
          <p:nvPr/>
        </p:nvSpPr>
        <p:spPr>
          <a:xfrm>
            <a:off x="6402388" y="2560320"/>
            <a:ext cx="4937760" cy="320040"/>
          </a:xfrm>
          <a:prstGeom prst="rect">
            <a:avLst/>
          </a:prstGeom>
          <a:noFill/>
          <a:ln/>
        </p:spPr>
        <p:txBody>
          <a:bodyPr wrap="square" rtlCol="0" anchor="ctr"/>
          <a:lstStyle/>
          <a:p>
            <a:r>
              <a:rPr lang="en-US" sz="1200" dirty="0">
                <a:solidFill>
                  <a:srgbClr val="666666"/>
                </a:solidFill>
                <a:latin typeface="Arial" pitchFamily="34" charset="0"/>
                <a:ea typeface="Arial" pitchFamily="34" charset="-122"/>
                <a:cs typeface="Arial" pitchFamily="34" charset="-120"/>
              </a:rPr>
              <a:t>Time from stimulus to response onset</a:t>
            </a:r>
            <a:endParaRPr lang="en-US" sz="1200" dirty="0"/>
          </a:p>
        </p:txBody>
      </p:sp>
      <p:sp>
        <p:nvSpPr>
          <p:cNvPr id="19" name="Shape 17"/>
          <p:cNvSpPr/>
          <p:nvPr/>
        </p:nvSpPr>
        <p:spPr>
          <a:xfrm>
            <a:off x="6219508" y="3200400"/>
            <a:ext cx="5303520" cy="914400"/>
          </a:xfrm>
          <a:prstGeom prst="roundRect">
            <a:avLst/>
          </a:prstGeom>
          <a:solidFill>
            <a:srgbClr val="FFFFFF"/>
          </a:solidFill>
          <a:ln/>
        </p:spPr>
        <p:txBody>
          <a:bodyPr/>
          <a:lstStyle/>
          <a:p>
            <a:endParaRPr lang="en-US"/>
          </a:p>
        </p:txBody>
      </p:sp>
      <p:sp>
        <p:nvSpPr>
          <p:cNvPr id="20" name="Text 18"/>
          <p:cNvSpPr/>
          <p:nvPr/>
        </p:nvSpPr>
        <p:spPr>
          <a:xfrm>
            <a:off x="6402388" y="3291840"/>
            <a:ext cx="2286000" cy="320040"/>
          </a:xfrm>
          <a:prstGeom prst="rect">
            <a:avLst/>
          </a:prstGeom>
          <a:noFill/>
          <a:ln/>
        </p:spPr>
        <p:txBody>
          <a:bodyPr wrap="square" rtlCol="0" anchor="ctr"/>
          <a:lstStyle/>
          <a:p>
            <a:r>
              <a:rPr lang="en-US" sz="1400" b="1" dirty="0">
                <a:solidFill>
                  <a:srgbClr val="F76902"/>
                </a:solidFill>
                <a:latin typeface="Arial" pitchFamily="34" charset="0"/>
                <a:ea typeface="Arial" pitchFamily="34" charset="-122"/>
                <a:cs typeface="Arial" pitchFamily="34" charset="-120"/>
              </a:rPr>
              <a:t>Rise Time</a:t>
            </a:r>
            <a:endParaRPr lang="en-US" sz="1400" dirty="0"/>
          </a:p>
        </p:txBody>
      </p:sp>
      <p:sp>
        <p:nvSpPr>
          <p:cNvPr id="21" name="Text 19"/>
          <p:cNvSpPr/>
          <p:nvPr/>
        </p:nvSpPr>
        <p:spPr>
          <a:xfrm>
            <a:off x="8688388" y="3291840"/>
            <a:ext cx="2560320" cy="320040"/>
          </a:xfrm>
          <a:prstGeom prst="rect">
            <a:avLst/>
          </a:prstGeom>
          <a:noFill/>
          <a:ln/>
        </p:spPr>
        <p:txBody>
          <a:bodyPr wrap="square" rtlCol="0" anchor="ctr"/>
          <a:lstStyle/>
          <a:p>
            <a:pPr algn="r"/>
            <a:r>
              <a:rPr lang="en-US" sz="1400" b="1" dirty="0">
                <a:solidFill>
                  <a:srgbClr val="1A1A1A"/>
                </a:solidFill>
                <a:latin typeface="Arial" pitchFamily="34" charset="0"/>
                <a:ea typeface="Arial" pitchFamily="34" charset="-122"/>
                <a:cs typeface="Arial" pitchFamily="34" charset="-120"/>
              </a:rPr>
              <a:t>1-3 seconds</a:t>
            </a:r>
            <a:endParaRPr lang="en-US" sz="1400" dirty="0"/>
          </a:p>
        </p:txBody>
      </p:sp>
      <p:sp>
        <p:nvSpPr>
          <p:cNvPr id="22" name="Text 20"/>
          <p:cNvSpPr/>
          <p:nvPr/>
        </p:nvSpPr>
        <p:spPr>
          <a:xfrm>
            <a:off x="6402388" y="3657600"/>
            <a:ext cx="4937760" cy="320040"/>
          </a:xfrm>
          <a:prstGeom prst="rect">
            <a:avLst/>
          </a:prstGeom>
          <a:noFill/>
          <a:ln/>
        </p:spPr>
        <p:txBody>
          <a:bodyPr wrap="square" rtlCol="0" anchor="ctr"/>
          <a:lstStyle/>
          <a:p>
            <a:r>
              <a:rPr lang="en-US" sz="1200" dirty="0">
                <a:solidFill>
                  <a:srgbClr val="666666"/>
                </a:solidFill>
                <a:latin typeface="Arial" pitchFamily="34" charset="0"/>
                <a:ea typeface="Arial" pitchFamily="34" charset="-122"/>
                <a:cs typeface="Arial" pitchFamily="34" charset="-120"/>
              </a:rPr>
              <a:t>Time from onset to peak</a:t>
            </a:r>
            <a:endParaRPr lang="en-US" sz="1200" dirty="0"/>
          </a:p>
        </p:txBody>
      </p:sp>
      <p:sp>
        <p:nvSpPr>
          <p:cNvPr id="23" name="Shape 21"/>
          <p:cNvSpPr/>
          <p:nvPr/>
        </p:nvSpPr>
        <p:spPr>
          <a:xfrm>
            <a:off x="6219508" y="4297680"/>
            <a:ext cx="5303520" cy="914400"/>
          </a:xfrm>
          <a:prstGeom prst="roundRect">
            <a:avLst/>
          </a:prstGeom>
          <a:solidFill>
            <a:srgbClr val="F5F5F5"/>
          </a:solidFill>
          <a:ln/>
        </p:spPr>
        <p:txBody>
          <a:bodyPr/>
          <a:lstStyle/>
          <a:p>
            <a:endParaRPr lang="en-US"/>
          </a:p>
        </p:txBody>
      </p:sp>
      <p:sp>
        <p:nvSpPr>
          <p:cNvPr id="24" name="Text 22"/>
          <p:cNvSpPr/>
          <p:nvPr/>
        </p:nvSpPr>
        <p:spPr>
          <a:xfrm>
            <a:off x="6402388" y="4389120"/>
            <a:ext cx="2286000" cy="320040"/>
          </a:xfrm>
          <a:prstGeom prst="rect">
            <a:avLst/>
          </a:prstGeom>
          <a:noFill/>
          <a:ln/>
        </p:spPr>
        <p:txBody>
          <a:bodyPr wrap="square" rtlCol="0" anchor="ctr"/>
          <a:lstStyle/>
          <a:p>
            <a:r>
              <a:rPr lang="en-US" sz="1400" b="1" dirty="0">
                <a:solidFill>
                  <a:srgbClr val="F76902"/>
                </a:solidFill>
                <a:latin typeface="Arial" pitchFamily="34" charset="0"/>
                <a:ea typeface="Arial" pitchFamily="34" charset="-122"/>
                <a:cs typeface="Arial" pitchFamily="34" charset="-120"/>
              </a:rPr>
              <a:t>Amplitude</a:t>
            </a:r>
            <a:endParaRPr lang="en-US" sz="1400" dirty="0"/>
          </a:p>
        </p:txBody>
      </p:sp>
      <p:sp>
        <p:nvSpPr>
          <p:cNvPr id="25" name="Text 23"/>
          <p:cNvSpPr/>
          <p:nvPr/>
        </p:nvSpPr>
        <p:spPr>
          <a:xfrm>
            <a:off x="8688388" y="4389120"/>
            <a:ext cx="2560320" cy="320040"/>
          </a:xfrm>
          <a:prstGeom prst="rect">
            <a:avLst/>
          </a:prstGeom>
          <a:noFill/>
          <a:ln/>
        </p:spPr>
        <p:txBody>
          <a:bodyPr wrap="square" rtlCol="0" anchor="ctr"/>
          <a:lstStyle/>
          <a:p>
            <a:pPr algn="r"/>
            <a:r>
              <a:rPr lang="en-US" sz="1400" b="1" dirty="0">
                <a:solidFill>
                  <a:srgbClr val="1A1A1A"/>
                </a:solidFill>
                <a:latin typeface="Arial" pitchFamily="34" charset="0"/>
                <a:ea typeface="Arial" pitchFamily="34" charset="-122"/>
                <a:cs typeface="Arial" pitchFamily="34" charset="-120"/>
              </a:rPr>
              <a:t>0.1-1.0 μS</a:t>
            </a:r>
            <a:endParaRPr lang="en-US" sz="1400" dirty="0"/>
          </a:p>
        </p:txBody>
      </p:sp>
      <p:sp>
        <p:nvSpPr>
          <p:cNvPr id="26" name="Text 24"/>
          <p:cNvSpPr/>
          <p:nvPr/>
        </p:nvSpPr>
        <p:spPr>
          <a:xfrm>
            <a:off x="6402388" y="4754880"/>
            <a:ext cx="4937760" cy="320040"/>
          </a:xfrm>
          <a:prstGeom prst="rect">
            <a:avLst/>
          </a:prstGeom>
          <a:noFill/>
          <a:ln/>
        </p:spPr>
        <p:txBody>
          <a:bodyPr wrap="square" rtlCol="0" anchor="ctr"/>
          <a:lstStyle/>
          <a:p>
            <a:r>
              <a:rPr lang="en-US" sz="1200" dirty="0">
                <a:solidFill>
                  <a:srgbClr val="666666"/>
                </a:solidFill>
                <a:latin typeface="Arial" pitchFamily="34" charset="0"/>
                <a:ea typeface="Arial" pitchFamily="34" charset="-122"/>
                <a:cs typeface="Arial" pitchFamily="34" charset="-120"/>
              </a:rPr>
              <a:t>Peak minus baseline</a:t>
            </a:r>
            <a:endParaRPr lang="en-US" sz="1200" dirty="0"/>
          </a:p>
        </p:txBody>
      </p:sp>
      <p:sp>
        <p:nvSpPr>
          <p:cNvPr id="27" name="Shape 25"/>
          <p:cNvSpPr/>
          <p:nvPr/>
        </p:nvSpPr>
        <p:spPr>
          <a:xfrm>
            <a:off x="6219508" y="5394960"/>
            <a:ext cx="5303520" cy="914400"/>
          </a:xfrm>
          <a:prstGeom prst="roundRect">
            <a:avLst/>
          </a:prstGeom>
          <a:solidFill>
            <a:srgbClr val="FFFFFF"/>
          </a:solidFill>
          <a:ln/>
        </p:spPr>
        <p:txBody>
          <a:bodyPr/>
          <a:lstStyle/>
          <a:p>
            <a:endParaRPr lang="en-US"/>
          </a:p>
        </p:txBody>
      </p:sp>
      <p:sp>
        <p:nvSpPr>
          <p:cNvPr id="28" name="Text 26"/>
          <p:cNvSpPr/>
          <p:nvPr/>
        </p:nvSpPr>
        <p:spPr>
          <a:xfrm>
            <a:off x="6402388" y="5486400"/>
            <a:ext cx="2286000" cy="320040"/>
          </a:xfrm>
          <a:prstGeom prst="rect">
            <a:avLst/>
          </a:prstGeom>
          <a:noFill/>
          <a:ln/>
        </p:spPr>
        <p:txBody>
          <a:bodyPr wrap="square" rtlCol="0" anchor="ctr"/>
          <a:lstStyle/>
          <a:p>
            <a:r>
              <a:rPr lang="en-US" sz="1400" b="1" dirty="0">
                <a:solidFill>
                  <a:srgbClr val="F76902"/>
                </a:solidFill>
                <a:latin typeface="Arial" pitchFamily="34" charset="0"/>
                <a:ea typeface="Arial" pitchFamily="34" charset="-122"/>
                <a:cs typeface="Arial" pitchFamily="34" charset="-120"/>
              </a:rPr>
              <a:t>Recovery</a:t>
            </a:r>
            <a:endParaRPr lang="en-US" sz="1400" dirty="0"/>
          </a:p>
        </p:txBody>
      </p:sp>
      <p:sp>
        <p:nvSpPr>
          <p:cNvPr id="29" name="Text 27"/>
          <p:cNvSpPr/>
          <p:nvPr/>
        </p:nvSpPr>
        <p:spPr>
          <a:xfrm>
            <a:off x="8688388" y="5486400"/>
            <a:ext cx="2560320" cy="320040"/>
          </a:xfrm>
          <a:prstGeom prst="rect">
            <a:avLst/>
          </a:prstGeom>
          <a:noFill/>
          <a:ln/>
        </p:spPr>
        <p:txBody>
          <a:bodyPr wrap="square" rtlCol="0" anchor="ctr"/>
          <a:lstStyle/>
          <a:p>
            <a:pPr algn="r"/>
            <a:r>
              <a:rPr lang="en-US" sz="1400" b="1" dirty="0">
                <a:solidFill>
                  <a:srgbClr val="1A1A1A"/>
                </a:solidFill>
                <a:latin typeface="Arial" pitchFamily="34" charset="0"/>
                <a:ea typeface="Arial" pitchFamily="34" charset="-122"/>
                <a:cs typeface="Arial" pitchFamily="34" charset="-120"/>
              </a:rPr>
              <a:t>2-10 seconds</a:t>
            </a:r>
            <a:endParaRPr lang="en-US" sz="1400" dirty="0"/>
          </a:p>
        </p:txBody>
      </p:sp>
      <p:sp>
        <p:nvSpPr>
          <p:cNvPr id="30" name="Text 28"/>
          <p:cNvSpPr/>
          <p:nvPr/>
        </p:nvSpPr>
        <p:spPr>
          <a:xfrm>
            <a:off x="6402388" y="5852160"/>
            <a:ext cx="4937760" cy="320040"/>
          </a:xfrm>
          <a:prstGeom prst="rect">
            <a:avLst/>
          </a:prstGeom>
          <a:noFill/>
          <a:ln/>
        </p:spPr>
        <p:txBody>
          <a:bodyPr wrap="square" rtlCol="0" anchor="ctr"/>
          <a:lstStyle/>
          <a:p>
            <a:r>
              <a:rPr lang="en-US" sz="1200" dirty="0">
                <a:solidFill>
                  <a:srgbClr val="666666"/>
                </a:solidFill>
                <a:latin typeface="Arial" pitchFamily="34" charset="0"/>
                <a:ea typeface="Arial" pitchFamily="34" charset="-122"/>
                <a:cs typeface="Arial" pitchFamily="34" charset="-120"/>
              </a:rPr>
              <a:t>Return to 50% of amplitude</a:t>
            </a:r>
            <a:endParaRPr lang="en-US" sz="1200" dirty="0"/>
          </a:p>
        </p:txBody>
      </p:sp>
      <p:pic>
        <p:nvPicPr>
          <p:cNvPr id="1026" name="Picture 2" descr="Galvanic skin response (GSR) signal characteristics following a stimulus. The red dot and vertical dashed line indicate the stimulus time (t). Key parameters include latency (time from stim-">
            <a:extLst>
              <a:ext uri="{FF2B5EF4-FFF2-40B4-BE49-F238E27FC236}">
                <a16:creationId xmlns:a16="http://schemas.microsoft.com/office/drawing/2014/main" id="{1A35BAA1-A8B9-24A0-1731-C00A020252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547" y="2034540"/>
            <a:ext cx="5867081" cy="388619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2298740" y="91440"/>
            <a:ext cx="10972800" cy="640080"/>
          </a:xfrm>
          <a:prstGeom prst="rect">
            <a:avLst/>
          </a:prstGeom>
          <a:noFill/>
          <a:ln/>
        </p:spPr>
        <p:txBody>
          <a:bodyPr wrap="square" rtlCol="0" anchor="ctr"/>
          <a:lstStyle/>
          <a:p>
            <a:r>
              <a:rPr lang="en-US" sz="3600" b="1" dirty="0">
                <a:solidFill>
                  <a:schemeClr val="bg1"/>
                </a:solidFill>
                <a:latin typeface="Arial Black" pitchFamily="34" charset="0"/>
                <a:ea typeface="Arial Black" pitchFamily="34" charset="-122"/>
                <a:cs typeface="Arial Black" pitchFamily="34" charset="-120"/>
              </a:rPr>
              <a:t>GSR Signal Characteristics</a:t>
            </a:r>
            <a:endParaRPr lang="en-US" sz="3600" dirty="0">
              <a:solidFill>
                <a:schemeClr val="bg1"/>
              </a:solidFill>
            </a:endParaRPr>
          </a:p>
        </p:txBody>
      </p:sp>
      <p:sp>
        <p:nvSpPr>
          <p:cNvPr id="4" name="Text 2"/>
          <p:cNvSpPr/>
          <p:nvPr/>
        </p:nvSpPr>
        <p:spPr>
          <a:xfrm>
            <a:off x="458788" y="1097280"/>
            <a:ext cx="10972800" cy="365760"/>
          </a:xfrm>
          <a:prstGeom prst="rect">
            <a:avLst/>
          </a:prstGeom>
          <a:noFill/>
          <a:ln/>
        </p:spPr>
        <p:txBody>
          <a:bodyPr wrap="square" rtlCol="0" anchor="ctr"/>
          <a:lstStyle/>
          <a:p>
            <a:r>
              <a:rPr lang="en-US" sz="1600" dirty="0">
                <a:solidFill>
                  <a:srgbClr val="666666"/>
                </a:solidFill>
                <a:latin typeface="Arial" pitchFamily="34" charset="0"/>
                <a:ea typeface="Arial" pitchFamily="34" charset="-122"/>
                <a:cs typeface="Arial" pitchFamily="34" charset="-120"/>
              </a:rPr>
              <a:t>Technical parameters for recording</a:t>
            </a:r>
            <a:endParaRPr lang="en-US" sz="1600" dirty="0"/>
          </a:p>
        </p:txBody>
      </p:sp>
      <p:graphicFrame>
        <p:nvGraphicFramePr>
          <p:cNvPr id="9" name="Table 0"/>
          <p:cNvGraphicFramePr>
            <a:graphicFrameLocks noGrp="1"/>
          </p:cNvGraphicFramePr>
          <p:nvPr/>
        </p:nvGraphicFramePr>
        <p:xfrm>
          <a:off x="458788" y="1554480"/>
          <a:ext cx="11274552" cy="2316480"/>
        </p:xfrm>
        <a:graphic>
          <a:graphicData uri="http://schemas.openxmlformats.org/drawingml/2006/table">
            <a:tbl>
              <a:tblPr/>
              <a:tblGrid>
                <a:gridCol w="32004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4873752">
                  <a:extLst>
                    <a:ext uri="{9D8B030D-6E8A-4147-A177-3AD203B41FA5}">
                      <a16:colId xmlns:a16="http://schemas.microsoft.com/office/drawing/2014/main" val="20002"/>
                    </a:ext>
                  </a:extLst>
                </a:gridCol>
              </a:tblGrid>
              <a:tr h="0">
                <a:tc>
                  <a:txBody>
                    <a:bodyPr/>
                    <a:lstStyle/>
                    <a:p>
                      <a:pPr marL="0" indent="0" algn="l">
                        <a:buNone/>
                      </a:pPr>
                      <a:r>
                        <a:rPr lang="en-US" sz="1300" b="1" dirty="0">
                          <a:solidFill>
                            <a:srgbClr val="FFFFFF"/>
                          </a:solidFill>
                          <a:latin typeface="Arial" pitchFamily="34" charset="0"/>
                          <a:ea typeface="Arial" pitchFamily="34" charset="-122"/>
                          <a:cs typeface="Arial" pitchFamily="34" charset="-120"/>
                        </a:rPr>
                        <a:t>Parameter</a:t>
                      </a:r>
                      <a:endParaRPr lang="en-US" sz="13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1A1A1A"/>
                    </a:solidFill>
                  </a:tcPr>
                </a:tc>
                <a:tc>
                  <a:txBody>
                    <a:bodyPr/>
                    <a:lstStyle/>
                    <a:p>
                      <a:pPr marL="0" indent="0" algn="ctr">
                        <a:buNone/>
                      </a:pPr>
                      <a:r>
                        <a:rPr lang="en-US" sz="1300" b="1" dirty="0">
                          <a:solidFill>
                            <a:srgbClr val="FFFFFF"/>
                          </a:solidFill>
                          <a:latin typeface="Arial" pitchFamily="34" charset="0"/>
                          <a:ea typeface="Arial" pitchFamily="34" charset="-122"/>
                          <a:cs typeface="Arial" pitchFamily="34" charset="-120"/>
                        </a:rPr>
                        <a:t>Value</a:t>
                      </a:r>
                      <a:endParaRPr lang="en-US" sz="13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1A1A1A"/>
                    </a:solidFill>
                  </a:tcPr>
                </a:tc>
                <a:tc>
                  <a:txBody>
                    <a:bodyPr/>
                    <a:lstStyle/>
                    <a:p>
                      <a:pPr marL="0" indent="0" algn="ctr">
                        <a:buNone/>
                      </a:pPr>
                      <a:r>
                        <a:rPr lang="en-US" sz="1300" b="1" dirty="0">
                          <a:solidFill>
                            <a:srgbClr val="FFFFFF"/>
                          </a:solidFill>
                          <a:latin typeface="Arial" pitchFamily="34" charset="0"/>
                          <a:ea typeface="Arial" pitchFamily="34" charset="-122"/>
                          <a:cs typeface="Arial" pitchFamily="34" charset="-120"/>
                        </a:rPr>
                        <a:t>Notes</a:t>
                      </a:r>
                      <a:endParaRPr lang="en-US" sz="13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1A1A1A"/>
                    </a:solidFill>
                  </a:tcPr>
                </a:tc>
                <a:extLst>
                  <a:ext uri="{0D108BD9-81ED-4DB2-BD59-A6C34878D82A}">
                    <a16:rowId xmlns:a16="http://schemas.microsoft.com/office/drawing/2014/main" val="10000"/>
                  </a:ext>
                </a:extLst>
              </a:tr>
              <a:tr h="0">
                <a:tc>
                  <a:txBody>
                    <a:bodyPr/>
                    <a:lstStyle/>
                    <a:p>
                      <a:pPr marL="0" indent="0" algn="l">
                        <a:buNone/>
                      </a:pPr>
                      <a:r>
                        <a:rPr lang="en-US" sz="1300" b="1" dirty="0">
                          <a:solidFill>
                            <a:srgbClr val="1A1A1A"/>
                          </a:solidFill>
                          <a:latin typeface="Arial" pitchFamily="34" charset="0"/>
                          <a:ea typeface="Arial" pitchFamily="34" charset="-122"/>
                          <a:cs typeface="Arial" pitchFamily="34" charset="-120"/>
                        </a:rPr>
                        <a:t>Measurement Unit</a:t>
                      </a:r>
                      <a:endParaRPr lang="en-US" sz="13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1A1A"/>
                          </a:solidFill>
                          <a:latin typeface="Arial" pitchFamily="34" charset="0"/>
                          <a:ea typeface="Arial" pitchFamily="34" charset="-122"/>
                          <a:cs typeface="Arial" pitchFamily="34" charset="-120"/>
                        </a:rPr>
                        <a:t>Microsiemens (μS)</a:t>
                      </a:r>
                      <a:endParaRPr lang="en-US" sz="13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1A1A"/>
                          </a:solidFill>
                          <a:latin typeface="Arial" pitchFamily="34" charset="0"/>
                          <a:ea typeface="Arial" pitchFamily="34" charset="-122"/>
                          <a:cs typeface="Arial" pitchFamily="34" charset="-120"/>
                        </a:rPr>
                        <a:t>Conductance = 1/Resistance</a:t>
                      </a:r>
                      <a:endParaRPr lang="en-US" sz="13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300" b="1" dirty="0">
                          <a:solidFill>
                            <a:srgbClr val="1A1A1A"/>
                          </a:solidFill>
                          <a:latin typeface="Arial" pitchFamily="34" charset="0"/>
                          <a:ea typeface="Arial" pitchFamily="34" charset="-122"/>
                          <a:cs typeface="Arial" pitchFamily="34" charset="-120"/>
                        </a:rPr>
                        <a:t>Typical Range</a:t>
                      </a:r>
                      <a:endParaRPr lang="en-US" sz="13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tc>
                  <a:txBody>
                    <a:bodyPr/>
                    <a:lstStyle/>
                    <a:p>
                      <a:pPr marL="0" indent="0" algn="ctr">
                        <a:buNone/>
                      </a:pPr>
                      <a:r>
                        <a:rPr lang="en-US" sz="1300" dirty="0">
                          <a:solidFill>
                            <a:srgbClr val="1A1A1A"/>
                          </a:solidFill>
                          <a:latin typeface="Arial" pitchFamily="34" charset="0"/>
                          <a:ea typeface="Arial" pitchFamily="34" charset="-122"/>
                          <a:cs typeface="Arial" pitchFamily="34" charset="-120"/>
                        </a:rPr>
                        <a:t>0.1 - 30 μS</a:t>
                      </a:r>
                      <a:endParaRPr lang="en-US" sz="13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tc>
                  <a:txBody>
                    <a:bodyPr/>
                    <a:lstStyle/>
                    <a:p>
                      <a:pPr marL="0" indent="0" algn="ctr">
                        <a:buNone/>
                      </a:pPr>
                      <a:r>
                        <a:rPr lang="en-US" sz="1300" dirty="0">
                          <a:solidFill>
                            <a:srgbClr val="1A1A1A"/>
                          </a:solidFill>
                          <a:latin typeface="Arial" pitchFamily="34" charset="0"/>
                          <a:ea typeface="Arial" pitchFamily="34" charset="-122"/>
                          <a:cs typeface="Arial" pitchFamily="34" charset="-120"/>
                        </a:rPr>
                        <a:t>High individual variability</a:t>
                      </a:r>
                      <a:endParaRPr lang="en-US" sz="13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0">
                <a:tc>
                  <a:txBody>
                    <a:bodyPr/>
                    <a:lstStyle/>
                    <a:p>
                      <a:pPr marL="0" indent="0" algn="l">
                        <a:buNone/>
                      </a:pPr>
                      <a:r>
                        <a:rPr lang="en-US" sz="1300" b="1" dirty="0">
                          <a:solidFill>
                            <a:srgbClr val="1A1A1A"/>
                          </a:solidFill>
                          <a:latin typeface="Arial" pitchFamily="34" charset="0"/>
                          <a:ea typeface="Arial" pitchFamily="34" charset="-122"/>
                          <a:cs typeface="Arial" pitchFamily="34" charset="-120"/>
                        </a:rPr>
                        <a:t>Frequency Content</a:t>
                      </a:r>
                      <a:endParaRPr lang="en-US" sz="13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1A1A"/>
                          </a:solidFill>
                          <a:latin typeface="Arial" pitchFamily="34" charset="0"/>
                          <a:ea typeface="Arial" pitchFamily="34" charset="-122"/>
                          <a:cs typeface="Arial" pitchFamily="34" charset="-120"/>
                        </a:rPr>
                        <a:t>DC - 5 Hz</a:t>
                      </a:r>
                      <a:endParaRPr lang="en-US" sz="13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1A1A"/>
                          </a:solidFill>
                          <a:latin typeface="Arial" pitchFamily="34" charset="0"/>
                          <a:ea typeface="Arial" pitchFamily="34" charset="-122"/>
                          <a:cs typeface="Arial" pitchFamily="34" charset="-120"/>
                        </a:rPr>
                        <a:t>Very low frequency signal</a:t>
                      </a:r>
                      <a:endParaRPr lang="en-US" sz="13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300" b="1" dirty="0">
                          <a:solidFill>
                            <a:srgbClr val="1A1A1A"/>
                          </a:solidFill>
                          <a:latin typeface="Arial" pitchFamily="34" charset="0"/>
                          <a:ea typeface="Arial" pitchFamily="34" charset="-122"/>
                          <a:cs typeface="Arial" pitchFamily="34" charset="-120"/>
                        </a:rPr>
                        <a:t>Sample Rate</a:t>
                      </a:r>
                      <a:endParaRPr lang="en-US" sz="13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tc>
                  <a:txBody>
                    <a:bodyPr/>
                    <a:lstStyle/>
                    <a:p>
                      <a:pPr marL="0" indent="0" algn="ctr">
                        <a:buNone/>
                      </a:pPr>
                      <a:r>
                        <a:rPr lang="en-US" sz="1300" dirty="0">
                          <a:solidFill>
                            <a:srgbClr val="1A1A1A"/>
                          </a:solidFill>
                          <a:latin typeface="Arial" pitchFamily="34" charset="0"/>
                          <a:ea typeface="Arial" pitchFamily="34" charset="-122"/>
                          <a:cs typeface="Arial" pitchFamily="34" charset="-120"/>
                        </a:rPr>
                        <a:t>10 - 100 Hz</a:t>
                      </a:r>
                      <a:endParaRPr lang="en-US" sz="13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tc>
                  <a:txBody>
                    <a:bodyPr/>
                    <a:lstStyle/>
                    <a:p>
                      <a:pPr marL="0" indent="0" algn="ctr">
                        <a:buNone/>
                      </a:pPr>
                      <a:r>
                        <a:rPr lang="en-US" sz="1300" dirty="0">
                          <a:solidFill>
                            <a:srgbClr val="1A1A1A"/>
                          </a:solidFill>
                          <a:latin typeface="Arial" pitchFamily="34" charset="0"/>
                          <a:ea typeface="Arial" pitchFamily="34" charset="-122"/>
                          <a:cs typeface="Arial" pitchFamily="34" charset="-120"/>
                        </a:rPr>
                        <a:t>Lower than EMG/EOG required</a:t>
                      </a:r>
                      <a:endParaRPr lang="en-US" sz="13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r h="0">
                <a:tc>
                  <a:txBody>
                    <a:bodyPr/>
                    <a:lstStyle/>
                    <a:p>
                      <a:pPr marL="0" indent="0" algn="l">
                        <a:buNone/>
                      </a:pPr>
                      <a:r>
                        <a:rPr lang="en-US" sz="1300" b="1" dirty="0">
                          <a:solidFill>
                            <a:srgbClr val="1A1A1A"/>
                          </a:solidFill>
                          <a:latin typeface="Arial" pitchFamily="34" charset="0"/>
                          <a:ea typeface="Arial" pitchFamily="34" charset="-122"/>
                          <a:cs typeface="Arial" pitchFamily="34" charset="-120"/>
                        </a:rPr>
                        <a:t>Response Latency</a:t>
                      </a:r>
                      <a:endParaRPr lang="en-US" sz="13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1A1A"/>
                          </a:solidFill>
                          <a:latin typeface="Arial" pitchFamily="34" charset="0"/>
                          <a:ea typeface="Arial" pitchFamily="34" charset="-122"/>
                          <a:cs typeface="Arial" pitchFamily="34" charset="-120"/>
                        </a:rPr>
                        <a:t>1 - 3 seconds</a:t>
                      </a:r>
                      <a:endParaRPr lang="en-US" sz="13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1A1A"/>
                          </a:solidFill>
                          <a:latin typeface="Arial" pitchFamily="34" charset="0"/>
                          <a:ea typeface="Arial" pitchFamily="34" charset="-122"/>
                          <a:cs typeface="Arial" pitchFamily="34" charset="-120"/>
                        </a:rPr>
                        <a:t>Relatively slow response</a:t>
                      </a:r>
                      <a:endParaRPr lang="en-US" sz="13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lgn="l">
                        <a:buNone/>
                      </a:pPr>
                      <a:r>
                        <a:rPr lang="en-US" sz="1300" b="1" dirty="0">
                          <a:solidFill>
                            <a:srgbClr val="1A1A1A"/>
                          </a:solidFill>
                          <a:latin typeface="Arial" pitchFamily="34" charset="0"/>
                          <a:ea typeface="Arial" pitchFamily="34" charset="-122"/>
                          <a:cs typeface="Arial" pitchFamily="34" charset="-120"/>
                        </a:rPr>
                        <a:t>Electrode Coupling</a:t>
                      </a:r>
                      <a:endParaRPr lang="en-US" sz="13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tc>
                  <a:txBody>
                    <a:bodyPr/>
                    <a:lstStyle/>
                    <a:p>
                      <a:pPr marL="0" indent="0" algn="ctr">
                        <a:buNone/>
                      </a:pPr>
                      <a:r>
                        <a:rPr lang="en-US" sz="1300" dirty="0">
                          <a:solidFill>
                            <a:srgbClr val="1A1A1A"/>
                          </a:solidFill>
                          <a:latin typeface="Arial" pitchFamily="34" charset="0"/>
                          <a:ea typeface="Arial" pitchFamily="34" charset="-122"/>
                          <a:cs typeface="Arial" pitchFamily="34" charset="-120"/>
                        </a:rPr>
                        <a:t>DC (essential)</a:t>
                      </a:r>
                      <a:endParaRPr lang="en-US" sz="13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tc>
                  <a:txBody>
                    <a:bodyPr/>
                    <a:lstStyle/>
                    <a:p>
                      <a:pPr marL="0" indent="0" algn="ctr">
                        <a:buNone/>
                      </a:pPr>
                      <a:r>
                        <a:rPr lang="en-US" sz="1300" dirty="0">
                          <a:solidFill>
                            <a:srgbClr val="1A1A1A"/>
                          </a:solidFill>
                          <a:latin typeface="Arial" pitchFamily="34" charset="0"/>
                          <a:ea typeface="Arial" pitchFamily="34" charset="-122"/>
                          <a:cs typeface="Arial" pitchFamily="34" charset="-120"/>
                        </a:rPr>
                        <a:t>Must capture slow changes</a:t>
                      </a:r>
                      <a:endParaRPr lang="en-US" sz="13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extLst>
                  <a:ext uri="{0D108BD9-81ED-4DB2-BD59-A6C34878D82A}">
                    <a16:rowId xmlns:a16="http://schemas.microsoft.com/office/drawing/2014/main" val="10006"/>
                  </a:ext>
                </a:extLst>
              </a:tr>
              <a:tr h="0">
                <a:tc>
                  <a:txBody>
                    <a:bodyPr/>
                    <a:lstStyle/>
                    <a:p>
                      <a:pPr marL="0" indent="0" algn="l">
                        <a:buNone/>
                      </a:pPr>
                      <a:r>
                        <a:rPr lang="en-US" sz="1300" b="1" dirty="0">
                          <a:solidFill>
                            <a:srgbClr val="1A1A1A"/>
                          </a:solidFill>
                          <a:latin typeface="Arial" pitchFamily="34" charset="0"/>
                          <a:ea typeface="Arial" pitchFamily="34" charset="-122"/>
                          <a:cs typeface="Arial" pitchFamily="34" charset="-120"/>
                        </a:rPr>
                        <a:t>Electrode Sites</a:t>
                      </a:r>
                      <a:endParaRPr lang="en-US" sz="13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1A1A"/>
                          </a:solidFill>
                          <a:latin typeface="Arial" pitchFamily="34" charset="0"/>
                          <a:ea typeface="Arial" pitchFamily="34" charset="-122"/>
                          <a:cs typeface="Arial" pitchFamily="34" charset="-120"/>
                        </a:rPr>
                        <a:t>Palmar surface</a:t>
                      </a:r>
                      <a:endParaRPr lang="en-US" sz="13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1A1A"/>
                          </a:solidFill>
                          <a:latin typeface="Arial" pitchFamily="34" charset="0"/>
                          <a:ea typeface="Arial" pitchFamily="34" charset="-122"/>
                          <a:cs typeface="Arial" pitchFamily="34" charset="-120"/>
                        </a:rPr>
                        <a:t>Fingers or palm</a:t>
                      </a:r>
                      <a:endParaRPr lang="en-US" sz="13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2142623" y="91440"/>
            <a:ext cx="10972800" cy="640080"/>
          </a:xfrm>
          <a:prstGeom prst="rect">
            <a:avLst/>
          </a:prstGeom>
          <a:noFill/>
          <a:ln/>
        </p:spPr>
        <p:txBody>
          <a:bodyPr wrap="square" rtlCol="0" anchor="ctr"/>
          <a:lstStyle/>
          <a:p>
            <a:r>
              <a:rPr lang="en-US" sz="3600" b="1" dirty="0">
                <a:solidFill>
                  <a:schemeClr val="bg1"/>
                </a:solidFill>
                <a:latin typeface="Arial Black" pitchFamily="34" charset="0"/>
                <a:ea typeface="Arial Black" pitchFamily="34" charset="-122"/>
                <a:cs typeface="Arial Black" pitchFamily="34" charset="-120"/>
              </a:rPr>
              <a:t>GSR vs EMG vs EOG</a:t>
            </a:r>
            <a:endParaRPr lang="en-US" sz="3600" dirty="0">
              <a:solidFill>
                <a:schemeClr val="bg1"/>
              </a:solidFill>
            </a:endParaRPr>
          </a:p>
        </p:txBody>
      </p:sp>
      <p:graphicFrame>
        <p:nvGraphicFramePr>
          <p:cNvPr id="10" name="Table 0"/>
          <p:cNvGraphicFramePr>
            <a:graphicFrameLocks noGrp="1"/>
          </p:cNvGraphicFramePr>
          <p:nvPr/>
        </p:nvGraphicFramePr>
        <p:xfrm>
          <a:off x="458788" y="1554480"/>
          <a:ext cx="11274552" cy="2194560"/>
        </p:xfrm>
        <a:graphic>
          <a:graphicData uri="http://schemas.openxmlformats.org/drawingml/2006/table">
            <a:tbl>
              <a:tblPr/>
              <a:tblGrid>
                <a:gridCol w="256032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gridCol w="2862072">
                  <a:extLst>
                    <a:ext uri="{9D8B030D-6E8A-4147-A177-3AD203B41FA5}">
                      <a16:colId xmlns:a16="http://schemas.microsoft.com/office/drawing/2014/main" val="20003"/>
                    </a:ext>
                  </a:extLst>
                </a:gridCol>
              </a:tblGrid>
              <a:tr h="0">
                <a:tc>
                  <a:txBody>
                    <a:bodyPr/>
                    <a:lstStyle/>
                    <a:p>
                      <a:pPr marL="0" indent="0" algn="l">
                        <a:buNone/>
                      </a:pPr>
                      <a:r>
                        <a:rPr lang="en-US" sz="1200" b="1" dirty="0">
                          <a:solidFill>
                            <a:srgbClr val="FFFFFF"/>
                          </a:solidFill>
                          <a:latin typeface="Arial" pitchFamily="34" charset="0"/>
                          <a:ea typeface="Arial" pitchFamily="34" charset="-122"/>
                          <a:cs typeface="Arial" pitchFamily="34" charset="-120"/>
                        </a:rPr>
                        <a:t>Property</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1A1A1A"/>
                    </a:solidFill>
                  </a:tcPr>
                </a:tc>
                <a:tc>
                  <a:txBody>
                    <a:bodyPr/>
                    <a:lstStyle/>
                    <a:p>
                      <a:pPr marL="0" indent="0" algn="ctr">
                        <a:buNone/>
                      </a:pPr>
                      <a:r>
                        <a:rPr lang="en-US" sz="1200" b="1" dirty="0">
                          <a:solidFill>
                            <a:srgbClr val="FFFFFF"/>
                          </a:solidFill>
                          <a:latin typeface="Arial" pitchFamily="34" charset="0"/>
                          <a:ea typeface="Arial" pitchFamily="34" charset="-122"/>
                          <a:cs typeface="Arial" pitchFamily="34" charset="-120"/>
                        </a:rPr>
                        <a:t>GSR</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1A1A1A"/>
                    </a:solidFill>
                  </a:tcPr>
                </a:tc>
                <a:tc>
                  <a:txBody>
                    <a:bodyPr/>
                    <a:lstStyle/>
                    <a:p>
                      <a:pPr marL="0" indent="0" algn="ctr">
                        <a:buNone/>
                      </a:pPr>
                      <a:r>
                        <a:rPr lang="en-US" sz="1200" b="1" dirty="0">
                          <a:solidFill>
                            <a:srgbClr val="FFFFFF"/>
                          </a:solidFill>
                          <a:latin typeface="Arial" pitchFamily="34" charset="0"/>
                          <a:ea typeface="Arial" pitchFamily="34" charset="-122"/>
                          <a:cs typeface="Arial" pitchFamily="34" charset="-120"/>
                        </a:rPr>
                        <a:t>EMG</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1A1A1A"/>
                    </a:solidFill>
                  </a:tcPr>
                </a:tc>
                <a:tc>
                  <a:txBody>
                    <a:bodyPr/>
                    <a:lstStyle/>
                    <a:p>
                      <a:pPr marL="0" indent="0" algn="ctr">
                        <a:buNone/>
                      </a:pPr>
                      <a:r>
                        <a:rPr lang="en-US" sz="1200" b="1" dirty="0">
                          <a:solidFill>
                            <a:srgbClr val="FFFFFF"/>
                          </a:solidFill>
                          <a:latin typeface="Arial" pitchFamily="34" charset="0"/>
                          <a:ea typeface="Arial" pitchFamily="34" charset="-122"/>
                          <a:cs typeface="Arial" pitchFamily="34" charset="-120"/>
                        </a:rPr>
                        <a:t>EOG</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1A1A1A"/>
                    </a:solidFill>
                  </a:tcPr>
                </a:tc>
                <a:extLst>
                  <a:ext uri="{0D108BD9-81ED-4DB2-BD59-A6C34878D82A}">
                    <a16:rowId xmlns:a16="http://schemas.microsoft.com/office/drawing/2014/main" val="10000"/>
                  </a:ext>
                </a:extLst>
              </a:tr>
              <a:tr h="0">
                <a:tc>
                  <a:txBody>
                    <a:bodyPr/>
                    <a:lstStyle/>
                    <a:p>
                      <a:pPr marL="0" indent="0" algn="l">
                        <a:buNone/>
                      </a:pPr>
                      <a:r>
                        <a:rPr lang="en-US" sz="1200" b="1" dirty="0">
                          <a:solidFill>
                            <a:srgbClr val="1A1A1A"/>
                          </a:solidFill>
                          <a:latin typeface="Arial" pitchFamily="34" charset="0"/>
                          <a:ea typeface="Arial" pitchFamily="34" charset="-122"/>
                          <a:cs typeface="Arial" pitchFamily="34" charset="-120"/>
                        </a:rPr>
                        <a:t>Signal Source</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F76902"/>
                          </a:solidFill>
                          <a:latin typeface="Arial" pitchFamily="34" charset="0"/>
                          <a:ea typeface="Arial" pitchFamily="34" charset="-122"/>
                          <a:cs typeface="Arial" pitchFamily="34" charset="-120"/>
                        </a:rPr>
                        <a:t>Sweat gland activity</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1A1A"/>
                          </a:solidFill>
                          <a:latin typeface="Arial" pitchFamily="34" charset="0"/>
                          <a:ea typeface="Arial" pitchFamily="34" charset="-122"/>
                          <a:cs typeface="Arial" pitchFamily="34" charset="-120"/>
                        </a:rPr>
                        <a:t>Muscle action potentials</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1A1A"/>
                          </a:solidFill>
                          <a:latin typeface="Arial" pitchFamily="34" charset="0"/>
                          <a:ea typeface="Arial" pitchFamily="34" charset="-122"/>
                          <a:cs typeface="Arial" pitchFamily="34" charset="-120"/>
                        </a:rPr>
                        <a:t>Corneo-retinal potential</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200" b="1" dirty="0">
                          <a:solidFill>
                            <a:srgbClr val="1A1A1A"/>
                          </a:solidFill>
                          <a:latin typeface="Arial" pitchFamily="34" charset="0"/>
                          <a:ea typeface="Arial" pitchFamily="34" charset="-122"/>
                          <a:cs typeface="Arial" pitchFamily="34" charset="-120"/>
                        </a:rPr>
                        <a:t>Frequency Range</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tc>
                  <a:txBody>
                    <a:bodyPr/>
                    <a:lstStyle/>
                    <a:p>
                      <a:pPr marL="0" indent="0" algn="ctr">
                        <a:buNone/>
                      </a:pPr>
                      <a:r>
                        <a:rPr lang="en-US" sz="1200" b="1" dirty="0">
                          <a:solidFill>
                            <a:srgbClr val="F76902"/>
                          </a:solidFill>
                          <a:latin typeface="Arial" pitchFamily="34" charset="0"/>
                          <a:ea typeface="Arial" pitchFamily="34" charset="-122"/>
                          <a:cs typeface="Arial" pitchFamily="34" charset="-120"/>
                        </a:rPr>
                        <a:t>DC - 5 Hz</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tc>
                  <a:txBody>
                    <a:bodyPr/>
                    <a:lstStyle/>
                    <a:p>
                      <a:pPr marL="0" indent="0" algn="ctr">
                        <a:buNone/>
                      </a:pPr>
                      <a:r>
                        <a:rPr lang="en-US" sz="1200" dirty="0">
                          <a:solidFill>
                            <a:srgbClr val="1A1A1A"/>
                          </a:solidFill>
                          <a:latin typeface="Arial" pitchFamily="34" charset="0"/>
                          <a:ea typeface="Arial" pitchFamily="34" charset="-122"/>
                          <a:cs typeface="Arial" pitchFamily="34" charset="-120"/>
                        </a:rPr>
                        <a:t>20 - 500 Hz</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tc>
                  <a:txBody>
                    <a:bodyPr/>
                    <a:lstStyle/>
                    <a:p>
                      <a:pPr marL="0" indent="0" algn="ctr">
                        <a:buNone/>
                      </a:pPr>
                      <a:r>
                        <a:rPr lang="en-US" sz="1200" dirty="0">
                          <a:solidFill>
                            <a:srgbClr val="1A1A1A"/>
                          </a:solidFill>
                          <a:latin typeface="Arial" pitchFamily="34" charset="0"/>
                          <a:ea typeface="Arial" pitchFamily="34" charset="-122"/>
                          <a:cs typeface="Arial" pitchFamily="34" charset="-120"/>
                        </a:rPr>
                        <a:t>DC - 30 Hz</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0">
                <a:tc>
                  <a:txBody>
                    <a:bodyPr/>
                    <a:lstStyle/>
                    <a:p>
                      <a:pPr marL="0" indent="0" algn="l">
                        <a:buNone/>
                      </a:pPr>
                      <a:r>
                        <a:rPr lang="en-US" sz="1200" b="1" dirty="0">
                          <a:solidFill>
                            <a:srgbClr val="1A1A1A"/>
                          </a:solidFill>
                          <a:latin typeface="Arial" pitchFamily="34" charset="0"/>
                          <a:ea typeface="Arial" pitchFamily="34" charset="-122"/>
                          <a:cs typeface="Arial" pitchFamily="34" charset="-120"/>
                        </a:rPr>
                        <a:t>Typical Amplitude</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F76902"/>
                          </a:solidFill>
                          <a:latin typeface="Arial" pitchFamily="34" charset="0"/>
                          <a:ea typeface="Arial" pitchFamily="34" charset="-122"/>
                          <a:cs typeface="Arial" pitchFamily="34" charset="-120"/>
                        </a:rPr>
                        <a:t>0.1 - 30 μS</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1A1A"/>
                          </a:solidFill>
                          <a:latin typeface="Arial" pitchFamily="34" charset="0"/>
                          <a:ea typeface="Arial" pitchFamily="34" charset="-122"/>
                          <a:cs typeface="Arial" pitchFamily="34" charset="-120"/>
                        </a:rPr>
                        <a:t>50 μV - 5 mV</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1A1A"/>
                          </a:solidFill>
                          <a:latin typeface="Arial" pitchFamily="34" charset="0"/>
                          <a:ea typeface="Arial" pitchFamily="34" charset="-122"/>
                          <a:cs typeface="Arial" pitchFamily="34" charset="-120"/>
                        </a:rPr>
                        <a:t>15 - 200 μV</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200" b="1" dirty="0">
                          <a:solidFill>
                            <a:srgbClr val="1A1A1A"/>
                          </a:solidFill>
                          <a:latin typeface="Arial" pitchFamily="34" charset="0"/>
                          <a:ea typeface="Arial" pitchFamily="34" charset="-122"/>
                          <a:cs typeface="Arial" pitchFamily="34" charset="-120"/>
                        </a:rPr>
                        <a:t>Sample Rate Needed</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tc>
                  <a:txBody>
                    <a:bodyPr/>
                    <a:lstStyle/>
                    <a:p>
                      <a:pPr marL="0" indent="0" algn="ctr">
                        <a:buNone/>
                      </a:pPr>
                      <a:r>
                        <a:rPr lang="en-US" sz="1200" b="1" dirty="0">
                          <a:solidFill>
                            <a:srgbClr val="F76902"/>
                          </a:solidFill>
                          <a:latin typeface="Arial" pitchFamily="34" charset="0"/>
                          <a:ea typeface="Arial" pitchFamily="34" charset="-122"/>
                          <a:cs typeface="Arial" pitchFamily="34" charset="-120"/>
                        </a:rPr>
                        <a:t>10 - 100 Hz</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tc>
                  <a:txBody>
                    <a:bodyPr/>
                    <a:lstStyle/>
                    <a:p>
                      <a:pPr marL="0" indent="0" algn="ctr">
                        <a:buNone/>
                      </a:pPr>
                      <a:r>
                        <a:rPr lang="en-US" sz="1200" dirty="0">
                          <a:solidFill>
                            <a:srgbClr val="1A1A1A"/>
                          </a:solidFill>
                          <a:latin typeface="Arial" pitchFamily="34" charset="0"/>
                          <a:ea typeface="Arial" pitchFamily="34" charset="-122"/>
                          <a:cs typeface="Arial" pitchFamily="34" charset="-120"/>
                        </a:rPr>
                        <a:t>1000+ Hz</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tc>
                  <a:txBody>
                    <a:bodyPr/>
                    <a:lstStyle/>
                    <a:p>
                      <a:pPr marL="0" indent="0" algn="ctr">
                        <a:buNone/>
                      </a:pPr>
                      <a:r>
                        <a:rPr lang="en-US" sz="1200" dirty="0">
                          <a:solidFill>
                            <a:srgbClr val="1A1A1A"/>
                          </a:solidFill>
                          <a:latin typeface="Arial" pitchFamily="34" charset="0"/>
                          <a:ea typeface="Arial" pitchFamily="34" charset="-122"/>
                          <a:cs typeface="Arial" pitchFamily="34" charset="-120"/>
                        </a:rPr>
                        <a:t>250 - 500 Hz</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r h="0">
                <a:tc>
                  <a:txBody>
                    <a:bodyPr/>
                    <a:lstStyle/>
                    <a:p>
                      <a:pPr marL="0" indent="0" algn="l">
                        <a:buNone/>
                      </a:pPr>
                      <a:r>
                        <a:rPr lang="en-US" sz="1200" b="1" dirty="0">
                          <a:solidFill>
                            <a:srgbClr val="1A1A1A"/>
                          </a:solidFill>
                          <a:latin typeface="Arial" pitchFamily="34" charset="0"/>
                          <a:ea typeface="Arial" pitchFamily="34" charset="-122"/>
                          <a:cs typeface="Arial" pitchFamily="34" charset="-120"/>
                        </a:rPr>
                        <a:t>Response Latency</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F76902"/>
                          </a:solidFill>
                          <a:latin typeface="Arial" pitchFamily="34" charset="0"/>
                          <a:ea typeface="Arial" pitchFamily="34" charset="-122"/>
                          <a:cs typeface="Arial" pitchFamily="34" charset="-120"/>
                        </a:rPr>
                        <a:t>1 - 3 seconds</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1A1A"/>
                          </a:solidFill>
                          <a:latin typeface="Arial" pitchFamily="34" charset="0"/>
                          <a:ea typeface="Arial" pitchFamily="34" charset="-122"/>
                          <a:cs typeface="Arial" pitchFamily="34" charset="-120"/>
                        </a:rPr>
                        <a:t>~50 ms</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1A1A"/>
                          </a:solidFill>
                          <a:latin typeface="Arial" pitchFamily="34" charset="0"/>
                          <a:ea typeface="Arial" pitchFamily="34" charset="-122"/>
                          <a:cs typeface="Arial" pitchFamily="34" charset="-120"/>
                        </a:rPr>
                        <a:t>Immediate</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lgn="l">
                        <a:buNone/>
                      </a:pPr>
                      <a:r>
                        <a:rPr lang="en-US" sz="1200" b="1" dirty="0">
                          <a:solidFill>
                            <a:srgbClr val="1A1A1A"/>
                          </a:solidFill>
                          <a:latin typeface="Arial" pitchFamily="34" charset="0"/>
                          <a:ea typeface="Arial" pitchFamily="34" charset="-122"/>
                          <a:cs typeface="Arial" pitchFamily="34" charset="-120"/>
                        </a:rPr>
                        <a:t>Voluntary Control</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tc>
                  <a:txBody>
                    <a:bodyPr/>
                    <a:lstStyle/>
                    <a:p>
                      <a:pPr marL="0" indent="0" algn="ctr">
                        <a:buNone/>
                      </a:pPr>
                      <a:r>
                        <a:rPr lang="en-US" sz="1200" b="1" dirty="0">
                          <a:solidFill>
                            <a:srgbClr val="F76902"/>
                          </a:solidFill>
                          <a:latin typeface="Arial" pitchFamily="34" charset="0"/>
                          <a:ea typeface="Arial" pitchFamily="34" charset="-122"/>
                          <a:cs typeface="Arial" pitchFamily="34" charset="-120"/>
                        </a:rPr>
                        <a:t>Minimal</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tc>
                  <a:txBody>
                    <a:bodyPr/>
                    <a:lstStyle/>
                    <a:p>
                      <a:pPr marL="0" indent="0" algn="ctr">
                        <a:buNone/>
                      </a:pPr>
                      <a:r>
                        <a:rPr lang="en-US" sz="1200" dirty="0">
                          <a:solidFill>
                            <a:srgbClr val="1A1A1A"/>
                          </a:solidFill>
                          <a:latin typeface="Arial" pitchFamily="34" charset="0"/>
                          <a:ea typeface="Arial" pitchFamily="34" charset="-122"/>
                          <a:cs typeface="Arial" pitchFamily="34" charset="-120"/>
                        </a:rPr>
                        <a:t>Full</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tc>
                  <a:txBody>
                    <a:bodyPr/>
                    <a:lstStyle/>
                    <a:p>
                      <a:pPr marL="0" indent="0" algn="ctr">
                        <a:buNone/>
                      </a:pPr>
                      <a:r>
                        <a:rPr lang="en-US" sz="1200" dirty="0">
                          <a:solidFill>
                            <a:srgbClr val="1A1A1A"/>
                          </a:solidFill>
                          <a:latin typeface="Arial" pitchFamily="34" charset="0"/>
                          <a:ea typeface="Arial" pitchFamily="34" charset="-122"/>
                          <a:cs typeface="Arial" pitchFamily="34" charset="-120"/>
                        </a:rPr>
                        <a:t>Full</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extLst>
                  <a:ext uri="{0D108BD9-81ED-4DB2-BD59-A6C34878D82A}">
                    <a16:rowId xmlns:a16="http://schemas.microsoft.com/office/drawing/2014/main" val="10006"/>
                  </a:ext>
                </a:extLst>
              </a:tr>
              <a:tr h="0">
                <a:tc>
                  <a:txBody>
                    <a:bodyPr/>
                    <a:lstStyle/>
                    <a:p>
                      <a:pPr marL="0" indent="0" algn="l">
                        <a:buNone/>
                      </a:pPr>
                      <a:r>
                        <a:rPr lang="en-US" sz="1200" b="1" dirty="0">
                          <a:solidFill>
                            <a:srgbClr val="1A1A1A"/>
                          </a:solidFill>
                          <a:latin typeface="Arial" pitchFamily="34" charset="0"/>
                          <a:ea typeface="Arial" pitchFamily="34" charset="-122"/>
                          <a:cs typeface="Arial" pitchFamily="34" charset="-120"/>
                        </a:rPr>
                        <a:t>Primary Application</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F76902"/>
                          </a:solidFill>
                          <a:latin typeface="Arial" pitchFamily="34" charset="0"/>
                          <a:ea typeface="Arial" pitchFamily="34" charset="-122"/>
                          <a:cs typeface="Arial" pitchFamily="34" charset="-120"/>
                        </a:rPr>
                        <a:t>Arousal/stress</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1A1A"/>
                          </a:solidFill>
                          <a:latin typeface="Arial" pitchFamily="34" charset="0"/>
                          <a:ea typeface="Arial" pitchFamily="34" charset="-122"/>
                          <a:cs typeface="Arial" pitchFamily="34" charset="-120"/>
                        </a:rPr>
                        <a:t>Movement/force</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1A1A"/>
                          </a:solidFill>
                          <a:latin typeface="Arial" pitchFamily="34" charset="0"/>
                          <a:ea typeface="Arial" pitchFamily="34" charset="-122"/>
                          <a:cs typeface="Arial" pitchFamily="34" charset="-120"/>
                        </a:rPr>
                        <a:t>Gaze tracking</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Text 3"/>
          <p:cNvSpPr/>
          <p:nvPr/>
        </p:nvSpPr>
        <p:spPr>
          <a:xfrm>
            <a:off x="458788" y="5760720"/>
            <a:ext cx="11274552" cy="457200"/>
          </a:xfrm>
          <a:prstGeom prst="rect">
            <a:avLst/>
          </a:prstGeom>
          <a:noFill/>
          <a:ln/>
        </p:spPr>
        <p:txBody>
          <a:bodyPr wrap="square" rtlCol="0" anchor="ctr"/>
          <a:lstStyle/>
          <a:p>
            <a:r>
              <a:rPr lang="en-US" sz="1200" i="1" dirty="0">
                <a:solidFill>
                  <a:srgbClr val="666666"/>
                </a:solidFill>
                <a:latin typeface="Arial" pitchFamily="34" charset="0"/>
                <a:ea typeface="Arial" pitchFamily="34" charset="-122"/>
                <a:cs typeface="Arial" pitchFamily="34" charset="-120"/>
              </a:rPr>
              <a:t>Note: GSR reflects autonomic (involuntary) nervous system activity, while EMG and EOG reflect somatic (voluntary) control.</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2566368" y="107052"/>
            <a:ext cx="10972800" cy="640080"/>
          </a:xfrm>
          <a:prstGeom prst="rect">
            <a:avLst/>
          </a:prstGeom>
          <a:noFill/>
          <a:ln/>
        </p:spPr>
        <p:txBody>
          <a:bodyPr wrap="square" rtlCol="0" anchor="ctr"/>
          <a:lstStyle/>
          <a:p>
            <a:r>
              <a:rPr lang="en-US" sz="3600" b="1" dirty="0">
                <a:solidFill>
                  <a:schemeClr val="bg1"/>
                </a:solidFill>
                <a:latin typeface="Arial Black" pitchFamily="34" charset="0"/>
                <a:ea typeface="Arial Black" pitchFamily="34" charset="-122"/>
                <a:cs typeface="Arial Black" pitchFamily="34" charset="-120"/>
              </a:rPr>
              <a:t>Electrode Placement</a:t>
            </a:r>
            <a:endParaRPr lang="en-US" sz="3600" dirty="0">
              <a:solidFill>
                <a:schemeClr val="bg1"/>
              </a:solidFill>
            </a:endParaRPr>
          </a:p>
        </p:txBody>
      </p:sp>
      <p:sp>
        <p:nvSpPr>
          <p:cNvPr id="4" name="Text 2"/>
          <p:cNvSpPr/>
          <p:nvPr/>
        </p:nvSpPr>
        <p:spPr>
          <a:xfrm>
            <a:off x="458788" y="1097280"/>
            <a:ext cx="10972800" cy="365760"/>
          </a:xfrm>
          <a:prstGeom prst="rect">
            <a:avLst/>
          </a:prstGeom>
          <a:noFill/>
          <a:ln/>
        </p:spPr>
        <p:txBody>
          <a:bodyPr wrap="square" rtlCol="0" anchor="ctr"/>
          <a:lstStyle/>
          <a:p>
            <a:r>
              <a:rPr lang="en-US" sz="1600" dirty="0">
                <a:solidFill>
                  <a:srgbClr val="666666"/>
                </a:solidFill>
                <a:latin typeface="Arial" pitchFamily="34" charset="0"/>
                <a:ea typeface="Arial" pitchFamily="34" charset="-122"/>
                <a:cs typeface="Arial" pitchFamily="34" charset="-120"/>
              </a:rPr>
              <a:t>Standard locations for GSR measurement</a:t>
            </a:r>
            <a:endParaRPr lang="en-US" sz="1600" dirty="0"/>
          </a:p>
        </p:txBody>
      </p:sp>
      <p:sp>
        <p:nvSpPr>
          <p:cNvPr id="5" name="Text 3"/>
          <p:cNvSpPr/>
          <p:nvPr/>
        </p:nvSpPr>
        <p:spPr>
          <a:xfrm>
            <a:off x="458788" y="1645920"/>
            <a:ext cx="5303520" cy="365760"/>
          </a:xfrm>
          <a:prstGeom prst="rect">
            <a:avLst/>
          </a:prstGeom>
          <a:noFill/>
          <a:ln/>
        </p:spPr>
        <p:txBody>
          <a:bodyPr wrap="square" rtlCol="0" anchor="ctr"/>
          <a:lstStyle/>
          <a:p>
            <a:r>
              <a:rPr lang="en-US" b="1" dirty="0">
                <a:solidFill>
                  <a:srgbClr val="1A1A1A"/>
                </a:solidFill>
                <a:latin typeface="Arial" pitchFamily="34" charset="0"/>
                <a:ea typeface="Arial" pitchFamily="34" charset="-122"/>
                <a:cs typeface="Arial" pitchFamily="34" charset="-120"/>
              </a:rPr>
              <a:t>Common Electrode Sites</a:t>
            </a:r>
            <a:endParaRPr lang="en-US" dirty="0"/>
          </a:p>
        </p:txBody>
      </p:sp>
      <p:sp>
        <p:nvSpPr>
          <p:cNvPr id="6" name="Shape 4"/>
          <p:cNvSpPr/>
          <p:nvPr/>
        </p:nvSpPr>
        <p:spPr>
          <a:xfrm>
            <a:off x="458788" y="2103120"/>
            <a:ext cx="5303520" cy="1188720"/>
          </a:xfrm>
          <a:prstGeom prst="roundRect">
            <a:avLst/>
          </a:prstGeom>
          <a:solidFill>
            <a:srgbClr val="F5F5F5"/>
          </a:solidFill>
          <a:ln/>
        </p:spPr>
        <p:txBody>
          <a:bodyPr/>
          <a:lstStyle/>
          <a:p>
            <a:endParaRPr lang="en-US"/>
          </a:p>
        </p:txBody>
      </p:sp>
      <p:sp>
        <p:nvSpPr>
          <p:cNvPr id="7" name="Text 5"/>
          <p:cNvSpPr/>
          <p:nvPr/>
        </p:nvSpPr>
        <p:spPr>
          <a:xfrm>
            <a:off x="641668" y="2194560"/>
            <a:ext cx="4937760" cy="320040"/>
          </a:xfrm>
          <a:prstGeom prst="rect">
            <a:avLst/>
          </a:prstGeom>
          <a:noFill/>
          <a:ln/>
        </p:spPr>
        <p:txBody>
          <a:bodyPr wrap="square" rtlCol="0" anchor="ctr"/>
          <a:lstStyle/>
          <a:p>
            <a:r>
              <a:rPr lang="en-US" sz="1400" b="1" dirty="0">
                <a:solidFill>
                  <a:srgbClr val="F76902"/>
                </a:solidFill>
                <a:latin typeface="Arial" pitchFamily="34" charset="0"/>
                <a:ea typeface="Arial" pitchFamily="34" charset="-122"/>
                <a:cs typeface="Arial" pitchFamily="34" charset="-120"/>
              </a:rPr>
              <a:t>Palmar Surface (Fingers)</a:t>
            </a:r>
            <a:endParaRPr lang="en-US" sz="1400" dirty="0"/>
          </a:p>
        </p:txBody>
      </p:sp>
      <p:sp>
        <p:nvSpPr>
          <p:cNvPr id="8" name="Text 6"/>
          <p:cNvSpPr/>
          <p:nvPr/>
        </p:nvSpPr>
        <p:spPr>
          <a:xfrm>
            <a:off x="641668" y="2560320"/>
            <a:ext cx="4937760" cy="640080"/>
          </a:xfrm>
          <a:prstGeom prst="rect">
            <a:avLst/>
          </a:prstGeom>
          <a:noFill/>
          <a:ln/>
        </p:spPr>
        <p:txBody>
          <a:bodyPr wrap="square" rtlCol="0" anchor="ctr"/>
          <a:lstStyle/>
          <a:p>
            <a:r>
              <a:rPr lang="en-US" sz="1300" dirty="0">
                <a:solidFill>
                  <a:srgbClr val="1A1A1A"/>
                </a:solidFill>
                <a:latin typeface="Arial" pitchFamily="34" charset="0"/>
                <a:ea typeface="Arial" pitchFamily="34" charset="-122"/>
                <a:cs typeface="Arial" pitchFamily="34" charset="-120"/>
              </a:rPr>
              <a:t>Most common - high sensitivity, easy access. Typically index and middle finger, medial phalanges.</a:t>
            </a:r>
            <a:endParaRPr lang="en-US" sz="1300" dirty="0"/>
          </a:p>
        </p:txBody>
      </p:sp>
      <p:sp>
        <p:nvSpPr>
          <p:cNvPr id="9" name="Shape 7"/>
          <p:cNvSpPr/>
          <p:nvPr/>
        </p:nvSpPr>
        <p:spPr>
          <a:xfrm>
            <a:off x="458788" y="3474720"/>
            <a:ext cx="5303520" cy="1188720"/>
          </a:xfrm>
          <a:prstGeom prst="roundRect">
            <a:avLst/>
          </a:prstGeom>
          <a:solidFill>
            <a:srgbClr val="F5F5F5"/>
          </a:solidFill>
          <a:ln/>
        </p:spPr>
        <p:txBody>
          <a:bodyPr/>
          <a:lstStyle/>
          <a:p>
            <a:endParaRPr lang="en-US"/>
          </a:p>
        </p:txBody>
      </p:sp>
      <p:sp>
        <p:nvSpPr>
          <p:cNvPr id="10" name="Text 8"/>
          <p:cNvSpPr/>
          <p:nvPr/>
        </p:nvSpPr>
        <p:spPr>
          <a:xfrm>
            <a:off x="641668" y="3566160"/>
            <a:ext cx="4937760" cy="320040"/>
          </a:xfrm>
          <a:prstGeom prst="rect">
            <a:avLst/>
          </a:prstGeom>
          <a:noFill/>
          <a:ln/>
        </p:spPr>
        <p:txBody>
          <a:bodyPr wrap="square" rtlCol="0" anchor="ctr"/>
          <a:lstStyle/>
          <a:p>
            <a:r>
              <a:rPr lang="en-US" sz="1400" b="1" dirty="0">
                <a:solidFill>
                  <a:srgbClr val="F76902"/>
                </a:solidFill>
                <a:latin typeface="Arial" pitchFamily="34" charset="0"/>
                <a:ea typeface="Arial" pitchFamily="34" charset="-122"/>
                <a:cs typeface="Arial" pitchFamily="34" charset="-120"/>
              </a:rPr>
              <a:t>Thenar/Hypothenar</a:t>
            </a:r>
            <a:endParaRPr lang="en-US" sz="1400" dirty="0"/>
          </a:p>
        </p:txBody>
      </p:sp>
      <p:sp>
        <p:nvSpPr>
          <p:cNvPr id="11" name="Text 9"/>
          <p:cNvSpPr/>
          <p:nvPr/>
        </p:nvSpPr>
        <p:spPr>
          <a:xfrm>
            <a:off x="641668" y="3931920"/>
            <a:ext cx="4937760" cy="640080"/>
          </a:xfrm>
          <a:prstGeom prst="rect">
            <a:avLst/>
          </a:prstGeom>
          <a:noFill/>
          <a:ln/>
        </p:spPr>
        <p:txBody>
          <a:bodyPr wrap="square" rtlCol="0" anchor="ctr"/>
          <a:lstStyle/>
          <a:p>
            <a:r>
              <a:rPr lang="en-US" sz="1300" dirty="0">
                <a:solidFill>
                  <a:srgbClr val="1A1A1A"/>
                </a:solidFill>
                <a:latin typeface="Arial" pitchFamily="34" charset="0"/>
                <a:ea typeface="Arial" pitchFamily="34" charset="-122"/>
                <a:cs typeface="Arial" pitchFamily="34" charset="-120"/>
              </a:rPr>
              <a:t>Palm surface - useful when fingers unavailable. Good signal quality.</a:t>
            </a:r>
            <a:endParaRPr lang="en-US" sz="1300" dirty="0"/>
          </a:p>
        </p:txBody>
      </p:sp>
      <p:sp>
        <p:nvSpPr>
          <p:cNvPr id="12" name="Shape 10"/>
          <p:cNvSpPr/>
          <p:nvPr/>
        </p:nvSpPr>
        <p:spPr>
          <a:xfrm>
            <a:off x="458788" y="4846320"/>
            <a:ext cx="5303520" cy="1188720"/>
          </a:xfrm>
          <a:prstGeom prst="roundRect">
            <a:avLst/>
          </a:prstGeom>
          <a:solidFill>
            <a:srgbClr val="F5F5F5"/>
          </a:solidFill>
          <a:ln/>
        </p:spPr>
        <p:txBody>
          <a:bodyPr/>
          <a:lstStyle/>
          <a:p>
            <a:endParaRPr lang="en-US"/>
          </a:p>
        </p:txBody>
      </p:sp>
      <p:sp>
        <p:nvSpPr>
          <p:cNvPr id="13" name="Text 11"/>
          <p:cNvSpPr/>
          <p:nvPr/>
        </p:nvSpPr>
        <p:spPr>
          <a:xfrm>
            <a:off x="641668" y="4937760"/>
            <a:ext cx="4937760" cy="320040"/>
          </a:xfrm>
          <a:prstGeom prst="rect">
            <a:avLst/>
          </a:prstGeom>
          <a:noFill/>
          <a:ln/>
        </p:spPr>
        <p:txBody>
          <a:bodyPr wrap="square" rtlCol="0" anchor="ctr"/>
          <a:lstStyle/>
          <a:p>
            <a:r>
              <a:rPr lang="en-US" sz="1400" b="1" dirty="0">
                <a:solidFill>
                  <a:srgbClr val="F76902"/>
                </a:solidFill>
                <a:latin typeface="Arial" pitchFamily="34" charset="0"/>
                <a:ea typeface="Arial" pitchFamily="34" charset="-122"/>
                <a:cs typeface="Arial" pitchFamily="34" charset="-120"/>
              </a:rPr>
              <a:t>Plantar Surface (Feet)</a:t>
            </a:r>
            <a:endParaRPr lang="en-US" sz="1400" dirty="0"/>
          </a:p>
        </p:txBody>
      </p:sp>
      <p:sp>
        <p:nvSpPr>
          <p:cNvPr id="14" name="Text 12"/>
          <p:cNvSpPr/>
          <p:nvPr/>
        </p:nvSpPr>
        <p:spPr>
          <a:xfrm>
            <a:off x="641668" y="5303520"/>
            <a:ext cx="4937760" cy="640080"/>
          </a:xfrm>
          <a:prstGeom prst="rect">
            <a:avLst/>
          </a:prstGeom>
          <a:noFill/>
          <a:ln/>
        </p:spPr>
        <p:txBody>
          <a:bodyPr wrap="square" rtlCol="0" anchor="ctr"/>
          <a:lstStyle/>
          <a:p>
            <a:r>
              <a:rPr lang="en-US" sz="1300" dirty="0">
                <a:solidFill>
                  <a:srgbClr val="1A1A1A"/>
                </a:solidFill>
                <a:latin typeface="Arial" pitchFamily="34" charset="0"/>
                <a:ea typeface="Arial" pitchFamily="34" charset="-122"/>
                <a:cs typeface="Arial" pitchFamily="34" charset="-120"/>
              </a:rPr>
              <a:t>Alternative when hands unavailable. Similar sweat gland density.</a:t>
            </a:r>
            <a:endParaRPr lang="en-US" sz="1300" dirty="0"/>
          </a:p>
        </p:txBody>
      </p:sp>
      <p:sp>
        <p:nvSpPr>
          <p:cNvPr id="15" name="Shape 13"/>
          <p:cNvSpPr/>
          <p:nvPr/>
        </p:nvSpPr>
        <p:spPr>
          <a:xfrm>
            <a:off x="6128068" y="1645920"/>
            <a:ext cx="5303520" cy="4389120"/>
          </a:xfrm>
          <a:prstGeom prst="roundRect">
            <a:avLst/>
          </a:prstGeom>
          <a:solidFill>
            <a:srgbClr val="1A1A1A"/>
          </a:solidFill>
          <a:ln/>
        </p:spPr>
        <p:txBody>
          <a:bodyPr/>
          <a:lstStyle/>
          <a:p>
            <a:endParaRPr lang="en-US"/>
          </a:p>
        </p:txBody>
      </p:sp>
      <p:sp>
        <p:nvSpPr>
          <p:cNvPr id="16" name="Text 14"/>
          <p:cNvSpPr/>
          <p:nvPr/>
        </p:nvSpPr>
        <p:spPr>
          <a:xfrm>
            <a:off x="6310948" y="1828800"/>
            <a:ext cx="4937760" cy="365760"/>
          </a:xfrm>
          <a:prstGeom prst="rect">
            <a:avLst/>
          </a:prstGeom>
          <a:noFill/>
          <a:ln/>
        </p:spPr>
        <p:txBody>
          <a:bodyPr wrap="square" rtlCol="0" anchor="ctr"/>
          <a:lstStyle/>
          <a:p>
            <a:r>
              <a:rPr lang="en-US" b="1" dirty="0">
                <a:solidFill>
                  <a:srgbClr val="F76902"/>
                </a:solidFill>
                <a:latin typeface="Arial" pitchFamily="34" charset="0"/>
                <a:ea typeface="Arial" pitchFamily="34" charset="-122"/>
                <a:cs typeface="Arial" pitchFamily="34" charset="-120"/>
              </a:rPr>
              <a:t>Best Practices</a:t>
            </a:r>
            <a:endParaRPr lang="en-US" dirty="0"/>
          </a:p>
        </p:txBody>
      </p:sp>
      <p:sp>
        <p:nvSpPr>
          <p:cNvPr id="17" name="Text 15"/>
          <p:cNvSpPr/>
          <p:nvPr/>
        </p:nvSpPr>
        <p:spPr>
          <a:xfrm>
            <a:off x="6310948" y="2286000"/>
            <a:ext cx="4937760" cy="502920"/>
          </a:xfrm>
          <a:prstGeom prst="rect">
            <a:avLst/>
          </a:prstGeom>
          <a:noFill/>
          <a:ln/>
        </p:spPr>
        <p:txBody>
          <a:bodyPr wrap="square" rtlCol="0" anchor="ctr"/>
          <a:lstStyle/>
          <a:p>
            <a:r>
              <a:rPr lang="en-US" sz="1200" dirty="0">
                <a:solidFill>
                  <a:srgbClr val="FFFFFF"/>
                </a:solidFill>
                <a:latin typeface="Arial" pitchFamily="34" charset="0"/>
                <a:ea typeface="Arial" pitchFamily="34" charset="-122"/>
                <a:cs typeface="Arial" pitchFamily="34" charset="-120"/>
              </a:rPr>
              <a:t>•  Clean skin with water only (no alcohol)</a:t>
            </a:r>
            <a:endParaRPr lang="en-US" sz="1200" dirty="0"/>
          </a:p>
        </p:txBody>
      </p:sp>
      <p:sp>
        <p:nvSpPr>
          <p:cNvPr id="18" name="Text 16"/>
          <p:cNvSpPr/>
          <p:nvPr/>
        </p:nvSpPr>
        <p:spPr>
          <a:xfrm>
            <a:off x="6310948" y="2834640"/>
            <a:ext cx="4937760" cy="502920"/>
          </a:xfrm>
          <a:prstGeom prst="rect">
            <a:avLst/>
          </a:prstGeom>
          <a:noFill/>
          <a:ln/>
        </p:spPr>
        <p:txBody>
          <a:bodyPr wrap="square" rtlCol="0" anchor="ctr"/>
          <a:lstStyle/>
          <a:p>
            <a:r>
              <a:rPr lang="en-US" sz="1200" dirty="0">
                <a:solidFill>
                  <a:srgbClr val="FFFFFF"/>
                </a:solidFill>
                <a:latin typeface="Arial" pitchFamily="34" charset="0"/>
                <a:ea typeface="Arial" pitchFamily="34" charset="-122"/>
                <a:cs typeface="Arial" pitchFamily="34" charset="-120"/>
              </a:rPr>
              <a:t>•  Use isotonic gel or pre-gelled electrodes</a:t>
            </a:r>
            <a:endParaRPr lang="en-US" sz="1200" dirty="0"/>
          </a:p>
        </p:txBody>
      </p:sp>
      <p:sp>
        <p:nvSpPr>
          <p:cNvPr id="19" name="Text 17"/>
          <p:cNvSpPr/>
          <p:nvPr/>
        </p:nvSpPr>
        <p:spPr>
          <a:xfrm>
            <a:off x="6310948" y="3383280"/>
            <a:ext cx="4937760" cy="502920"/>
          </a:xfrm>
          <a:prstGeom prst="rect">
            <a:avLst/>
          </a:prstGeom>
          <a:noFill/>
          <a:ln/>
        </p:spPr>
        <p:txBody>
          <a:bodyPr wrap="square" rtlCol="0" anchor="ctr"/>
          <a:lstStyle/>
          <a:p>
            <a:r>
              <a:rPr lang="en-US" sz="1200" dirty="0">
                <a:solidFill>
                  <a:srgbClr val="FFFFFF"/>
                </a:solidFill>
                <a:latin typeface="Arial" pitchFamily="34" charset="0"/>
                <a:ea typeface="Arial" pitchFamily="34" charset="-122"/>
                <a:cs typeface="Arial" pitchFamily="34" charset="-120"/>
              </a:rPr>
              <a:t>•  Maintain consistent electrode spacing</a:t>
            </a:r>
            <a:endParaRPr lang="en-US" sz="1200" dirty="0"/>
          </a:p>
        </p:txBody>
      </p:sp>
      <p:sp>
        <p:nvSpPr>
          <p:cNvPr id="20" name="Text 18"/>
          <p:cNvSpPr/>
          <p:nvPr/>
        </p:nvSpPr>
        <p:spPr>
          <a:xfrm>
            <a:off x="6310948" y="3931920"/>
            <a:ext cx="4937760" cy="502920"/>
          </a:xfrm>
          <a:prstGeom prst="rect">
            <a:avLst/>
          </a:prstGeom>
          <a:noFill/>
          <a:ln/>
        </p:spPr>
        <p:txBody>
          <a:bodyPr wrap="square" rtlCol="0" anchor="ctr"/>
          <a:lstStyle/>
          <a:p>
            <a:r>
              <a:rPr lang="en-US" sz="1200" dirty="0">
                <a:solidFill>
                  <a:srgbClr val="FFFFFF"/>
                </a:solidFill>
                <a:latin typeface="Arial" pitchFamily="34" charset="0"/>
                <a:ea typeface="Arial" pitchFamily="34" charset="-122"/>
                <a:cs typeface="Arial" pitchFamily="34" charset="-120"/>
              </a:rPr>
              <a:t>•  Secure electrodes to prevent movement</a:t>
            </a:r>
            <a:endParaRPr lang="en-US" sz="1200" dirty="0"/>
          </a:p>
        </p:txBody>
      </p:sp>
      <p:sp>
        <p:nvSpPr>
          <p:cNvPr id="21" name="Text 19"/>
          <p:cNvSpPr/>
          <p:nvPr/>
        </p:nvSpPr>
        <p:spPr>
          <a:xfrm>
            <a:off x="6310948" y="4480560"/>
            <a:ext cx="4937760" cy="502920"/>
          </a:xfrm>
          <a:prstGeom prst="rect">
            <a:avLst/>
          </a:prstGeom>
          <a:noFill/>
          <a:ln/>
        </p:spPr>
        <p:txBody>
          <a:bodyPr wrap="square" rtlCol="0" anchor="ctr"/>
          <a:lstStyle/>
          <a:p>
            <a:r>
              <a:rPr lang="en-US" sz="1200" dirty="0">
                <a:solidFill>
                  <a:srgbClr val="FFFFFF"/>
                </a:solidFill>
                <a:latin typeface="Arial" pitchFamily="34" charset="0"/>
                <a:ea typeface="Arial" pitchFamily="34" charset="-122"/>
                <a:cs typeface="Arial" pitchFamily="34" charset="-120"/>
              </a:rPr>
              <a:t>•  Allow 2-5 minutes for stabilization</a:t>
            </a:r>
            <a:endParaRPr lang="en-US" sz="1200" dirty="0"/>
          </a:p>
        </p:txBody>
      </p:sp>
      <p:sp>
        <p:nvSpPr>
          <p:cNvPr id="22" name="Text 20"/>
          <p:cNvSpPr/>
          <p:nvPr/>
        </p:nvSpPr>
        <p:spPr>
          <a:xfrm>
            <a:off x="6310948" y="5029200"/>
            <a:ext cx="4937760" cy="502920"/>
          </a:xfrm>
          <a:prstGeom prst="rect">
            <a:avLst/>
          </a:prstGeom>
          <a:noFill/>
          <a:ln/>
        </p:spPr>
        <p:txBody>
          <a:bodyPr wrap="square" rtlCol="0" anchor="ctr"/>
          <a:lstStyle/>
          <a:p>
            <a:r>
              <a:rPr lang="en-US" sz="1200" dirty="0">
                <a:solidFill>
                  <a:srgbClr val="FFFFFF"/>
                </a:solidFill>
                <a:latin typeface="Arial" pitchFamily="34" charset="0"/>
                <a:ea typeface="Arial" pitchFamily="34" charset="-122"/>
                <a:cs typeface="Arial" pitchFamily="34" charset="-120"/>
              </a:rPr>
              <a:t>•  Use non-dominant hand (less movement)</a:t>
            </a:r>
            <a:endParaRPr lang="en-US" sz="1200" dirty="0"/>
          </a:p>
        </p:txBody>
      </p:sp>
      <p:sp>
        <p:nvSpPr>
          <p:cNvPr id="23" name="Text 21"/>
          <p:cNvSpPr/>
          <p:nvPr/>
        </p:nvSpPr>
        <p:spPr>
          <a:xfrm>
            <a:off x="6310948" y="5577840"/>
            <a:ext cx="4937760" cy="502920"/>
          </a:xfrm>
          <a:prstGeom prst="rect">
            <a:avLst/>
          </a:prstGeom>
          <a:noFill/>
          <a:ln/>
        </p:spPr>
        <p:txBody>
          <a:bodyPr wrap="square" rtlCol="0" anchor="ctr"/>
          <a:lstStyle/>
          <a:p>
            <a:r>
              <a:rPr lang="en-US" sz="1200" dirty="0">
                <a:solidFill>
                  <a:srgbClr val="FFFFFF"/>
                </a:solidFill>
                <a:latin typeface="Arial" pitchFamily="34" charset="0"/>
                <a:ea typeface="Arial" pitchFamily="34" charset="-122"/>
                <a:cs typeface="Arial" pitchFamily="34" charset="-120"/>
              </a:rPr>
              <a:t>•  Keep room temperature consistent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2544066" y="149426"/>
            <a:ext cx="10972800" cy="640080"/>
          </a:xfrm>
          <a:prstGeom prst="rect">
            <a:avLst/>
          </a:prstGeom>
          <a:noFill/>
          <a:ln/>
        </p:spPr>
        <p:txBody>
          <a:bodyPr wrap="square" rtlCol="0" anchor="ctr"/>
          <a:lstStyle/>
          <a:p>
            <a:r>
              <a:rPr lang="en-US" sz="3600" b="1" dirty="0">
                <a:solidFill>
                  <a:schemeClr val="bg1"/>
                </a:solidFill>
                <a:latin typeface="Arial Black" pitchFamily="34" charset="0"/>
                <a:ea typeface="Arial Black" pitchFamily="34" charset="-122"/>
                <a:cs typeface="Arial Black" pitchFamily="34" charset="-120"/>
              </a:rPr>
              <a:t>Signal Quality Considerations</a:t>
            </a:r>
            <a:endParaRPr lang="en-US" sz="3600" dirty="0">
              <a:solidFill>
                <a:schemeClr val="bg1"/>
              </a:solidFill>
            </a:endParaRPr>
          </a:p>
        </p:txBody>
      </p:sp>
      <p:sp>
        <p:nvSpPr>
          <p:cNvPr id="4" name="Text 2"/>
          <p:cNvSpPr/>
          <p:nvPr/>
        </p:nvSpPr>
        <p:spPr>
          <a:xfrm>
            <a:off x="458788" y="1097280"/>
            <a:ext cx="10972800" cy="365760"/>
          </a:xfrm>
          <a:prstGeom prst="rect">
            <a:avLst/>
          </a:prstGeom>
          <a:noFill/>
          <a:ln/>
        </p:spPr>
        <p:txBody>
          <a:bodyPr wrap="square" rtlCol="0" anchor="ctr"/>
          <a:lstStyle/>
          <a:p>
            <a:r>
              <a:rPr lang="en-US" sz="1600" dirty="0">
                <a:solidFill>
                  <a:srgbClr val="666666"/>
                </a:solidFill>
                <a:latin typeface="Arial" pitchFamily="34" charset="0"/>
                <a:ea typeface="Arial" pitchFamily="34" charset="-122"/>
                <a:cs typeface="Arial" pitchFamily="34" charset="-120"/>
              </a:rPr>
              <a:t>Common issues and solutions</a:t>
            </a:r>
            <a:endParaRPr lang="en-US" sz="1600" dirty="0"/>
          </a:p>
        </p:txBody>
      </p:sp>
      <p:graphicFrame>
        <p:nvGraphicFramePr>
          <p:cNvPr id="13" name="Table 0"/>
          <p:cNvGraphicFramePr>
            <a:graphicFrameLocks noGrp="1"/>
          </p:cNvGraphicFramePr>
          <p:nvPr/>
        </p:nvGraphicFramePr>
        <p:xfrm>
          <a:off x="458788" y="1554480"/>
          <a:ext cx="11274552" cy="1920240"/>
        </p:xfrm>
        <a:graphic>
          <a:graphicData uri="http://schemas.openxmlformats.org/drawingml/2006/table">
            <a:tbl>
              <a:tblPr/>
              <a:tblGrid>
                <a:gridCol w="27432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5330952">
                  <a:extLst>
                    <a:ext uri="{9D8B030D-6E8A-4147-A177-3AD203B41FA5}">
                      <a16:colId xmlns:a16="http://schemas.microsoft.com/office/drawing/2014/main" val="20002"/>
                    </a:ext>
                  </a:extLst>
                </a:gridCol>
              </a:tblGrid>
              <a:tr h="0">
                <a:tc>
                  <a:txBody>
                    <a:bodyPr/>
                    <a:lstStyle/>
                    <a:p>
                      <a:pPr marL="0" indent="0" algn="l">
                        <a:buNone/>
                      </a:pPr>
                      <a:r>
                        <a:rPr lang="en-US" sz="1200" b="1" dirty="0">
                          <a:solidFill>
                            <a:srgbClr val="FFFFFF"/>
                          </a:solidFill>
                          <a:latin typeface="Arial" pitchFamily="34" charset="0"/>
                          <a:ea typeface="Arial" pitchFamily="34" charset="-122"/>
                          <a:cs typeface="Arial" pitchFamily="34" charset="-120"/>
                        </a:rPr>
                        <a:t>Issue</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1A1A1A"/>
                    </a:solidFill>
                  </a:tcPr>
                </a:tc>
                <a:tc>
                  <a:txBody>
                    <a:bodyPr/>
                    <a:lstStyle/>
                    <a:p>
                      <a:pPr marL="0" indent="0" algn="l">
                        <a:buNone/>
                      </a:pPr>
                      <a:r>
                        <a:rPr lang="en-US" sz="1200" b="1" dirty="0">
                          <a:solidFill>
                            <a:srgbClr val="FFFFFF"/>
                          </a:solidFill>
                          <a:latin typeface="Arial" pitchFamily="34" charset="0"/>
                          <a:ea typeface="Arial" pitchFamily="34" charset="-122"/>
                          <a:cs typeface="Arial" pitchFamily="34" charset="-120"/>
                        </a:rPr>
                        <a:t>Cause</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1A1A1A"/>
                    </a:solidFill>
                  </a:tcPr>
                </a:tc>
                <a:tc>
                  <a:txBody>
                    <a:bodyPr/>
                    <a:lstStyle/>
                    <a:p>
                      <a:pPr marL="0" indent="0" algn="l">
                        <a:buNone/>
                      </a:pPr>
                      <a:r>
                        <a:rPr lang="en-US" sz="1200" b="1" dirty="0">
                          <a:solidFill>
                            <a:srgbClr val="FFFFFF"/>
                          </a:solidFill>
                          <a:latin typeface="Arial" pitchFamily="34" charset="0"/>
                          <a:ea typeface="Arial" pitchFamily="34" charset="-122"/>
                          <a:cs typeface="Arial" pitchFamily="34" charset="-120"/>
                        </a:rPr>
                        <a:t>Solution</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1A1A1A"/>
                    </a:solidFill>
                  </a:tcPr>
                </a:tc>
                <a:extLst>
                  <a:ext uri="{0D108BD9-81ED-4DB2-BD59-A6C34878D82A}">
                    <a16:rowId xmlns:a16="http://schemas.microsoft.com/office/drawing/2014/main" val="10000"/>
                  </a:ext>
                </a:extLst>
              </a:tr>
              <a:tr h="0">
                <a:tc>
                  <a:txBody>
                    <a:bodyPr/>
                    <a:lstStyle/>
                    <a:p>
                      <a:pPr marL="0" indent="0" algn="l">
                        <a:buNone/>
                      </a:pPr>
                      <a:r>
                        <a:rPr lang="en-US" sz="1200" dirty="0">
                          <a:solidFill>
                            <a:srgbClr val="1A1A1A"/>
                          </a:solidFill>
                          <a:latin typeface="Arial" pitchFamily="34" charset="0"/>
                          <a:ea typeface="Arial" pitchFamily="34" charset="-122"/>
                          <a:cs typeface="Arial" pitchFamily="34" charset="-120"/>
                        </a:rPr>
                        <a:t>No signal / flat line</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Arial" pitchFamily="34" charset="0"/>
                          <a:ea typeface="Arial" pitchFamily="34" charset="-122"/>
                          <a:cs typeface="Arial" pitchFamily="34" charset="-120"/>
                        </a:rPr>
                        <a:t>Poor electrode contact</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Arial" pitchFamily="34" charset="0"/>
                          <a:ea typeface="Arial" pitchFamily="34" charset="-122"/>
                          <a:cs typeface="Arial" pitchFamily="34" charset="-120"/>
                        </a:rPr>
                        <a:t>Check gel, clean skin, secure electrodes</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200" dirty="0">
                          <a:solidFill>
                            <a:srgbClr val="1A1A1A"/>
                          </a:solidFill>
                          <a:latin typeface="Arial" pitchFamily="34" charset="0"/>
                          <a:ea typeface="Arial" pitchFamily="34" charset="-122"/>
                          <a:cs typeface="Arial" pitchFamily="34" charset="-120"/>
                        </a:rPr>
                        <a:t>Excessive noise</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tc>
                  <a:txBody>
                    <a:bodyPr/>
                    <a:lstStyle/>
                    <a:p>
                      <a:pPr marL="0" indent="0" algn="l">
                        <a:buNone/>
                      </a:pPr>
                      <a:r>
                        <a:rPr lang="en-US" sz="1200" dirty="0">
                          <a:solidFill>
                            <a:srgbClr val="1A1A1A"/>
                          </a:solidFill>
                          <a:latin typeface="Arial" pitchFamily="34" charset="0"/>
                          <a:ea typeface="Arial" pitchFamily="34" charset="-122"/>
                          <a:cs typeface="Arial" pitchFamily="34" charset="-120"/>
                        </a:rPr>
                        <a:t>Movement artifacts</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tc>
                  <a:txBody>
                    <a:bodyPr/>
                    <a:lstStyle/>
                    <a:p>
                      <a:pPr marL="0" indent="0" algn="l">
                        <a:buNone/>
                      </a:pPr>
                      <a:r>
                        <a:rPr lang="en-US" sz="1200" dirty="0">
                          <a:solidFill>
                            <a:srgbClr val="1A1A1A"/>
                          </a:solidFill>
                          <a:latin typeface="Arial" pitchFamily="34" charset="0"/>
                          <a:ea typeface="Arial" pitchFamily="34" charset="-122"/>
                          <a:cs typeface="Arial" pitchFamily="34" charset="-120"/>
                        </a:rPr>
                        <a:t>Stabilize hand, reduce cable movement</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0">
                <a:tc>
                  <a:txBody>
                    <a:bodyPr/>
                    <a:lstStyle/>
                    <a:p>
                      <a:pPr marL="0" indent="0" algn="l">
                        <a:buNone/>
                      </a:pPr>
                      <a:r>
                        <a:rPr lang="en-US" sz="1200" dirty="0">
                          <a:solidFill>
                            <a:srgbClr val="1A1A1A"/>
                          </a:solidFill>
                          <a:latin typeface="Arial" pitchFamily="34" charset="0"/>
                          <a:ea typeface="Arial" pitchFamily="34" charset="-122"/>
                          <a:cs typeface="Arial" pitchFamily="34" charset="-120"/>
                        </a:rPr>
                        <a:t>Rapid baseline drift</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Arial" pitchFamily="34" charset="0"/>
                          <a:ea typeface="Arial" pitchFamily="34" charset="-122"/>
                          <a:cs typeface="Arial" pitchFamily="34" charset="-120"/>
                        </a:rPr>
                        <a:t>Temperature changes</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Arial" pitchFamily="34" charset="0"/>
                          <a:ea typeface="Arial" pitchFamily="34" charset="-122"/>
                          <a:cs typeface="Arial" pitchFamily="34" charset="-120"/>
                        </a:rPr>
                        <a:t>Control room temperature, allow stabilization</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200" dirty="0">
                          <a:solidFill>
                            <a:srgbClr val="1A1A1A"/>
                          </a:solidFill>
                          <a:latin typeface="Arial" pitchFamily="34" charset="0"/>
                          <a:ea typeface="Arial" pitchFamily="34" charset="-122"/>
                          <a:cs typeface="Arial" pitchFamily="34" charset="-120"/>
                        </a:rPr>
                        <a:t>Very low amplitude</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tc>
                  <a:txBody>
                    <a:bodyPr/>
                    <a:lstStyle/>
                    <a:p>
                      <a:pPr marL="0" indent="0" algn="l">
                        <a:buNone/>
                      </a:pPr>
                      <a:r>
                        <a:rPr lang="en-US" sz="1200" dirty="0">
                          <a:solidFill>
                            <a:srgbClr val="1A1A1A"/>
                          </a:solidFill>
                          <a:latin typeface="Arial" pitchFamily="34" charset="0"/>
                          <a:ea typeface="Arial" pitchFamily="34" charset="-122"/>
                          <a:cs typeface="Arial" pitchFamily="34" charset="-120"/>
                        </a:rPr>
                        <a:t>Dry skin</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tc>
                  <a:txBody>
                    <a:bodyPr/>
                    <a:lstStyle/>
                    <a:p>
                      <a:pPr marL="0" indent="0" algn="l">
                        <a:buNone/>
                      </a:pPr>
                      <a:r>
                        <a:rPr lang="en-US" sz="1200" dirty="0">
                          <a:solidFill>
                            <a:srgbClr val="1A1A1A"/>
                          </a:solidFill>
                          <a:latin typeface="Arial" pitchFamily="34" charset="0"/>
                          <a:ea typeface="Arial" pitchFamily="34" charset="-122"/>
                          <a:cs typeface="Arial" pitchFamily="34" charset="-120"/>
                        </a:rPr>
                        <a:t>Hydrate electrodes, ensure proper gel contact</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r h="0">
                <a:tc>
                  <a:txBody>
                    <a:bodyPr/>
                    <a:lstStyle/>
                    <a:p>
                      <a:pPr marL="0" indent="0" algn="l">
                        <a:buNone/>
                      </a:pPr>
                      <a:r>
                        <a:rPr lang="en-US" sz="1200" dirty="0">
                          <a:solidFill>
                            <a:srgbClr val="1A1A1A"/>
                          </a:solidFill>
                          <a:latin typeface="Arial" pitchFamily="34" charset="0"/>
                          <a:ea typeface="Arial" pitchFamily="34" charset="-122"/>
                          <a:cs typeface="Arial" pitchFamily="34" charset="-120"/>
                        </a:rPr>
                        <a:t>60 Hz interference</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Arial" pitchFamily="34" charset="0"/>
                          <a:ea typeface="Arial" pitchFamily="34" charset="-122"/>
                          <a:cs typeface="Arial" pitchFamily="34" charset="-120"/>
                        </a:rPr>
                        <a:t>Power line noise</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Arial" pitchFamily="34" charset="0"/>
                          <a:ea typeface="Arial" pitchFamily="34" charset="-122"/>
                          <a:cs typeface="Arial" pitchFamily="34" charset="-120"/>
                        </a:rPr>
                        <a:t>Move cables away from power sources</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lgn="l">
                        <a:buNone/>
                      </a:pPr>
                      <a:r>
                        <a:rPr lang="en-US" sz="1200" dirty="0">
                          <a:solidFill>
                            <a:srgbClr val="1A1A1A"/>
                          </a:solidFill>
                          <a:latin typeface="Arial" pitchFamily="34" charset="0"/>
                          <a:ea typeface="Arial" pitchFamily="34" charset="-122"/>
                          <a:cs typeface="Arial" pitchFamily="34" charset="-120"/>
                        </a:rPr>
                        <a:t>Sudden jumps</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tc>
                  <a:txBody>
                    <a:bodyPr/>
                    <a:lstStyle/>
                    <a:p>
                      <a:pPr marL="0" indent="0" algn="l">
                        <a:buNone/>
                      </a:pPr>
                      <a:r>
                        <a:rPr lang="en-US" sz="1200" dirty="0">
                          <a:solidFill>
                            <a:srgbClr val="1A1A1A"/>
                          </a:solidFill>
                          <a:latin typeface="Arial" pitchFamily="34" charset="0"/>
                          <a:ea typeface="Arial" pitchFamily="34" charset="-122"/>
                          <a:cs typeface="Arial" pitchFamily="34" charset="-120"/>
                        </a:rPr>
                        <a:t>Electrode shift</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tc>
                  <a:txBody>
                    <a:bodyPr/>
                    <a:lstStyle/>
                    <a:p>
                      <a:pPr marL="0" indent="0" algn="l">
                        <a:buNone/>
                      </a:pPr>
                      <a:r>
                        <a:rPr lang="en-US" sz="1200" dirty="0">
                          <a:solidFill>
                            <a:srgbClr val="1A1A1A"/>
                          </a:solidFill>
                          <a:latin typeface="Arial" pitchFamily="34" charset="0"/>
                          <a:ea typeface="Arial" pitchFamily="34" charset="-122"/>
                          <a:cs typeface="Arial" pitchFamily="34" charset="-120"/>
                        </a:rPr>
                        <a:t>Resecure electrodes, check connections</a:t>
                      </a:r>
                      <a:endParaRPr lang="en-US" sz="12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5"/>
                    </a:solidFill>
                  </a:tcPr>
                </a:tc>
                <a:extLst>
                  <a:ext uri="{0D108BD9-81ED-4DB2-BD59-A6C34878D82A}">
                    <a16:rowId xmlns:a16="http://schemas.microsoft.com/office/drawing/2014/main" val="10006"/>
                  </a:ext>
                </a:extLst>
              </a:tr>
            </a:tbl>
          </a:graphicData>
        </a:graphic>
      </p:graphicFrame>
      <p:sp>
        <p:nvSpPr>
          <p:cNvPr id="6" name="Shape 3"/>
          <p:cNvSpPr/>
          <p:nvPr/>
        </p:nvSpPr>
        <p:spPr>
          <a:xfrm>
            <a:off x="458788" y="5212080"/>
            <a:ext cx="11274552" cy="914400"/>
          </a:xfrm>
          <a:prstGeom prst="roundRect">
            <a:avLst/>
          </a:prstGeom>
          <a:solidFill>
            <a:srgbClr val="F5F5F5"/>
          </a:solidFill>
          <a:ln/>
        </p:spPr>
        <p:txBody>
          <a:bodyPr/>
          <a:lstStyle/>
          <a:p>
            <a:endParaRPr lang="en-US"/>
          </a:p>
        </p:txBody>
      </p:sp>
      <p:sp>
        <p:nvSpPr>
          <p:cNvPr id="7" name="Text 4"/>
          <p:cNvSpPr/>
          <p:nvPr/>
        </p:nvSpPr>
        <p:spPr>
          <a:xfrm>
            <a:off x="641668" y="5394960"/>
            <a:ext cx="10972800" cy="640080"/>
          </a:xfrm>
          <a:prstGeom prst="rect">
            <a:avLst/>
          </a:prstGeom>
          <a:noFill/>
          <a:ln/>
        </p:spPr>
        <p:txBody>
          <a:bodyPr wrap="square" rtlCol="0" anchor="ctr"/>
          <a:lstStyle/>
          <a:p>
            <a:r>
              <a:rPr lang="en-US" sz="1300" dirty="0">
                <a:solidFill>
                  <a:srgbClr val="1A1A1A"/>
                </a:solidFill>
                <a:latin typeface="Arial" pitchFamily="34" charset="0"/>
                <a:ea typeface="Arial" pitchFamily="34" charset="-122"/>
                <a:cs typeface="Arial" pitchFamily="34" charset="-120"/>
              </a:rPr>
              <a:t>Important: Do NOT use alcohol to clean skin before GSR measurement - it dries the skin and reduces conductance.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1741178" y="114300"/>
            <a:ext cx="10972800" cy="640080"/>
          </a:xfrm>
          <a:prstGeom prst="rect">
            <a:avLst/>
          </a:prstGeom>
          <a:noFill/>
          <a:ln/>
        </p:spPr>
        <p:txBody>
          <a:bodyPr wrap="square" rtlCol="0" anchor="ctr"/>
          <a:lstStyle/>
          <a:p>
            <a:r>
              <a:rPr lang="en-US" sz="3600" b="1" dirty="0">
                <a:solidFill>
                  <a:schemeClr val="bg1"/>
                </a:solidFill>
                <a:latin typeface="Arial Black" pitchFamily="34" charset="0"/>
                <a:ea typeface="Arial Black" pitchFamily="34" charset="-122"/>
                <a:cs typeface="Arial Black" pitchFamily="34" charset="-120"/>
              </a:rPr>
              <a:t>Decomposing Tonic and Phasic</a:t>
            </a:r>
            <a:endParaRPr lang="en-US" sz="3600" dirty="0">
              <a:solidFill>
                <a:schemeClr val="bg1"/>
              </a:solidFill>
            </a:endParaRPr>
          </a:p>
        </p:txBody>
      </p:sp>
      <p:sp>
        <p:nvSpPr>
          <p:cNvPr id="4" name="Text 2"/>
          <p:cNvSpPr/>
          <p:nvPr/>
        </p:nvSpPr>
        <p:spPr>
          <a:xfrm>
            <a:off x="458788" y="1097280"/>
            <a:ext cx="10972800" cy="365760"/>
          </a:xfrm>
          <a:prstGeom prst="rect">
            <a:avLst/>
          </a:prstGeom>
          <a:noFill/>
          <a:ln/>
        </p:spPr>
        <p:txBody>
          <a:bodyPr wrap="square" rtlCol="0" anchor="ctr"/>
          <a:lstStyle/>
          <a:p>
            <a:r>
              <a:rPr lang="en-US" sz="1600" dirty="0">
                <a:solidFill>
                  <a:srgbClr val="666666"/>
                </a:solidFill>
                <a:latin typeface="Arial" pitchFamily="34" charset="0"/>
                <a:ea typeface="Arial" pitchFamily="34" charset="-122"/>
                <a:cs typeface="Arial" pitchFamily="34" charset="-120"/>
              </a:rPr>
              <a:t>Separating baseline from event-related responses</a:t>
            </a:r>
            <a:endParaRPr lang="en-US" sz="1600" dirty="0"/>
          </a:p>
        </p:txBody>
      </p:sp>
      <p:sp>
        <p:nvSpPr>
          <p:cNvPr id="5" name="Text 3"/>
          <p:cNvSpPr/>
          <p:nvPr/>
        </p:nvSpPr>
        <p:spPr>
          <a:xfrm>
            <a:off x="458788" y="1645920"/>
            <a:ext cx="10972800" cy="365760"/>
          </a:xfrm>
          <a:prstGeom prst="rect">
            <a:avLst/>
          </a:prstGeom>
          <a:noFill/>
          <a:ln/>
        </p:spPr>
        <p:txBody>
          <a:bodyPr wrap="square" rtlCol="0" anchor="ctr"/>
          <a:lstStyle/>
          <a:p>
            <a:r>
              <a:rPr lang="en-US" b="1" dirty="0">
                <a:solidFill>
                  <a:srgbClr val="1A1A1A"/>
                </a:solidFill>
                <a:latin typeface="Arial" pitchFamily="34" charset="0"/>
                <a:ea typeface="Arial" pitchFamily="34" charset="-122"/>
                <a:cs typeface="Arial" pitchFamily="34" charset="-120"/>
              </a:rPr>
              <a:t>Common Decomposition Methods</a:t>
            </a:r>
            <a:endParaRPr lang="en-US" dirty="0"/>
          </a:p>
        </p:txBody>
      </p:sp>
      <p:sp>
        <p:nvSpPr>
          <p:cNvPr id="6" name="Shape 4"/>
          <p:cNvSpPr/>
          <p:nvPr/>
        </p:nvSpPr>
        <p:spPr>
          <a:xfrm>
            <a:off x="458788" y="2103120"/>
            <a:ext cx="11274552" cy="1280160"/>
          </a:xfrm>
          <a:prstGeom prst="roundRect">
            <a:avLst/>
          </a:prstGeom>
          <a:solidFill>
            <a:srgbClr val="F5F5F5"/>
          </a:solidFill>
          <a:ln w="12700">
            <a:solidFill>
              <a:srgbClr val="E0E0E0"/>
            </a:solidFill>
            <a:prstDash val="solid"/>
          </a:ln>
        </p:spPr>
        <p:txBody>
          <a:bodyPr/>
          <a:lstStyle/>
          <a:p>
            <a:endParaRPr lang="en-US"/>
          </a:p>
        </p:txBody>
      </p:sp>
      <p:sp>
        <p:nvSpPr>
          <p:cNvPr id="7" name="Text 5"/>
          <p:cNvSpPr/>
          <p:nvPr/>
        </p:nvSpPr>
        <p:spPr>
          <a:xfrm>
            <a:off x="641668" y="2194560"/>
            <a:ext cx="3657600" cy="365760"/>
          </a:xfrm>
          <a:prstGeom prst="rect">
            <a:avLst/>
          </a:prstGeom>
          <a:noFill/>
          <a:ln/>
        </p:spPr>
        <p:txBody>
          <a:bodyPr wrap="square" rtlCol="0" anchor="ctr"/>
          <a:lstStyle/>
          <a:p>
            <a:r>
              <a:rPr lang="en-US" sz="1500" b="1" dirty="0">
                <a:solidFill>
                  <a:srgbClr val="F76902"/>
                </a:solidFill>
                <a:latin typeface="Arial" pitchFamily="34" charset="0"/>
                <a:ea typeface="Arial" pitchFamily="34" charset="-122"/>
                <a:cs typeface="Arial" pitchFamily="34" charset="-120"/>
              </a:rPr>
              <a:t>Low-pass Filtering</a:t>
            </a:r>
            <a:endParaRPr lang="en-US" sz="1500" dirty="0"/>
          </a:p>
        </p:txBody>
      </p:sp>
      <p:sp>
        <p:nvSpPr>
          <p:cNvPr id="8" name="Text 6"/>
          <p:cNvSpPr/>
          <p:nvPr/>
        </p:nvSpPr>
        <p:spPr>
          <a:xfrm>
            <a:off x="641668" y="2606040"/>
            <a:ext cx="8229600" cy="548640"/>
          </a:xfrm>
          <a:prstGeom prst="rect">
            <a:avLst/>
          </a:prstGeom>
          <a:noFill/>
          <a:ln/>
        </p:spPr>
        <p:txBody>
          <a:bodyPr wrap="square" rtlCol="0" anchor="ctr"/>
          <a:lstStyle/>
          <a:p>
            <a:r>
              <a:rPr lang="en-US" sz="1300" dirty="0">
                <a:solidFill>
                  <a:srgbClr val="1A1A1A"/>
                </a:solidFill>
                <a:latin typeface="Arial" pitchFamily="34" charset="0"/>
                <a:ea typeface="Arial" pitchFamily="34" charset="-122"/>
                <a:cs typeface="Arial" pitchFamily="34" charset="-120"/>
              </a:rPr>
              <a:t>Apply very low cutoff (~0.05 Hz) to extract tonic. Subtract from original for phasic.</a:t>
            </a:r>
            <a:endParaRPr lang="en-US" sz="1300" dirty="0"/>
          </a:p>
        </p:txBody>
      </p:sp>
      <p:sp>
        <p:nvSpPr>
          <p:cNvPr id="9" name="Text 7"/>
          <p:cNvSpPr/>
          <p:nvPr/>
        </p:nvSpPr>
        <p:spPr>
          <a:xfrm>
            <a:off x="8962708" y="2194560"/>
            <a:ext cx="2560320" cy="320040"/>
          </a:xfrm>
          <a:prstGeom prst="rect">
            <a:avLst/>
          </a:prstGeom>
          <a:noFill/>
          <a:ln/>
        </p:spPr>
        <p:txBody>
          <a:bodyPr wrap="square" rtlCol="0" anchor="ctr"/>
          <a:lstStyle/>
          <a:p>
            <a:r>
              <a:rPr lang="en-US" sz="1100" dirty="0">
                <a:solidFill>
                  <a:srgbClr val="2E7D32"/>
                </a:solidFill>
                <a:latin typeface="Arial" pitchFamily="34" charset="0"/>
                <a:ea typeface="Arial" pitchFamily="34" charset="-122"/>
                <a:cs typeface="Arial" pitchFamily="34" charset="-120"/>
              </a:rPr>
              <a:t>Pro: Simple</a:t>
            </a:r>
            <a:endParaRPr lang="en-US" sz="1100" dirty="0"/>
          </a:p>
        </p:txBody>
      </p:sp>
      <p:sp>
        <p:nvSpPr>
          <p:cNvPr id="10" name="Text 8"/>
          <p:cNvSpPr/>
          <p:nvPr/>
        </p:nvSpPr>
        <p:spPr>
          <a:xfrm>
            <a:off x="8962708" y="2560320"/>
            <a:ext cx="2560320" cy="320040"/>
          </a:xfrm>
          <a:prstGeom prst="rect">
            <a:avLst/>
          </a:prstGeom>
          <a:noFill/>
          <a:ln/>
        </p:spPr>
        <p:txBody>
          <a:bodyPr wrap="square" rtlCol="0" anchor="ctr"/>
          <a:lstStyle/>
          <a:p>
            <a:r>
              <a:rPr lang="en-US" sz="1100" dirty="0">
                <a:solidFill>
                  <a:srgbClr val="D32F2F"/>
                </a:solidFill>
                <a:latin typeface="Arial" pitchFamily="34" charset="0"/>
                <a:ea typeface="Arial" pitchFamily="34" charset="-122"/>
                <a:cs typeface="Arial" pitchFamily="34" charset="-120"/>
              </a:rPr>
              <a:t>Con: Less accurate</a:t>
            </a:r>
            <a:endParaRPr lang="en-US" sz="1100" dirty="0"/>
          </a:p>
        </p:txBody>
      </p:sp>
      <p:sp>
        <p:nvSpPr>
          <p:cNvPr id="11" name="Shape 9"/>
          <p:cNvSpPr/>
          <p:nvPr/>
        </p:nvSpPr>
        <p:spPr>
          <a:xfrm>
            <a:off x="458788" y="3566160"/>
            <a:ext cx="11274552" cy="1280160"/>
          </a:xfrm>
          <a:prstGeom prst="roundRect">
            <a:avLst/>
          </a:prstGeom>
          <a:solidFill>
            <a:srgbClr val="FFFFFF"/>
          </a:solidFill>
          <a:ln w="12700">
            <a:solidFill>
              <a:srgbClr val="E0E0E0"/>
            </a:solidFill>
            <a:prstDash val="solid"/>
          </a:ln>
        </p:spPr>
        <p:txBody>
          <a:bodyPr/>
          <a:lstStyle/>
          <a:p>
            <a:endParaRPr lang="en-US"/>
          </a:p>
        </p:txBody>
      </p:sp>
      <p:sp>
        <p:nvSpPr>
          <p:cNvPr id="12" name="Text 10"/>
          <p:cNvSpPr/>
          <p:nvPr/>
        </p:nvSpPr>
        <p:spPr>
          <a:xfrm>
            <a:off x="641668" y="3657600"/>
            <a:ext cx="3657600" cy="365760"/>
          </a:xfrm>
          <a:prstGeom prst="rect">
            <a:avLst/>
          </a:prstGeom>
          <a:noFill/>
          <a:ln/>
        </p:spPr>
        <p:txBody>
          <a:bodyPr wrap="square" rtlCol="0" anchor="ctr"/>
          <a:lstStyle/>
          <a:p>
            <a:r>
              <a:rPr lang="en-US" sz="1500" b="1" dirty="0">
                <a:solidFill>
                  <a:srgbClr val="F76902"/>
                </a:solidFill>
                <a:latin typeface="Arial" pitchFamily="34" charset="0"/>
                <a:ea typeface="Arial" pitchFamily="34" charset="-122"/>
                <a:cs typeface="Arial" pitchFamily="34" charset="-120"/>
              </a:rPr>
              <a:t>Through-to-Peak</a:t>
            </a:r>
            <a:endParaRPr lang="en-US" sz="1500" dirty="0"/>
          </a:p>
        </p:txBody>
      </p:sp>
      <p:sp>
        <p:nvSpPr>
          <p:cNvPr id="13" name="Text 11"/>
          <p:cNvSpPr/>
          <p:nvPr/>
        </p:nvSpPr>
        <p:spPr>
          <a:xfrm>
            <a:off x="641668" y="4069080"/>
            <a:ext cx="8229600" cy="548640"/>
          </a:xfrm>
          <a:prstGeom prst="rect">
            <a:avLst/>
          </a:prstGeom>
          <a:noFill/>
          <a:ln/>
        </p:spPr>
        <p:txBody>
          <a:bodyPr wrap="square" rtlCol="0" anchor="ctr"/>
          <a:lstStyle/>
          <a:p>
            <a:r>
              <a:rPr lang="en-US" sz="1300" dirty="0">
                <a:solidFill>
                  <a:srgbClr val="1A1A1A"/>
                </a:solidFill>
                <a:latin typeface="Arial" pitchFamily="34" charset="0"/>
                <a:ea typeface="Arial" pitchFamily="34" charset="-122"/>
                <a:cs typeface="Arial" pitchFamily="34" charset="-120"/>
              </a:rPr>
              <a:t>Find local minima (troughs) and maxima (peaks) to identify discrete SCRs.</a:t>
            </a:r>
            <a:endParaRPr lang="en-US" sz="1300" dirty="0"/>
          </a:p>
        </p:txBody>
      </p:sp>
      <p:sp>
        <p:nvSpPr>
          <p:cNvPr id="14" name="Text 12"/>
          <p:cNvSpPr/>
          <p:nvPr/>
        </p:nvSpPr>
        <p:spPr>
          <a:xfrm>
            <a:off x="8962708" y="3657600"/>
            <a:ext cx="2560320" cy="320040"/>
          </a:xfrm>
          <a:prstGeom prst="rect">
            <a:avLst/>
          </a:prstGeom>
          <a:noFill/>
          <a:ln/>
        </p:spPr>
        <p:txBody>
          <a:bodyPr wrap="square" rtlCol="0" anchor="ctr"/>
          <a:lstStyle/>
          <a:p>
            <a:r>
              <a:rPr lang="en-US" sz="1100" dirty="0">
                <a:solidFill>
                  <a:srgbClr val="2E7D32"/>
                </a:solidFill>
                <a:latin typeface="Arial" pitchFamily="34" charset="0"/>
                <a:ea typeface="Arial" pitchFamily="34" charset="-122"/>
                <a:cs typeface="Arial" pitchFamily="34" charset="-120"/>
              </a:rPr>
              <a:t>Pro: Intuitive</a:t>
            </a:r>
            <a:endParaRPr lang="en-US" sz="1100" dirty="0"/>
          </a:p>
        </p:txBody>
      </p:sp>
      <p:sp>
        <p:nvSpPr>
          <p:cNvPr id="15" name="Text 13"/>
          <p:cNvSpPr/>
          <p:nvPr/>
        </p:nvSpPr>
        <p:spPr>
          <a:xfrm>
            <a:off x="8962708" y="4023360"/>
            <a:ext cx="2560320" cy="320040"/>
          </a:xfrm>
          <a:prstGeom prst="rect">
            <a:avLst/>
          </a:prstGeom>
          <a:noFill/>
          <a:ln/>
        </p:spPr>
        <p:txBody>
          <a:bodyPr wrap="square" rtlCol="0" anchor="ctr"/>
          <a:lstStyle/>
          <a:p>
            <a:r>
              <a:rPr lang="en-US" sz="1100" dirty="0">
                <a:solidFill>
                  <a:srgbClr val="D32F2F"/>
                </a:solidFill>
                <a:latin typeface="Arial" pitchFamily="34" charset="0"/>
                <a:ea typeface="Arial" pitchFamily="34" charset="-122"/>
                <a:cs typeface="Arial" pitchFamily="34" charset="-120"/>
              </a:rPr>
              <a:t>Con: Threshold dependent</a:t>
            </a:r>
            <a:endParaRPr lang="en-US" sz="1100" dirty="0"/>
          </a:p>
        </p:txBody>
      </p:sp>
      <p:sp>
        <p:nvSpPr>
          <p:cNvPr id="16" name="Shape 14"/>
          <p:cNvSpPr/>
          <p:nvPr/>
        </p:nvSpPr>
        <p:spPr>
          <a:xfrm>
            <a:off x="458788" y="5029200"/>
            <a:ext cx="11274552" cy="1280160"/>
          </a:xfrm>
          <a:prstGeom prst="roundRect">
            <a:avLst/>
          </a:prstGeom>
          <a:solidFill>
            <a:srgbClr val="F5F5F5"/>
          </a:solidFill>
          <a:ln w="12700">
            <a:solidFill>
              <a:srgbClr val="E0E0E0"/>
            </a:solidFill>
            <a:prstDash val="solid"/>
          </a:ln>
        </p:spPr>
        <p:txBody>
          <a:bodyPr/>
          <a:lstStyle/>
          <a:p>
            <a:endParaRPr lang="en-US"/>
          </a:p>
        </p:txBody>
      </p:sp>
      <p:sp>
        <p:nvSpPr>
          <p:cNvPr id="17" name="Text 15"/>
          <p:cNvSpPr/>
          <p:nvPr/>
        </p:nvSpPr>
        <p:spPr>
          <a:xfrm>
            <a:off x="641668" y="5120640"/>
            <a:ext cx="3657600" cy="365760"/>
          </a:xfrm>
          <a:prstGeom prst="rect">
            <a:avLst/>
          </a:prstGeom>
          <a:noFill/>
          <a:ln/>
        </p:spPr>
        <p:txBody>
          <a:bodyPr wrap="square" rtlCol="0" anchor="ctr"/>
          <a:lstStyle/>
          <a:p>
            <a:r>
              <a:rPr lang="en-US" sz="1500" b="1" dirty="0">
                <a:solidFill>
                  <a:srgbClr val="F76902"/>
                </a:solidFill>
                <a:latin typeface="Arial" pitchFamily="34" charset="0"/>
                <a:ea typeface="Arial" pitchFamily="34" charset="-122"/>
                <a:cs typeface="Arial" pitchFamily="34" charset="-120"/>
              </a:rPr>
              <a:t>Continuous Decomposition</a:t>
            </a:r>
            <a:endParaRPr lang="en-US" sz="1500" dirty="0"/>
          </a:p>
        </p:txBody>
      </p:sp>
      <p:sp>
        <p:nvSpPr>
          <p:cNvPr id="18" name="Text 16"/>
          <p:cNvSpPr/>
          <p:nvPr/>
        </p:nvSpPr>
        <p:spPr>
          <a:xfrm>
            <a:off x="641668" y="5532120"/>
            <a:ext cx="8229600" cy="548640"/>
          </a:xfrm>
          <a:prstGeom prst="rect">
            <a:avLst/>
          </a:prstGeom>
          <a:noFill/>
          <a:ln/>
        </p:spPr>
        <p:txBody>
          <a:bodyPr wrap="square" rtlCol="0" anchor="ctr"/>
          <a:lstStyle/>
          <a:p>
            <a:r>
              <a:rPr lang="en-US" sz="1300" dirty="0">
                <a:solidFill>
                  <a:srgbClr val="1A1A1A"/>
                </a:solidFill>
                <a:latin typeface="Arial" pitchFamily="34" charset="0"/>
                <a:ea typeface="Arial" pitchFamily="34" charset="-122"/>
                <a:cs typeface="Arial" pitchFamily="34" charset="-120"/>
              </a:rPr>
              <a:t>Model-based approach using deconvolution to estimate underlying driver signal.</a:t>
            </a:r>
            <a:endParaRPr lang="en-US" sz="1300" dirty="0"/>
          </a:p>
        </p:txBody>
      </p:sp>
      <p:sp>
        <p:nvSpPr>
          <p:cNvPr id="19" name="Text 17"/>
          <p:cNvSpPr/>
          <p:nvPr/>
        </p:nvSpPr>
        <p:spPr>
          <a:xfrm>
            <a:off x="8962708" y="5120640"/>
            <a:ext cx="2560320" cy="320040"/>
          </a:xfrm>
          <a:prstGeom prst="rect">
            <a:avLst/>
          </a:prstGeom>
          <a:noFill/>
          <a:ln/>
        </p:spPr>
        <p:txBody>
          <a:bodyPr wrap="square" rtlCol="0" anchor="ctr"/>
          <a:lstStyle/>
          <a:p>
            <a:r>
              <a:rPr lang="en-US" sz="1100" dirty="0">
                <a:solidFill>
                  <a:srgbClr val="2E7D32"/>
                </a:solidFill>
                <a:latin typeface="Arial" pitchFamily="34" charset="0"/>
                <a:ea typeface="Arial" pitchFamily="34" charset="-122"/>
                <a:cs typeface="Arial" pitchFamily="34" charset="-120"/>
              </a:rPr>
              <a:t>Pro: Most accurate</a:t>
            </a:r>
            <a:endParaRPr lang="en-US" sz="1100" dirty="0"/>
          </a:p>
        </p:txBody>
      </p:sp>
      <p:sp>
        <p:nvSpPr>
          <p:cNvPr id="20" name="Text 18"/>
          <p:cNvSpPr/>
          <p:nvPr/>
        </p:nvSpPr>
        <p:spPr>
          <a:xfrm>
            <a:off x="8962708" y="5486400"/>
            <a:ext cx="2560320" cy="320040"/>
          </a:xfrm>
          <a:prstGeom prst="rect">
            <a:avLst/>
          </a:prstGeom>
          <a:noFill/>
          <a:ln/>
        </p:spPr>
        <p:txBody>
          <a:bodyPr wrap="square" rtlCol="0" anchor="ctr"/>
          <a:lstStyle/>
          <a:p>
            <a:r>
              <a:rPr lang="en-US" sz="1100" dirty="0">
                <a:solidFill>
                  <a:srgbClr val="D32F2F"/>
                </a:solidFill>
                <a:latin typeface="Arial" pitchFamily="34" charset="0"/>
                <a:ea typeface="Arial" pitchFamily="34" charset="-122"/>
                <a:cs typeface="Arial" pitchFamily="34" charset="-120"/>
              </a:rPr>
              <a:t>Con: Complex</a:t>
            </a:r>
            <a:endParaRPr lang="en-US" sz="1100" dirty="0"/>
          </a:p>
        </p:txBody>
      </p:sp>
      <p:sp>
        <p:nvSpPr>
          <p:cNvPr id="21" name="Text 19"/>
          <p:cNvSpPr/>
          <p:nvPr/>
        </p:nvSpPr>
        <p:spPr>
          <a:xfrm>
            <a:off x="458788" y="5943600"/>
            <a:ext cx="11274552" cy="365760"/>
          </a:xfrm>
          <a:prstGeom prst="rect">
            <a:avLst/>
          </a:prstGeom>
          <a:noFill/>
          <a:ln/>
        </p:spPr>
        <p:txBody>
          <a:bodyPr wrap="square" rtlCol="0" anchor="ctr"/>
          <a:lstStyle/>
          <a:p>
            <a:r>
              <a:rPr lang="en-US" sz="1300" i="1" dirty="0">
                <a:solidFill>
                  <a:srgbClr val="666666"/>
                </a:solidFill>
                <a:latin typeface="Arial" pitchFamily="34" charset="0"/>
                <a:ea typeface="Arial" pitchFamily="34" charset="-122"/>
                <a:cs typeface="Arial" pitchFamily="34" charset="-120"/>
              </a:rPr>
              <a:t>For this lab, we'll use simple baseline correction and peak detection for SCR analysis.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1941900" y="114300"/>
            <a:ext cx="10972800" cy="640080"/>
          </a:xfrm>
          <a:prstGeom prst="rect">
            <a:avLst/>
          </a:prstGeom>
          <a:noFill/>
          <a:ln/>
        </p:spPr>
        <p:txBody>
          <a:bodyPr wrap="square" rtlCol="0" anchor="ctr"/>
          <a:lstStyle/>
          <a:p>
            <a:r>
              <a:rPr lang="en-US" sz="3600" b="1" dirty="0">
                <a:solidFill>
                  <a:schemeClr val="bg1"/>
                </a:solidFill>
                <a:latin typeface="Arial Black" pitchFamily="34" charset="0"/>
                <a:ea typeface="Arial Black" pitchFamily="34" charset="-122"/>
                <a:cs typeface="Arial Black" pitchFamily="34" charset="-120"/>
              </a:rPr>
              <a:t>Feature Extraction</a:t>
            </a:r>
            <a:endParaRPr lang="en-US" sz="3600" dirty="0">
              <a:solidFill>
                <a:schemeClr val="bg1"/>
              </a:solidFill>
            </a:endParaRPr>
          </a:p>
        </p:txBody>
      </p:sp>
      <p:sp>
        <p:nvSpPr>
          <p:cNvPr id="4" name="Text 2"/>
          <p:cNvSpPr/>
          <p:nvPr/>
        </p:nvSpPr>
        <p:spPr>
          <a:xfrm>
            <a:off x="458788" y="1097280"/>
            <a:ext cx="10972800" cy="365760"/>
          </a:xfrm>
          <a:prstGeom prst="rect">
            <a:avLst/>
          </a:prstGeom>
          <a:noFill/>
          <a:ln/>
        </p:spPr>
        <p:txBody>
          <a:bodyPr wrap="square" rtlCol="0" anchor="ctr"/>
          <a:lstStyle/>
          <a:p>
            <a:r>
              <a:rPr lang="en-US" sz="1600" dirty="0">
                <a:solidFill>
                  <a:srgbClr val="666666"/>
                </a:solidFill>
                <a:latin typeface="Arial" pitchFamily="34" charset="0"/>
                <a:ea typeface="Arial" pitchFamily="34" charset="-122"/>
                <a:cs typeface="Arial" pitchFamily="34" charset="-120"/>
              </a:rPr>
              <a:t>Quantifying GSR for analysis</a:t>
            </a:r>
            <a:endParaRPr lang="en-US" sz="1600" dirty="0"/>
          </a:p>
        </p:txBody>
      </p:sp>
      <p:sp>
        <p:nvSpPr>
          <p:cNvPr id="5" name="Shape 3"/>
          <p:cNvSpPr/>
          <p:nvPr/>
        </p:nvSpPr>
        <p:spPr>
          <a:xfrm>
            <a:off x="458788" y="1645920"/>
            <a:ext cx="5303520" cy="2286000"/>
          </a:xfrm>
          <a:prstGeom prst="roundRect">
            <a:avLst/>
          </a:prstGeom>
          <a:solidFill>
            <a:srgbClr val="F5F5F5"/>
          </a:solidFill>
          <a:ln/>
        </p:spPr>
        <p:txBody>
          <a:bodyPr/>
          <a:lstStyle/>
          <a:p>
            <a:endParaRPr lang="en-US"/>
          </a:p>
        </p:txBody>
      </p:sp>
      <p:sp>
        <p:nvSpPr>
          <p:cNvPr id="6" name="Text 4"/>
          <p:cNvSpPr/>
          <p:nvPr/>
        </p:nvSpPr>
        <p:spPr>
          <a:xfrm>
            <a:off x="641668" y="1783080"/>
            <a:ext cx="4937760" cy="365760"/>
          </a:xfrm>
          <a:prstGeom prst="rect">
            <a:avLst/>
          </a:prstGeom>
          <a:noFill/>
          <a:ln/>
        </p:spPr>
        <p:txBody>
          <a:bodyPr wrap="square" rtlCol="0" anchor="ctr"/>
          <a:lstStyle/>
          <a:p>
            <a:r>
              <a:rPr lang="en-US" sz="1600" b="1" dirty="0">
                <a:solidFill>
                  <a:srgbClr val="F76902"/>
                </a:solidFill>
                <a:latin typeface="Arial" pitchFamily="34" charset="0"/>
                <a:ea typeface="Arial" pitchFamily="34" charset="-122"/>
                <a:cs typeface="Arial" pitchFamily="34" charset="-120"/>
              </a:rPr>
              <a:t>Tonic Features (SCL)</a:t>
            </a:r>
            <a:endParaRPr lang="en-US" sz="1600" dirty="0"/>
          </a:p>
        </p:txBody>
      </p:sp>
      <p:sp>
        <p:nvSpPr>
          <p:cNvPr id="7" name="Text 5"/>
          <p:cNvSpPr/>
          <p:nvPr/>
        </p:nvSpPr>
        <p:spPr>
          <a:xfrm>
            <a:off x="641668" y="2194560"/>
            <a:ext cx="4937760" cy="365760"/>
          </a:xfrm>
          <a:prstGeom prst="rect">
            <a:avLst/>
          </a:prstGeom>
          <a:noFill/>
          <a:ln/>
        </p:spPr>
        <p:txBody>
          <a:bodyPr wrap="square" rtlCol="0" anchor="ctr"/>
          <a:lstStyle/>
          <a:p>
            <a:r>
              <a:rPr lang="en-US" sz="1300" dirty="0">
                <a:solidFill>
                  <a:srgbClr val="1A1A1A"/>
                </a:solidFill>
                <a:latin typeface="Arial" pitchFamily="34" charset="0"/>
                <a:ea typeface="Arial" pitchFamily="34" charset="-122"/>
                <a:cs typeface="Arial" pitchFamily="34" charset="-120"/>
              </a:rPr>
              <a:t>•  Mean SCL - Average conductance level</a:t>
            </a:r>
            <a:endParaRPr lang="en-US" sz="1300" dirty="0"/>
          </a:p>
        </p:txBody>
      </p:sp>
      <p:sp>
        <p:nvSpPr>
          <p:cNvPr id="8" name="Text 6"/>
          <p:cNvSpPr/>
          <p:nvPr/>
        </p:nvSpPr>
        <p:spPr>
          <a:xfrm>
            <a:off x="641668" y="2606040"/>
            <a:ext cx="4937760" cy="365760"/>
          </a:xfrm>
          <a:prstGeom prst="rect">
            <a:avLst/>
          </a:prstGeom>
          <a:noFill/>
          <a:ln/>
        </p:spPr>
        <p:txBody>
          <a:bodyPr wrap="square" rtlCol="0" anchor="ctr"/>
          <a:lstStyle/>
          <a:p>
            <a:r>
              <a:rPr lang="en-US" sz="1300" dirty="0">
                <a:solidFill>
                  <a:srgbClr val="1A1A1A"/>
                </a:solidFill>
                <a:latin typeface="Arial" pitchFamily="34" charset="0"/>
                <a:ea typeface="Arial" pitchFamily="34" charset="-122"/>
                <a:cs typeface="Arial" pitchFamily="34" charset="-120"/>
              </a:rPr>
              <a:t>•  SCL Range - Max minus min</a:t>
            </a:r>
            <a:endParaRPr lang="en-US" sz="1300" dirty="0"/>
          </a:p>
        </p:txBody>
      </p:sp>
      <p:sp>
        <p:nvSpPr>
          <p:cNvPr id="9" name="Text 7"/>
          <p:cNvSpPr/>
          <p:nvPr/>
        </p:nvSpPr>
        <p:spPr>
          <a:xfrm>
            <a:off x="641668" y="3017520"/>
            <a:ext cx="4937760" cy="365760"/>
          </a:xfrm>
          <a:prstGeom prst="rect">
            <a:avLst/>
          </a:prstGeom>
          <a:noFill/>
          <a:ln/>
        </p:spPr>
        <p:txBody>
          <a:bodyPr wrap="square" rtlCol="0" anchor="ctr"/>
          <a:lstStyle/>
          <a:p>
            <a:r>
              <a:rPr lang="en-US" sz="1300" dirty="0">
                <a:solidFill>
                  <a:srgbClr val="1A1A1A"/>
                </a:solidFill>
                <a:latin typeface="Arial" pitchFamily="34" charset="0"/>
                <a:ea typeface="Arial" pitchFamily="34" charset="-122"/>
                <a:cs typeface="Arial" pitchFamily="34" charset="-120"/>
              </a:rPr>
              <a:t>•  SCL Slope - Rate of change over time</a:t>
            </a:r>
            <a:endParaRPr lang="en-US" sz="1300" dirty="0"/>
          </a:p>
        </p:txBody>
      </p:sp>
      <p:sp>
        <p:nvSpPr>
          <p:cNvPr id="10" name="Text 8"/>
          <p:cNvSpPr/>
          <p:nvPr/>
        </p:nvSpPr>
        <p:spPr>
          <a:xfrm>
            <a:off x="641668" y="3429000"/>
            <a:ext cx="4937760" cy="365760"/>
          </a:xfrm>
          <a:prstGeom prst="rect">
            <a:avLst/>
          </a:prstGeom>
          <a:noFill/>
          <a:ln/>
        </p:spPr>
        <p:txBody>
          <a:bodyPr wrap="square" rtlCol="0" anchor="ctr"/>
          <a:lstStyle/>
          <a:p>
            <a:r>
              <a:rPr lang="en-US" sz="1300" dirty="0">
                <a:solidFill>
                  <a:srgbClr val="1A1A1A"/>
                </a:solidFill>
                <a:latin typeface="Arial" pitchFamily="34" charset="0"/>
                <a:ea typeface="Arial" pitchFamily="34" charset="-122"/>
                <a:cs typeface="Arial" pitchFamily="34" charset="-120"/>
              </a:rPr>
              <a:t>•  SCL Variance - Signal variability</a:t>
            </a:r>
            <a:endParaRPr lang="en-US" sz="1300" dirty="0"/>
          </a:p>
        </p:txBody>
      </p:sp>
      <p:sp>
        <p:nvSpPr>
          <p:cNvPr id="11" name="Shape 9"/>
          <p:cNvSpPr/>
          <p:nvPr/>
        </p:nvSpPr>
        <p:spPr>
          <a:xfrm>
            <a:off x="6128068" y="1645920"/>
            <a:ext cx="5303520" cy="2286000"/>
          </a:xfrm>
          <a:prstGeom prst="roundRect">
            <a:avLst/>
          </a:prstGeom>
          <a:solidFill>
            <a:srgbClr val="1A1A1A"/>
          </a:solidFill>
          <a:ln/>
        </p:spPr>
        <p:txBody>
          <a:bodyPr/>
          <a:lstStyle/>
          <a:p>
            <a:endParaRPr lang="en-US"/>
          </a:p>
        </p:txBody>
      </p:sp>
      <p:sp>
        <p:nvSpPr>
          <p:cNvPr id="12" name="Text 10"/>
          <p:cNvSpPr/>
          <p:nvPr/>
        </p:nvSpPr>
        <p:spPr>
          <a:xfrm>
            <a:off x="6310948" y="1783080"/>
            <a:ext cx="4937760" cy="365760"/>
          </a:xfrm>
          <a:prstGeom prst="rect">
            <a:avLst/>
          </a:prstGeom>
          <a:noFill/>
          <a:ln/>
        </p:spPr>
        <p:txBody>
          <a:bodyPr wrap="square" rtlCol="0" anchor="ctr"/>
          <a:lstStyle/>
          <a:p>
            <a:r>
              <a:rPr lang="en-US" sz="1600" b="1" dirty="0">
                <a:solidFill>
                  <a:srgbClr val="F76902"/>
                </a:solidFill>
                <a:latin typeface="Arial" pitchFamily="34" charset="0"/>
                <a:ea typeface="Arial" pitchFamily="34" charset="-122"/>
                <a:cs typeface="Arial" pitchFamily="34" charset="-120"/>
              </a:rPr>
              <a:t>Phasic Features (SCR)</a:t>
            </a:r>
            <a:endParaRPr lang="en-US" sz="1600" dirty="0"/>
          </a:p>
        </p:txBody>
      </p:sp>
      <p:sp>
        <p:nvSpPr>
          <p:cNvPr id="13" name="Text 11"/>
          <p:cNvSpPr/>
          <p:nvPr/>
        </p:nvSpPr>
        <p:spPr>
          <a:xfrm>
            <a:off x="6310948" y="2194560"/>
            <a:ext cx="4937760" cy="365760"/>
          </a:xfrm>
          <a:prstGeom prst="rect">
            <a:avLst/>
          </a:prstGeom>
          <a:noFill/>
          <a:ln/>
        </p:spPr>
        <p:txBody>
          <a:bodyPr wrap="square" rtlCol="0" anchor="ctr"/>
          <a:lstStyle/>
          <a:p>
            <a:r>
              <a:rPr lang="en-US" sz="1300" dirty="0">
                <a:solidFill>
                  <a:srgbClr val="FFFFFF"/>
                </a:solidFill>
                <a:latin typeface="Arial" pitchFamily="34" charset="0"/>
                <a:ea typeface="Arial" pitchFamily="34" charset="-122"/>
                <a:cs typeface="Arial" pitchFamily="34" charset="-120"/>
              </a:rPr>
              <a:t>•  SCR Count - Number of responses</a:t>
            </a:r>
            <a:endParaRPr lang="en-US" sz="1300" dirty="0"/>
          </a:p>
        </p:txBody>
      </p:sp>
      <p:sp>
        <p:nvSpPr>
          <p:cNvPr id="14" name="Text 12"/>
          <p:cNvSpPr/>
          <p:nvPr/>
        </p:nvSpPr>
        <p:spPr>
          <a:xfrm>
            <a:off x="6310948" y="2606040"/>
            <a:ext cx="4937760" cy="365760"/>
          </a:xfrm>
          <a:prstGeom prst="rect">
            <a:avLst/>
          </a:prstGeom>
          <a:noFill/>
          <a:ln/>
        </p:spPr>
        <p:txBody>
          <a:bodyPr wrap="square" rtlCol="0" anchor="ctr"/>
          <a:lstStyle/>
          <a:p>
            <a:r>
              <a:rPr lang="en-US" sz="1300" dirty="0">
                <a:solidFill>
                  <a:srgbClr val="FFFFFF"/>
                </a:solidFill>
                <a:latin typeface="Arial" pitchFamily="34" charset="0"/>
                <a:ea typeface="Arial" pitchFamily="34" charset="-122"/>
                <a:cs typeface="Arial" pitchFamily="34" charset="-120"/>
              </a:rPr>
              <a:t>•  SCR Amplitude - Peak height</a:t>
            </a:r>
            <a:endParaRPr lang="en-US" sz="1300" dirty="0"/>
          </a:p>
        </p:txBody>
      </p:sp>
      <p:sp>
        <p:nvSpPr>
          <p:cNvPr id="15" name="Text 13"/>
          <p:cNvSpPr/>
          <p:nvPr/>
        </p:nvSpPr>
        <p:spPr>
          <a:xfrm>
            <a:off x="6310948" y="3017520"/>
            <a:ext cx="4937760" cy="365760"/>
          </a:xfrm>
          <a:prstGeom prst="rect">
            <a:avLst/>
          </a:prstGeom>
          <a:noFill/>
          <a:ln/>
        </p:spPr>
        <p:txBody>
          <a:bodyPr wrap="square" rtlCol="0" anchor="ctr"/>
          <a:lstStyle/>
          <a:p>
            <a:r>
              <a:rPr lang="en-US" sz="1300" dirty="0">
                <a:solidFill>
                  <a:srgbClr val="FFFFFF"/>
                </a:solidFill>
                <a:latin typeface="Arial" pitchFamily="34" charset="0"/>
                <a:ea typeface="Arial" pitchFamily="34" charset="-122"/>
                <a:cs typeface="Arial" pitchFamily="34" charset="-120"/>
              </a:rPr>
              <a:t>•  SCR Latency - Time to peak</a:t>
            </a:r>
            <a:endParaRPr lang="en-US" sz="1300" dirty="0"/>
          </a:p>
        </p:txBody>
      </p:sp>
      <p:sp>
        <p:nvSpPr>
          <p:cNvPr id="16" name="Text 14"/>
          <p:cNvSpPr/>
          <p:nvPr/>
        </p:nvSpPr>
        <p:spPr>
          <a:xfrm>
            <a:off x="6310948" y="3429000"/>
            <a:ext cx="4937760" cy="365760"/>
          </a:xfrm>
          <a:prstGeom prst="rect">
            <a:avLst/>
          </a:prstGeom>
          <a:noFill/>
          <a:ln/>
        </p:spPr>
        <p:txBody>
          <a:bodyPr wrap="square" rtlCol="0" anchor="ctr"/>
          <a:lstStyle/>
          <a:p>
            <a:r>
              <a:rPr lang="en-US" sz="1300" dirty="0">
                <a:solidFill>
                  <a:srgbClr val="FFFFFF"/>
                </a:solidFill>
                <a:latin typeface="Arial" pitchFamily="34" charset="0"/>
                <a:ea typeface="Arial" pitchFamily="34" charset="-122"/>
                <a:cs typeface="Arial" pitchFamily="34" charset="-120"/>
              </a:rPr>
              <a:t>•  SCR Rise Time - Onset to peak duration</a:t>
            </a:r>
            <a:endParaRPr lang="en-US" sz="1300" dirty="0"/>
          </a:p>
        </p:txBody>
      </p:sp>
      <p:sp>
        <p:nvSpPr>
          <p:cNvPr id="17" name="Shape 15"/>
          <p:cNvSpPr/>
          <p:nvPr/>
        </p:nvSpPr>
        <p:spPr>
          <a:xfrm>
            <a:off x="458788" y="4114800"/>
            <a:ext cx="11274552" cy="1828800"/>
          </a:xfrm>
          <a:prstGeom prst="roundRect">
            <a:avLst/>
          </a:prstGeom>
          <a:solidFill>
            <a:srgbClr val="FFFFFF"/>
          </a:solidFill>
          <a:ln w="12700">
            <a:solidFill>
              <a:srgbClr val="F76902"/>
            </a:solidFill>
            <a:prstDash val="solid"/>
          </a:ln>
        </p:spPr>
        <p:txBody>
          <a:bodyPr/>
          <a:lstStyle/>
          <a:p>
            <a:endParaRPr lang="en-US"/>
          </a:p>
        </p:txBody>
      </p:sp>
      <p:sp>
        <p:nvSpPr>
          <p:cNvPr id="18" name="Text 16"/>
          <p:cNvSpPr/>
          <p:nvPr/>
        </p:nvSpPr>
        <p:spPr>
          <a:xfrm>
            <a:off x="641668" y="4251960"/>
            <a:ext cx="10881360" cy="365760"/>
          </a:xfrm>
          <a:prstGeom prst="rect">
            <a:avLst/>
          </a:prstGeom>
          <a:noFill/>
          <a:ln/>
        </p:spPr>
        <p:txBody>
          <a:bodyPr wrap="square" rtlCol="0" anchor="ctr"/>
          <a:lstStyle/>
          <a:p>
            <a:r>
              <a:rPr lang="en-US" sz="1600" b="1" dirty="0">
                <a:solidFill>
                  <a:srgbClr val="F76902"/>
                </a:solidFill>
                <a:latin typeface="Arial" pitchFamily="34" charset="0"/>
                <a:ea typeface="Arial" pitchFamily="34" charset="-122"/>
                <a:cs typeface="Arial" pitchFamily="34" charset="-120"/>
              </a:rPr>
              <a:t>Combined / Derived Features</a:t>
            </a:r>
            <a:endParaRPr lang="en-US" sz="1600" dirty="0"/>
          </a:p>
        </p:txBody>
      </p:sp>
      <p:sp>
        <p:nvSpPr>
          <p:cNvPr id="19" name="Text 17"/>
          <p:cNvSpPr/>
          <p:nvPr/>
        </p:nvSpPr>
        <p:spPr>
          <a:xfrm>
            <a:off x="641668" y="4663440"/>
            <a:ext cx="10881360" cy="1188720"/>
          </a:xfrm>
          <a:prstGeom prst="rect">
            <a:avLst/>
          </a:prstGeom>
          <a:noFill/>
          <a:ln/>
        </p:spPr>
        <p:txBody>
          <a:bodyPr wrap="square" rtlCol="0" anchor="ctr"/>
          <a:lstStyle/>
          <a:p>
            <a:pPr>
              <a:lnSpc>
                <a:spcPts val="1800"/>
              </a:lnSpc>
            </a:pPr>
            <a:r>
              <a:rPr lang="en-US" sz="1300" dirty="0">
                <a:solidFill>
                  <a:srgbClr val="1A1A1A"/>
                </a:solidFill>
                <a:latin typeface="Arial" pitchFamily="34" charset="0"/>
                <a:ea typeface="Arial" pitchFamily="34" charset="-122"/>
                <a:cs typeface="Arial" pitchFamily="34" charset="-120"/>
              </a:rPr>
              <a:t>• Area Under Curve (AUC) - Total response magnitude over time window
• NS-SCR Rate - Non-specific SCRs per minute (responses without clear stimulus)
• SCR/SCL Ratio - Phasic activity relative to tonic level
• Recovery Time - Time for signal to return to baseline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2075715" y="91440"/>
            <a:ext cx="10972800" cy="640080"/>
          </a:xfrm>
          <a:prstGeom prst="rect">
            <a:avLst/>
          </a:prstGeom>
          <a:noFill/>
          <a:ln/>
        </p:spPr>
        <p:txBody>
          <a:bodyPr wrap="square" rtlCol="0" anchor="ctr"/>
          <a:lstStyle/>
          <a:p>
            <a:r>
              <a:rPr lang="en-US" sz="3600" b="1" dirty="0">
                <a:solidFill>
                  <a:schemeClr val="bg1"/>
                </a:solidFill>
                <a:latin typeface="Arial Black" pitchFamily="34" charset="0"/>
                <a:ea typeface="Arial Black" pitchFamily="34" charset="-122"/>
                <a:cs typeface="Arial Black" pitchFamily="34" charset="-120"/>
              </a:rPr>
              <a:t>GSR Applications Overview</a:t>
            </a:r>
            <a:endParaRPr lang="en-US" sz="3600" dirty="0">
              <a:solidFill>
                <a:schemeClr val="bg1"/>
              </a:solidFill>
            </a:endParaRPr>
          </a:p>
        </p:txBody>
      </p:sp>
      <p:sp>
        <p:nvSpPr>
          <p:cNvPr id="5" name="Shape 3"/>
          <p:cNvSpPr/>
          <p:nvPr/>
        </p:nvSpPr>
        <p:spPr>
          <a:xfrm>
            <a:off x="458788" y="1645920"/>
            <a:ext cx="3566160" cy="2103120"/>
          </a:xfrm>
          <a:prstGeom prst="roundRect">
            <a:avLst/>
          </a:prstGeom>
          <a:solidFill>
            <a:srgbClr val="F5F5F5"/>
          </a:solidFill>
          <a:ln/>
        </p:spPr>
        <p:txBody>
          <a:bodyPr/>
          <a:lstStyle/>
          <a:p>
            <a:endParaRPr lang="en-US"/>
          </a:p>
        </p:txBody>
      </p:sp>
      <p:sp>
        <p:nvSpPr>
          <p:cNvPr id="6" name="Shape 4"/>
          <p:cNvSpPr/>
          <p:nvPr/>
        </p:nvSpPr>
        <p:spPr>
          <a:xfrm>
            <a:off x="1784668" y="1828800"/>
            <a:ext cx="914400" cy="914400"/>
          </a:xfrm>
          <a:prstGeom prst="ellipse">
            <a:avLst/>
          </a:prstGeom>
          <a:solidFill>
            <a:srgbClr val="F76902"/>
          </a:solidFill>
          <a:ln/>
        </p:spPr>
        <p:txBody>
          <a:bodyPr/>
          <a:lstStyle/>
          <a:p>
            <a:endParaRPr lang="en-US"/>
          </a:p>
        </p:txBody>
      </p:sp>
      <p:sp>
        <p:nvSpPr>
          <p:cNvPr id="7" name="Text 5"/>
          <p:cNvSpPr/>
          <p:nvPr/>
        </p:nvSpPr>
        <p:spPr>
          <a:xfrm>
            <a:off x="1784668" y="1920240"/>
            <a:ext cx="914400" cy="731520"/>
          </a:xfrm>
          <a:prstGeom prst="rect">
            <a:avLst/>
          </a:prstGeom>
          <a:noFill/>
          <a:ln/>
        </p:spPr>
        <p:txBody>
          <a:bodyPr wrap="square" rtlCol="0" anchor="ctr"/>
          <a:lstStyle/>
          <a:p>
            <a:pPr algn="ctr"/>
            <a:r>
              <a:rPr lang="en-US" sz="2400" b="1" dirty="0">
                <a:solidFill>
                  <a:srgbClr val="FFFFFF"/>
                </a:solidFill>
                <a:latin typeface="Arial" pitchFamily="34" charset="0"/>
                <a:ea typeface="Arial" pitchFamily="34" charset="-122"/>
                <a:cs typeface="Arial" pitchFamily="34" charset="-120"/>
              </a:rPr>
              <a:t>1</a:t>
            </a:r>
            <a:endParaRPr lang="en-US" sz="2400" dirty="0"/>
          </a:p>
        </p:txBody>
      </p:sp>
      <p:sp>
        <p:nvSpPr>
          <p:cNvPr id="8" name="Text 6"/>
          <p:cNvSpPr/>
          <p:nvPr/>
        </p:nvSpPr>
        <p:spPr>
          <a:xfrm>
            <a:off x="550228" y="2834640"/>
            <a:ext cx="3383280" cy="411480"/>
          </a:xfrm>
          <a:prstGeom prst="rect">
            <a:avLst/>
          </a:prstGeom>
          <a:noFill/>
          <a:ln/>
        </p:spPr>
        <p:txBody>
          <a:bodyPr wrap="square" rtlCol="0" anchor="ctr"/>
          <a:lstStyle/>
          <a:p>
            <a:pPr algn="ctr"/>
            <a:r>
              <a:rPr lang="en-US" sz="1400" b="1" dirty="0">
                <a:solidFill>
                  <a:srgbClr val="1A1A1A"/>
                </a:solidFill>
                <a:latin typeface="Arial" pitchFamily="34" charset="0"/>
                <a:ea typeface="Arial" pitchFamily="34" charset="-122"/>
                <a:cs typeface="Arial" pitchFamily="34" charset="-120"/>
              </a:rPr>
              <a:t>Stress &amp; Anxiety</a:t>
            </a:r>
            <a:endParaRPr lang="en-US" sz="1400" dirty="0"/>
          </a:p>
        </p:txBody>
      </p:sp>
      <p:sp>
        <p:nvSpPr>
          <p:cNvPr id="9" name="Text 7"/>
          <p:cNvSpPr/>
          <p:nvPr/>
        </p:nvSpPr>
        <p:spPr>
          <a:xfrm>
            <a:off x="550228" y="3246120"/>
            <a:ext cx="3383280" cy="411480"/>
          </a:xfrm>
          <a:prstGeom prst="rect">
            <a:avLst/>
          </a:prstGeom>
          <a:noFill/>
          <a:ln/>
        </p:spPr>
        <p:txBody>
          <a:bodyPr wrap="square" rtlCol="0" anchor="ctr"/>
          <a:lstStyle/>
          <a:p>
            <a:pPr algn="ctr"/>
            <a:r>
              <a:rPr lang="en-US" sz="1200" dirty="0">
                <a:solidFill>
                  <a:srgbClr val="666666"/>
                </a:solidFill>
                <a:latin typeface="Arial" pitchFamily="34" charset="0"/>
                <a:ea typeface="Arial" pitchFamily="34" charset="-122"/>
                <a:cs typeface="Arial" pitchFamily="34" charset="-120"/>
              </a:rPr>
              <a:t>Workplace wellness, mental health</a:t>
            </a:r>
            <a:endParaRPr lang="en-US" sz="1200" dirty="0"/>
          </a:p>
        </p:txBody>
      </p:sp>
      <p:sp>
        <p:nvSpPr>
          <p:cNvPr id="10" name="Shape 8"/>
          <p:cNvSpPr/>
          <p:nvPr/>
        </p:nvSpPr>
        <p:spPr>
          <a:xfrm>
            <a:off x="4207828" y="1645920"/>
            <a:ext cx="3566160" cy="2103120"/>
          </a:xfrm>
          <a:prstGeom prst="roundRect">
            <a:avLst/>
          </a:prstGeom>
          <a:solidFill>
            <a:srgbClr val="F5F5F5"/>
          </a:solidFill>
          <a:ln/>
        </p:spPr>
        <p:txBody>
          <a:bodyPr/>
          <a:lstStyle/>
          <a:p>
            <a:endParaRPr lang="en-US"/>
          </a:p>
        </p:txBody>
      </p:sp>
      <p:sp>
        <p:nvSpPr>
          <p:cNvPr id="11" name="Shape 9"/>
          <p:cNvSpPr/>
          <p:nvPr/>
        </p:nvSpPr>
        <p:spPr>
          <a:xfrm>
            <a:off x="5533708" y="1828800"/>
            <a:ext cx="914400" cy="914400"/>
          </a:xfrm>
          <a:prstGeom prst="ellipse">
            <a:avLst/>
          </a:prstGeom>
          <a:solidFill>
            <a:srgbClr val="F76902"/>
          </a:solidFill>
          <a:ln/>
        </p:spPr>
        <p:txBody>
          <a:bodyPr/>
          <a:lstStyle/>
          <a:p>
            <a:endParaRPr lang="en-US"/>
          </a:p>
        </p:txBody>
      </p:sp>
      <p:sp>
        <p:nvSpPr>
          <p:cNvPr id="12" name="Text 10"/>
          <p:cNvSpPr/>
          <p:nvPr/>
        </p:nvSpPr>
        <p:spPr>
          <a:xfrm>
            <a:off x="5533708" y="1920240"/>
            <a:ext cx="914400" cy="731520"/>
          </a:xfrm>
          <a:prstGeom prst="rect">
            <a:avLst/>
          </a:prstGeom>
          <a:noFill/>
          <a:ln/>
        </p:spPr>
        <p:txBody>
          <a:bodyPr wrap="square" rtlCol="0" anchor="ctr"/>
          <a:lstStyle/>
          <a:p>
            <a:pPr algn="ctr"/>
            <a:r>
              <a:rPr lang="en-US" sz="2400" b="1" dirty="0">
                <a:solidFill>
                  <a:srgbClr val="FFFFFF"/>
                </a:solidFill>
                <a:latin typeface="Arial" pitchFamily="34" charset="0"/>
                <a:ea typeface="Arial" pitchFamily="34" charset="-122"/>
                <a:cs typeface="Arial" pitchFamily="34" charset="-120"/>
              </a:rPr>
              <a:t>2</a:t>
            </a:r>
            <a:endParaRPr lang="en-US" sz="2400" dirty="0"/>
          </a:p>
        </p:txBody>
      </p:sp>
      <p:sp>
        <p:nvSpPr>
          <p:cNvPr id="13" name="Text 11"/>
          <p:cNvSpPr/>
          <p:nvPr/>
        </p:nvSpPr>
        <p:spPr>
          <a:xfrm>
            <a:off x="4299268" y="2834640"/>
            <a:ext cx="3383280" cy="411480"/>
          </a:xfrm>
          <a:prstGeom prst="rect">
            <a:avLst/>
          </a:prstGeom>
          <a:noFill/>
          <a:ln/>
        </p:spPr>
        <p:txBody>
          <a:bodyPr wrap="square" rtlCol="0" anchor="ctr"/>
          <a:lstStyle/>
          <a:p>
            <a:pPr algn="ctr"/>
            <a:r>
              <a:rPr lang="en-US" sz="1400" b="1" dirty="0">
                <a:solidFill>
                  <a:srgbClr val="1A1A1A"/>
                </a:solidFill>
                <a:latin typeface="Arial" pitchFamily="34" charset="0"/>
                <a:ea typeface="Arial" pitchFamily="34" charset="-122"/>
                <a:cs typeface="Arial" pitchFamily="34" charset="-120"/>
              </a:rPr>
              <a:t>Lie Detection</a:t>
            </a:r>
            <a:endParaRPr lang="en-US" sz="1400" dirty="0"/>
          </a:p>
        </p:txBody>
      </p:sp>
      <p:sp>
        <p:nvSpPr>
          <p:cNvPr id="14" name="Text 12"/>
          <p:cNvSpPr/>
          <p:nvPr/>
        </p:nvSpPr>
        <p:spPr>
          <a:xfrm>
            <a:off x="4299268" y="3246120"/>
            <a:ext cx="3383280" cy="411480"/>
          </a:xfrm>
          <a:prstGeom prst="rect">
            <a:avLst/>
          </a:prstGeom>
          <a:noFill/>
          <a:ln/>
        </p:spPr>
        <p:txBody>
          <a:bodyPr wrap="square" rtlCol="0" anchor="ctr"/>
          <a:lstStyle/>
          <a:p>
            <a:pPr algn="ctr"/>
            <a:r>
              <a:rPr lang="en-US" sz="1200" dirty="0">
                <a:solidFill>
                  <a:srgbClr val="666666"/>
                </a:solidFill>
                <a:latin typeface="Arial" pitchFamily="34" charset="0"/>
                <a:ea typeface="Arial" pitchFamily="34" charset="-122"/>
                <a:cs typeface="Arial" pitchFamily="34" charset="-120"/>
              </a:rPr>
              <a:t>Forensic and security</a:t>
            </a:r>
            <a:endParaRPr lang="en-US" sz="1200" dirty="0"/>
          </a:p>
        </p:txBody>
      </p:sp>
      <p:sp>
        <p:nvSpPr>
          <p:cNvPr id="15" name="Shape 13"/>
          <p:cNvSpPr/>
          <p:nvPr/>
        </p:nvSpPr>
        <p:spPr>
          <a:xfrm>
            <a:off x="7956868" y="1645920"/>
            <a:ext cx="3566160" cy="2103120"/>
          </a:xfrm>
          <a:prstGeom prst="roundRect">
            <a:avLst/>
          </a:prstGeom>
          <a:solidFill>
            <a:srgbClr val="F5F5F5"/>
          </a:solidFill>
          <a:ln/>
        </p:spPr>
        <p:txBody>
          <a:bodyPr/>
          <a:lstStyle/>
          <a:p>
            <a:endParaRPr lang="en-US"/>
          </a:p>
        </p:txBody>
      </p:sp>
      <p:sp>
        <p:nvSpPr>
          <p:cNvPr id="16" name="Shape 14"/>
          <p:cNvSpPr/>
          <p:nvPr/>
        </p:nvSpPr>
        <p:spPr>
          <a:xfrm>
            <a:off x="9282748" y="1828800"/>
            <a:ext cx="914400" cy="914400"/>
          </a:xfrm>
          <a:prstGeom prst="ellipse">
            <a:avLst/>
          </a:prstGeom>
          <a:solidFill>
            <a:srgbClr val="F76902"/>
          </a:solidFill>
          <a:ln/>
        </p:spPr>
        <p:txBody>
          <a:bodyPr/>
          <a:lstStyle/>
          <a:p>
            <a:endParaRPr lang="en-US"/>
          </a:p>
        </p:txBody>
      </p:sp>
      <p:sp>
        <p:nvSpPr>
          <p:cNvPr id="17" name="Text 15"/>
          <p:cNvSpPr/>
          <p:nvPr/>
        </p:nvSpPr>
        <p:spPr>
          <a:xfrm>
            <a:off x="9282748" y="1920240"/>
            <a:ext cx="914400" cy="731520"/>
          </a:xfrm>
          <a:prstGeom prst="rect">
            <a:avLst/>
          </a:prstGeom>
          <a:noFill/>
          <a:ln/>
        </p:spPr>
        <p:txBody>
          <a:bodyPr wrap="square" rtlCol="0" anchor="ctr"/>
          <a:lstStyle/>
          <a:p>
            <a:pPr algn="ctr"/>
            <a:r>
              <a:rPr lang="en-US" sz="2400" b="1" dirty="0">
                <a:solidFill>
                  <a:srgbClr val="FFFFFF"/>
                </a:solidFill>
                <a:latin typeface="Arial" pitchFamily="34" charset="0"/>
                <a:ea typeface="Arial" pitchFamily="34" charset="-122"/>
                <a:cs typeface="Arial" pitchFamily="34" charset="-120"/>
              </a:rPr>
              <a:t>3</a:t>
            </a:r>
            <a:endParaRPr lang="en-US" sz="2400" dirty="0"/>
          </a:p>
        </p:txBody>
      </p:sp>
      <p:sp>
        <p:nvSpPr>
          <p:cNvPr id="18" name="Text 16"/>
          <p:cNvSpPr/>
          <p:nvPr/>
        </p:nvSpPr>
        <p:spPr>
          <a:xfrm>
            <a:off x="8048308" y="2834640"/>
            <a:ext cx="3383280" cy="411480"/>
          </a:xfrm>
          <a:prstGeom prst="rect">
            <a:avLst/>
          </a:prstGeom>
          <a:noFill/>
          <a:ln/>
        </p:spPr>
        <p:txBody>
          <a:bodyPr wrap="square" rtlCol="0" anchor="ctr"/>
          <a:lstStyle/>
          <a:p>
            <a:pPr algn="ctr"/>
            <a:r>
              <a:rPr lang="en-US" sz="1400" b="1" dirty="0">
                <a:solidFill>
                  <a:srgbClr val="1A1A1A"/>
                </a:solidFill>
                <a:latin typeface="Arial" pitchFamily="34" charset="0"/>
                <a:ea typeface="Arial" pitchFamily="34" charset="-122"/>
                <a:cs typeface="Arial" pitchFamily="34" charset="-120"/>
              </a:rPr>
              <a:t>UX Research</a:t>
            </a:r>
            <a:endParaRPr lang="en-US" sz="1400" dirty="0"/>
          </a:p>
        </p:txBody>
      </p:sp>
      <p:sp>
        <p:nvSpPr>
          <p:cNvPr id="19" name="Text 17"/>
          <p:cNvSpPr/>
          <p:nvPr/>
        </p:nvSpPr>
        <p:spPr>
          <a:xfrm>
            <a:off x="8048308" y="3246120"/>
            <a:ext cx="3383280" cy="411480"/>
          </a:xfrm>
          <a:prstGeom prst="rect">
            <a:avLst/>
          </a:prstGeom>
          <a:noFill/>
          <a:ln/>
        </p:spPr>
        <p:txBody>
          <a:bodyPr wrap="square" rtlCol="0" anchor="ctr"/>
          <a:lstStyle/>
          <a:p>
            <a:pPr algn="ctr"/>
            <a:r>
              <a:rPr lang="en-US" sz="1200" dirty="0">
                <a:solidFill>
                  <a:srgbClr val="666666"/>
                </a:solidFill>
                <a:latin typeface="Arial" pitchFamily="34" charset="0"/>
                <a:ea typeface="Arial" pitchFamily="34" charset="-122"/>
                <a:cs typeface="Arial" pitchFamily="34" charset="-120"/>
              </a:rPr>
              <a:t>Product testing, advertising</a:t>
            </a:r>
            <a:endParaRPr lang="en-US" sz="1200" dirty="0"/>
          </a:p>
        </p:txBody>
      </p:sp>
      <p:sp>
        <p:nvSpPr>
          <p:cNvPr id="20" name="Shape 18"/>
          <p:cNvSpPr/>
          <p:nvPr/>
        </p:nvSpPr>
        <p:spPr>
          <a:xfrm>
            <a:off x="458788" y="4023360"/>
            <a:ext cx="3566160" cy="2103120"/>
          </a:xfrm>
          <a:prstGeom prst="roundRect">
            <a:avLst/>
          </a:prstGeom>
          <a:solidFill>
            <a:srgbClr val="F5F5F5"/>
          </a:solidFill>
          <a:ln/>
        </p:spPr>
        <p:txBody>
          <a:bodyPr/>
          <a:lstStyle/>
          <a:p>
            <a:endParaRPr lang="en-US"/>
          </a:p>
        </p:txBody>
      </p:sp>
      <p:sp>
        <p:nvSpPr>
          <p:cNvPr id="21" name="Shape 19"/>
          <p:cNvSpPr/>
          <p:nvPr/>
        </p:nvSpPr>
        <p:spPr>
          <a:xfrm>
            <a:off x="1784668" y="4206240"/>
            <a:ext cx="914400" cy="914400"/>
          </a:xfrm>
          <a:prstGeom prst="ellipse">
            <a:avLst/>
          </a:prstGeom>
          <a:solidFill>
            <a:srgbClr val="F76902"/>
          </a:solidFill>
          <a:ln/>
        </p:spPr>
        <p:txBody>
          <a:bodyPr/>
          <a:lstStyle/>
          <a:p>
            <a:endParaRPr lang="en-US"/>
          </a:p>
        </p:txBody>
      </p:sp>
      <p:sp>
        <p:nvSpPr>
          <p:cNvPr id="22" name="Text 20"/>
          <p:cNvSpPr/>
          <p:nvPr/>
        </p:nvSpPr>
        <p:spPr>
          <a:xfrm>
            <a:off x="1784668" y="4297680"/>
            <a:ext cx="914400" cy="731520"/>
          </a:xfrm>
          <a:prstGeom prst="rect">
            <a:avLst/>
          </a:prstGeom>
          <a:noFill/>
          <a:ln/>
        </p:spPr>
        <p:txBody>
          <a:bodyPr wrap="square" rtlCol="0" anchor="ctr"/>
          <a:lstStyle/>
          <a:p>
            <a:pPr algn="ctr"/>
            <a:r>
              <a:rPr lang="en-US" sz="2400" b="1" dirty="0">
                <a:solidFill>
                  <a:srgbClr val="FFFFFF"/>
                </a:solidFill>
                <a:latin typeface="Arial" pitchFamily="34" charset="0"/>
                <a:ea typeface="Arial" pitchFamily="34" charset="-122"/>
                <a:cs typeface="Arial" pitchFamily="34" charset="-120"/>
              </a:rPr>
              <a:t>4</a:t>
            </a:r>
            <a:endParaRPr lang="en-US" sz="2400" dirty="0"/>
          </a:p>
        </p:txBody>
      </p:sp>
      <p:sp>
        <p:nvSpPr>
          <p:cNvPr id="23" name="Text 21"/>
          <p:cNvSpPr/>
          <p:nvPr/>
        </p:nvSpPr>
        <p:spPr>
          <a:xfrm>
            <a:off x="550228" y="5212080"/>
            <a:ext cx="3383280" cy="411480"/>
          </a:xfrm>
          <a:prstGeom prst="rect">
            <a:avLst/>
          </a:prstGeom>
          <a:noFill/>
          <a:ln/>
        </p:spPr>
        <p:txBody>
          <a:bodyPr wrap="square" rtlCol="0" anchor="ctr"/>
          <a:lstStyle/>
          <a:p>
            <a:pPr algn="ctr"/>
            <a:r>
              <a:rPr lang="en-US" sz="1400" b="1" dirty="0">
                <a:solidFill>
                  <a:srgbClr val="1A1A1A"/>
                </a:solidFill>
                <a:latin typeface="Arial" pitchFamily="34" charset="0"/>
                <a:ea typeface="Arial" pitchFamily="34" charset="-122"/>
                <a:cs typeface="Arial" pitchFamily="34" charset="-120"/>
              </a:rPr>
              <a:t>Clinical Biofeedback</a:t>
            </a:r>
            <a:endParaRPr lang="en-US" sz="1400" dirty="0"/>
          </a:p>
        </p:txBody>
      </p:sp>
      <p:sp>
        <p:nvSpPr>
          <p:cNvPr id="24" name="Text 22"/>
          <p:cNvSpPr/>
          <p:nvPr/>
        </p:nvSpPr>
        <p:spPr>
          <a:xfrm>
            <a:off x="550228" y="5623560"/>
            <a:ext cx="3383280" cy="411480"/>
          </a:xfrm>
          <a:prstGeom prst="rect">
            <a:avLst/>
          </a:prstGeom>
          <a:noFill/>
          <a:ln/>
        </p:spPr>
        <p:txBody>
          <a:bodyPr wrap="square" rtlCol="0" anchor="ctr"/>
          <a:lstStyle/>
          <a:p>
            <a:pPr algn="ctr"/>
            <a:r>
              <a:rPr lang="en-US" sz="1200" dirty="0">
                <a:solidFill>
                  <a:srgbClr val="666666"/>
                </a:solidFill>
                <a:latin typeface="Arial" pitchFamily="34" charset="0"/>
                <a:ea typeface="Arial" pitchFamily="34" charset="-122"/>
                <a:cs typeface="Arial" pitchFamily="34" charset="-120"/>
              </a:rPr>
              <a:t>Anxiety, PTSD treatment</a:t>
            </a:r>
            <a:endParaRPr lang="en-US" sz="1200" dirty="0"/>
          </a:p>
        </p:txBody>
      </p:sp>
      <p:sp>
        <p:nvSpPr>
          <p:cNvPr id="25" name="Shape 23"/>
          <p:cNvSpPr/>
          <p:nvPr/>
        </p:nvSpPr>
        <p:spPr>
          <a:xfrm>
            <a:off x="4207828" y="4023360"/>
            <a:ext cx="3566160" cy="2103120"/>
          </a:xfrm>
          <a:prstGeom prst="roundRect">
            <a:avLst/>
          </a:prstGeom>
          <a:solidFill>
            <a:srgbClr val="F5F5F5"/>
          </a:solidFill>
          <a:ln/>
        </p:spPr>
        <p:txBody>
          <a:bodyPr/>
          <a:lstStyle/>
          <a:p>
            <a:endParaRPr lang="en-US"/>
          </a:p>
        </p:txBody>
      </p:sp>
      <p:sp>
        <p:nvSpPr>
          <p:cNvPr id="26" name="Shape 24"/>
          <p:cNvSpPr/>
          <p:nvPr/>
        </p:nvSpPr>
        <p:spPr>
          <a:xfrm>
            <a:off x="5533708" y="4206240"/>
            <a:ext cx="914400" cy="914400"/>
          </a:xfrm>
          <a:prstGeom prst="ellipse">
            <a:avLst/>
          </a:prstGeom>
          <a:solidFill>
            <a:srgbClr val="F76902"/>
          </a:solidFill>
          <a:ln/>
        </p:spPr>
        <p:txBody>
          <a:bodyPr/>
          <a:lstStyle/>
          <a:p>
            <a:endParaRPr lang="en-US"/>
          </a:p>
        </p:txBody>
      </p:sp>
      <p:sp>
        <p:nvSpPr>
          <p:cNvPr id="27" name="Text 25"/>
          <p:cNvSpPr/>
          <p:nvPr/>
        </p:nvSpPr>
        <p:spPr>
          <a:xfrm>
            <a:off x="5533708" y="4297680"/>
            <a:ext cx="914400" cy="731520"/>
          </a:xfrm>
          <a:prstGeom prst="rect">
            <a:avLst/>
          </a:prstGeom>
          <a:noFill/>
          <a:ln/>
        </p:spPr>
        <p:txBody>
          <a:bodyPr wrap="square" rtlCol="0" anchor="ctr"/>
          <a:lstStyle/>
          <a:p>
            <a:pPr algn="ctr"/>
            <a:r>
              <a:rPr lang="en-US" sz="2400" b="1" dirty="0">
                <a:solidFill>
                  <a:srgbClr val="FFFFFF"/>
                </a:solidFill>
                <a:latin typeface="Arial" pitchFamily="34" charset="0"/>
                <a:ea typeface="Arial" pitchFamily="34" charset="-122"/>
                <a:cs typeface="Arial" pitchFamily="34" charset="-120"/>
              </a:rPr>
              <a:t>5</a:t>
            </a:r>
            <a:endParaRPr lang="en-US" sz="2400" dirty="0"/>
          </a:p>
        </p:txBody>
      </p:sp>
      <p:sp>
        <p:nvSpPr>
          <p:cNvPr id="28" name="Text 26"/>
          <p:cNvSpPr/>
          <p:nvPr/>
        </p:nvSpPr>
        <p:spPr>
          <a:xfrm>
            <a:off x="4299268" y="5212080"/>
            <a:ext cx="3383280" cy="411480"/>
          </a:xfrm>
          <a:prstGeom prst="rect">
            <a:avLst/>
          </a:prstGeom>
          <a:noFill/>
          <a:ln/>
        </p:spPr>
        <p:txBody>
          <a:bodyPr wrap="square" rtlCol="0" anchor="ctr"/>
          <a:lstStyle/>
          <a:p>
            <a:pPr algn="ctr"/>
            <a:r>
              <a:rPr lang="en-US" sz="1400" b="1" dirty="0">
                <a:solidFill>
                  <a:srgbClr val="1A1A1A"/>
                </a:solidFill>
                <a:latin typeface="Arial" pitchFamily="34" charset="0"/>
                <a:ea typeface="Arial" pitchFamily="34" charset="-122"/>
                <a:cs typeface="Arial" pitchFamily="34" charset="-120"/>
              </a:rPr>
              <a:t>Affective Computing</a:t>
            </a:r>
            <a:endParaRPr lang="en-US" sz="1400" dirty="0"/>
          </a:p>
        </p:txBody>
      </p:sp>
      <p:sp>
        <p:nvSpPr>
          <p:cNvPr id="29" name="Text 27"/>
          <p:cNvSpPr/>
          <p:nvPr/>
        </p:nvSpPr>
        <p:spPr>
          <a:xfrm>
            <a:off x="4299268" y="5623560"/>
            <a:ext cx="3383280" cy="411480"/>
          </a:xfrm>
          <a:prstGeom prst="rect">
            <a:avLst/>
          </a:prstGeom>
          <a:noFill/>
          <a:ln/>
        </p:spPr>
        <p:txBody>
          <a:bodyPr wrap="square" rtlCol="0" anchor="ctr"/>
          <a:lstStyle/>
          <a:p>
            <a:pPr algn="ctr"/>
            <a:r>
              <a:rPr lang="en-US" sz="1200" dirty="0">
                <a:solidFill>
                  <a:srgbClr val="666666"/>
                </a:solidFill>
                <a:latin typeface="Arial" pitchFamily="34" charset="0"/>
                <a:ea typeface="Arial" pitchFamily="34" charset="-122"/>
                <a:cs typeface="Arial" pitchFamily="34" charset="-120"/>
              </a:rPr>
              <a:t>Emotion-aware AI systems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2104708" y="69138"/>
            <a:ext cx="10972800" cy="640080"/>
          </a:xfrm>
          <a:prstGeom prst="rect">
            <a:avLst/>
          </a:prstGeom>
          <a:noFill/>
          <a:ln/>
        </p:spPr>
        <p:txBody>
          <a:bodyPr wrap="square" rtlCol="0" anchor="ctr"/>
          <a:lstStyle/>
          <a:p>
            <a:r>
              <a:rPr lang="en-US" sz="3600" b="1" dirty="0">
                <a:solidFill>
                  <a:schemeClr val="bg1"/>
                </a:solidFill>
                <a:latin typeface="Arial Black" pitchFamily="34" charset="0"/>
                <a:ea typeface="Arial Black" pitchFamily="34" charset="-122"/>
                <a:cs typeface="Arial Black" pitchFamily="34" charset="-120"/>
              </a:rPr>
              <a:t>Stress &amp; Anxiety Monitoring</a:t>
            </a:r>
            <a:endParaRPr lang="en-US" sz="3600" dirty="0">
              <a:solidFill>
                <a:schemeClr val="bg1"/>
              </a:solidFill>
            </a:endParaRPr>
          </a:p>
        </p:txBody>
      </p:sp>
      <p:sp>
        <p:nvSpPr>
          <p:cNvPr id="4" name="Text 2"/>
          <p:cNvSpPr/>
          <p:nvPr/>
        </p:nvSpPr>
        <p:spPr>
          <a:xfrm>
            <a:off x="458788" y="1097280"/>
            <a:ext cx="10972800" cy="365760"/>
          </a:xfrm>
          <a:prstGeom prst="rect">
            <a:avLst/>
          </a:prstGeom>
          <a:noFill/>
          <a:ln/>
        </p:spPr>
        <p:txBody>
          <a:bodyPr wrap="square" rtlCol="0" anchor="ctr"/>
          <a:lstStyle/>
          <a:p>
            <a:r>
              <a:rPr lang="en-US" sz="1600" dirty="0">
                <a:solidFill>
                  <a:srgbClr val="666666"/>
                </a:solidFill>
                <a:latin typeface="Arial" pitchFamily="34" charset="0"/>
                <a:ea typeface="Arial" pitchFamily="34" charset="-122"/>
                <a:cs typeface="Arial" pitchFamily="34" charset="-120"/>
              </a:rPr>
              <a:t>Continuous assessment of psychological state</a:t>
            </a:r>
            <a:endParaRPr lang="en-US" sz="1600" dirty="0"/>
          </a:p>
        </p:txBody>
      </p:sp>
      <p:sp>
        <p:nvSpPr>
          <p:cNvPr id="5" name="Shape 3"/>
          <p:cNvSpPr/>
          <p:nvPr/>
        </p:nvSpPr>
        <p:spPr>
          <a:xfrm>
            <a:off x="458788" y="1645920"/>
            <a:ext cx="6858000" cy="4114800"/>
          </a:xfrm>
          <a:prstGeom prst="roundRect">
            <a:avLst/>
          </a:prstGeom>
          <a:solidFill>
            <a:srgbClr val="F5F5F5"/>
          </a:solidFill>
          <a:ln/>
        </p:spPr>
        <p:txBody>
          <a:bodyPr/>
          <a:lstStyle/>
          <a:p>
            <a:endParaRPr lang="en-US"/>
          </a:p>
        </p:txBody>
      </p:sp>
      <p:sp>
        <p:nvSpPr>
          <p:cNvPr id="6" name="Text 4"/>
          <p:cNvSpPr/>
          <p:nvPr/>
        </p:nvSpPr>
        <p:spPr>
          <a:xfrm>
            <a:off x="641668" y="1828800"/>
            <a:ext cx="6492240" cy="365760"/>
          </a:xfrm>
          <a:prstGeom prst="rect">
            <a:avLst/>
          </a:prstGeom>
          <a:noFill/>
          <a:ln/>
        </p:spPr>
        <p:txBody>
          <a:bodyPr wrap="square" rtlCol="0" anchor="ctr"/>
          <a:lstStyle/>
          <a:p>
            <a:r>
              <a:rPr lang="en-US" b="1" dirty="0">
                <a:solidFill>
                  <a:srgbClr val="F76902"/>
                </a:solidFill>
                <a:latin typeface="Arial" pitchFamily="34" charset="0"/>
                <a:ea typeface="Arial" pitchFamily="34" charset="-122"/>
                <a:cs typeface="Arial" pitchFamily="34" charset="-120"/>
              </a:rPr>
              <a:t>How It Works</a:t>
            </a:r>
            <a:endParaRPr lang="en-US" dirty="0"/>
          </a:p>
        </p:txBody>
      </p:sp>
      <p:sp>
        <p:nvSpPr>
          <p:cNvPr id="7" name="Text 5"/>
          <p:cNvSpPr/>
          <p:nvPr/>
        </p:nvSpPr>
        <p:spPr>
          <a:xfrm>
            <a:off x="641668" y="2286000"/>
            <a:ext cx="6492240" cy="3200400"/>
          </a:xfrm>
          <a:prstGeom prst="rect">
            <a:avLst/>
          </a:prstGeom>
          <a:noFill/>
          <a:ln/>
        </p:spPr>
        <p:txBody>
          <a:bodyPr wrap="square" rtlCol="0" anchor="ctr"/>
          <a:lstStyle/>
          <a:p>
            <a:r>
              <a:rPr lang="en-US" sz="1400" dirty="0">
                <a:solidFill>
                  <a:srgbClr val="1A1A1A"/>
                </a:solidFill>
                <a:latin typeface="Arial" pitchFamily="34" charset="0"/>
                <a:ea typeface="Arial" pitchFamily="34" charset="-122"/>
                <a:cs typeface="Arial" pitchFamily="34" charset="-120"/>
              </a:rPr>
              <a:t>GSR increases with psychological stress due to sympathetic nervous system activation:
• Work deadlines → Elevated SCL
• Social anxiety → Increased SCR frequency
• Cognitive load → Higher baseline + more responses
• Emotional events → Clear SCR peaks
Wearable devices now incorporate GSR sensors for continuous stress tracking.</a:t>
            </a:r>
            <a:endParaRPr lang="en-US" sz="1400" dirty="0"/>
          </a:p>
        </p:txBody>
      </p:sp>
      <p:sp>
        <p:nvSpPr>
          <p:cNvPr id="8" name="Text 6"/>
          <p:cNvSpPr/>
          <p:nvPr/>
        </p:nvSpPr>
        <p:spPr>
          <a:xfrm>
            <a:off x="7591108" y="1645920"/>
            <a:ext cx="4114800" cy="365760"/>
          </a:xfrm>
          <a:prstGeom prst="rect">
            <a:avLst/>
          </a:prstGeom>
          <a:noFill/>
          <a:ln/>
        </p:spPr>
        <p:txBody>
          <a:bodyPr wrap="square" rtlCol="0" anchor="ctr"/>
          <a:lstStyle/>
          <a:p>
            <a:r>
              <a:rPr lang="en-US" sz="1600" b="1" dirty="0">
                <a:solidFill>
                  <a:srgbClr val="1A1A1A"/>
                </a:solidFill>
                <a:latin typeface="Arial" pitchFamily="34" charset="0"/>
                <a:ea typeface="Arial" pitchFamily="34" charset="-122"/>
                <a:cs typeface="Arial" pitchFamily="34" charset="-120"/>
              </a:rPr>
              <a:t>Use Cases</a:t>
            </a:r>
            <a:endParaRPr lang="en-US" sz="1600" dirty="0"/>
          </a:p>
        </p:txBody>
      </p:sp>
      <p:sp>
        <p:nvSpPr>
          <p:cNvPr id="9" name="Text 7"/>
          <p:cNvSpPr/>
          <p:nvPr/>
        </p:nvSpPr>
        <p:spPr>
          <a:xfrm>
            <a:off x="7591108" y="2103120"/>
            <a:ext cx="4114800" cy="457200"/>
          </a:xfrm>
          <a:prstGeom prst="rect">
            <a:avLst/>
          </a:prstGeom>
          <a:noFill/>
          <a:ln/>
        </p:spPr>
        <p:txBody>
          <a:bodyPr wrap="square" rtlCol="0" anchor="ctr"/>
          <a:lstStyle/>
          <a:p>
            <a:r>
              <a:rPr lang="en-US" sz="1300" dirty="0">
                <a:solidFill>
                  <a:srgbClr val="1A1A1A"/>
                </a:solidFill>
                <a:latin typeface="Arial" pitchFamily="34" charset="0"/>
                <a:ea typeface="Arial" pitchFamily="34" charset="-122"/>
                <a:cs typeface="Arial" pitchFamily="34" charset="-120"/>
              </a:rPr>
              <a:t>• Workplace wellness programs</a:t>
            </a:r>
            <a:endParaRPr lang="en-US" sz="1300" dirty="0"/>
          </a:p>
        </p:txBody>
      </p:sp>
      <p:sp>
        <p:nvSpPr>
          <p:cNvPr id="10" name="Text 8"/>
          <p:cNvSpPr/>
          <p:nvPr/>
        </p:nvSpPr>
        <p:spPr>
          <a:xfrm>
            <a:off x="7591108" y="2697480"/>
            <a:ext cx="4114800" cy="457200"/>
          </a:xfrm>
          <a:prstGeom prst="rect">
            <a:avLst/>
          </a:prstGeom>
          <a:noFill/>
          <a:ln/>
        </p:spPr>
        <p:txBody>
          <a:bodyPr wrap="square" rtlCol="0" anchor="ctr"/>
          <a:lstStyle/>
          <a:p>
            <a:r>
              <a:rPr lang="en-US" sz="1300" dirty="0">
                <a:solidFill>
                  <a:srgbClr val="1A1A1A"/>
                </a:solidFill>
                <a:latin typeface="Arial" pitchFamily="34" charset="0"/>
                <a:ea typeface="Arial" pitchFamily="34" charset="-122"/>
                <a:cs typeface="Arial" pitchFamily="34" charset="-120"/>
              </a:rPr>
              <a:t>• Mental health monitoring</a:t>
            </a:r>
            <a:endParaRPr lang="en-US" sz="1300" dirty="0"/>
          </a:p>
        </p:txBody>
      </p:sp>
      <p:sp>
        <p:nvSpPr>
          <p:cNvPr id="11" name="Text 9"/>
          <p:cNvSpPr/>
          <p:nvPr/>
        </p:nvSpPr>
        <p:spPr>
          <a:xfrm>
            <a:off x="7591108" y="3291840"/>
            <a:ext cx="4114800" cy="457200"/>
          </a:xfrm>
          <a:prstGeom prst="rect">
            <a:avLst/>
          </a:prstGeom>
          <a:noFill/>
          <a:ln/>
        </p:spPr>
        <p:txBody>
          <a:bodyPr wrap="square" rtlCol="0" anchor="ctr"/>
          <a:lstStyle/>
          <a:p>
            <a:r>
              <a:rPr lang="en-US" sz="1300" dirty="0">
                <a:solidFill>
                  <a:srgbClr val="1A1A1A"/>
                </a:solidFill>
                <a:latin typeface="Arial" pitchFamily="34" charset="0"/>
                <a:ea typeface="Arial" pitchFamily="34" charset="-122"/>
                <a:cs typeface="Arial" pitchFamily="34" charset="-120"/>
              </a:rPr>
              <a:t>• Performance optimization</a:t>
            </a:r>
            <a:endParaRPr lang="en-US" sz="1300" dirty="0"/>
          </a:p>
        </p:txBody>
      </p:sp>
      <p:sp>
        <p:nvSpPr>
          <p:cNvPr id="12" name="Text 10"/>
          <p:cNvSpPr/>
          <p:nvPr/>
        </p:nvSpPr>
        <p:spPr>
          <a:xfrm>
            <a:off x="7591108" y="3886200"/>
            <a:ext cx="4114800" cy="457200"/>
          </a:xfrm>
          <a:prstGeom prst="rect">
            <a:avLst/>
          </a:prstGeom>
          <a:noFill/>
          <a:ln/>
        </p:spPr>
        <p:txBody>
          <a:bodyPr wrap="square" rtlCol="0" anchor="ctr"/>
          <a:lstStyle/>
          <a:p>
            <a:r>
              <a:rPr lang="en-US" sz="1300" dirty="0">
                <a:solidFill>
                  <a:srgbClr val="1A1A1A"/>
                </a:solidFill>
                <a:latin typeface="Arial" pitchFamily="34" charset="0"/>
                <a:ea typeface="Arial" pitchFamily="34" charset="-122"/>
                <a:cs typeface="Arial" pitchFamily="34" charset="-120"/>
              </a:rPr>
              <a:t>• Sleep quality assessment</a:t>
            </a:r>
            <a:endParaRPr lang="en-US" sz="1300" dirty="0"/>
          </a:p>
        </p:txBody>
      </p:sp>
      <p:sp>
        <p:nvSpPr>
          <p:cNvPr id="13" name="Text 11"/>
          <p:cNvSpPr/>
          <p:nvPr/>
        </p:nvSpPr>
        <p:spPr>
          <a:xfrm>
            <a:off x="7591108" y="4480560"/>
            <a:ext cx="4114800" cy="457200"/>
          </a:xfrm>
          <a:prstGeom prst="rect">
            <a:avLst/>
          </a:prstGeom>
          <a:noFill/>
          <a:ln/>
        </p:spPr>
        <p:txBody>
          <a:bodyPr wrap="square" rtlCol="0" anchor="ctr"/>
          <a:lstStyle/>
          <a:p>
            <a:r>
              <a:rPr lang="en-US" sz="1300" dirty="0">
                <a:solidFill>
                  <a:srgbClr val="1A1A1A"/>
                </a:solidFill>
                <a:latin typeface="Arial" pitchFamily="34" charset="0"/>
                <a:ea typeface="Arial" pitchFamily="34" charset="-122"/>
                <a:cs typeface="Arial" pitchFamily="34" charset="-120"/>
              </a:rPr>
              <a:t>• Meditation feedback</a:t>
            </a:r>
            <a:endParaRPr lang="en-US" sz="1300" dirty="0"/>
          </a:p>
        </p:txBody>
      </p:sp>
      <p:sp>
        <p:nvSpPr>
          <p:cNvPr id="14" name="Text 12"/>
          <p:cNvSpPr/>
          <p:nvPr/>
        </p:nvSpPr>
        <p:spPr>
          <a:xfrm>
            <a:off x="7591108" y="5074920"/>
            <a:ext cx="4114800" cy="457200"/>
          </a:xfrm>
          <a:prstGeom prst="rect">
            <a:avLst/>
          </a:prstGeom>
          <a:noFill/>
          <a:ln/>
        </p:spPr>
        <p:txBody>
          <a:bodyPr wrap="square" rtlCol="0" anchor="ctr"/>
          <a:lstStyle/>
          <a:p>
            <a:r>
              <a:rPr lang="en-US" sz="1300" dirty="0">
                <a:solidFill>
                  <a:srgbClr val="1A1A1A"/>
                </a:solidFill>
                <a:latin typeface="Arial" pitchFamily="34" charset="0"/>
                <a:ea typeface="Arial" pitchFamily="34" charset="-122"/>
                <a:cs typeface="Arial" pitchFamily="34" charset="-120"/>
              </a:rPr>
              <a:t>• PTSD episode detection</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2053412" y="91440"/>
            <a:ext cx="10972800" cy="640080"/>
          </a:xfrm>
          <a:prstGeom prst="rect">
            <a:avLst/>
          </a:prstGeom>
          <a:noFill/>
          <a:ln/>
        </p:spPr>
        <p:txBody>
          <a:bodyPr wrap="square" rtlCol="0" anchor="ctr"/>
          <a:lstStyle/>
          <a:p>
            <a:r>
              <a:rPr lang="en-US" sz="3600" b="1" dirty="0">
                <a:solidFill>
                  <a:schemeClr val="bg1"/>
                </a:solidFill>
                <a:latin typeface="Arial Black" pitchFamily="34" charset="0"/>
                <a:ea typeface="Arial Black" pitchFamily="34" charset="-122"/>
                <a:cs typeface="Arial Black" pitchFamily="34" charset="-120"/>
              </a:rPr>
              <a:t>Lie Detection (Polygraph)</a:t>
            </a:r>
            <a:endParaRPr lang="en-US" sz="3600" dirty="0">
              <a:solidFill>
                <a:schemeClr val="bg1"/>
              </a:solidFill>
            </a:endParaRPr>
          </a:p>
        </p:txBody>
      </p:sp>
      <p:sp>
        <p:nvSpPr>
          <p:cNvPr id="4" name="Text 2"/>
          <p:cNvSpPr/>
          <p:nvPr/>
        </p:nvSpPr>
        <p:spPr>
          <a:xfrm>
            <a:off x="458788" y="1097280"/>
            <a:ext cx="10972800" cy="365760"/>
          </a:xfrm>
          <a:prstGeom prst="rect">
            <a:avLst/>
          </a:prstGeom>
          <a:noFill/>
          <a:ln/>
        </p:spPr>
        <p:txBody>
          <a:bodyPr wrap="square" rtlCol="0" anchor="ctr"/>
          <a:lstStyle/>
          <a:p>
            <a:r>
              <a:rPr lang="en-US" sz="1600" dirty="0">
                <a:solidFill>
                  <a:srgbClr val="666666"/>
                </a:solidFill>
                <a:latin typeface="Arial" pitchFamily="34" charset="0"/>
                <a:ea typeface="Arial" pitchFamily="34" charset="-122"/>
                <a:cs typeface="Arial" pitchFamily="34" charset="-120"/>
              </a:rPr>
              <a:t>The controversial but widespread application</a:t>
            </a:r>
            <a:endParaRPr lang="en-US" sz="1600" dirty="0"/>
          </a:p>
        </p:txBody>
      </p:sp>
      <p:sp>
        <p:nvSpPr>
          <p:cNvPr id="5" name="Shape 3"/>
          <p:cNvSpPr/>
          <p:nvPr/>
        </p:nvSpPr>
        <p:spPr>
          <a:xfrm>
            <a:off x="458788" y="1645920"/>
            <a:ext cx="5303520" cy="2743200"/>
          </a:xfrm>
          <a:prstGeom prst="roundRect">
            <a:avLst/>
          </a:prstGeom>
          <a:solidFill>
            <a:srgbClr val="F5F5F5"/>
          </a:solidFill>
          <a:ln/>
        </p:spPr>
        <p:txBody>
          <a:bodyPr/>
          <a:lstStyle/>
          <a:p>
            <a:endParaRPr lang="en-US"/>
          </a:p>
        </p:txBody>
      </p:sp>
      <p:sp>
        <p:nvSpPr>
          <p:cNvPr id="6" name="Text 4"/>
          <p:cNvSpPr/>
          <p:nvPr/>
        </p:nvSpPr>
        <p:spPr>
          <a:xfrm>
            <a:off x="641668" y="1828800"/>
            <a:ext cx="4937760" cy="365760"/>
          </a:xfrm>
          <a:prstGeom prst="rect">
            <a:avLst/>
          </a:prstGeom>
          <a:noFill/>
          <a:ln/>
        </p:spPr>
        <p:txBody>
          <a:bodyPr wrap="square" rtlCol="0" anchor="ctr"/>
          <a:lstStyle/>
          <a:p>
            <a:r>
              <a:rPr lang="en-US" sz="1600" b="1" dirty="0">
                <a:solidFill>
                  <a:srgbClr val="F76902"/>
                </a:solidFill>
                <a:latin typeface="Arial" pitchFamily="34" charset="0"/>
                <a:ea typeface="Arial" pitchFamily="34" charset="-122"/>
                <a:cs typeface="Arial" pitchFamily="34" charset="-120"/>
              </a:rPr>
              <a:t>The Theory</a:t>
            </a:r>
            <a:endParaRPr lang="en-US" sz="1600" dirty="0"/>
          </a:p>
        </p:txBody>
      </p:sp>
      <p:sp>
        <p:nvSpPr>
          <p:cNvPr id="7" name="Text 5"/>
          <p:cNvSpPr/>
          <p:nvPr/>
        </p:nvSpPr>
        <p:spPr>
          <a:xfrm>
            <a:off x="641668" y="2286000"/>
            <a:ext cx="4937760" cy="1828800"/>
          </a:xfrm>
          <a:prstGeom prst="rect">
            <a:avLst/>
          </a:prstGeom>
          <a:noFill/>
          <a:ln/>
        </p:spPr>
        <p:txBody>
          <a:bodyPr wrap="square" rtlCol="0" anchor="ctr"/>
          <a:lstStyle/>
          <a:p>
            <a:r>
              <a:rPr lang="en-US" sz="1300" dirty="0">
                <a:solidFill>
                  <a:srgbClr val="1A1A1A"/>
                </a:solidFill>
                <a:latin typeface="Arial" pitchFamily="34" charset="0"/>
                <a:ea typeface="Arial" pitchFamily="34" charset="-122"/>
                <a:cs typeface="Arial" pitchFamily="34" charset="-120"/>
              </a:rPr>
              <a:t>Deception causes emotional arousal (fear, guilt) which triggers autonomic responses including increased skin conductance. GSR is one of several measures in a polygraph.</a:t>
            </a:r>
            <a:endParaRPr lang="en-US" sz="1300" dirty="0"/>
          </a:p>
        </p:txBody>
      </p:sp>
      <p:sp>
        <p:nvSpPr>
          <p:cNvPr id="8" name="Shape 6"/>
          <p:cNvSpPr/>
          <p:nvPr/>
        </p:nvSpPr>
        <p:spPr>
          <a:xfrm>
            <a:off x="6128068" y="1645920"/>
            <a:ext cx="5303520" cy="2743200"/>
          </a:xfrm>
          <a:prstGeom prst="roundRect">
            <a:avLst/>
          </a:prstGeom>
          <a:solidFill>
            <a:srgbClr val="1A1A1A"/>
          </a:solidFill>
          <a:ln/>
        </p:spPr>
        <p:txBody>
          <a:bodyPr/>
          <a:lstStyle/>
          <a:p>
            <a:endParaRPr lang="en-US"/>
          </a:p>
        </p:txBody>
      </p:sp>
      <p:sp>
        <p:nvSpPr>
          <p:cNvPr id="9" name="Text 7"/>
          <p:cNvSpPr/>
          <p:nvPr/>
        </p:nvSpPr>
        <p:spPr>
          <a:xfrm>
            <a:off x="6310948" y="1828800"/>
            <a:ext cx="4937760" cy="365760"/>
          </a:xfrm>
          <a:prstGeom prst="rect">
            <a:avLst/>
          </a:prstGeom>
          <a:noFill/>
          <a:ln/>
        </p:spPr>
        <p:txBody>
          <a:bodyPr wrap="square" rtlCol="0" anchor="ctr"/>
          <a:lstStyle/>
          <a:p>
            <a:r>
              <a:rPr lang="en-US" sz="1600" b="1" dirty="0">
                <a:solidFill>
                  <a:srgbClr val="D32F2F"/>
                </a:solidFill>
                <a:latin typeface="Arial" pitchFamily="34" charset="0"/>
                <a:ea typeface="Arial" pitchFamily="34" charset="-122"/>
                <a:cs typeface="Arial" pitchFamily="34" charset="-120"/>
              </a:rPr>
              <a:t>Limitations</a:t>
            </a:r>
            <a:endParaRPr lang="en-US" sz="1600" dirty="0"/>
          </a:p>
        </p:txBody>
      </p:sp>
      <p:sp>
        <p:nvSpPr>
          <p:cNvPr id="10" name="Text 8"/>
          <p:cNvSpPr/>
          <p:nvPr/>
        </p:nvSpPr>
        <p:spPr>
          <a:xfrm>
            <a:off x="6310948" y="2286000"/>
            <a:ext cx="4937760" cy="1828800"/>
          </a:xfrm>
          <a:prstGeom prst="rect">
            <a:avLst/>
          </a:prstGeom>
          <a:noFill/>
          <a:ln/>
        </p:spPr>
        <p:txBody>
          <a:bodyPr wrap="square" rtlCol="0" anchor="ctr"/>
          <a:lstStyle/>
          <a:p>
            <a:pPr>
              <a:lnSpc>
                <a:spcPts val="2000"/>
              </a:lnSpc>
            </a:pPr>
            <a:r>
              <a:rPr lang="en-US" sz="1300" dirty="0">
                <a:solidFill>
                  <a:srgbClr val="FFFFFF"/>
                </a:solidFill>
                <a:latin typeface="Arial" pitchFamily="34" charset="0"/>
                <a:ea typeface="Arial" pitchFamily="34" charset="-122"/>
                <a:cs typeface="Arial" pitchFamily="34" charset="-120"/>
              </a:rPr>
              <a:t>• Measures arousal, not deception
• Innocent people may show responses
• Can be beaten by countermeasures
• Not admissible in most courts
• ~85-90% accuracy at best</a:t>
            </a:r>
            <a:endParaRPr lang="en-US" sz="1300" dirty="0"/>
          </a:p>
        </p:txBody>
      </p:sp>
      <p:sp>
        <p:nvSpPr>
          <p:cNvPr id="11" name="Shape 9"/>
          <p:cNvSpPr/>
          <p:nvPr/>
        </p:nvSpPr>
        <p:spPr>
          <a:xfrm>
            <a:off x="458788" y="4572000"/>
            <a:ext cx="11274552" cy="1371600"/>
          </a:xfrm>
          <a:prstGeom prst="roundRect">
            <a:avLst/>
          </a:prstGeom>
          <a:solidFill>
            <a:srgbClr val="FFFFFF"/>
          </a:solidFill>
          <a:ln w="12700">
            <a:solidFill>
              <a:srgbClr val="E0E0E0"/>
            </a:solidFill>
            <a:prstDash val="solid"/>
          </a:ln>
        </p:spPr>
        <p:txBody>
          <a:bodyPr/>
          <a:lstStyle/>
          <a:p>
            <a:endParaRPr lang="en-US"/>
          </a:p>
        </p:txBody>
      </p:sp>
      <p:sp>
        <p:nvSpPr>
          <p:cNvPr id="12" name="Text 10"/>
          <p:cNvSpPr/>
          <p:nvPr/>
        </p:nvSpPr>
        <p:spPr>
          <a:xfrm>
            <a:off x="641668" y="4754880"/>
            <a:ext cx="10881360" cy="914400"/>
          </a:xfrm>
          <a:prstGeom prst="rect">
            <a:avLst/>
          </a:prstGeom>
          <a:noFill/>
          <a:ln/>
        </p:spPr>
        <p:txBody>
          <a:bodyPr wrap="square" rtlCol="0" anchor="ctr"/>
          <a:lstStyle/>
          <a:p>
            <a:r>
              <a:rPr lang="en-US" sz="1300" dirty="0">
                <a:solidFill>
                  <a:srgbClr val="1A1A1A"/>
                </a:solidFill>
                <a:latin typeface="Arial" pitchFamily="34" charset="0"/>
                <a:ea typeface="Arial" pitchFamily="34" charset="-122"/>
                <a:cs typeface="Arial" pitchFamily="34" charset="-120"/>
              </a:rPr>
              <a:t>Modern research focuses on concealed information tests (CIT) and machine learning approaches, but fundamental limitations remain.</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1874993" y="137160"/>
            <a:ext cx="10972800" cy="640080"/>
          </a:xfrm>
          <a:prstGeom prst="rect">
            <a:avLst/>
          </a:prstGeom>
          <a:noFill/>
          <a:ln/>
        </p:spPr>
        <p:txBody>
          <a:bodyPr wrap="square" rtlCol="0" anchor="ctr"/>
          <a:lstStyle/>
          <a:p>
            <a:r>
              <a:rPr lang="en-US" sz="3600" b="1" dirty="0">
                <a:solidFill>
                  <a:schemeClr val="bg1"/>
                </a:solidFill>
                <a:latin typeface="Arial Black" pitchFamily="34" charset="0"/>
                <a:ea typeface="Arial Black" pitchFamily="34" charset="-122"/>
                <a:cs typeface="Arial Black" pitchFamily="34" charset="-120"/>
              </a:rPr>
              <a:t>UX Research &amp; Affective Computing</a:t>
            </a:r>
            <a:endParaRPr lang="en-US" sz="3600" dirty="0">
              <a:solidFill>
                <a:schemeClr val="bg1"/>
              </a:solidFill>
            </a:endParaRPr>
          </a:p>
        </p:txBody>
      </p:sp>
      <p:sp>
        <p:nvSpPr>
          <p:cNvPr id="4" name="Text 2"/>
          <p:cNvSpPr/>
          <p:nvPr/>
        </p:nvSpPr>
        <p:spPr>
          <a:xfrm>
            <a:off x="458788" y="1097280"/>
            <a:ext cx="10972800" cy="365760"/>
          </a:xfrm>
          <a:prstGeom prst="rect">
            <a:avLst/>
          </a:prstGeom>
          <a:noFill/>
          <a:ln/>
        </p:spPr>
        <p:txBody>
          <a:bodyPr wrap="square" rtlCol="0" anchor="ctr"/>
          <a:lstStyle/>
          <a:p>
            <a:r>
              <a:rPr lang="en-US" sz="1600" dirty="0">
                <a:solidFill>
                  <a:srgbClr val="666666"/>
                </a:solidFill>
                <a:latin typeface="Arial" pitchFamily="34" charset="0"/>
                <a:ea typeface="Arial" pitchFamily="34" charset="-122"/>
                <a:cs typeface="Arial" pitchFamily="34" charset="-120"/>
              </a:rPr>
              <a:t>Measuring unconscious user responses</a:t>
            </a:r>
            <a:endParaRPr lang="en-US" sz="1600" dirty="0"/>
          </a:p>
        </p:txBody>
      </p:sp>
      <p:sp>
        <p:nvSpPr>
          <p:cNvPr id="5" name="Text 3"/>
          <p:cNvSpPr/>
          <p:nvPr/>
        </p:nvSpPr>
        <p:spPr>
          <a:xfrm>
            <a:off x="458788" y="1645920"/>
            <a:ext cx="11274552" cy="548640"/>
          </a:xfrm>
          <a:prstGeom prst="rect">
            <a:avLst/>
          </a:prstGeom>
          <a:noFill/>
          <a:ln/>
        </p:spPr>
        <p:txBody>
          <a:bodyPr wrap="square" rtlCol="0" anchor="ctr"/>
          <a:lstStyle/>
          <a:p>
            <a:r>
              <a:rPr lang="en-US" sz="1400" dirty="0">
                <a:solidFill>
                  <a:srgbClr val="1A1A1A"/>
                </a:solidFill>
                <a:latin typeface="Arial" pitchFamily="34" charset="0"/>
                <a:ea typeface="Arial" pitchFamily="34" charset="-122"/>
                <a:cs typeface="Arial" pitchFamily="34" charset="-120"/>
              </a:rPr>
              <a:t>Users often can't articulate their emotional responses. GSR provides objective data about engagement, frustration, and excitement that surveys miss.</a:t>
            </a:r>
            <a:endParaRPr lang="en-US" sz="1400" dirty="0"/>
          </a:p>
        </p:txBody>
      </p:sp>
      <p:sp>
        <p:nvSpPr>
          <p:cNvPr id="6" name="Shape 4"/>
          <p:cNvSpPr/>
          <p:nvPr/>
        </p:nvSpPr>
        <p:spPr>
          <a:xfrm>
            <a:off x="458788" y="2377440"/>
            <a:ext cx="5486400" cy="1371600"/>
          </a:xfrm>
          <a:prstGeom prst="roundRect">
            <a:avLst/>
          </a:prstGeom>
          <a:solidFill>
            <a:srgbClr val="F5F5F5"/>
          </a:solidFill>
          <a:ln w="12700">
            <a:solidFill>
              <a:srgbClr val="E0E0E0"/>
            </a:solidFill>
            <a:prstDash val="solid"/>
          </a:ln>
        </p:spPr>
        <p:txBody>
          <a:bodyPr/>
          <a:lstStyle/>
          <a:p>
            <a:endParaRPr lang="en-US"/>
          </a:p>
        </p:txBody>
      </p:sp>
      <p:sp>
        <p:nvSpPr>
          <p:cNvPr id="7" name="Text 5"/>
          <p:cNvSpPr/>
          <p:nvPr/>
        </p:nvSpPr>
        <p:spPr>
          <a:xfrm>
            <a:off x="641668" y="2514600"/>
            <a:ext cx="5120640" cy="365760"/>
          </a:xfrm>
          <a:prstGeom prst="rect">
            <a:avLst/>
          </a:prstGeom>
          <a:noFill/>
          <a:ln/>
        </p:spPr>
        <p:txBody>
          <a:bodyPr wrap="square" rtlCol="0" anchor="ctr"/>
          <a:lstStyle/>
          <a:p>
            <a:r>
              <a:rPr lang="en-US" sz="1400" b="1" dirty="0">
                <a:solidFill>
                  <a:srgbClr val="F76902"/>
                </a:solidFill>
                <a:latin typeface="Arial" pitchFamily="34" charset="0"/>
                <a:ea typeface="Arial" pitchFamily="34" charset="-122"/>
                <a:cs typeface="Arial" pitchFamily="34" charset="-120"/>
              </a:rPr>
              <a:t>Website/App Testing</a:t>
            </a:r>
            <a:endParaRPr lang="en-US" sz="1400" dirty="0"/>
          </a:p>
        </p:txBody>
      </p:sp>
      <p:sp>
        <p:nvSpPr>
          <p:cNvPr id="8" name="Text 6"/>
          <p:cNvSpPr/>
          <p:nvPr/>
        </p:nvSpPr>
        <p:spPr>
          <a:xfrm>
            <a:off x="641668" y="2926080"/>
            <a:ext cx="5120640" cy="640080"/>
          </a:xfrm>
          <a:prstGeom prst="rect">
            <a:avLst/>
          </a:prstGeom>
          <a:noFill/>
          <a:ln/>
        </p:spPr>
        <p:txBody>
          <a:bodyPr wrap="square" rtlCol="0" anchor="ctr"/>
          <a:lstStyle/>
          <a:p>
            <a:r>
              <a:rPr lang="en-US" sz="1200" dirty="0">
                <a:solidFill>
                  <a:srgbClr val="1A1A1A"/>
                </a:solidFill>
                <a:latin typeface="Arial" pitchFamily="34" charset="0"/>
                <a:ea typeface="Arial" pitchFamily="34" charset="-122"/>
                <a:cs typeface="Arial" pitchFamily="34" charset="-120"/>
              </a:rPr>
              <a:t>Identify frustrating UI elements</a:t>
            </a:r>
            <a:endParaRPr lang="en-US" sz="1200" dirty="0"/>
          </a:p>
        </p:txBody>
      </p:sp>
      <p:sp>
        <p:nvSpPr>
          <p:cNvPr id="9" name="Shape 7"/>
          <p:cNvSpPr/>
          <p:nvPr/>
        </p:nvSpPr>
        <p:spPr>
          <a:xfrm>
            <a:off x="6128068" y="2377440"/>
            <a:ext cx="5486400" cy="1371600"/>
          </a:xfrm>
          <a:prstGeom prst="roundRect">
            <a:avLst/>
          </a:prstGeom>
          <a:solidFill>
            <a:srgbClr val="F5F5F5"/>
          </a:solidFill>
          <a:ln w="12700">
            <a:solidFill>
              <a:srgbClr val="E0E0E0"/>
            </a:solidFill>
            <a:prstDash val="solid"/>
          </a:ln>
        </p:spPr>
        <p:txBody>
          <a:bodyPr/>
          <a:lstStyle/>
          <a:p>
            <a:endParaRPr lang="en-US"/>
          </a:p>
        </p:txBody>
      </p:sp>
      <p:sp>
        <p:nvSpPr>
          <p:cNvPr id="10" name="Text 8"/>
          <p:cNvSpPr/>
          <p:nvPr/>
        </p:nvSpPr>
        <p:spPr>
          <a:xfrm>
            <a:off x="6310948" y="2514600"/>
            <a:ext cx="5120640" cy="365760"/>
          </a:xfrm>
          <a:prstGeom prst="rect">
            <a:avLst/>
          </a:prstGeom>
          <a:noFill/>
          <a:ln/>
        </p:spPr>
        <p:txBody>
          <a:bodyPr wrap="square" rtlCol="0" anchor="ctr"/>
          <a:lstStyle/>
          <a:p>
            <a:r>
              <a:rPr lang="en-US" sz="1400" b="1" dirty="0">
                <a:solidFill>
                  <a:srgbClr val="F76902"/>
                </a:solidFill>
                <a:latin typeface="Arial" pitchFamily="34" charset="0"/>
                <a:ea typeface="Arial" pitchFamily="34" charset="-122"/>
                <a:cs typeface="Arial" pitchFamily="34" charset="-120"/>
              </a:rPr>
              <a:t>Ad Effectiveness</a:t>
            </a:r>
            <a:endParaRPr lang="en-US" sz="1400" dirty="0"/>
          </a:p>
        </p:txBody>
      </p:sp>
      <p:sp>
        <p:nvSpPr>
          <p:cNvPr id="11" name="Text 9"/>
          <p:cNvSpPr/>
          <p:nvPr/>
        </p:nvSpPr>
        <p:spPr>
          <a:xfrm>
            <a:off x="6310948" y="2926080"/>
            <a:ext cx="5120640" cy="640080"/>
          </a:xfrm>
          <a:prstGeom prst="rect">
            <a:avLst/>
          </a:prstGeom>
          <a:noFill/>
          <a:ln/>
        </p:spPr>
        <p:txBody>
          <a:bodyPr wrap="square" rtlCol="0" anchor="ctr"/>
          <a:lstStyle/>
          <a:p>
            <a:r>
              <a:rPr lang="en-US" sz="1200" dirty="0">
                <a:solidFill>
                  <a:srgbClr val="1A1A1A"/>
                </a:solidFill>
                <a:latin typeface="Arial" pitchFamily="34" charset="0"/>
                <a:ea typeface="Arial" pitchFamily="34" charset="-122"/>
                <a:cs typeface="Arial" pitchFamily="34" charset="-120"/>
              </a:rPr>
              <a:t>Measure emotional impact of content</a:t>
            </a:r>
            <a:endParaRPr lang="en-US" sz="1200" dirty="0"/>
          </a:p>
        </p:txBody>
      </p:sp>
      <p:sp>
        <p:nvSpPr>
          <p:cNvPr id="12" name="Shape 10"/>
          <p:cNvSpPr/>
          <p:nvPr/>
        </p:nvSpPr>
        <p:spPr>
          <a:xfrm>
            <a:off x="458788" y="3931920"/>
            <a:ext cx="5486400" cy="1371600"/>
          </a:xfrm>
          <a:prstGeom prst="roundRect">
            <a:avLst/>
          </a:prstGeom>
          <a:solidFill>
            <a:srgbClr val="FFFFFF"/>
          </a:solidFill>
          <a:ln w="12700">
            <a:solidFill>
              <a:srgbClr val="E0E0E0"/>
            </a:solidFill>
            <a:prstDash val="solid"/>
          </a:ln>
        </p:spPr>
        <p:txBody>
          <a:bodyPr/>
          <a:lstStyle/>
          <a:p>
            <a:endParaRPr lang="en-US"/>
          </a:p>
        </p:txBody>
      </p:sp>
      <p:sp>
        <p:nvSpPr>
          <p:cNvPr id="13" name="Text 11"/>
          <p:cNvSpPr/>
          <p:nvPr/>
        </p:nvSpPr>
        <p:spPr>
          <a:xfrm>
            <a:off x="641668" y="4069080"/>
            <a:ext cx="5120640" cy="365760"/>
          </a:xfrm>
          <a:prstGeom prst="rect">
            <a:avLst/>
          </a:prstGeom>
          <a:noFill/>
          <a:ln/>
        </p:spPr>
        <p:txBody>
          <a:bodyPr wrap="square" rtlCol="0" anchor="ctr"/>
          <a:lstStyle/>
          <a:p>
            <a:r>
              <a:rPr lang="en-US" sz="1400" b="1" dirty="0">
                <a:solidFill>
                  <a:srgbClr val="F76902"/>
                </a:solidFill>
                <a:latin typeface="Arial" pitchFamily="34" charset="0"/>
                <a:ea typeface="Arial" pitchFamily="34" charset="-122"/>
                <a:cs typeface="Arial" pitchFamily="34" charset="-120"/>
              </a:rPr>
              <a:t>Gaming</a:t>
            </a:r>
            <a:endParaRPr lang="en-US" sz="1400" dirty="0"/>
          </a:p>
        </p:txBody>
      </p:sp>
      <p:sp>
        <p:nvSpPr>
          <p:cNvPr id="14" name="Text 12"/>
          <p:cNvSpPr/>
          <p:nvPr/>
        </p:nvSpPr>
        <p:spPr>
          <a:xfrm>
            <a:off x="641668" y="4480560"/>
            <a:ext cx="5120640" cy="640080"/>
          </a:xfrm>
          <a:prstGeom prst="rect">
            <a:avLst/>
          </a:prstGeom>
          <a:noFill/>
          <a:ln/>
        </p:spPr>
        <p:txBody>
          <a:bodyPr wrap="square" rtlCol="0" anchor="ctr"/>
          <a:lstStyle/>
          <a:p>
            <a:r>
              <a:rPr lang="en-US" sz="1200" dirty="0">
                <a:solidFill>
                  <a:srgbClr val="1A1A1A"/>
                </a:solidFill>
                <a:latin typeface="Arial" pitchFamily="34" charset="0"/>
                <a:ea typeface="Arial" pitchFamily="34" charset="-122"/>
                <a:cs typeface="Arial" pitchFamily="34" charset="-120"/>
              </a:rPr>
              <a:t>Optimize difficulty and engagement</a:t>
            </a:r>
            <a:endParaRPr lang="en-US" sz="1200" dirty="0"/>
          </a:p>
        </p:txBody>
      </p:sp>
      <p:sp>
        <p:nvSpPr>
          <p:cNvPr id="15" name="Shape 13"/>
          <p:cNvSpPr/>
          <p:nvPr/>
        </p:nvSpPr>
        <p:spPr>
          <a:xfrm>
            <a:off x="6128068" y="3931920"/>
            <a:ext cx="5486400" cy="1371600"/>
          </a:xfrm>
          <a:prstGeom prst="roundRect">
            <a:avLst/>
          </a:prstGeom>
          <a:solidFill>
            <a:srgbClr val="FFFFFF"/>
          </a:solidFill>
          <a:ln w="12700">
            <a:solidFill>
              <a:srgbClr val="E0E0E0"/>
            </a:solidFill>
            <a:prstDash val="solid"/>
          </a:ln>
        </p:spPr>
        <p:txBody>
          <a:bodyPr/>
          <a:lstStyle/>
          <a:p>
            <a:endParaRPr lang="en-US"/>
          </a:p>
        </p:txBody>
      </p:sp>
      <p:sp>
        <p:nvSpPr>
          <p:cNvPr id="16" name="Text 14"/>
          <p:cNvSpPr/>
          <p:nvPr/>
        </p:nvSpPr>
        <p:spPr>
          <a:xfrm>
            <a:off x="6310948" y="4069080"/>
            <a:ext cx="5120640" cy="365760"/>
          </a:xfrm>
          <a:prstGeom prst="rect">
            <a:avLst/>
          </a:prstGeom>
          <a:noFill/>
          <a:ln/>
        </p:spPr>
        <p:txBody>
          <a:bodyPr wrap="square" rtlCol="0" anchor="ctr"/>
          <a:lstStyle/>
          <a:p>
            <a:r>
              <a:rPr lang="en-US" sz="1400" b="1" dirty="0">
                <a:solidFill>
                  <a:srgbClr val="F76902"/>
                </a:solidFill>
                <a:latin typeface="Arial" pitchFamily="34" charset="0"/>
                <a:ea typeface="Arial" pitchFamily="34" charset="-122"/>
                <a:cs typeface="Arial" pitchFamily="34" charset="-120"/>
              </a:rPr>
              <a:t>Adaptive Interfaces</a:t>
            </a:r>
            <a:endParaRPr lang="en-US" sz="1400" dirty="0"/>
          </a:p>
        </p:txBody>
      </p:sp>
      <p:sp>
        <p:nvSpPr>
          <p:cNvPr id="17" name="Text 15"/>
          <p:cNvSpPr/>
          <p:nvPr/>
        </p:nvSpPr>
        <p:spPr>
          <a:xfrm>
            <a:off x="6310948" y="4480560"/>
            <a:ext cx="5120640" cy="640080"/>
          </a:xfrm>
          <a:prstGeom prst="rect">
            <a:avLst/>
          </a:prstGeom>
          <a:noFill/>
          <a:ln/>
        </p:spPr>
        <p:txBody>
          <a:bodyPr wrap="square" rtlCol="0" anchor="ctr"/>
          <a:lstStyle/>
          <a:p>
            <a:r>
              <a:rPr lang="en-US" sz="1200" dirty="0">
                <a:solidFill>
                  <a:srgbClr val="1A1A1A"/>
                </a:solidFill>
                <a:latin typeface="Arial" pitchFamily="34" charset="0"/>
                <a:ea typeface="Arial" pitchFamily="34" charset="-122"/>
                <a:cs typeface="Arial" pitchFamily="34" charset="-120"/>
              </a:rPr>
              <a:t>Systems that respond to user state</a:t>
            </a:r>
            <a:endParaRPr lang="en-US" sz="1200" dirty="0"/>
          </a:p>
        </p:txBody>
      </p:sp>
      <p:sp>
        <p:nvSpPr>
          <p:cNvPr id="18" name="Shape 16"/>
          <p:cNvSpPr/>
          <p:nvPr/>
        </p:nvSpPr>
        <p:spPr>
          <a:xfrm>
            <a:off x="458788" y="5411687"/>
            <a:ext cx="11274552" cy="1280160"/>
          </a:xfrm>
          <a:prstGeom prst="roundRect">
            <a:avLst/>
          </a:prstGeom>
          <a:solidFill>
            <a:srgbClr val="1A1A1A"/>
          </a:solidFill>
          <a:ln/>
        </p:spPr>
        <p:txBody>
          <a:bodyPr/>
          <a:lstStyle/>
          <a:p>
            <a:endParaRPr lang="en-US"/>
          </a:p>
        </p:txBody>
      </p:sp>
      <p:sp>
        <p:nvSpPr>
          <p:cNvPr id="19" name="Text 17"/>
          <p:cNvSpPr/>
          <p:nvPr/>
        </p:nvSpPr>
        <p:spPr>
          <a:xfrm>
            <a:off x="641668" y="5548847"/>
            <a:ext cx="10881360" cy="365760"/>
          </a:xfrm>
          <a:prstGeom prst="rect">
            <a:avLst/>
          </a:prstGeom>
          <a:noFill/>
          <a:ln/>
        </p:spPr>
        <p:txBody>
          <a:bodyPr wrap="square" rtlCol="0" anchor="ctr"/>
          <a:lstStyle/>
          <a:p>
            <a:r>
              <a:rPr lang="en-US" sz="1600" b="1" dirty="0">
                <a:solidFill>
                  <a:srgbClr val="F76902"/>
                </a:solidFill>
                <a:latin typeface="Arial" pitchFamily="34" charset="0"/>
                <a:ea typeface="Arial" pitchFamily="34" charset="-122"/>
                <a:cs typeface="Arial" pitchFamily="34" charset="-120"/>
              </a:rPr>
              <a:t>Clinical Biofeedback</a:t>
            </a:r>
            <a:endParaRPr lang="en-US" sz="1600" dirty="0"/>
          </a:p>
        </p:txBody>
      </p:sp>
      <p:sp>
        <p:nvSpPr>
          <p:cNvPr id="20" name="Text 18"/>
          <p:cNvSpPr/>
          <p:nvPr/>
        </p:nvSpPr>
        <p:spPr>
          <a:xfrm>
            <a:off x="641668" y="5960327"/>
            <a:ext cx="10881360" cy="548640"/>
          </a:xfrm>
          <a:prstGeom prst="rect">
            <a:avLst/>
          </a:prstGeom>
          <a:noFill/>
          <a:ln/>
        </p:spPr>
        <p:txBody>
          <a:bodyPr wrap="square" rtlCol="0" anchor="ctr"/>
          <a:lstStyle/>
          <a:p>
            <a:r>
              <a:rPr lang="en-US" sz="1300" dirty="0">
                <a:solidFill>
                  <a:srgbClr val="FFFFFF"/>
                </a:solidFill>
                <a:latin typeface="Arial" pitchFamily="34" charset="0"/>
                <a:ea typeface="Arial" pitchFamily="34" charset="-122"/>
                <a:cs typeface="Arial" pitchFamily="34" charset="-120"/>
              </a:rPr>
              <a:t>GSR biofeedback helps patients with anxiety disorders, PTSD, and phobias learn to recognize and control their arousal through real-time feedback.</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1784668" y="137160"/>
            <a:ext cx="10972800" cy="640080"/>
          </a:xfrm>
          <a:prstGeom prst="rect">
            <a:avLst/>
          </a:prstGeom>
          <a:noFill/>
          <a:ln/>
        </p:spPr>
        <p:txBody>
          <a:bodyPr wrap="square" rtlCol="0" anchor="ctr"/>
          <a:lstStyle/>
          <a:p>
            <a:r>
              <a:rPr lang="en-US" sz="3600" b="1" dirty="0">
                <a:solidFill>
                  <a:schemeClr val="bg1"/>
                </a:solidFill>
                <a:latin typeface="Arial Black" pitchFamily="34" charset="0"/>
                <a:ea typeface="Arial Black" pitchFamily="34" charset="-122"/>
                <a:cs typeface="Arial Black" pitchFamily="34" charset="-120"/>
              </a:rPr>
              <a:t>Why Experimental Design Matters</a:t>
            </a:r>
            <a:endParaRPr lang="en-US" sz="3600" dirty="0">
              <a:solidFill>
                <a:schemeClr val="bg1"/>
              </a:solidFill>
            </a:endParaRPr>
          </a:p>
        </p:txBody>
      </p:sp>
      <p:sp>
        <p:nvSpPr>
          <p:cNvPr id="4" name="Text 2"/>
          <p:cNvSpPr/>
          <p:nvPr/>
        </p:nvSpPr>
        <p:spPr>
          <a:xfrm>
            <a:off x="458788" y="1097280"/>
            <a:ext cx="10972800" cy="365760"/>
          </a:xfrm>
          <a:prstGeom prst="rect">
            <a:avLst/>
          </a:prstGeom>
          <a:noFill/>
          <a:ln/>
        </p:spPr>
        <p:txBody>
          <a:bodyPr wrap="square" rtlCol="0" anchor="ctr"/>
          <a:lstStyle/>
          <a:p>
            <a:r>
              <a:rPr lang="en-US" sz="1600" dirty="0">
                <a:solidFill>
                  <a:srgbClr val="666666"/>
                </a:solidFill>
                <a:latin typeface="Arial" pitchFamily="34" charset="0"/>
                <a:ea typeface="Arial" pitchFamily="34" charset="-122"/>
                <a:cs typeface="Arial" pitchFamily="34" charset="-120"/>
              </a:rPr>
              <a:t>The foundation of valid scientific conclusions</a:t>
            </a:r>
            <a:endParaRPr lang="en-US" sz="1600" dirty="0"/>
          </a:p>
        </p:txBody>
      </p:sp>
      <p:sp>
        <p:nvSpPr>
          <p:cNvPr id="5" name="Shape 3"/>
          <p:cNvSpPr/>
          <p:nvPr/>
        </p:nvSpPr>
        <p:spPr>
          <a:xfrm>
            <a:off x="458788" y="1645920"/>
            <a:ext cx="11274552" cy="1188720"/>
          </a:xfrm>
          <a:prstGeom prst="roundRect">
            <a:avLst/>
          </a:prstGeom>
          <a:solidFill>
            <a:srgbClr val="F5F5F5"/>
          </a:solidFill>
          <a:ln/>
        </p:spPr>
        <p:txBody>
          <a:bodyPr/>
          <a:lstStyle/>
          <a:p>
            <a:endParaRPr lang="en-US"/>
          </a:p>
        </p:txBody>
      </p:sp>
      <p:sp>
        <p:nvSpPr>
          <p:cNvPr id="6" name="Text 4"/>
          <p:cNvSpPr/>
          <p:nvPr/>
        </p:nvSpPr>
        <p:spPr>
          <a:xfrm>
            <a:off x="641668" y="1828800"/>
            <a:ext cx="10881360" cy="822960"/>
          </a:xfrm>
          <a:prstGeom prst="rect">
            <a:avLst/>
          </a:prstGeom>
          <a:noFill/>
          <a:ln/>
        </p:spPr>
        <p:txBody>
          <a:bodyPr wrap="square" rtlCol="0" anchor="ctr"/>
          <a:lstStyle/>
          <a:p>
            <a:r>
              <a:rPr lang="en-US" sz="1600" dirty="0">
                <a:solidFill>
                  <a:srgbClr val="1A1A1A"/>
                </a:solidFill>
                <a:latin typeface="Arial" pitchFamily="34" charset="0"/>
                <a:ea typeface="Arial" pitchFamily="34" charset="-122"/>
                <a:cs typeface="Arial" pitchFamily="34" charset="-120"/>
              </a:rPr>
              <a:t>Without proper experimental design, we cannot determine if observed effects are real or due to chance, bias, or confounding factors.</a:t>
            </a:r>
            <a:endParaRPr lang="en-US" sz="1600" dirty="0"/>
          </a:p>
        </p:txBody>
      </p:sp>
      <p:sp>
        <p:nvSpPr>
          <p:cNvPr id="7" name="Shape 5"/>
          <p:cNvSpPr/>
          <p:nvPr/>
        </p:nvSpPr>
        <p:spPr>
          <a:xfrm>
            <a:off x="458788" y="3017520"/>
            <a:ext cx="2651760" cy="2286000"/>
          </a:xfrm>
          <a:prstGeom prst="roundRect">
            <a:avLst/>
          </a:prstGeom>
          <a:solidFill>
            <a:srgbClr val="FFFFFF"/>
          </a:solidFill>
          <a:ln w="12700">
            <a:solidFill>
              <a:srgbClr val="F76902"/>
            </a:solidFill>
            <a:prstDash val="solid"/>
          </a:ln>
        </p:spPr>
        <p:txBody>
          <a:bodyPr/>
          <a:lstStyle/>
          <a:p>
            <a:endParaRPr lang="en-US"/>
          </a:p>
        </p:txBody>
      </p:sp>
      <p:sp>
        <p:nvSpPr>
          <p:cNvPr id="8" name="Shape 6"/>
          <p:cNvSpPr/>
          <p:nvPr/>
        </p:nvSpPr>
        <p:spPr>
          <a:xfrm>
            <a:off x="1327468" y="3200400"/>
            <a:ext cx="914400" cy="914400"/>
          </a:xfrm>
          <a:prstGeom prst="ellipse">
            <a:avLst/>
          </a:prstGeom>
          <a:solidFill>
            <a:srgbClr val="F76902"/>
          </a:solidFill>
          <a:ln/>
        </p:spPr>
        <p:txBody>
          <a:bodyPr/>
          <a:lstStyle/>
          <a:p>
            <a:endParaRPr lang="en-US"/>
          </a:p>
        </p:txBody>
      </p:sp>
      <p:sp>
        <p:nvSpPr>
          <p:cNvPr id="9" name="Text 7"/>
          <p:cNvSpPr/>
          <p:nvPr/>
        </p:nvSpPr>
        <p:spPr>
          <a:xfrm>
            <a:off x="1327468" y="3291840"/>
            <a:ext cx="914400" cy="731520"/>
          </a:xfrm>
          <a:prstGeom prst="rect">
            <a:avLst/>
          </a:prstGeom>
          <a:noFill/>
          <a:ln/>
        </p:spPr>
        <p:txBody>
          <a:bodyPr wrap="square" rtlCol="0" anchor="ctr"/>
          <a:lstStyle/>
          <a:p>
            <a:pPr algn="ctr"/>
            <a:r>
              <a:rPr lang="en-US" sz="2800" b="1" dirty="0">
                <a:solidFill>
                  <a:srgbClr val="FFFFFF"/>
                </a:solidFill>
                <a:latin typeface="Arial" pitchFamily="34" charset="0"/>
                <a:ea typeface="Arial" pitchFamily="34" charset="-122"/>
                <a:cs typeface="Arial" pitchFamily="34" charset="-120"/>
              </a:rPr>
              <a:t>1</a:t>
            </a:r>
            <a:endParaRPr lang="en-US" sz="2800" dirty="0"/>
          </a:p>
        </p:txBody>
      </p:sp>
      <p:sp>
        <p:nvSpPr>
          <p:cNvPr id="10" name="Text 8"/>
          <p:cNvSpPr/>
          <p:nvPr/>
        </p:nvSpPr>
        <p:spPr>
          <a:xfrm>
            <a:off x="550228" y="4206240"/>
            <a:ext cx="2468880" cy="365760"/>
          </a:xfrm>
          <a:prstGeom prst="rect">
            <a:avLst/>
          </a:prstGeom>
          <a:noFill/>
          <a:ln/>
        </p:spPr>
        <p:txBody>
          <a:bodyPr wrap="square" rtlCol="0" anchor="ctr"/>
          <a:lstStyle/>
          <a:p>
            <a:pPr algn="ctr"/>
            <a:r>
              <a:rPr lang="en-US" sz="1400" b="1" dirty="0">
                <a:solidFill>
                  <a:srgbClr val="1A1A1A"/>
                </a:solidFill>
                <a:latin typeface="Arial" pitchFamily="34" charset="0"/>
                <a:ea typeface="Arial" pitchFamily="34" charset="-122"/>
                <a:cs typeface="Arial" pitchFamily="34" charset="-120"/>
              </a:rPr>
              <a:t>Control</a:t>
            </a:r>
            <a:endParaRPr lang="en-US" sz="1400" dirty="0"/>
          </a:p>
        </p:txBody>
      </p:sp>
      <p:sp>
        <p:nvSpPr>
          <p:cNvPr id="11" name="Text 9"/>
          <p:cNvSpPr/>
          <p:nvPr/>
        </p:nvSpPr>
        <p:spPr>
          <a:xfrm>
            <a:off x="550228" y="4572000"/>
            <a:ext cx="2468880" cy="640080"/>
          </a:xfrm>
          <a:prstGeom prst="rect">
            <a:avLst/>
          </a:prstGeom>
          <a:noFill/>
          <a:ln/>
        </p:spPr>
        <p:txBody>
          <a:bodyPr wrap="square" rtlCol="0" anchor="ctr"/>
          <a:lstStyle/>
          <a:p>
            <a:pPr algn="ctr"/>
            <a:r>
              <a:rPr lang="en-US" sz="1100" dirty="0">
                <a:solidFill>
                  <a:srgbClr val="666666"/>
                </a:solidFill>
                <a:latin typeface="Arial" pitchFamily="34" charset="0"/>
                <a:ea typeface="Arial" pitchFamily="34" charset="-122"/>
                <a:cs typeface="Arial" pitchFamily="34" charset="-120"/>
              </a:rPr>
              <a:t>Manipulate only what you intend to test</a:t>
            </a:r>
            <a:endParaRPr lang="en-US" sz="1100" dirty="0"/>
          </a:p>
        </p:txBody>
      </p:sp>
      <p:sp>
        <p:nvSpPr>
          <p:cNvPr id="12" name="Shape 10"/>
          <p:cNvSpPr/>
          <p:nvPr/>
        </p:nvSpPr>
        <p:spPr>
          <a:xfrm>
            <a:off x="3293428" y="3017520"/>
            <a:ext cx="2651760" cy="2286000"/>
          </a:xfrm>
          <a:prstGeom prst="roundRect">
            <a:avLst/>
          </a:prstGeom>
          <a:solidFill>
            <a:srgbClr val="FFFFFF"/>
          </a:solidFill>
          <a:ln w="12700">
            <a:solidFill>
              <a:srgbClr val="F76902"/>
            </a:solidFill>
            <a:prstDash val="solid"/>
          </a:ln>
        </p:spPr>
        <p:txBody>
          <a:bodyPr/>
          <a:lstStyle/>
          <a:p>
            <a:endParaRPr lang="en-US"/>
          </a:p>
        </p:txBody>
      </p:sp>
      <p:sp>
        <p:nvSpPr>
          <p:cNvPr id="13" name="Shape 11"/>
          <p:cNvSpPr/>
          <p:nvPr/>
        </p:nvSpPr>
        <p:spPr>
          <a:xfrm>
            <a:off x="4162108" y="3200400"/>
            <a:ext cx="914400" cy="914400"/>
          </a:xfrm>
          <a:prstGeom prst="ellipse">
            <a:avLst/>
          </a:prstGeom>
          <a:solidFill>
            <a:srgbClr val="F76902"/>
          </a:solidFill>
          <a:ln/>
        </p:spPr>
        <p:txBody>
          <a:bodyPr/>
          <a:lstStyle/>
          <a:p>
            <a:endParaRPr lang="en-US"/>
          </a:p>
        </p:txBody>
      </p:sp>
      <p:sp>
        <p:nvSpPr>
          <p:cNvPr id="14" name="Text 12"/>
          <p:cNvSpPr/>
          <p:nvPr/>
        </p:nvSpPr>
        <p:spPr>
          <a:xfrm>
            <a:off x="4162108" y="3291840"/>
            <a:ext cx="914400" cy="731520"/>
          </a:xfrm>
          <a:prstGeom prst="rect">
            <a:avLst/>
          </a:prstGeom>
          <a:noFill/>
          <a:ln/>
        </p:spPr>
        <p:txBody>
          <a:bodyPr wrap="square" rtlCol="0" anchor="ctr"/>
          <a:lstStyle/>
          <a:p>
            <a:pPr algn="ctr"/>
            <a:r>
              <a:rPr lang="en-US" sz="2800" b="1" dirty="0">
                <a:solidFill>
                  <a:srgbClr val="FFFFFF"/>
                </a:solidFill>
                <a:latin typeface="Arial" pitchFamily="34" charset="0"/>
                <a:ea typeface="Arial" pitchFamily="34" charset="-122"/>
                <a:cs typeface="Arial" pitchFamily="34" charset="-120"/>
              </a:rPr>
              <a:t>2</a:t>
            </a:r>
            <a:endParaRPr lang="en-US" sz="2800" dirty="0"/>
          </a:p>
        </p:txBody>
      </p:sp>
      <p:sp>
        <p:nvSpPr>
          <p:cNvPr id="15" name="Text 13"/>
          <p:cNvSpPr/>
          <p:nvPr/>
        </p:nvSpPr>
        <p:spPr>
          <a:xfrm>
            <a:off x="3384868" y="4206240"/>
            <a:ext cx="2468880" cy="365760"/>
          </a:xfrm>
          <a:prstGeom prst="rect">
            <a:avLst/>
          </a:prstGeom>
          <a:noFill/>
          <a:ln/>
        </p:spPr>
        <p:txBody>
          <a:bodyPr wrap="square" rtlCol="0" anchor="ctr"/>
          <a:lstStyle/>
          <a:p>
            <a:pPr algn="ctr"/>
            <a:r>
              <a:rPr lang="en-US" sz="1400" b="1" dirty="0">
                <a:solidFill>
                  <a:srgbClr val="1A1A1A"/>
                </a:solidFill>
                <a:latin typeface="Arial" pitchFamily="34" charset="0"/>
                <a:ea typeface="Arial" pitchFamily="34" charset="-122"/>
                <a:cs typeface="Arial" pitchFamily="34" charset="-120"/>
              </a:rPr>
              <a:t>Randomization</a:t>
            </a:r>
            <a:endParaRPr lang="en-US" sz="1400" dirty="0"/>
          </a:p>
        </p:txBody>
      </p:sp>
      <p:sp>
        <p:nvSpPr>
          <p:cNvPr id="16" name="Text 14"/>
          <p:cNvSpPr/>
          <p:nvPr/>
        </p:nvSpPr>
        <p:spPr>
          <a:xfrm>
            <a:off x="3384868" y="4572000"/>
            <a:ext cx="2468880" cy="640080"/>
          </a:xfrm>
          <a:prstGeom prst="rect">
            <a:avLst/>
          </a:prstGeom>
          <a:noFill/>
          <a:ln/>
        </p:spPr>
        <p:txBody>
          <a:bodyPr wrap="square" rtlCol="0" anchor="ctr"/>
          <a:lstStyle/>
          <a:p>
            <a:pPr algn="ctr"/>
            <a:r>
              <a:rPr lang="en-US" sz="1100" dirty="0">
                <a:solidFill>
                  <a:srgbClr val="666666"/>
                </a:solidFill>
                <a:latin typeface="Arial" pitchFamily="34" charset="0"/>
                <a:ea typeface="Arial" pitchFamily="34" charset="-122"/>
                <a:cs typeface="Arial" pitchFamily="34" charset="-120"/>
              </a:rPr>
              <a:t>Reduce systematic bias</a:t>
            </a:r>
            <a:endParaRPr lang="en-US" sz="1100" dirty="0"/>
          </a:p>
        </p:txBody>
      </p:sp>
      <p:sp>
        <p:nvSpPr>
          <p:cNvPr id="17" name="Shape 15"/>
          <p:cNvSpPr/>
          <p:nvPr/>
        </p:nvSpPr>
        <p:spPr>
          <a:xfrm>
            <a:off x="6128068" y="3017520"/>
            <a:ext cx="2651760" cy="2286000"/>
          </a:xfrm>
          <a:prstGeom prst="roundRect">
            <a:avLst/>
          </a:prstGeom>
          <a:solidFill>
            <a:srgbClr val="FFFFFF"/>
          </a:solidFill>
          <a:ln w="12700">
            <a:solidFill>
              <a:srgbClr val="F76902"/>
            </a:solidFill>
            <a:prstDash val="solid"/>
          </a:ln>
        </p:spPr>
        <p:txBody>
          <a:bodyPr/>
          <a:lstStyle/>
          <a:p>
            <a:endParaRPr lang="en-US"/>
          </a:p>
        </p:txBody>
      </p:sp>
      <p:sp>
        <p:nvSpPr>
          <p:cNvPr id="18" name="Shape 16"/>
          <p:cNvSpPr/>
          <p:nvPr/>
        </p:nvSpPr>
        <p:spPr>
          <a:xfrm>
            <a:off x="6996748" y="3200400"/>
            <a:ext cx="914400" cy="914400"/>
          </a:xfrm>
          <a:prstGeom prst="ellipse">
            <a:avLst/>
          </a:prstGeom>
          <a:solidFill>
            <a:srgbClr val="F76902"/>
          </a:solidFill>
          <a:ln/>
        </p:spPr>
        <p:txBody>
          <a:bodyPr/>
          <a:lstStyle/>
          <a:p>
            <a:endParaRPr lang="en-US"/>
          </a:p>
        </p:txBody>
      </p:sp>
      <p:sp>
        <p:nvSpPr>
          <p:cNvPr id="19" name="Text 17"/>
          <p:cNvSpPr/>
          <p:nvPr/>
        </p:nvSpPr>
        <p:spPr>
          <a:xfrm>
            <a:off x="6996748" y="3291840"/>
            <a:ext cx="914400" cy="731520"/>
          </a:xfrm>
          <a:prstGeom prst="rect">
            <a:avLst/>
          </a:prstGeom>
          <a:noFill/>
          <a:ln/>
        </p:spPr>
        <p:txBody>
          <a:bodyPr wrap="square" rtlCol="0" anchor="ctr"/>
          <a:lstStyle/>
          <a:p>
            <a:pPr algn="ctr"/>
            <a:r>
              <a:rPr lang="en-US" sz="2800" b="1" dirty="0">
                <a:solidFill>
                  <a:srgbClr val="FFFFFF"/>
                </a:solidFill>
                <a:latin typeface="Arial" pitchFamily="34" charset="0"/>
                <a:ea typeface="Arial" pitchFamily="34" charset="-122"/>
                <a:cs typeface="Arial" pitchFamily="34" charset="-120"/>
              </a:rPr>
              <a:t>3</a:t>
            </a:r>
            <a:endParaRPr lang="en-US" sz="2800" dirty="0"/>
          </a:p>
        </p:txBody>
      </p:sp>
      <p:sp>
        <p:nvSpPr>
          <p:cNvPr id="20" name="Text 18"/>
          <p:cNvSpPr/>
          <p:nvPr/>
        </p:nvSpPr>
        <p:spPr>
          <a:xfrm>
            <a:off x="6219508" y="4206240"/>
            <a:ext cx="2468880" cy="365760"/>
          </a:xfrm>
          <a:prstGeom prst="rect">
            <a:avLst/>
          </a:prstGeom>
          <a:noFill/>
          <a:ln/>
        </p:spPr>
        <p:txBody>
          <a:bodyPr wrap="square" rtlCol="0" anchor="ctr"/>
          <a:lstStyle/>
          <a:p>
            <a:pPr algn="ctr"/>
            <a:r>
              <a:rPr lang="en-US" sz="1400" b="1" dirty="0">
                <a:solidFill>
                  <a:srgbClr val="1A1A1A"/>
                </a:solidFill>
                <a:latin typeface="Arial" pitchFamily="34" charset="0"/>
                <a:ea typeface="Arial" pitchFamily="34" charset="-122"/>
                <a:cs typeface="Arial" pitchFamily="34" charset="-120"/>
              </a:rPr>
              <a:t>Replication</a:t>
            </a:r>
            <a:endParaRPr lang="en-US" sz="1400" dirty="0"/>
          </a:p>
        </p:txBody>
      </p:sp>
      <p:sp>
        <p:nvSpPr>
          <p:cNvPr id="21" name="Text 19"/>
          <p:cNvSpPr/>
          <p:nvPr/>
        </p:nvSpPr>
        <p:spPr>
          <a:xfrm>
            <a:off x="6219508" y="4572000"/>
            <a:ext cx="2468880" cy="640080"/>
          </a:xfrm>
          <a:prstGeom prst="rect">
            <a:avLst/>
          </a:prstGeom>
          <a:noFill/>
          <a:ln/>
        </p:spPr>
        <p:txBody>
          <a:bodyPr wrap="square" rtlCol="0" anchor="ctr"/>
          <a:lstStyle/>
          <a:p>
            <a:pPr algn="ctr"/>
            <a:r>
              <a:rPr lang="en-US" sz="1100" dirty="0">
                <a:solidFill>
                  <a:srgbClr val="666666"/>
                </a:solidFill>
                <a:latin typeface="Arial" pitchFamily="34" charset="0"/>
                <a:ea typeface="Arial" pitchFamily="34" charset="-122"/>
                <a:cs typeface="Arial" pitchFamily="34" charset="-120"/>
              </a:rPr>
              <a:t>Ensure effects are repeatable</a:t>
            </a:r>
            <a:endParaRPr lang="en-US" sz="1100" dirty="0"/>
          </a:p>
        </p:txBody>
      </p:sp>
      <p:sp>
        <p:nvSpPr>
          <p:cNvPr id="22" name="Shape 20"/>
          <p:cNvSpPr/>
          <p:nvPr/>
        </p:nvSpPr>
        <p:spPr>
          <a:xfrm>
            <a:off x="8962708" y="3017520"/>
            <a:ext cx="2651760" cy="2286000"/>
          </a:xfrm>
          <a:prstGeom prst="roundRect">
            <a:avLst/>
          </a:prstGeom>
          <a:solidFill>
            <a:srgbClr val="FFFFFF"/>
          </a:solidFill>
          <a:ln w="12700">
            <a:solidFill>
              <a:srgbClr val="F76902"/>
            </a:solidFill>
            <a:prstDash val="solid"/>
          </a:ln>
        </p:spPr>
        <p:txBody>
          <a:bodyPr/>
          <a:lstStyle/>
          <a:p>
            <a:endParaRPr lang="en-US"/>
          </a:p>
        </p:txBody>
      </p:sp>
      <p:sp>
        <p:nvSpPr>
          <p:cNvPr id="23" name="Shape 21"/>
          <p:cNvSpPr/>
          <p:nvPr/>
        </p:nvSpPr>
        <p:spPr>
          <a:xfrm>
            <a:off x="9831388" y="3200400"/>
            <a:ext cx="914400" cy="914400"/>
          </a:xfrm>
          <a:prstGeom prst="ellipse">
            <a:avLst/>
          </a:prstGeom>
          <a:solidFill>
            <a:srgbClr val="F76902"/>
          </a:solidFill>
          <a:ln/>
        </p:spPr>
        <p:txBody>
          <a:bodyPr/>
          <a:lstStyle/>
          <a:p>
            <a:endParaRPr lang="en-US"/>
          </a:p>
        </p:txBody>
      </p:sp>
      <p:sp>
        <p:nvSpPr>
          <p:cNvPr id="24" name="Text 22"/>
          <p:cNvSpPr/>
          <p:nvPr/>
        </p:nvSpPr>
        <p:spPr>
          <a:xfrm>
            <a:off x="9831388" y="3291840"/>
            <a:ext cx="914400" cy="731520"/>
          </a:xfrm>
          <a:prstGeom prst="rect">
            <a:avLst/>
          </a:prstGeom>
          <a:noFill/>
          <a:ln/>
        </p:spPr>
        <p:txBody>
          <a:bodyPr wrap="square" rtlCol="0" anchor="ctr"/>
          <a:lstStyle/>
          <a:p>
            <a:pPr algn="ctr"/>
            <a:r>
              <a:rPr lang="en-US" sz="2800" b="1" dirty="0">
                <a:solidFill>
                  <a:srgbClr val="FFFFFF"/>
                </a:solidFill>
                <a:latin typeface="Arial" pitchFamily="34" charset="0"/>
                <a:ea typeface="Arial" pitchFamily="34" charset="-122"/>
                <a:cs typeface="Arial" pitchFamily="34" charset="-120"/>
              </a:rPr>
              <a:t>4</a:t>
            </a:r>
            <a:endParaRPr lang="en-US" sz="2800" dirty="0"/>
          </a:p>
        </p:txBody>
      </p:sp>
      <p:sp>
        <p:nvSpPr>
          <p:cNvPr id="25" name="Text 23"/>
          <p:cNvSpPr/>
          <p:nvPr/>
        </p:nvSpPr>
        <p:spPr>
          <a:xfrm>
            <a:off x="9054148" y="4206240"/>
            <a:ext cx="2468880" cy="365760"/>
          </a:xfrm>
          <a:prstGeom prst="rect">
            <a:avLst/>
          </a:prstGeom>
          <a:noFill/>
          <a:ln/>
        </p:spPr>
        <p:txBody>
          <a:bodyPr wrap="square" rtlCol="0" anchor="ctr"/>
          <a:lstStyle/>
          <a:p>
            <a:pPr algn="ctr"/>
            <a:r>
              <a:rPr lang="en-US" sz="1400" b="1" dirty="0">
                <a:solidFill>
                  <a:srgbClr val="1A1A1A"/>
                </a:solidFill>
                <a:latin typeface="Arial" pitchFamily="34" charset="0"/>
                <a:ea typeface="Arial" pitchFamily="34" charset="-122"/>
                <a:cs typeface="Arial" pitchFamily="34" charset="-120"/>
              </a:rPr>
              <a:t>Validity</a:t>
            </a:r>
            <a:endParaRPr lang="en-US" sz="1400" dirty="0"/>
          </a:p>
        </p:txBody>
      </p:sp>
      <p:sp>
        <p:nvSpPr>
          <p:cNvPr id="26" name="Text 24"/>
          <p:cNvSpPr/>
          <p:nvPr/>
        </p:nvSpPr>
        <p:spPr>
          <a:xfrm>
            <a:off x="9054148" y="4572000"/>
            <a:ext cx="2468880" cy="640080"/>
          </a:xfrm>
          <a:prstGeom prst="rect">
            <a:avLst/>
          </a:prstGeom>
          <a:noFill/>
          <a:ln/>
        </p:spPr>
        <p:txBody>
          <a:bodyPr wrap="square" rtlCol="0" anchor="ctr"/>
          <a:lstStyle/>
          <a:p>
            <a:pPr algn="ctr"/>
            <a:r>
              <a:rPr lang="en-US" sz="1100" dirty="0">
                <a:solidFill>
                  <a:srgbClr val="666666"/>
                </a:solidFill>
                <a:latin typeface="Arial" pitchFamily="34" charset="0"/>
                <a:ea typeface="Arial" pitchFamily="34" charset="-122"/>
                <a:cs typeface="Arial" pitchFamily="34" charset="-120"/>
              </a:rPr>
              <a:t>Measure what you claim to measure</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1919598" y="137160"/>
            <a:ext cx="10972800" cy="640080"/>
          </a:xfrm>
          <a:prstGeom prst="rect">
            <a:avLst/>
          </a:prstGeom>
          <a:noFill/>
          <a:ln/>
        </p:spPr>
        <p:txBody>
          <a:bodyPr wrap="square" rtlCol="0" anchor="ctr"/>
          <a:lstStyle/>
          <a:p>
            <a:r>
              <a:rPr lang="en-US" sz="3600" b="1" dirty="0">
                <a:solidFill>
                  <a:schemeClr val="bg1"/>
                </a:solidFill>
                <a:latin typeface="Arial Black" pitchFamily="34" charset="0"/>
                <a:ea typeface="Arial Black" pitchFamily="34" charset="-122"/>
                <a:cs typeface="Arial Black" pitchFamily="34" charset="-120"/>
              </a:rPr>
              <a:t>Variables in Experiments</a:t>
            </a:r>
            <a:endParaRPr lang="en-US" sz="3600" dirty="0">
              <a:solidFill>
                <a:schemeClr val="bg1"/>
              </a:solidFill>
            </a:endParaRPr>
          </a:p>
        </p:txBody>
      </p:sp>
      <p:sp>
        <p:nvSpPr>
          <p:cNvPr id="4" name="Text 2"/>
          <p:cNvSpPr/>
          <p:nvPr/>
        </p:nvSpPr>
        <p:spPr>
          <a:xfrm>
            <a:off x="458788" y="1097280"/>
            <a:ext cx="10972800" cy="365760"/>
          </a:xfrm>
          <a:prstGeom prst="rect">
            <a:avLst/>
          </a:prstGeom>
          <a:noFill/>
          <a:ln/>
        </p:spPr>
        <p:txBody>
          <a:bodyPr wrap="square" rtlCol="0" anchor="ctr"/>
          <a:lstStyle/>
          <a:p>
            <a:r>
              <a:rPr lang="en-US" sz="1600" dirty="0">
                <a:solidFill>
                  <a:srgbClr val="666666"/>
                </a:solidFill>
                <a:latin typeface="Arial" pitchFamily="34" charset="0"/>
                <a:ea typeface="Arial" pitchFamily="34" charset="-122"/>
                <a:cs typeface="Arial" pitchFamily="34" charset="-120"/>
              </a:rPr>
              <a:t>Independent, dependent, and confounding</a:t>
            </a:r>
            <a:endParaRPr lang="en-US" sz="1600" dirty="0"/>
          </a:p>
        </p:txBody>
      </p:sp>
      <p:sp>
        <p:nvSpPr>
          <p:cNvPr id="5" name="Shape 3"/>
          <p:cNvSpPr/>
          <p:nvPr/>
        </p:nvSpPr>
        <p:spPr>
          <a:xfrm>
            <a:off x="458788" y="1645920"/>
            <a:ext cx="3566160" cy="3200400"/>
          </a:xfrm>
          <a:prstGeom prst="roundRect">
            <a:avLst/>
          </a:prstGeom>
          <a:solidFill>
            <a:srgbClr val="F76902"/>
          </a:solidFill>
          <a:ln/>
        </p:spPr>
        <p:txBody>
          <a:bodyPr/>
          <a:lstStyle/>
          <a:p>
            <a:endParaRPr lang="en-US"/>
          </a:p>
        </p:txBody>
      </p:sp>
      <p:sp>
        <p:nvSpPr>
          <p:cNvPr id="6" name="Text 4"/>
          <p:cNvSpPr/>
          <p:nvPr/>
        </p:nvSpPr>
        <p:spPr>
          <a:xfrm>
            <a:off x="550228" y="1783080"/>
            <a:ext cx="3383280" cy="457200"/>
          </a:xfrm>
          <a:prstGeom prst="rect">
            <a:avLst/>
          </a:prstGeom>
          <a:noFill/>
          <a:ln/>
        </p:spPr>
        <p:txBody>
          <a:bodyPr wrap="square" rtlCol="0" anchor="ctr"/>
          <a:lstStyle/>
          <a:p>
            <a:r>
              <a:rPr lang="en-US" sz="1400" b="1" dirty="0">
                <a:solidFill>
                  <a:srgbClr val="FFFFFF"/>
                </a:solidFill>
                <a:latin typeface="Arial" pitchFamily="34" charset="0"/>
                <a:ea typeface="Arial" pitchFamily="34" charset="-122"/>
                <a:cs typeface="Arial" pitchFamily="34" charset="-120"/>
              </a:rPr>
              <a:t>Independent Variable (IV)</a:t>
            </a:r>
            <a:endParaRPr lang="en-US" sz="1400" dirty="0"/>
          </a:p>
        </p:txBody>
      </p:sp>
      <p:sp>
        <p:nvSpPr>
          <p:cNvPr id="7" name="Text 5"/>
          <p:cNvSpPr/>
          <p:nvPr/>
        </p:nvSpPr>
        <p:spPr>
          <a:xfrm>
            <a:off x="550228" y="2240280"/>
            <a:ext cx="3383280" cy="274320"/>
          </a:xfrm>
          <a:prstGeom prst="rect">
            <a:avLst/>
          </a:prstGeom>
          <a:noFill/>
          <a:ln/>
        </p:spPr>
        <p:txBody>
          <a:bodyPr wrap="square" rtlCol="0" anchor="ctr"/>
          <a:lstStyle/>
          <a:p>
            <a:r>
              <a:rPr lang="en-US" sz="1200" i="1" dirty="0">
                <a:solidFill>
                  <a:srgbClr val="FFFFFF"/>
                </a:solidFill>
                <a:latin typeface="Arial" pitchFamily="34" charset="0"/>
                <a:ea typeface="Arial" pitchFamily="34" charset="-122"/>
                <a:cs typeface="Arial" pitchFamily="34" charset="-120"/>
              </a:rPr>
              <a:t>What you manipulate</a:t>
            </a:r>
            <a:endParaRPr lang="en-US" sz="1200" dirty="0"/>
          </a:p>
        </p:txBody>
      </p:sp>
      <p:sp>
        <p:nvSpPr>
          <p:cNvPr id="8" name="Text 6"/>
          <p:cNvSpPr/>
          <p:nvPr/>
        </p:nvSpPr>
        <p:spPr>
          <a:xfrm>
            <a:off x="550228" y="2651760"/>
            <a:ext cx="3383280" cy="1828800"/>
          </a:xfrm>
          <a:prstGeom prst="rect">
            <a:avLst/>
          </a:prstGeom>
          <a:noFill/>
          <a:ln/>
        </p:spPr>
        <p:txBody>
          <a:bodyPr wrap="square" rtlCol="0" anchor="ctr"/>
          <a:lstStyle/>
          <a:p>
            <a:r>
              <a:rPr lang="en-US" sz="1200" dirty="0">
                <a:solidFill>
                  <a:srgbClr val="FFFFFF"/>
                </a:solidFill>
                <a:latin typeface="Arial" pitchFamily="34" charset="0"/>
                <a:ea typeface="Arial" pitchFamily="34" charset="-122"/>
                <a:cs typeface="Arial" pitchFamily="34" charset="-120"/>
              </a:rPr>
              <a:t>• Task difficulty
• Stimulus type
• Condition order
• Trial parameters</a:t>
            </a:r>
            <a:endParaRPr lang="en-US" sz="1200" dirty="0"/>
          </a:p>
        </p:txBody>
      </p:sp>
      <p:sp>
        <p:nvSpPr>
          <p:cNvPr id="9" name="Shape 7"/>
          <p:cNvSpPr/>
          <p:nvPr/>
        </p:nvSpPr>
        <p:spPr>
          <a:xfrm>
            <a:off x="4299268" y="1645920"/>
            <a:ext cx="3566160" cy="3200400"/>
          </a:xfrm>
          <a:prstGeom prst="roundRect">
            <a:avLst/>
          </a:prstGeom>
          <a:solidFill>
            <a:srgbClr val="1A1A1A"/>
          </a:solidFill>
          <a:ln/>
        </p:spPr>
        <p:txBody>
          <a:bodyPr/>
          <a:lstStyle/>
          <a:p>
            <a:endParaRPr lang="en-US"/>
          </a:p>
        </p:txBody>
      </p:sp>
      <p:sp>
        <p:nvSpPr>
          <p:cNvPr id="10" name="Text 8"/>
          <p:cNvSpPr/>
          <p:nvPr/>
        </p:nvSpPr>
        <p:spPr>
          <a:xfrm>
            <a:off x="4390708" y="1783080"/>
            <a:ext cx="3383280" cy="457200"/>
          </a:xfrm>
          <a:prstGeom prst="rect">
            <a:avLst/>
          </a:prstGeom>
          <a:noFill/>
          <a:ln/>
        </p:spPr>
        <p:txBody>
          <a:bodyPr wrap="square" rtlCol="0" anchor="ctr"/>
          <a:lstStyle/>
          <a:p>
            <a:r>
              <a:rPr lang="en-US" sz="1400" b="1" dirty="0">
                <a:solidFill>
                  <a:srgbClr val="F76902"/>
                </a:solidFill>
                <a:latin typeface="Arial" pitchFamily="34" charset="0"/>
                <a:ea typeface="Arial" pitchFamily="34" charset="-122"/>
                <a:cs typeface="Arial" pitchFamily="34" charset="-120"/>
              </a:rPr>
              <a:t>Dependent Variable (DV)</a:t>
            </a:r>
            <a:endParaRPr lang="en-US" sz="1400" dirty="0"/>
          </a:p>
        </p:txBody>
      </p:sp>
      <p:sp>
        <p:nvSpPr>
          <p:cNvPr id="11" name="Text 9"/>
          <p:cNvSpPr/>
          <p:nvPr/>
        </p:nvSpPr>
        <p:spPr>
          <a:xfrm>
            <a:off x="4390708" y="2240280"/>
            <a:ext cx="3383280" cy="274320"/>
          </a:xfrm>
          <a:prstGeom prst="rect">
            <a:avLst/>
          </a:prstGeom>
          <a:noFill/>
          <a:ln/>
        </p:spPr>
        <p:txBody>
          <a:bodyPr wrap="square" rtlCol="0" anchor="ctr"/>
          <a:lstStyle/>
          <a:p>
            <a:r>
              <a:rPr lang="en-US" sz="1200" i="1" dirty="0">
                <a:solidFill>
                  <a:srgbClr val="F76902"/>
                </a:solidFill>
                <a:latin typeface="Arial" pitchFamily="34" charset="0"/>
                <a:ea typeface="Arial" pitchFamily="34" charset="-122"/>
                <a:cs typeface="Arial" pitchFamily="34" charset="-120"/>
              </a:rPr>
              <a:t>What you measure</a:t>
            </a:r>
            <a:endParaRPr lang="en-US" sz="1200" dirty="0"/>
          </a:p>
        </p:txBody>
      </p:sp>
      <p:sp>
        <p:nvSpPr>
          <p:cNvPr id="12" name="Text 10"/>
          <p:cNvSpPr/>
          <p:nvPr/>
        </p:nvSpPr>
        <p:spPr>
          <a:xfrm>
            <a:off x="4390708" y="2651760"/>
            <a:ext cx="3383280" cy="1828800"/>
          </a:xfrm>
          <a:prstGeom prst="rect">
            <a:avLst/>
          </a:prstGeom>
          <a:noFill/>
          <a:ln/>
        </p:spPr>
        <p:txBody>
          <a:bodyPr wrap="square" rtlCol="0" anchor="ctr"/>
          <a:lstStyle/>
          <a:p>
            <a:r>
              <a:rPr lang="en-US" sz="1200" dirty="0">
                <a:solidFill>
                  <a:srgbClr val="FFFFFF"/>
                </a:solidFill>
                <a:latin typeface="Arial" pitchFamily="34" charset="0"/>
                <a:ea typeface="Arial" pitchFamily="34" charset="-122"/>
                <a:cs typeface="Arial" pitchFamily="34" charset="-120"/>
              </a:rPr>
              <a:t>• Mean SCL
• SCR count
• SCR amplitude
• Response time</a:t>
            </a:r>
            <a:endParaRPr lang="en-US" sz="1200" dirty="0"/>
          </a:p>
        </p:txBody>
      </p:sp>
      <p:sp>
        <p:nvSpPr>
          <p:cNvPr id="13" name="Shape 11"/>
          <p:cNvSpPr/>
          <p:nvPr/>
        </p:nvSpPr>
        <p:spPr>
          <a:xfrm>
            <a:off x="8139748" y="1645920"/>
            <a:ext cx="3566160" cy="3200400"/>
          </a:xfrm>
          <a:prstGeom prst="roundRect">
            <a:avLst/>
          </a:prstGeom>
          <a:solidFill>
            <a:srgbClr val="F5F5F5"/>
          </a:solidFill>
          <a:ln/>
        </p:spPr>
        <p:txBody>
          <a:bodyPr/>
          <a:lstStyle/>
          <a:p>
            <a:endParaRPr lang="en-US"/>
          </a:p>
        </p:txBody>
      </p:sp>
      <p:sp>
        <p:nvSpPr>
          <p:cNvPr id="14" name="Text 12"/>
          <p:cNvSpPr/>
          <p:nvPr/>
        </p:nvSpPr>
        <p:spPr>
          <a:xfrm>
            <a:off x="8231188" y="1783080"/>
            <a:ext cx="3383280" cy="457200"/>
          </a:xfrm>
          <a:prstGeom prst="rect">
            <a:avLst/>
          </a:prstGeom>
          <a:noFill/>
          <a:ln/>
        </p:spPr>
        <p:txBody>
          <a:bodyPr wrap="square" rtlCol="0" anchor="ctr"/>
          <a:lstStyle/>
          <a:p>
            <a:r>
              <a:rPr lang="en-US" sz="1400" b="1" dirty="0">
                <a:solidFill>
                  <a:srgbClr val="D32F2F"/>
                </a:solidFill>
                <a:latin typeface="Arial" pitchFamily="34" charset="0"/>
                <a:ea typeface="Arial" pitchFamily="34" charset="-122"/>
                <a:cs typeface="Arial" pitchFamily="34" charset="-120"/>
              </a:rPr>
              <a:t>Confounding Variables</a:t>
            </a:r>
            <a:endParaRPr lang="en-US" sz="1400" dirty="0"/>
          </a:p>
        </p:txBody>
      </p:sp>
      <p:sp>
        <p:nvSpPr>
          <p:cNvPr id="15" name="Text 13"/>
          <p:cNvSpPr/>
          <p:nvPr/>
        </p:nvSpPr>
        <p:spPr>
          <a:xfrm>
            <a:off x="8231188" y="2240280"/>
            <a:ext cx="3383280" cy="274320"/>
          </a:xfrm>
          <a:prstGeom prst="rect">
            <a:avLst/>
          </a:prstGeom>
          <a:noFill/>
          <a:ln/>
        </p:spPr>
        <p:txBody>
          <a:bodyPr wrap="square" rtlCol="0" anchor="ctr"/>
          <a:lstStyle/>
          <a:p>
            <a:r>
              <a:rPr lang="en-US" sz="1200" i="1" dirty="0">
                <a:solidFill>
                  <a:srgbClr val="D32F2F"/>
                </a:solidFill>
                <a:latin typeface="Arial" pitchFamily="34" charset="0"/>
                <a:ea typeface="Arial" pitchFamily="34" charset="-122"/>
                <a:cs typeface="Arial" pitchFamily="34" charset="-120"/>
              </a:rPr>
              <a:t>What you control for</a:t>
            </a:r>
            <a:endParaRPr lang="en-US" sz="1200" dirty="0"/>
          </a:p>
        </p:txBody>
      </p:sp>
      <p:sp>
        <p:nvSpPr>
          <p:cNvPr id="16" name="Text 14"/>
          <p:cNvSpPr/>
          <p:nvPr/>
        </p:nvSpPr>
        <p:spPr>
          <a:xfrm>
            <a:off x="8231188" y="2651760"/>
            <a:ext cx="3383280" cy="1828800"/>
          </a:xfrm>
          <a:prstGeom prst="rect">
            <a:avLst/>
          </a:prstGeom>
          <a:noFill/>
          <a:ln/>
        </p:spPr>
        <p:txBody>
          <a:bodyPr wrap="square" rtlCol="0" anchor="ctr"/>
          <a:lstStyle/>
          <a:p>
            <a:r>
              <a:rPr lang="en-US" sz="1200" dirty="0">
                <a:solidFill>
                  <a:srgbClr val="1A1A1A"/>
                </a:solidFill>
                <a:latin typeface="Arial" pitchFamily="34" charset="0"/>
                <a:ea typeface="Arial" pitchFamily="34" charset="-122"/>
                <a:cs typeface="Arial" pitchFamily="34" charset="-120"/>
              </a:rPr>
              <a:t>• Time of day
• Room temperature
• Caffeine intake
• Practice effects</a:t>
            </a:r>
            <a:endParaRPr lang="en-US" sz="1200" dirty="0"/>
          </a:p>
        </p:txBody>
      </p:sp>
      <p:sp>
        <p:nvSpPr>
          <p:cNvPr id="17" name="Shape 15"/>
          <p:cNvSpPr/>
          <p:nvPr/>
        </p:nvSpPr>
        <p:spPr>
          <a:xfrm>
            <a:off x="458788" y="5029200"/>
            <a:ext cx="11274552" cy="1188720"/>
          </a:xfrm>
          <a:prstGeom prst="roundRect">
            <a:avLst/>
          </a:prstGeom>
          <a:solidFill>
            <a:srgbClr val="FFFFFF"/>
          </a:solidFill>
          <a:ln w="12700">
            <a:solidFill>
              <a:srgbClr val="E0E0E0"/>
            </a:solidFill>
            <a:prstDash val="solid"/>
          </a:ln>
        </p:spPr>
        <p:txBody>
          <a:bodyPr/>
          <a:lstStyle/>
          <a:p>
            <a:endParaRPr lang="en-US"/>
          </a:p>
        </p:txBody>
      </p:sp>
      <p:sp>
        <p:nvSpPr>
          <p:cNvPr id="18" name="Text 16"/>
          <p:cNvSpPr/>
          <p:nvPr/>
        </p:nvSpPr>
        <p:spPr>
          <a:xfrm>
            <a:off x="641668" y="5166360"/>
            <a:ext cx="1097280" cy="320040"/>
          </a:xfrm>
          <a:prstGeom prst="rect">
            <a:avLst/>
          </a:prstGeom>
          <a:noFill/>
          <a:ln/>
        </p:spPr>
        <p:txBody>
          <a:bodyPr wrap="square" rtlCol="0" anchor="ctr"/>
          <a:lstStyle/>
          <a:p>
            <a:r>
              <a:rPr lang="en-US" sz="1300" b="1" dirty="0">
                <a:solidFill>
                  <a:srgbClr val="1A1A1A"/>
                </a:solidFill>
                <a:latin typeface="Arial" pitchFamily="34" charset="0"/>
                <a:ea typeface="Arial" pitchFamily="34" charset="-122"/>
                <a:cs typeface="Arial" pitchFamily="34" charset="-120"/>
              </a:rPr>
              <a:t>Example: </a:t>
            </a:r>
            <a:endParaRPr lang="en-US" sz="1300" dirty="0"/>
          </a:p>
        </p:txBody>
      </p:sp>
      <p:sp>
        <p:nvSpPr>
          <p:cNvPr id="19" name="Text 17"/>
          <p:cNvSpPr/>
          <p:nvPr/>
        </p:nvSpPr>
        <p:spPr>
          <a:xfrm>
            <a:off x="1738948" y="5166360"/>
            <a:ext cx="9784080" cy="320040"/>
          </a:xfrm>
          <a:prstGeom prst="rect">
            <a:avLst/>
          </a:prstGeom>
          <a:noFill/>
          <a:ln/>
        </p:spPr>
        <p:txBody>
          <a:bodyPr wrap="square" rtlCol="0" anchor="ctr"/>
          <a:lstStyle/>
          <a:p>
            <a:r>
              <a:rPr lang="en-US" sz="1300" i="1" dirty="0">
                <a:solidFill>
                  <a:srgbClr val="1A1A1A"/>
                </a:solidFill>
                <a:latin typeface="Arial" pitchFamily="34" charset="0"/>
                <a:ea typeface="Arial" pitchFamily="34" charset="-122"/>
                <a:cs typeface="Arial" pitchFamily="34" charset="-120"/>
              </a:rPr>
              <a:t>"Does cognitive load increase skin conductance?"</a:t>
            </a:r>
            <a:endParaRPr lang="en-US" sz="1300" dirty="0"/>
          </a:p>
        </p:txBody>
      </p:sp>
      <p:sp>
        <p:nvSpPr>
          <p:cNvPr id="20" name="Text 18"/>
          <p:cNvSpPr/>
          <p:nvPr/>
        </p:nvSpPr>
        <p:spPr>
          <a:xfrm>
            <a:off x="641668" y="5577840"/>
            <a:ext cx="10881360" cy="457200"/>
          </a:xfrm>
          <a:prstGeom prst="rect">
            <a:avLst/>
          </a:prstGeom>
          <a:noFill/>
          <a:ln/>
        </p:spPr>
        <p:txBody>
          <a:bodyPr wrap="square" rtlCol="0" anchor="ctr"/>
          <a:lstStyle/>
          <a:p>
            <a:r>
              <a:rPr lang="en-US" sz="1200" dirty="0">
                <a:solidFill>
                  <a:srgbClr val="666666"/>
                </a:solidFill>
                <a:latin typeface="Arial" pitchFamily="34" charset="0"/>
                <a:ea typeface="Arial" pitchFamily="34" charset="-122"/>
                <a:cs typeface="Arial" pitchFamily="34" charset="-120"/>
              </a:rPr>
              <a:t>IV: Task type (rest, easy, hard)  |  DV: Mean SCL, SCR count  |  Control: Same time, room, instructions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1796934" y="137160"/>
            <a:ext cx="10972800" cy="640080"/>
          </a:xfrm>
          <a:prstGeom prst="rect">
            <a:avLst/>
          </a:prstGeom>
          <a:noFill/>
          <a:ln/>
        </p:spPr>
        <p:txBody>
          <a:bodyPr wrap="square" rtlCol="0" anchor="ctr"/>
          <a:lstStyle/>
          <a:p>
            <a:r>
              <a:rPr lang="en-US" sz="3600" b="1" dirty="0">
                <a:solidFill>
                  <a:schemeClr val="bg1"/>
                </a:solidFill>
                <a:latin typeface="Arial Black" pitchFamily="34" charset="0"/>
                <a:ea typeface="Arial Black" pitchFamily="34" charset="-122"/>
                <a:cs typeface="Arial Black" pitchFamily="34" charset="-120"/>
              </a:rPr>
              <a:t>Within vs Between Subjects</a:t>
            </a:r>
            <a:endParaRPr lang="en-US" sz="3600" dirty="0">
              <a:solidFill>
                <a:schemeClr val="bg1"/>
              </a:solidFill>
            </a:endParaRPr>
          </a:p>
        </p:txBody>
      </p:sp>
      <p:sp>
        <p:nvSpPr>
          <p:cNvPr id="4" name="Text 2"/>
          <p:cNvSpPr/>
          <p:nvPr/>
        </p:nvSpPr>
        <p:spPr>
          <a:xfrm>
            <a:off x="458788" y="1097280"/>
            <a:ext cx="10972800" cy="365760"/>
          </a:xfrm>
          <a:prstGeom prst="rect">
            <a:avLst/>
          </a:prstGeom>
          <a:noFill/>
          <a:ln/>
        </p:spPr>
        <p:txBody>
          <a:bodyPr wrap="square" rtlCol="0" anchor="ctr"/>
          <a:lstStyle/>
          <a:p>
            <a:r>
              <a:rPr lang="en-US" sz="1600" dirty="0">
                <a:solidFill>
                  <a:srgbClr val="666666"/>
                </a:solidFill>
                <a:latin typeface="Arial" pitchFamily="34" charset="0"/>
                <a:ea typeface="Arial" pitchFamily="34" charset="-122"/>
                <a:cs typeface="Arial" pitchFamily="34" charset="-120"/>
              </a:rPr>
              <a:t>Two fundamental approaches to experimental design</a:t>
            </a:r>
            <a:endParaRPr lang="en-US" sz="1600" dirty="0"/>
          </a:p>
        </p:txBody>
      </p:sp>
      <p:sp>
        <p:nvSpPr>
          <p:cNvPr id="5" name="Shape 3"/>
          <p:cNvSpPr/>
          <p:nvPr/>
        </p:nvSpPr>
        <p:spPr>
          <a:xfrm>
            <a:off x="458788" y="1645920"/>
            <a:ext cx="5303520" cy="4114800"/>
          </a:xfrm>
          <a:prstGeom prst="roundRect">
            <a:avLst/>
          </a:prstGeom>
          <a:solidFill>
            <a:srgbClr val="F5F5F5"/>
          </a:solidFill>
          <a:ln/>
        </p:spPr>
        <p:txBody>
          <a:bodyPr/>
          <a:lstStyle/>
          <a:p>
            <a:endParaRPr lang="en-US"/>
          </a:p>
        </p:txBody>
      </p:sp>
      <p:sp>
        <p:nvSpPr>
          <p:cNvPr id="6" name="Text 4"/>
          <p:cNvSpPr/>
          <p:nvPr/>
        </p:nvSpPr>
        <p:spPr>
          <a:xfrm>
            <a:off x="641668" y="1828800"/>
            <a:ext cx="4937760" cy="365760"/>
          </a:xfrm>
          <a:prstGeom prst="rect">
            <a:avLst/>
          </a:prstGeom>
          <a:noFill/>
          <a:ln/>
        </p:spPr>
        <p:txBody>
          <a:bodyPr wrap="square" rtlCol="0" anchor="ctr"/>
          <a:lstStyle/>
          <a:p>
            <a:r>
              <a:rPr lang="en-US" b="1" dirty="0">
                <a:solidFill>
                  <a:srgbClr val="F76902"/>
                </a:solidFill>
                <a:latin typeface="Arial" pitchFamily="34" charset="0"/>
                <a:ea typeface="Arial" pitchFamily="34" charset="-122"/>
                <a:cs typeface="Arial" pitchFamily="34" charset="-120"/>
              </a:rPr>
              <a:t>Within-Subjects Design</a:t>
            </a:r>
            <a:endParaRPr lang="en-US" dirty="0"/>
          </a:p>
        </p:txBody>
      </p:sp>
      <p:sp>
        <p:nvSpPr>
          <p:cNvPr id="7" name="Text 5"/>
          <p:cNvSpPr/>
          <p:nvPr/>
        </p:nvSpPr>
        <p:spPr>
          <a:xfrm>
            <a:off x="641668" y="2240280"/>
            <a:ext cx="4937760" cy="274320"/>
          </a:xfrm>
          <a:prstGeom prst="rect">
            <a:avLst/>
          </a:prstGeom>
          <a:noFill/>
          <a:ln/>
        </p:spPr>
        <p:txBody>
          <a:bodyPr wrap="square" rtlCol="0" anchor="ctr"/>
          <a:lstStyle/>
          <a:p>
            <a:r>
              <a:rPr lang="en-US" sz="1200" i="1" dirty="0">
                <a:solidFill>
                  <a:srgbClr val="666666"/>
                </a:solidFill>
                <a:latin typeface="Arial" pitchFamily="34" charset="0"/>
                <a:ea typeface="Arial" pitchFamily="34" charset="-122"/>
                <a:cs typeface="Arial" pitchFamily="34" charset="-120"/>
              </a:rPr>
              <a:t>Same participants in ALL conditions</a:t>
            </a:r>
            <a:endParaRPr lang="en-US" sz="1200" dirty="0"/>
          </a:p>
        </p:txBody>
      </p:sp>
      <p:sp>
        <p:nvSpPr>
          <p:cNvPr id="8" name="Text 6"/>
          <p:cNvSpPr/>
          <p:nvPr/>
        </p:nvSpPr>
        <p:spPr>
          <a:xfrm>
            <a:off x="641668" y="2651760"/>
            <a:ext cx="4937760" cy="274320"/>
          </a:xfrm>
          <a:prstGeom prst="rect">
            <a:avLst/>
          </a:prstGeom>
          <a:noFill/>
          <a:ln/>
        </p:spPr>
        <p:txBody>
          <a:bodyPr wrap="square" rtlCol="0" anchor="ctr"/>
          <a:lstStyle/>
          <a:p>
            <a:r>
              <a:rPr lang="en-US" sz="1300" b="1" dirty="0">
                <a:solidFill>
                  <a:srgbClr val="2E7D32"/>
                </a:solidFill>
                <a:latin typeface="Arial" pitchFamily="34" charset="0"/>
                <a:ea typeface="Arial" pitchFamily="34" charset="-122"/>
                <a:cs typeface="Arial" pitchFamily="34" charset="-120"/>
              </a:rPr>
              <a:t>Advantages:</a:t>
            </a:r>
            <a:endParaRPr lang="en-US" sz="1300" dirty="0"/>
          </a:p>
        </p:txBody>
      </p:sp>
      <p:sp>
        <p:nvSpPr>
          <p:cNvPr id="9" name="Text 7"/>
          <p:cNvSpPr/>
          <p:nvPr/>
        </p:nvSpPr>
        <p:spPr>
          <a:xfrm>
            <a:off x="641668" y="2926080"/>
            <a:ext cx="4937760" cy="914400"/>
          </a:xfrm>
          <a:prstGeom prst="rect">
            <a:avLst/>
          </a:prstGeom>
          <a:noFill/>
          <a:ln/>
        </p:spPr>
        <p:txBody>
          <a:bodyPr wrap="square" rtlCol="0" anchor="ctr"/>
          <a:lstStyle/>
          <a:p>
            <a:r>
              <a:rPr lang="en-US" sz="1200" dirty="0">
                <a:solidFill>
                  <a:srgbClr val="1A1A1A"/>
                </a:solidFill>
                <a:latin typeface="Arial" pitchFamily="34" charset="0"/>
                <a:ea typeface="Arial" pitchFamily="34" charset="-122"/>
                <a:cs typeface="Arial" pitchFamily="34" charset="-120"/>
              </a:rPr>
              <a:t>• Fewer participants needed
• Controls for individual differences
• More statistical power</a:t>
            </a:r>
            <a:endParaRPr lang="en-US" sz="1200" dirty="0"/>
          </a:p>
        </p:txBody>
      </p:sp>
      <p:sp>
        <p:nvSpPr>
          <p:cNvPr id="10" name="Text 8"/>
          <p:cNvSpPr/>
          <p:nvPr/>
        </p:nvSpPr>
        <p:spPr>
          <a:xfrm>
            <a:off x="641668" y="3931920"/>
            <a:ext cx="4937760" cy="274320"/>
          </a:xfrm>
          <a:prstGeom prst="rect">
            <a:avLst/>
          </a:prstGeom>
          <a:noFill/>
          <a:ln/>
        </p:spPr>
        <p:txBody>
          <a:bodyPr wrap="square" rtlCol="0" anchor="ctr"/>
          <a:lstStyle/>
          <a:p>
            <a:r>
              <a:rPr lang="en-US" sz="1300" b="1" dirty="0">
                <a:solidFill>
                  <a:srgbClr val="D32F2F"/>
                </a:solidFill>
                <a:latin typeface="Arial" pitchFamily="34" charset="0"/>
                <a:ea typeface="Arial" pitchFamily="34" charset="-122"/>
                <a:cs typeface="Arial" pitchFamily="34" charset="-120"/>
              </a:rPr>
              <a:t>Disadvantages:</a:t>
            </a:r>
            <a:endParaRPr lang="en-US" sz="1300" dirty="0"/>
          </a:p>
        </p:txBody>
      </p:sp>
      <p:sp>
        <p:nvSpPr>
          <p:cNvPr id="11" name="Text 9"/>
          <p:cNvSpPr/>
          <p:nvPr/>
        </p:nvSpPr>
        <p:spPr>
          <a:xfrm>
            <a:off x="641668" y="4206240"/>
            <a:ext cx="4937760" cy="914400"/>
          </a:xfrm>
          <a:prstGeom prst="rect">
            <a:avLst/>
          </a:prstGeom>
          <a:noFill/>
          <a:ln/>
        </p:spPr>
        <p:txBody>
          <a:bodyPr wrap="square" rtlCol="0" anchor="ctr"/>
          <a:lstStyle/>
          <a:p>
            <a:r>
              <a:rPr lang="en-US" sz="1200" dirty="0">
                <a:solidFill>
                  <a:srgbClr val="1A1A1A"/>
                </a:solidFill>
                <a:latin typeface="Arial" pitchFamily="34" charset="0"/>
                <a:ea typeface="Arial" pitchFamily="34" charset="-122"/>
                <a:cs typeface="Arial" pitchFamily="34" charset="-120"/>
              </a:rPr>
              <a:t>• Order/practice effects
• Fatigue
• Longer sessions</a:t>
            </a:r>
            <a:endParaRPr lang="en-US" sz="1200" dirty="0"/>
          </a:p>
        </p:txBody>
      </p:sp>
      <p:sp>
        <p:nvSpPr>
          <p:cNvPr id="12" name="Shape 10"/>
          <p:cNvSpPr/>
          <p:nvPr/>
        </p:nvSpPr>
        <p:spPr>
          <a:xfrm>
            <a:off x="6128068" y="1645920"/>
            <a:ext cx="5303520" cy="4114800"/>
          </a:xfrm>
          <a:prstGeom prst="roundRect">
            <a:avLst/>
          </a:prstGeom>
          <a:solidFill>
            <a:srgbClr val="1A1A1A"/>
          </a:solidFill>
          <a:ln/>
        </p:spPr>
        <p:txBody>
          <a:bodyPr/>
          <a:lstStyle/>
          <a:p>
            <a:endParaRPr lang="en-US"/>
          </a:p>
        </p:txBody>
      </p:sp>
      <p:sp>
        <p:nvSpPr>
          <p:cNvPr id="13" name="Text 11"/>
          <p:cNvSpPr/>
          <p:nvPr/>
        </p:nvSpPr>
        <p:spPr>
          <a:xfrm>
            <a:off x="6310948" y="1828800"/>
            <a:ext cx="4937760" cy="365760"/>
          </a:xfrm>
          <a:prstGeom prst="rect">
            <a:avLst/>
          </a:prstGeom>
          <a:noFill/>
          <a:ln/>
        </p:spPr>
        <p:txBody>
          <a:bodyPr wrap="square" rtlCol="0" anchor="ctr"/>
          <a:lstStyle/>
          <a:p>
            <a:r>
              <a:rPr lang="en-US" b="1" dirty="0">
                <a:solidFill>
                  <a:srgbClr val="F76902"/>
                </a:solidFill>
                <a:latin typeface="Arial" pitchFamily="34" charset="0"/>
                <a:ea typeface="Arial" pitchFamily="34" charset="-122"/>
                <a:cs typeface="Arial" pitchFamily="34" charset="-120"/>
              </a:rPr>
              <a:t>Between-Subjects Design</a:t>
            </a:r>
            <a:endParaRPr lang="en-US" dirty="0"/>
          </a:p>
        </p:txBody>
      </p:sp>
      <p:sp>
        <p:nvSpPr>
          <p:cNvPr id="14" name="Text 12"/>
          <p:cNvSpPr/>
          <p:nvPr/>
        </p:nvSpPr>
        <p:spPr>
          <a:xfrm>
            <a:off x="6310948" y="2240280"/>
            <a:ext cx="4937760" cy="274320"/>
          </a:xfrm>
          <a:prstGeom prst="rect">
            <a:avLst/>
          </a:prstGeom>
          <a:noFill/>
          <a:ln/>
        </p:spPr>
        <p:txBody>
          <a:bodyPr wrap="square" rtlCol="0" anchor="ctr"/>
          <a:lstStyle/>
          <a:p>
            <a:r>
              <a:rPr lang="en-US" sz="1200" i="1" dirty="0">
                <a:solidFill>
                  <a:schemeClr val="bg1"/>
                </a:solidFill>
                <a:latin typeface="Arial" pitchFamily="34" charset="0"/>
                <a:ea typeface="Arial" pitchFamily="34" charset="-122"/>
                <a:cs typeface="Arial" pitchFamily="34" charset="-120"/>
              </a:rPr>
              <a:t>Different participants in EACH condition</a:t>
            </a:r>
            <a:endParaRPr lang="en-US" sz="1200" dirty="0">
              <a:solidFill>
                <a:schemeClr val="bg1"/>
              </a:solidFill>
            </a:endParaRPr>
          </a:p>
        </p:txBody>
      </p:sp>
      <p:sp>
        <p:nvSpPr>
          <p:cNvPr id="15" name="Text 13"/>
          <p:cNvSpPr/>
          <p:nvPr/>
        </p:nvSpPr>
        <p:spPr>
          <a:xfrm>
            <a:off x="6310948" y="2651760"/>
            <a:ext cx="4937760" cy="274320"/>
          </a:xfrm>
          <a:prstGeom prst="rect">
            <a:avLst/>
          </a:prstGeom>
          <a:noFill/>
          <a:ln/>
        </p:spPr>
        <p:txBody>
          <a:bodyPr wrap="square" rtlCol="0" anchor="ctr"/>
          <a:lstStyle/>
          <a:p>
            <a:r>
              <a:rPr lang="en-US" sz="1300" b="1" dirty="0">
                <a:solidFill>
                  <a:srgbClr val="2E7D32"/>
                </a:solidFill>
                <a:latin typeface="Arial" pitchFamily="34" charset="0"/>
                <a:ea typeface="Arial" pitchFamily="34" charset="-122"/>
                <a:cs typeface="Arial" pitchFamily="34" charset="-120"/>
              </a:rPr>
              <a:t>Advantages:</a:t>
            </a:r>
            <a:endParaRPr lang="en-US" sz="1300" dirty="0"/>
          </a:p>
        </p:txBody>
      </p:sp>
      <p:sp>
        <p:nvSpPr>
          <p:cNvPr id="16" name="Text 14"/>
          <p:cNvSpPr/>
          <p:nvPr/>
        </p:nvSpPr>
        <p:spPr>
          <a:xfrm>
            <a:off x="6310948" y="2926080"/>
            <a:ext cx="4937760" cy="914400"/>
          </a:xfrm>
          <a:prstGeom prst="rect">
            <a:avLst/>
          </a:prstGeom>
          <a:noFill/>
          <a:ln/>
        </p:spPr>
        <p:txBody>
          <a:bodyPr wrap="square" rtlCol="0" anchor="ctr"/>
          <a:lstStyle/>
          <a:p>
            <a:r>
              <a:rPr lang="en-US" sz="1200" dirty="0">
                <a:solidFill>
                  <a:srgbClr val="FFFFFF"/>
                </a:solidFill>
                <a:latin typeface="Arial" pitchFamily="34" charset="0"/>
                <a:ea typeface="Arial" pitchFamily="34" charset="-122"/>
                <a:cs typeface="Arial" pitchFamily="34" charset="-120"/>
              </a:rPr>
              <a:t>• No order effects
• Shorter individual sessions
• No carryover</a:t>
            </a:r>
            <a:endParaRPr lang="en-US" sz="1200" dirty="0"/>
          </a:p>
        </p:txBody>
      </p:sp>
      <p:sp>
        <p:nvSpPr>
          <p:cNvPr id="17" name="Text 15"/>
          <p:cNvSpPr/>
          <p:nvPr/>
        </p:nvSpPr>
        <p:spPr>
          <a:xfrm>
            <a:off x="6310948" y="3931920"/>
            <a:ext cx="4937760" cy="274320"/>
          </a:xfrm>
          <a:prstGeom prst="rect">
            <a:avLst/>
          </a:prstGeom>
          <a:noFill/>
          <a:ln/>
        </p:spPr>
        <p:txBody>
          <a:bodyPr wrap="square" rtlCol="0" anchor="ctr"/>
          <a:lstStyle/>
          <a:p>
            <a:r>
              <a:rPr lang="en-US" sz="1300" b="1" dirty="0">
                <a:solidFill>
                  <a:srgbClr val="D32F2F"/>
                </a:solidFill>
                <a:latin typeface="Arial" pitchFamily="34" charset="0"/>
                <a:ea typeface="Arial" pitchFamily="34" charset="-122"/>
                <a:cs typeface="Arial" pitchFamily="34" charset="-120"/>
              </a:rPr>
              <a:t>Disadvantages:</a:t>
            </a:r>
            <a:endParaRPr lang="en-US" sz="1300" dirty="0"/>
          </a:p>
        </p:txBody>
      </p:sp>
      <p:sp>
        <p:nvSpPr>
          <p:cNvPr id="18" name="Text 16"/>
          <p:cNvSpPr/>
          <p:nvPr/>
        </p:nvSpPr>
        <p:spPr>
          <a:xfrm>
            <a:off x="6310948" y="4206240"/>
            <a:ext cx="4937760" cy="914400"/>
          </a:xfrm>
          <a:prstGeom prst="rect">
            <a:avLst/>
          </a:prstGeom>
          <a:noFill/>
          <a:ln/>
        </p:spPr>
        <p:txBody>
          <a:bodyPr wrap="square" rtlCol="0" anchor="ctr"/>
          <a:lstStyle/>
          <a:p>
            <a:r>
              <a:rPr lang="en-US" sz="1200" dirty="0">
                <a:solidFill>
                  <a:srgbClr val="FFFFFF"/>
                </a:solidFill>
                <a:latin typeface="Arial" pitchFamily="34" charset="0"/>
                <a:ea typeface="Arial" pitchFamily="34" charset="-122"/>
                <a:cs typeface="Arial" pitchFamily="34" charset="-120"/>
              </a:rPr>
              <a:t>• More participants needed
• Individual differences add noise
• Less statistical power</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1808086" y="91440"/>
            <a:ext cx="10972800" cy="640080"/>
          </a:xfrm>
          <a:prstGeom prst="rect">
            <a:avLst/>
          </a:prstGeom>
          <a:noFill/>
          <a:ln/>
        </p:spPr>
        <p:txBody>
          <a:bodyPr wrap="square" rtlCol="0" anchor="ctr"/>
          <a:lstStyle/>
          <a:p>
            <a:r>
              <a:rPr lang="en-US" sz="3600" b="1" dirty="0">
                <a:solidFill>
                  <a:schemeClr val="bg1"/>
                </a:solidFill>
                <a:latin typeface="Arial Black" pitchFamily="34" charset="0"/>
                <a:ea typeface="Arial Black" pitchFamily="34" charset="-122"/>
                <a:cs typeface="Arial Black" pitchFamily="34" charset="-120"/>
              </a:rPr>
              <a:t>Counterbalancing</a:t>
            </a:r>
            <a:endParaRPr lang="en-US" sz="3600" dirty="0">
              <a:solidFill>
                <a:schemeClr val="bg1"/>
              </a:solidFill>
            </a:endParaRPr>
          </a:p>
        </p:txBody>
      </p:sp>
      <p:sp>
        <p:nvSpPr>
          <p:cNvPr id="4" name="Text 2"/>
          <p:cNvSpPr/>
          <p:nvPr/>
        </p:nvSpPr>
        <p:spPr>
          <a:xfrm>
            <a:off x="458788" y="1097280"/>
            <a:ext cx="10972800" cy="365760"/>
          </a:xfrm>
          <a:prstGeom prst="rect">
            <a:avLst/>
          </a:prstGeom>
          <a:noFill/>
          <a:ln/>
        </p:spPr>
        <p:txBody>
          <a:bodyPr wrap="square" rtlCol="0" anchor="ctr"/>
          <a:lstStyle/>
          <a:p>
            <a:r>
              <a:rPr lang="en-US" sz="1600" dirty="0">
                <a:solidFill>
                  <a:srgbClr val="666666"/>
                </a:solidFill>
                <a:latin typeface="Arial" pitchFamily="34" charset="0"/>
                <a:ea typeface="Arial" pitchFamily="34" charset="-122"/>
                <a:cs typeface="Arial" pitchFamily="34" charset="-120"/>
              </a:rPr>
              <a:t>Controlling for order effects in within-subjects designs</a:t>
            </a:r>
            <a:endParaRPr lang="en-US" sz="1600" dirty="0"/>
          </a:p>
        </p:txBody>
      </p:sp>
      <p:sp>
        <p:nvSpPr>
          <p:cNvPr id="5" name="Text 3"/>
          <p:cNvSpPr/>
          <p:nvPr/>
        </p:nvSpPr>
        <p:spPr>
          <a:xfrm>
            <a:off x="458788" y="1645920"/>
            <a:ext cx="11274552" cy="457200"/>
          </a:xfrm>
          <a:prstGeom prst="rect">
            <a:avLst/>
          </a:prstGeom>
          <a:noFill/>
          <a:ln/>
        </p:spPr>
        <p:txBody>
          <a:bodyPr wrap="square" rtlCol="0" anchor="ctr"/>
          <a:lstStyle/>
          <a:p>
            <a:r>
              <a:rPr lang="en-US" sz="1400" dirty="0">
                <a:solidFill>
                  <a:srgbClr val="1A1A1A"/>
                </a:solidFill>
                <a:latin typeface="Arial" pitchFamily="34" charset="0"/>
                <a:ea typeface="Arial" pitchFamily="34" charset="-122"/>
                <a:cs typeface="Arial" pitchFamily="34" charset="-120"/>
              </a:rPr>
              <a:t>Problem: If everyone does A → B → C, we can't tell if differences are due to the condition or the order.</a:t>
            </a:r>
            <a:endParaRPr lang="en-US" sz="1400" dirty="0"/>
          </a:p>
        </p:txBody>
      </p:sp>
      <p:sp>
        <p:nvSpPr>
          <p:cNvPr id="6" name="Text 4"/>
          <p:cNvSpPr/>
          <p:nvPr/>
        </p:nvSpPr>
        <p:spPr>
          <a:xfrm>
            <a:off x="458788" y="2194560"/>
            <a:ext cx="11274552" cy="365760"/>
          </a:xfrm>
          <a:prstGeom prst="rect">
            <a:avLst/>
          </a:prstGeom>
          <a:noFill/>
          <a:ln/>
        </p:spPr>
        <p:txBody>
          <a:bodyPr wrap="square" rtlCol="0" anchor="ctr"/>
          <a:lstStyle/>
          <a:p>
            <a:r>
              <a:rPr lang="en-US" sz="1600" b="1" dirty="0">
                <a:solidFill>
                  <a:srgbClr val="F76902"/>
                </a:solidFill>
                <a:latin typeface="Arial" pitchFamily="34" charset="0"/>
                <a:ea typeface="Arial" pitchFamily="34" charset="-122"/>
                <a:cs typeface="Arial" pitchFamily="34" charset="-120"/>
              </a:rPr>
              <a:t>Solution: Counterbalancing - vary the order across participants</a:t>
            </a:r>
            <a:endParaRPr lang="en-US" sz="1600" dirty="0"/>
          </a:p>
        </p:txBody>
      </p:sp>
      <p:sp>
        <p:nvSpPr>
          <p:cNvPr id="7" name="Shape 5"/>
          <p:cNvSpPr/>
          <p:nvPr/>
        </p:nvSpPr>
        <p:spPr>
          <a:xfrm>
            <a:off x="458788" y="2651760"/>
            <a:ext cx="5303520" cy="3200400"/>
          </a:xfrm>
          <a:prstGeom prst="roundRect">
            <a:avLst/>
          </a:prstGeom>
          <a:solidFill>
            <a:srgbClr val="F5F5F5"/>
          </a:solidFill>
          <a:ln/>
        </p:spPr>
        <p:txBody>
          <a:bodyPr/>
          <a:lstStyle/>
          <a:p>
            <a:endParaRPr lang="en-US"/>
          </a:p>
        </p:txBody>
      </p:sp>
      <p:sp>
        <p:nvSpPr>
          <p:cNvPr id="8" name="Text 6"/>
          <p:cNvSpPr/>
          <p:nvPr/>
        </p:nvSpPr>
        <p:spPr>
          <a:xfrm>
            <a:off x="641668" y="2788920"/>
            <a:ext cx="4937760" cy="320040"/>
          </a:xfrm>
          <a:prstGeom prst="rect">
            <a:avLst/>
          </a:prstGeom>
          <a:noFill/>
          <a:ln/>
        </p:spPr>
        <p:txBody>
          <a:bodyPr wrap="square" rtlCol="0" anchor="ctr"/>
          <a:lstStyle/>
          <a:p>
            <a:r>
              <a:rPr lang="en-US" sz="1400" b="1" dirty="0">
                <a:solidFill>
                  <a:srgbClr val="1A1A1A"/>
                </a:solidFill>
                <a:latin typeface="Arial" pitchFamily="34" charset="0"/>
                <a:ea typeface="Arial" pitchFamily="34" charset="-122"/>
                <a:cs typeface="Arial" pitchFamily="34" charset="-120"/>
              </a:rPr>
              <a:t>Full Counterbalancing</a:t>
            </a:r>
            <a:endParaRPr lang="en-US" sz="1400" dirty="0"/>
          </a:p>
        </p:txBody>
      </p:sp>
      <p:sp>
        <p:nvSpPr>
          <p:cNvPr id="9" name="Text 7"/>
          <p:cNvSpPr/>
          <p:nvPr/>
        </p:nvSpPr>
        <p:spPr>
          <a:xfrm>
            <a:off x="641668" y="3108960"/>
            <a:ext cx="4937760" cy="228600"/>
          </a:xfrm>
          <a:prstGeom prst="rect">
            <a:avLst/>
          </a:prstGeom>
          <a:noFill/>
          <a:ln/>
        </p:spPr>
        <p:txBody>
          <a:bodyPr wrap="square" rtlCol="0" anchor="ctr"/>
          <a:lstStyle/>
          <a:p>
            <a:r>
              <a:rPr lang="en-US" sz="1100" i="1" dirty="0">
                <a:solidFill>
                  <a:srgbClr val="666666"/>
                </a:solidFill>
                <a:latin typeface="Arial" pitchFamily="34" charset="0"/>
                <a:ea typeface="Arial" pitchFamily="34" charset="-122"/>
                <a:cs typeface="Arial" pitchFamily="34" charset="-120"/>
              </a:rPr>
              <a:t>Every possible order (n! permutations)</a:t>
            </a:r>
            <a:endParaRPr lang="en-US" sz="1100" dirty="0"/>
          </a:p>
        </p:txBody>
      </p:sp>
      <p:graphicFrame>
        <p:nvGraphicFramePr>
          <p:cNvPr id="25" name="Table 0"/>
          <p:cNvGraphicFramePr>
            <a:graphicFrameLocks noGrp="1"/>
          </p:cNvGraphicFramePr>
          <p:nvPr/>
        </p:nvGraphicFramePr>
        <p:xfrm>
          <a:off x="641668" y="3429000"/>
          <a:ext cx="4937760" cy="2285997"/>
        </p:xfrm>
        <a:graphic>
          <a:graphicData uri="http://schemas.openxmlformats.org/drawingml/2006/table">
            <a:tbl>
              <a:tblPr/>
              <a:tblGrid>
                <a:gridCol w="137160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tblGrid>
              <a:tr h="326571">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Participant</a:t>
                      </a:r>
                      <a:endParaRPr lang="en-US" sz="11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1A1A1A"/>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Order</a:t>
                      </a:r>
                      <a:endParaRPr lang="en-US" sz="11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1A1A1A"/>
                    </a:solidFill>
                  </a:tcPr>
                </a:tc>
                <a:extLst>
                  <a:ext uri="{0D108BD9-81ED-4DB2-BD59-A6C34878D82A}">
                    <a16:rowId xmlns:a16="http://schemas.microsoft.com/office/drawing/2014/main" val="10000"/>
                  </a:ext>
                </a:extLst>
              </a:tr>
              <a:tr h="326571">
                <a:tc>
                  <a:txBody>
                    <a:bodyPr/>
                    <a:lstStyle/>
                    <a:p>
                      <a:pPr marL="0" indent="0" algn="ctr">
                        <a:buNone/>
                      </a:pPr>
                      <a:r>
                        <a:rPr lang="en-US" sz="1100" dirty="0">
                          <a:solidFill>
                            <a:srgbClr val="1A1A1A"/>
                          </a:solidFill>
                          <a:latin typeface="Arial" pitchFamily="34" charset="0"/>
                          <a:ea typeface="Arial" pitchFamily="34" charset="-122"/>
                          <a:cs typeface="Arial" pitchFamily="34" charset="-120"/>
                        </a:rPr>
                        <a:t>P1</a:t>
                      </a:r>
                      <a:endParaRPr lang="en-US" sz="11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1A1A"/>
                          </a:solidFill>
                          <a:latin typeface="Arial" pitchFamily="34" charset="0"/>
                          <a:ea typeface="Arial" pitchFamily="34" charset="-122"/>
                          <a:cs typeface="Arial" pitchFamily="34" charset="-120"/>
                        </a:rPr>
                        <a:t>A → B → C</a:t>
                      </a:r>
                      <a:endParaRPr lang="en-US" sz="11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6571">
                <a:tc>
                  <a:txBody>
                    <a:bodyPr/>
                    <a:lstStyle/>
                    <a:p>
                      <a:pPr marL="0" indent="0" algn="ctr">
                        <a:buNone/>
                      </a:pPr>
                      <a:r>
                        <a:rPr lang="en-US" sz="1100" dirty="0">
                          <a:solidFill>
                            <a:srgbClr val="1A1A1A"/>
                          </a:solidFill>
                          <a:latin typeface="Arial" pitchFamily="34" charset="0"/>
                          <a:ea typeface="Arial" pitchFamily="34" charset="-122"/>
                          <a:cs typeface="Arial" pitchFamily="34" charset="-120"/>
                        </a:rPr>
                        <a:t>P2</a:t>
                      </a:r>
                      <a:endParaRPr lang="en-US" sz="11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1A1A"/>
                          </a:solidFill>
                          <a:latin typeface="Arial" pitchFamily="34" charset="0"/>
                          <a:ea typeface="Arial" pitchFamily="34" charset="-122"/>
                          <a:cs typeface="Arial" pitchFamily="34" charset="-120"/>
                        </a:rPr>
                        <a:t>A → C → B</a:t>
                      </a:r>
                      <a:endParaRPr lang="en-US" sz="11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6571">
                <a:tc>
                  <a:txBody>
                    <a:bodyPr/>
                    <a:lstStyle/>
                    <a:p>
                      <a:pPr marL="0" indent="0" algn="ctr">
                        <a:buNone/>
                      </a:pPr>
                      <a:r>
                        <a:rPr lang="en-US" sz="1100" dirty="0">
                          <a:solidFill>
                            <a:srgbClr val="1A1A1A"/>
                          </a:solidFill>
                          <a:latin typeface="Arial" pitchFamily="34" charset="0"/>
                          <a:ea typeface="Arial" pitchFamily="34" charset="-122"/>
                          <a:cs typeface="Arial" pitchFamily="34" charset="-120"/>
                        </a:rPr>
                        <a:t>P3</a:t>
                      </a:r>
                      <a:endParaRPr lang="en-US" sz="11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1A1A"/>
                          </a:solidFill>
                          <a:latin typeface="Arial" pitchFamily="34" charset="0"/>
                          <a:ea typeface="Arial" pitchFamily="34" charset="-122"/>
                          <a:cs typeface="Arial" pitchFamily="34" charset="-120"/>
                        </a:rPr>
                        <a:t>B → A → C</a:t>
                      </a:r>
                      <a:endParaRPr lang="en-US" sz="11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6571">
                <a:tc>
                  <a:txBody>
                    <a:bodyPr/>
                    <a:lstStyle/>
                    <a:p>
                      <a:pPr marL="0" indent="0" algn="ctr">
                        <a:buNone/>
                      </a:pPr>
                      <a:r>
                        <a:rPr lang="en-US" sz="1100" dirty="0">
                          <a:solidFill>
                            <a:srgbClr val="1A1A1A"/>
                          </a:solidFill>
                          <a:latin typeface="Arial" pitchFamily="34" charset="0"/>
                          <a:ea typeface="Arial" pitchFamily="34" charset="-122"/>
                          <a:cs typeface="Arial" pitchFamily="34" charset="-120"/>
                        </a:rPr>
                        <a:t>P4</a:t>
                      </a:r>
                      <a:endParaRPr lang="en-US" sz="11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1A1A"/>
                          </a:solidFill>
                          <a:latin typeface="Arial" pitchFamily="34" charset="0"/>
                          <a:ea typeface="Arial" pitchFamily="34" charset="-122"/>
                          <a:cs typeface="Arial" pitchFamily="34" charset="-120"/>
                        </a:rPr>
                        <a:t>B → C → A</a:t>
                      </a:r>
                      <a:endParaRPr lang="en-US" sz="11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26571">
                <a:tc>
                  <a:txBody>
                    <a:bodyPr/>
                    <a:lstStyle/>
                    <a:p>
                      <a:pPr marL="0" indent="0" algn="ctr">
                        <a:buNone/>
                      </a:pPr>
                      <a:r>
                        <a:rPr lang="en-US" sz="1100" dirty="0">
                          <a:solidFill>
                            <a:srgbClr val="1A1A1A"/>
                          </a:solidFill>
                          <a:latin typeface="Arial" pitchFamily="34" charset="0"/>
                          <a:ea typeface="Arial" pitchFamily="34" charset="-122"/>
                          <a:cs typeface="Arial" pitchFamily="34" charset="-120"/>
                        </a:rPr>
                        <a:t>P5</a:t>
                      </a:r>
                      <a:endParaRPr lang="en-US" sz="11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1A1A"/>
                          </a:solidFill>
                          <a:latin typeface="Arial" pitchFamily="34" charset="0"/>
                          <a:ea typeface="Arial" pitchFamily="34" charset="-122"/>
                          <a:cs typeface="Arial" pitchFamily="34" charset="-120"/>
                        </a:rPr>
                        <a:t>C → A → B</a:t>
                      </a:r>
                      <a:endParaRPr lang="en-US" sz="11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6571">
                <a:tc>
                  <a:txBody>
                    <a:bodyPr/>
                    <a:lstStyle/>
                    <a:p>
                      <a:pPr marL="0" indent="0" algn="ctr">
                        <a:buNone/>
                      </a:pPr>
                      <a:r>
                        <a:rPr lang="en-US" sz="1100" dirty="0">
                          <a:solidFill>
                            <a:srgbClr val="1A1A1A"/>
                          </a:solidFill>
                          <a:latin typeface="Arial" pitchFamily="34" charset="0"/>
                          <a:ea typeface="Arial" pitchFamily="34" charset="-122"/>
                          <a:cs typeface="Arial" pitchFamily="34" charset="-120"/>
                        </a:rPr>
                        <a:t>P6</a:t>
                      </a:r>
                      <a:endParaRPr lang="en-US" sz="11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1A1A"/>
                          </a:solidFill>
                          <a:latin typeface="Arial" pitchFamily="34" charset="0"/>
                          <a:ea typeface="Arial" pitchFamily="34" charset="-122"/>
                          <a:cs typeface="Arial" pitchFamily="34" charset="-120"/>
                        </a:rPr>
                        <a:t>C → B → A</a:t>
                      </a:r>
                      <a:endParaRPr lang="en-US" sz="1100" dirty="0">
                        <a:latin typeface="Arial" charset="0"/>
                        <a:ea typeface="Arial" charset="0"/>
                        <a:cs typeface="Arial" charset="0"/>
                      </a:endParaRPr>
                    </a:p>
                  </a:txBody>
                  <a:tcPr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11" name="Shape 8"/>
          <p:cNvSpPr/>
          <p:nvPr/>
        </p:nvSpPr>
        <p:spPr>
          <a:xfrm>
            <a:off x="6128068" y="2651760"/>
            <a:ext cx="5303520" cy="3200400"/>
          </a:xfrm>
          <a:prstGeom prst="roundRect">
            <a:avLst/>
          </a:prstGeom>
          <a:solidFill>
            <a:srgbClr val="1A1A1A"/>
          </a:solidFill>
          <a:ln/>
        </p:spPr>
        <p:txBody>
          <a:bodyPr/>
          <a:lstStyle/>
          <a:p>
            <a:endParaRPr lang="en-US"/>
          </a:p>
        </p:txBody>
      </p:sp>
      <p:sp>
        <p:nvSpPr>
          <p:cNvPr id="12" name="Text 9"/>
          <p:cNvSpPr/>
          <p:nvPr/>
        </p:nvSpPr>
        <p:spPr>
          <a:xfrm>
            <a:off x="6310948" y="2788920"/>
            <a:ext cx="4937760" cy="320040"/>
          </a:xfrm>
          <a:prstGeom prst="rect">
            <a:avLst/>
          </a:prstGeom>
          <a:noFill/>
          <a:ln/>
        </p:spPr>
        <p:txBody>
          <a:bodyPr wrap="square" rtlCol="0" anchor="ctr"/>
          <a:lstStyle/>
          <a:p>
            <a:r>
              <a:rPr lang="en-US" sz="1400" b="1" dirty="0">
                <a:solidFill>
                  <a:srgbClr val="F76902"/>
                </a:solidFill>
                <a:latin typeface="Arial" pitchFamily="34" charset="0"/>
                <a:ea typeface="Arial" pitchFamily="34" charset="-122"/>
                <a:cs typeface="Arial" pitchFamily="34" charset="-120"/>
              </a:rPr>
              <a:t>Latin Square</a:t>
            </a:r>
            <a:endParaRPr lang="en-US" sz="1400" dirty="0"/>
          </a:p>
        </p:txBody>
      </p:sp>
      <p:sp>
        <p:nvSpPr>
          <p:cNvPr id="13" name="Text 10"/>
          <p:cNvSpPr/>
          <p:nvPr/>
        </p:nvSpPr>
        <p:spPr>
          <a:xfrm>
            <a:off x="6310948" y="3108960"/>
            <a:ext cx="4937760" cy="228600"/>
          </a:xfrm>
          <a:prstGeom prst="rect">
            <a:avLst/>
          </a:prstGeom>
          <a:noFill/>
          <a:ln/>
        </p:spPr>
        <p:txBody>
          <a:bodyPr wrap="square" rtlCol="0" anchor="ctr"/>
          <a:lstStyle/>
          <a:p>
            <a:r>
              <a:rPr lang="en-US" sz="1100" i="1" dirty="0">
                <a:solidFill>
                  <a:srgbClr val="666666"/>
                </a:solidFill>
                <a:latin typeface="Arial" pitchFamily="34" charset="0"/>
                <a:ea typeface="Arial" pitchFamily="34" charset="-122"/>
                <a:cs typeface="Arial" pitchFamily="34" charset="-120"/>
              </a:rPr>
              <a:t>Each condition once in each position</a:t>
            </a:r>
            <a:endParaRPr lang="en-US" sz="1100" dirty="0"/>
          </a:p>
        </p:txBody>
      </p:sp>
      <p:graphicFrame>
        <p:nvGraphicFramePr>
          <p:cNvPr id="49" name="Table 1"/>
          <p:cNvGraphicFramePr>
            <a:graphicFrameLocks noGrp="1"/>
          </p:cNvGraphicFramePr>
          <p:nvPr/>
        </p:nvGraphicFramePr>
        <p:xfrm>
          <a:off x="6310948" y="3429000"/>
          <a:ext cx="4937760" cy="1463040"/>
        </p:xfrm>
        <a:graphic>
          <a:graphicData uri="http://schemas.openxmlformats.org/drawingml/2006/table">
            <a:tbl>
              <a:tblPr/>
              <a:tblGrid>
                <a:gridCol w="164592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tblGrid>
              <a:tr h="365760">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Participant</a:t>
                      </a:r>
                      <a:endParaRPr lang="en-US" sz="1100" dirty="0">
                        <a:latin typeface="Arial" charset="0"/>
                        <a:ea typeface="Arial" charset="0"/>
                        <a:cs typeface="Arial" charset="0"/>
                      </a:endParaRPr>
                    </a:p>
                  </a:txBody>
                  <a:tcPr anchor="ctr">
                    <a:lnL w="6350" cap="flat" cmpd="sng" algn="ctr">
                      <a:solidFill>
                        <a:srgbClr val="666666"/>
                      </a:solidFill>
                      <a:prstDash val="solid"/>
                      <a:round/>
                      <a:headEnd type="none" w="med" len="med"/>
                      <a:tailEnd type="none" w="med" len="med"/>
                    </a:lnL>
                    <a:lnR w="6350" cap="flat" cmpd="sng" algn="ctr">
                      <a:solidFill>
                        <a:srgbClr val="666666"/>
                      </a:solidFill>
                      <a:prstDash val="solid"/>
                      <a:round/>
                      <a:headEnd type="none" w="med" len="med"/>
                      <a:tailEnd type="none" w="med" len="med"/>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solidFill>
                      <a:srgbClr val="F76902"/>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Order</a:t>
                      </a:r>
                      <a:endParaRPr lang="en-US" sz="1100" dirty="0">
                        <a:latin typeface="Arial" charset="0"/>
                        <a:ea typeface="Arial" charset="0"/>
                        <a:cs typeface="Arial" charset="0"/>
                      </a:endParaRPr>
                    </a:p>
                  </a:txBody>
                  <a:tcPr anchor="ctr">
                    <a:lnL w="6350" cap="flat" cmpd="sng" algn="ctr">
                      <a:solidFill>
                        <a:srgbClr val="666666"/>
                      </a:solidFill>
                      <a:prstDash val="solid"/>
                      <a:round/>
                      <a:headEnd type="none" w="med" len="med"/>
                      <a:tailEnd type="none" w="med" len="med"/>
                    </a:lnL>
                    <a:lnR w="6350" cap="flat" cmpd="sng" algn="ctr">
                      <a:solidFill>
                        <a:srgbClr val="666666"/>
                      </a:solidFill>
                      <a:prstDash val="solid"/>
                      <a:round/>
                      <a:headEnd type="none" w="med" len="med"/>
                      <a:tailEnd type="none" w="med" len="med"/>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solidFill>
                      <a:srgbClr val="F76902"/>
                    </a:solidFill>
                  </a:tcPr>
                </a:tc>
                <a:extLst>
                  <a:ext uri="{0D108BD9-81ED-4DB2-BD59-A6C34878D82A}">
                    <a16:rowId xmlns:a16="http://schemas.microsoft.com/office/drawing/2014/main" val="10000"/>
                  </a:ext>
                </a:extLst>
              </a:tr>
              <a:tr h="365760">
                <a:tc>
                  <a:txBody>
                    <a:bodyPr/>
                    <a:lstStyle/>
                    <a:p>
                      <a:pPr marL="0" indent="0" algn="ctr">
                        <a:buNone/>
                      </a:pPr>
                      <a:r>
                        <a:rPr lang="en-US" sz="1100" dirty="0">
                          <a:solidFill>
                            <a:srgbClr val="FFFFFF"/>
                          </a:solidFill>
                          <a:latin typeface="Arial" pitchFamily="34" charset="0"/>
                          <a:ea typeface="Arial" pitchFamily="34" charset="-122"/>
                          <a:cs typeface="Arial" pitchFamily="34" charset="-120"/>
                        </a:rPr>
                        <a:t>P1, P4, P7...</a:t>
                      </a:r>
                      <a:endParaRPr lang="en-US" sz="1100" dirty="0">
                        <a:latin typeface="Arial" charset="0"/>
                        <a:ea typeface="Arial" charset="0"/>
                        <a:cs typeface="Arial" charset="0"/>
                      </a:endParaRPr>
                    </a:p>
                  </a:txBody>
                  <a:tcPr anchor="ctr">
                    <a:lnL w="6350" cap="flat" cmpd="sng" algn="ctr">
                      <a:solidFill>
                        <a:srgbClr val="666666"/>
                      </a:solidFill>
                      <a:prstDash val="solid"/>
                      <a:round/>
                      <a:headEnd type="none" w="med" len="med"/>
                      <a:tailEnd type="none" w="med" len="med"/>
                    </a:lnL>
                    <a:lnR w="6350" cap="flat" cmpd="sng" algn="ctr">
                      <a:solidFill>
                        <a:srgbClr val="666666"/>
                      </a:solidFill>
                      <a:prstDash val="solid"/>
                      <a:round/>
                      <a:headEnd type="none" w="med" len="med"/>
                      <a:tailEnd type="none" w="med" len="med"/>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solidFill>
                      <a:srgbClr val="1A1A1A"/>
                    </a:solidFill>
                  </a:tcPr>
                </a:tc>
                <a:tc>
                  <a:txBody>
                    <a:bodyPr/>
                    <a:lstStyle/>
                    <a:p>
                      <a:pPr marL="0" indent="0" algn="ctr">
                        <a:buNone/>
                      </a:pPr>
                      <a:r>
                        <a:rPr lang="en-US" sz="1100" dirty="0">
                          <a:solidFill>
                            <a:srgbClr val="FFFFFF"/>
                          </a:solidFill>
                          <a:latin typeface="Arial" pitchFamily="34" charset="0"/>
                          <a:ea typeface="Arial" pitchFamily="34" charset="-122"/>
                          <a:cs typeface="Arial" pitchFamily="34" charset="-120"/>
                        </a:rPr>
                        <a:t>A → B → C</a:t>
                      </a:r>
                      <a:endParaRPr lang="en-US" sz="1100" dirty="0">
                        <a:latin typeface="Arial" charset="0"/>
                        <a:ea typeface="Arial" charset="0"/>
                        <a:cs typeface="Arial" charset="0"/>
                      </a:endParaRPr>
                    </a:p>
                  </a:txBody>
                  <a:tcPr anchor="ctr">
                    <a:lnL w="6350" cap="flat" cmpd="sng" algn="ctr">
                      <a:solidFill>
                        <a:srgbClr val="666666"/>
                      </a:solidFill>
                      <a:prstDash val="solid"/>
                      <a:round/>
                      <a:headEnd type="none" w="med" len="med"/>
                      <a:tailEnd type="none" w="med" len="med"/>
                    </a:lnL>
                    <a:lnR w="6350" cap="flat" cmpd="sng" algn="ctr">
                      <a:solidFill>
                        <a:srgbClr val="666666"/>
                      </a:solidFill>
                      <a:prstDash val="solid"/>
                      <a:round/>
                      <a:headEnd type="none" w="med" len="med"/>
                      <a:tailEnd type="none" w="med" len="med"/>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solidFill>
                      <a:srgbClr val="1A1A1A"/>
                    </a:solidFill>
                  </a:tcPr>
                </a:tc>
                <a:extLst>
                  <a:ext uri="{0D108BD9-81ED-4DB2-BD59-A6C34878D82A}">
                    <a16:rowId xmlns:a16="http://schemas.microsoft.com/office/drawing/2014/main" val="10001"/>
                  </a:ext>
                </a:extLst>
              </a:tr>
              <a:tr h="365760">
                <a:tc>
                  <a:txBody>
                    <a:bodyPr/>
                    <a:lstStyle/>
                    <a:p>
                      <a:pPr marL="0" indent="0" algn="ctr">
                        <a:buNone/>
                      </a:pPr>
                      <a:r>
                        <a:rPr lang="en-US" sz="1100" dirty="0">
                          <a:solidFill>
                            <a:srgbClr val="FFFFFF"/>
                          </a:solidFill>
                          <a:latin typeface="Arial" pitchFamily="34" charset="0"/>
                          <a:ea typeface="Arial" pitchFamily="34" charset="-122"/>
                          <a:cs typeface="Arial" pitchFamily="34" charset="-120"/>
                        </a:rPr>
                        <a:t>P2, P5, P8...</a:t>
                      </a:r>
                      <a:endParaRPr lang="en-US" sz="1100" dirty="0">
                        <a:latin typeface="Arial" charset="0"/>
                        <a:ea typeface="Arial" charset="0"/>
                        <a:cs typeface="Arial" charset="0"/>
                      </a:endParaRPr>
                    </a:p>
                  </a:txBody>
                  <a:tcPr anchor="ctr">
                    <a:lnL w="6350" cap="flat" cmpd="sng" algn="ctr">
                      <a:solidFill>
                        <a:srgbClr val="666666"/>
                      </a:solidFill>
                      <a:prstDash val="solid"/>
                      <a:round/>
                      <a:headEnd type="none" w="med" len="med"/>
                      <a:tailEnd type="none" w="med" len="med"/>
                    </a:lnL>
                    <a:lnR w="6350" cap="flat" cmpd="sng" algn="ctr">
                      <a:solidFill>
                        <a:srgbClr val="666666"/>
                      </a:solidFill>
                      <a:prstDash val="solid"/>
                      <a:round/>
                      <a:headEnd type="none" w="med" len="med"/>
                      <a:tailEnd type="none" w="med" len="med"/>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solidFill>
                      <a:srgbClr val="1A1A1A"/>
                    </a:solidFill>
                  </a:tcPr>
                </a:tc>
                <a:tc>
                  <a:txBody>
                    <a:bodyPr/>
                    <a:lstStyle/>
                    <a:p>
                      <a:pPr marL="0" indent="0" algn="ctr">
                        <a:buNone/>
                      </a:pPr>
                      <a:r>
                        <a:rPr lang="en-US" sz="1100" dirty="0">
                          <a:solidFill>
                            <a:srgbClr val="FFFFFF"/>
                          </a:solidFill>
                          <a:latin typeface="Arial" pitchFamily="34" charset="0"/>
                          <a:ea typeface="Arial" pitchFamily="34" charset="-122"/>
                          <a:cs typeface="Arial" pitchFamily="34" charset="-120"/>
                        </a:rPr>
                        <a:t>B → C → A</a:t>
                      </a:r>
                      <a:endParaRPr lang="en-US" sz="1100" dirty="0">
                        <a:latin typeface="Arial" charset="0"/>
                        <a:ea typeface="Arial" charset="0"/>
                        <a:cs typeface="Arial" charset="0"/>
                      </a:endParaRPr>
                    </a:p>
                  </a:txBody>
                  <a:tcPr anchor="ctr">
                    <a:lnL w="6350" cap="flat" cmpd="sng" algn="ctr">
                      <a:solidFill>
                        <a:srgbClr val="666666"/>
                      </a:solidFill>
                      <a:prstDash val="solid"/>
                      <a:round/>
                      <a:headEnd type="none" w="med" len="med"/>
                      <a:tailEnd type="none" w="med" len="med"/>
                    </a:lnL>
                    <a:lnR w="6350" cap="flat" cmpd="sng" algn="ctr">
                      <a:solidFill>
                        <a:srgbClr val="666666"/>
                      </a:solidFill>
                      <a:prstDash val="solid"/>
                      <a:round/>
                      <a:headEnd type="none" w="med" len="med"/>
                      <a:tailEnd type="none" w="med" len="med"/>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solidFill>
                      <a:srgbClr val="1A1A1A"/>
                    </a:solidFill>
                  </a:tcPr>
                </a:tc>
                <a:extLst>
                  <a:ext uri="{0D108BD9-81ED-4DB2-BD59-A6C34878D82A}">
                    <a16:rowId xmlns:a16="http://schemas.microsoft.com/office/drawing/2014/main" val="10002"/>
                  </a:ext>
                </a:extLst>
              </a:tr>
              <a:tr h="365760">
                <a:tc>
                  <a:txBody>
                    <a:bodyPr/>
                    <a:lstStyle/>
                    <a:p>
                      <a:pPr marL="0" indent="0" algn="ctr">
                        <a:buNone/>
                      </a:pPr>
                      <a:r>
                        <a:rPr lang="en-US" sz="1100" dirty="0">
                          <a:solidFill>
                            <a:srgbClr val="FFFFFF"/>
                          </a:solidFill>
                          <a:latin typeface="Arial" pitchFamily="34" charset="0"/>
                          <a:ea typeface="Arial" pitchFamily="34" charset="-122"/>
                          <a:cs typeface="Arial" pitchFamily="34" charset="-120"/>
                        </a:rPr>
                        <a:t>P3, P6, P9...</a:t>
                      </a:r>
                      <a:endParaRPr lang="en-US" sz="1100" dirty="0">
                        <a:latin typeface="Arial" charset="0"/>
                        <a:ea typeface="Arial" charset="0"/>
                        <a:cs typeface="Arial" charset="0"/>
                      </a:endParaRPr>
                    </a:p>
                  </a:txBody>
                  <a:tcPr anchor="ctr">
                    <a:lnL w="6350" cap="flat" cmpd="sng" algn="ctr">
                      <a:solidFill>
                        <a:srgbClr val="666666"/>
                      </a:solidFill>
                      <a:prstDash val="solid"/>
                      <a:round/>
                      <a:headEnd type="none" w="med" len="med"/>
                      <a:tailEnd type="none" w="med" len="med"/>
                    </a:lnL>
                    <a:lnR w="6350" cap="flat" cmpd="sng" algn="ctr">
                      <a:solidFill>
                        <a:srgbClr val="666666"/>
                      </a:solidFill>
                      <a:prstDash val="solid"/>
                      <a:round/>
                      <a:headEnd type="none" w="med" len="med"/>
                      <a:tailEnd type="none" w="med" len="med"/>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solidFill>
                      <a:srgbClr val="1A1A1A"/>
                    </a:solidFill>
                  </a:tcPr>
                </a:tc>
                <a:tc>
                  <a:txBody>
                    <a:bodyPr/>
                    <a:lstStyle/>
                    <a:p>
                      <a:pPr marL="0" indent="0" algn="ctr">
                        <a:buNone/>
                      </a:pPr>
                      <a:r>
                        <a:rPr lang="en-US" sz="1100" dirty="0">
                          <a:solidFill>
                            <a:srgbClr val="FFFFFF"/>
                          </a:solidFill>
                          <a:latin typeface="Arial" pitchFamily="34" charset="0"/>
                          <a:ea typeface="Arial" pitchFamily="34" charset="-122"/>
                          <a:cs typeface="Arial" pitchFamily="34" charset="-120"/>
                        </a:rPr>
                        <a:t>C → A → B</a:t>
                      </a:r>
                      <a:endParaRPr lang="en-US" sz="1100" dirty="0">
                        <a:latin typeface="Arial" charset="0"/>
                        <a:ea typeface="Arial" charset="0"/>
                        <a:cs typeface="Arial" charset="0"/>
                      </a:endParaRPr>
                    </a:p>
                  </a:txBody>
                  <a:tcPr anchor="ctr">
                    <a:lnL w="6350" cap="flat" cmpd="sng" algn="ctr">
                      <a:solidFill>
                        <a:srgbClr val="666666"/>
                      </a:solidFill>
                      <a:prstDash val="solid"/>
                      <a:round/>
                      <a:headEnd type="none" w="med" len="med"/>
                      <a:tailEnd type="none" w="med" len="med"/>
                    </a:lnL>
                    <a:lnR w="6350" cap="flat" cmpd="sng" algn="ctr">
                      <a:solidFill>
                        <a:srgbClr val="666666"/>
                      </a:solidFill>
                      <a:prstDash val="solid"/>
                      <a:round/>
                      <a:headEnd type="none" w="med" len="med"/>
                      <a:tailEnd type="none" w="med" len="med"/>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solidFill>
                      <a:srgbClr val="1A1A1A"/>
                    </a:solidFill>
                  </a:tcPr>
                </a:tc>
                <a:extLst>
                  <a:ext uri="{0D108BD9-81ED-4DB2-BD59-A6C34878D82A}">
                    <a16:rowId xmlns:a16="http://schemas.microsoft.com/office/drawing/2014/main" val="10003"/>
                  </a:ext>
                </a:extLst>
              </a:tr>
            </a:tbl>
          </a:graphicData>
        </a:graphic>
      </p:graphicFrame>
      <p:sp>
        <p:nvSpPr>
          <p:cNvPr id="15" name="Text 11"/>
          <p:cNvSpPr/>
          <p:nvPr/>
        </p:nvSpPr>
        <p:spPr>
          <a:xfrm>
            <a:off x="6310948" y="5029200"/>
            <a:ext cx="4937760" cy="274320"/>
          </a:xfrm>
          <a:prstGeom prst="rect">
            <a:avLst/>
          </a:prstGeom>
          <a:noFill/>
          <a:ln/>
        </p:spPr>
        <p:txBody>
          <a:bodyPr wrap="square" rtlCol="0" anchor="ctr"/>
          <a:lstStyle/>
          <a:p>
            <a:r>
              <a:rPr lang="en-US" sz="1100" dirty="0">
                <a:solidFill>
                  <a:srgbClr val="666666"/>
                </a:solidFill>
                <a:latin typeface="Arial" pitchFamily="34" charset="0"/>
                <a:ea typeface="Arial" pitchFamily="34" charset="-122"/>
                <a:cs typeface="Arial" pitchFamily="34" charset="-120"/>
              </a:rPr>
              <a:t>More practical for many conditions</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1784668" y="91440"/>
            <a:ext cx="10972800" cy="640080"/>
          </a:xfrm>
          <a:prstGeom prst="rect">
            <a:avLst/>
          </a:prstGeom>
          <a:noFill/>
          <a:ln/>
        </p:spPr>
        <p:txBody>
          <a:bodyPr wrap="square" rtlCol="0" anchor="ctr"/>
          <a:lstStyle/>
          <a:p>
            <a:r>
              <a:rPr lang="en-US" sz="3600" b="1" dirty="0">
                <a:solidFill>
                  <a:schemeClr val="bg1"/>
                </a:solidFill>
                <a:latin typeface="Arial Black" pitchFamily="34" charset="0"/>
                <a:ea typeface="Arial Black" pitchFamily="34" charset="-122"/>
                <a:cs typeface="Arial Black" pitchFamily="34" charset="-120"/>
              </a:rPr>
              <a:t>The Stroop Effect</a:t>
            </a:r>
            <a:endParaRPr lang="en-US" sz="3600" dirty="0">
              <a:solidFill>
                <a:schemeClr val="bg1"/>
              </a:solidFill>
            </a:endParaRPr>
          </a:p>
        </p:txBody>
      </p:sp>
      <p:sp>
        <p:nvSpPr>
          <p:cNvPr id="4" name="Text 2"/>
          <p:cNvSpPr/>
          <p:nvPr/>
        </p:nvSpPr>
        <p:spPr>
          <a:xfrm>
            <a:off x="458788" y="1097280"/>
            <a:ext cx="10972800" cy="365760"/>
          </a:xfrm>
          <a:prstGeom prst="rect">
            <a:avLst/>
          </a:prstGeom>
          <a:noFill/>
          <a:ln/>
        </p:spPr>
        <p:txBody>
          <a:bodyPr wrap="square" rtlCol="0" anchor="ctr"/>
          <a:lstStyle/>
          <a:p>
            <a:r>
              <a:rPr lang="en-US" sz="1600" dirty="0">
                <a:solidFill>
                  <a:srgbClr val="666666"/>
                </a:solidFill>
                <a:latin typeface="Arial" pitchFamily="34" charset="0"/>
                <a:ea typeface="Arial" pitchFamily="34" charset="-122"/>
                <a:cs typeface="Arial" pitchFamily="34" charset="-120"/>
              </a:rPr>
              <a:t>A classic demonstration of cognitive interference</a:t>
            </a:r>
            <a:endParaRPr lang="en-US" sz="1600" dirty="0"/>
          </a:p>
        </p:txBody>
      </p:sp>
      <p:sp>
        <p:nvSpPr>
          <p:cNvPr id="5" name="Text 3"/>
          <p:cNvSpPr/>
          <p:nvPr/>
        </p:nvSpPr>
        <p:spPr>
          <a:xfrm>
            <a:off x="458788" y="1645920"/>
            <a:ext cx="11274552" cy="457200"/>
          </a:xfrm>
          <a:prstGeom prst="rect">
            <a:avLst/>
          </a:prstGeom>
          <a:noFill/>
          <a:ln/>
        </p:spPr>
        <p:txBody>
          <a:bodyPr wrap="square" rtlCol="0" anchor="ctr"/>
          <a:lstStyle/>
          <a:p>
            <a:r>
              <a:rPr lang="en-US" sz="1400" dirty="0">
                <a:solidFill>
                  <a:srgbClr val="1A1A1A"/>
                </a:solidFill>
                <a:latin typeface="Arial" pitchFamily="34" charset="0"/>
                <a:ea typeface="Arial" pitchFamily="34" charset="-122"/>
                <a:cs typeface="Arial" pitchFamily="34" charset="-120"/>
              </a:rPr>
              <a:t>Named after John Ridley Stroop (1935), this effect demonstrates interference when the brain processes conflicting information.</a:t>
            </a:r>
            <a:endParaRPr lang="en-US" sz="1400" dirty="0"/>
          </a:p>
        </p:txBody>
      </p:sp>
      <p:sp>
        <p:nvSpPr>
          <p:cNvPr id="6" name="Shape 4"/>
          <p:cNvSpPr/>
          <p:nvPr/>
        </p:nvSpPr>
        <p:spPr>
          <a:xfrm>
            <a:off x="458788" y="2286000"/>
            <a:ext cx="5303520" cy="1828800"/>
          </a:xfrm>
          <a:prstGeom prst="roundRect">
            <a:avLst/>
          </a:prstGeom>
          <a:solidFill>
            <a:srgbClr val="F5F5F5"/>
          </a:solidFill>
          <a:ln/>
        </p:spPr>
        <p:txBody>
          <a:bodyPr/>
          <a:lstStyle/>
          <a:p>
            <a:endParaRPr lang="en-US"/>
          </a:p>
        </p:txBody>
      </p:sp>
      <p:sp>
        <p:nvSpPr>
          <p:cNvPr id="7" name="Text 5"/>
          <p:cNvSpPr/>
          <p:nvPr/>
        </p:nvSpPr>
        <p:spPr>
          <a:xfrm>
            <a:off x="641668" y="2423160"/>
            <a:ext cx="4937760" cy="320040"/>
          </a:xfrm>
          <a:prstGeom prst="rect">
            <a:avLst/>
          </a:prstGeom>
          <a:noFill/>
          <a:ln/>
        </p:spPr>
        <p:txBody>
          <a:bodyPr wrap="square" rtlCol="0" anchor="ctr"/>
          <a:lstStyle/>
          <a:p>
            <a:r>
              <a:rPr lang="en-US" sz="1400" b="1" dirty="0">
                <a:solidFill>
                  <a:srgbClr val="2E7D32"/>
                </a:solidFill>
                <a:latin typeface="Arial" pitchFamily="34" charset="0"/>
                <a:ea typeface="Arial" pitchFamily="34" charset="-122"/>
                <a:cs typeface="Arial" pitchFamily="34" charset="-120"/>
              </a:rPr>
              <a:t>Congruent</a:t>
            </a:r>
            <a:endParaRPr lang="en-US" sz="1400" dirty="0"/>
          </a:p>
        </p:txBody>
      </p:sp>
      <p:sp>
        <p:nvSpPr>
          <p:cNvPr id="8" name="Text 6"/>
          <p:cNvSpPr/>
          <p:nvPr/>
        </p:nvSpPr>
        <p:spPr>
          <a:xfrm>
            <a:off x="641668" y="2743200"/>
            <a:ext cx="4937760" cy="228600"/>
          </a:xfrm>
          <a:prstGeom prst="rect">
            <a:avLst/>
          </a:prstGeom>
          <a:noFill/>
          <a:ln/>
        </p:spPr>
        <p:txBody>
          <a:bodyPr wrap="square" rtlCol="0" anchor="ctr"/>
          <a:lstStyle/>
          <a:p>
            <a:r>
              <a:rPr lang="en-US" sz="1100" i="1" dirty="0">
                <a:solidFill>
                  <a:srgbClr val="666666"/>
                </a:solidFill>
                <a:latin typeface="Arial" pitchFamily="34" charset="0"/>
                <a:ea typeface="Arial" pitchFamily="34" charset="-122"/>
                <a:cs typeface="Arial" pitchFamily="34" charset="-120"/>
              </a:rPr>
              <a:t>Word matches ink color</a:t>
            </a:r>
            <a:endParaRPr lang="en-US" sz="1100" dirty="0"/>
          </a:p>
        </p:txBody>
      </p:sp>
      <p:sp>
        <p:nvSpPr>
          <p:cNvPr id="9" name="Text 7"/>
          <p:cNvSpPr/>
          <p:nvPr/>
        </p:nvSpPr>
        <p:spPr>
          <a:xfrm>
            <a:off x="1098868" y="3108960"/>
            <a:ext cx="1371600" cy="640080"/>
          </a:xfrm>
          <a:prstGeom prst="rect">
            <a:avLst/>
          </a:prstGeom>
          <a:noFill/>
          <a:ln/>
        </p:spPr>
        <p:txBody>
          <a:bodyPr wrap="square" rtlCol="0" anchor="ctr"/>
          <a:lstStyle/>
          <a:p>
            <a:pPr algn="ctr"/>
            <a:r>
              <a:rPr lang="en-US" sz="2800" b="1" dirty="0">
                <a:solidFill>
                  <a:srgbClr val="D32F2F"/>
                </a:solidFill>
                <a:latin typeface="Arial" pitchFamily="34" charset="0"/>
                <a:ea typeface="Arial" pitchFamily="34" charset="-122"/>
                <a:cs typeface="Arial" pitchFamily="34" charset="-120"/>
              </a:rPr>
              <a:t>RED</a:t>
            </a:r>
            <a:endParaRPr lang="en-US" sz="2800" dirty="0"/>
          </a:p>
        </p:txBody>
      </p:sp>
      <p:sp>
        <p:nvSpPr>
          <p:cNvPr id="10" name="Text 8"/>
          <p:cNvSpPr/>
          <p:nvPr/>
        </p:nvSpPr>
        <p:spPr>
          <a:xfrm>
            <a:off x="2470468" y="3108960"/>
            <a:ext cx="1371600" cy="640080"/>
          </a:xfrm>
          <a:prstGeom prst="rect">
            <a:avLst/>
          </a:prstGeom>
          <a:noFill/>
          <a:ln/>
        </p:spPr>
        <p:txBody>
          <a:bodyPr wrap="square" rtlCol="0" anchor="ctr"/>
          <a:lstStyle/>
          <a:p>
            <a:pPr algn="ctr"/>
            <a:r>
              <a:rPr lang="en-US" sz="2800" b="1" dirty="0">
                <a:solidFill>
                  <a:srgbClr val="1565C0"/>
                </a:solidFill>
                <a:latin typeface="Arial" pitchFamily="34" charset="0"/>
                <a:ea typeface="Arial" pitchFamily="34" charset="-122"/>
                <a:cs typeface="Arial" pitchFamily="34" charset="-120"/>
              </a:rPr>
              <a:t>BLUE</a:t>
            </a:r>
            <a:endParaRPr lang="en-US" sz="2800" dirty="0"/>
          </a:p>
        </p:txBody>
      </p:sp>
      <p:sp>
        <p:nvSpPr>
          <p:cNvPr id="11" name="Text 9"/>
          <p:cNvSpPr/>
          <p:nvPr/>
        </p:nvSpPr>
        <p:spPr>
          <a:xfrm>
            <a:off x="3659188" y="3108960"/>
            <a:ext cx="1828800" cy="640080"/>
          </a:xfrm>
          <a:prstGeom prst="rect">
            <a:avLst/>
          </a:prstGeom>
          <a:noFill/>
          <a:ln/>
        </p:spPr>
        <p:txBody>
          <a:bodyPr wrap="square" rtlCol="0" anchor="ctr"/>
          <a:lstStyle/>
          <a:p>
            <a:pPr algn="ctr"/>
            <a:r>
              <a:rPr lang="en-US" sz="2800" b="1" dirty="0">
                <a:solidFill>
                  <a:srgbClr val="2E7D32"/>
                </a:solidFill>
                <a:latin typeface="Arial" pitchFamily="34" charset="0"/>
                <a:ea typeface="Arial" pitchFamily="34" charset="-122"/>
                <a:cs typeface="Arial" pitchFamily="34" charset="-120"/>
              </a:rPr>
              <a:t>GREEN</a:t>
            </a:r>
            <a:endParaRPr lang="en-US" sz="2800" dirty="0"/>
          </a:p>
        </p:txBody>
      </p:sp>
      <p:sp>
        <p:nvSpPr>
          <p:cNvPr id="12" name="Shape 10"/>
          <p:cNvSpPr/>
          <p:nvPr/>
        </p:nvSpPr>
        <p:spPr>
          <a:xfrm>
            <a:off x="6128068" y="2286000"/>
            <a:ext cx="5303520" cy="1828800"/>
          </a:xfrm>
          <a:prstGeom prst="roundRect">
            <a:avLst/>
          </a:prstGeom>
          <a:solidFill>
            <a:srgbClr val="1A1A1A"/>
          </a:solidFill>
          <a:ln/>
        </p:spPr>
        <p:txBody>
          <a:bodyPr/>
          <a:lstStyle/>
          <a:p>
            <a:endParaRPr lang="en-US"/>
          </a:p>
        </p:txBody>
      </p:sp>
      <p:sp>
        <p:nvSpPr>
          <p:cNvPr id="13" name="Text 11"/>
          <p:cNvSpPr/>
          <p:nvPr/>
        </p:nvSpPr>
        <p:spPr>
          <a:xfrm>
            <a:off x="6310948" y="2423160"/>
            <a:ext cx="4937760" cy="320040"/>
          </a:xfrm>
          <a:prstGeom prst="rect">
            <a:avLst/>
          </a:prstGeom>
          <a:noFill/>
          <a:ln/>
        </p:spPr>
        <p:txBody>
          <a:bodyPr wrap="square" rtlCol="0" anchor="ctr"/>
          <a:lstStyle/>
          <a:p>
            <a:r>
              <a:rPr lang="en-US" sz="1400" b="1" dirty="0">
                <a:solidFill>
                  <a:srgbClr val="D32F2F"/>
                </a:solidFill>
                <a:latin typeface="Arial" pitchFamily="34" charset="0"/>
                <a:ea typeface="Arial" pitchFamily="34" charset="-122"/>
                <a:cs typeface="Arial" pitchFamily="34" charset="-120"/>
              </a:rPr>
              <a:t>Incongruent</a:t>
            </a:r>
            <a:endParaRPr lang="en-US" sz="1400" dirty="0"/>
          </a:p>
        </p:txBody>
      </p:sp>
      <p:sp>
        <p:nvSpPr>
          <p:cNvPr id="14" name="Text 12"/>
          <p:cNvSpPr/>
          <p:nvPr/>
        </p:nvSpPr>
        <p:spPr>
          <a:xfrm>
            <a:off x="6310948" y="2743200"/>
            <a:ext cx="4937760" cy="228600"/>
          </a:xfrm>
          <a:prstGeom prst="rect">
            <a:avLst/>
          </a:prstGeom>
          <a:noFill/>
          <a:ln/>
        </p:spPr>
        <p:txBody>
          <a:bodyPr wrap="square" rtlCol="0" anchor="ctr"/>
          <a:lstStyle/>
          <a:p>
            <a:r>
              <a:rPr lang="en-US" sz="1100" i="1" dirty="0">
                <a:solidFill>
                  <a:srgbClr val="666666"/>
                </a:solidFill>
                <a:latin typeface="Arial" pitchFamily="34" charset="0"/>
                <a:ea typeface="Arial" pitchFamily="34" charset="-122"/>
                <a:cs typeface="Arial" pitchFamily="34" charset="-120"/>
              </a:rPr>
              <a:t>Word conflicts with ink color</a:t>
            </a:r>
            <a:endParaRPr lang="en-US" sz="1100" dirty="0"/>
          </a:p>
        </p:txBody>
      </p:sp>
      <p:sp>
        <p:nvSpPr>
          <p:cNvPr id="15" name="Text 13"/>
          <p:cNvSpPr/>
          <p:nvPr/>
        </p:nvSpPr>
        <p:spPr>
          <a:xfrm>
            <a:off x="6768148" y="3108960"/>
            <a:ext cx="1371600" cy="640080"/>
          </a:xfrm>
          <a:prstGeom prst="rect">
            <a:avLst/>
          </a:prstGeom>
          <a:noFill/>
          <a:ln/>
        </p:spPr>
        <p:txBody>
          <a:bodyPr wrap="square" rtlCol="0" anchor="ctr"/>
          <a:lstStyle/>
          <a:p>
            <a:pPr algn="ctr"/>
            <a:r>
              <a:rPr lang="en-US" sz="2800" b="1" dirty="0">
                <a:solidFill>
                  <a:srgbClr val="2E7D32"/>
                </a:solidFill>
                <a:latin typeface="Arial" pitchFamily="34" charset="0"/>
                <a:ea typeface="Arial" pitchFamily="34" charset="-122"/>
                <a:cs typeface="Arial" pitchFamily="34" charset="-120"/>
              </a:rPr>
              <a:t>RED</a:t>
            </a:r>
            <a:endParaRPr lang="en-US" sz="2800" dirty="0"/>
          </a:p>
        </p:txBody>
      </p:sp>
      <p:sp>
        <p:nvSpPr>
          <p:cNvPr id="16" name="Text 14"/>
          <p:cNvSpPr/>
          <p:nvPr/>
        </p:nvSpPr>
        <p:spPr>
          <a:xfrm>
            <a:off x="8139748" y="3108960"/>
            <a:ext cx="1371600" cy="640080"/>
          </a:xfrm>
          <a:prstGeom prst="rect">
            <a:avLst/>
          </a:prstGeom>
          <a:noFill/>
          <a:ln/>
        </p:spPr>
        <p:txBody>
          <a:bodyPr wrap="square" rtlCol="0" anchor="ctr"/>
          <a:lstStyle/>
          <a:p>
            <a:pPr algn="ctr"/>
            <a:r>
              <a:rPr lang="en-US" sz="2800" b="1" dirty="0">
                <a:solidFill>
                  <a:srgbClr val="D32F2F"/>
                </a:solidFill>
                <a:latin typeface="Arial" pitchFamily="34" charset="0"/>
                <a:ea typeface="Arial" pitchFamily="34" charset="-122"/>
                <a:cs typeface="Arial" pitchFamily="34" charset="-120"/>
              </a:rPr>
              <a:t>BLUE</a:t>
            </a:r>
            <a:endParaRPr lang="en-US" sz="2800" dirty="0"/>
          </a:p>
        </p:txBody>
      </p:sp>
      <p:sp>
        <p:nvSpPr>
          <p:cNvPr id="17" name="Text 15"/>
          <p:cNvSpPr/>
          <p:nvPr/>
        </p:nvSpPr>
        <p:spPr>
          <a:xfrm>
            <a:off x="9328468" y="3108960"/>
            <a:ext cx="1828800" cy="640080"/>
          </a:xfrm>
          <a:prstGeom prst="rect">
            <a:avLst/>
          </a:prstGeom>
          <a:noFill/>
          <a:ln/>
        </p:spPr>
        <p:txBody>
          <a:bodyPr wrap="square" rtlCol="0" anchor="ctr"/>
          <a:lstStyle/>
          <a:p>
            <a:pPr algn="ctr"/>
            <a:r>
              <a:rPr lang="en-US" sz="2800" b="1" dirty="0">
                <a:solidFill>
                  <a:srgbClr val="1565C0"/>
                </a:solidFill>
                <a:latin typeface="Arial" pitchFamily="34" charset="0"/>
                <a:ea typeface="Arial" pitchFamily="34" charset="-122"/>
                <a:cs typeface="Arial" pitchFamily="34" charset="-120"/>
              </a:rPr>
              <a:t>GREEN</a:t>
            </a:r>
            <a:endParaRPr lang="en-US" sz="2800" dirty="0"/>
          </a:p>
        </p:txBody>
      </p:sp>
      <p:sp>
        <p:nvSpPr>
          <p:cNvPr id="18" name="Shape 16"/>
          <p:cNvSpPr/>
          <p:nvPr/>
        </p:nvSpPr>
        <p:spPr>
          <a:xfrm>
            <a:off x="458788" y="4297680"/>
            <a:ext cx="11274552" cy="1828800"/>
          </a:xfrm>
          <a:prstGeom prst="roundRect">
            <a:avLst/>
          </a:prstGeom>
          <a:solidFill>
            <a:srgbClr val="FFFFFF"/>
          </a:solidFill>
          <a:ln w="12700">
            <a:solidFill>
              <a:srgbClr val="F76902"/>
            </a:solidFill>
            <a:prstDash val="solid"/>
          </a:ln>
        </p:spPr>
        <p:txBody>
          <a:bodyPr/>
          <a:lstStyle/>
          <a:p>
            <a:endParaRPr lang="en-US"/>
          </a:p>
        </p:txBody>
      </p:sp>
      <p:sp>
        <p:nvSpPr>
          <p:cNvPr id="19" name="Text 17"/>
          <p:cNvSpPr/>
          <p:nvPr/>
        </p:nvSpPr>
        <p:spPr>
          <a:xfrm>
            <a:off x="641668" y="4480560"/>
            <a:ext cx="10881360" cy="365760"/>
          </a:xfrm>
          <a:prstGeom prst="rect">
            <a:avLst/>
          </a:prstGeom>
          <a:noFill/>
          <a:ln/>
        </p:spPr>
        <p:txBody>
          <a:bodyPr wrap="square" rtlCol="0" anchor="ctr"/>
          <a:lstStyle/>
          <a:p>
            <a:r>
              <a:rPr lang="en-US" sz="1600" b="1" dirty="0">
                <a:solidFill>
                  <a:srgbClr val="F76902"/>
                </a:solidFill>
                <a:latin typeface="Arial" pitchFamily="34" charset="0"/>
                <a:ea typeface="Arial" pitchFamily="34" charset="-122"/>
                <a:cs typeface="Arial" pitchFamily="34" charset="-120"/>
              </a:rPr>
              <a:t>The Task: Name the INK COLOR, ignore the word meaning</a:t>
            </a:r>
            <a:endParaRPr lang="en-US" sz="1600" dirty="0"/>
          </a:p>
        </p:txBody>
      </p:sp>
      <p:sp>
        <p:nvSpPr>
          <p:cNvPr id="20" name="Text 18"/>
          <p:cNvSpPr/>
          <p:nvPr/>
        </p:nvSpPr>
        <p:spPr>
          <a:xfrm>
            <a:off x="641668" y="4937760"/>
            <a:ext cx="10881360" cy="1005840"/>
          </a:xfrm>
          <a:prstGeom prst="rect">
            <a:avLst/>
          </a:prstGeom>
          <a:noFill/>
          <a:ln/>
        </p:spPr>
        <p:txBody>
          <a:bodyPr wrap="square" rtlCol="0" anchor="ctr"/>
          <a:lstStyle/>
          <a:p>
            <a:r>
              <a:rPr lang="en-US" sz="1300" dirty="0">
                <a:solidFill>
                  <a:srgbClr val="1A1A1A"/>
                </a:solidFill>
                <a:latin typeface="Arial" pitchFamily="34" charset="0"/>
                <a:ea typeface="Arial" pitchFamily="34" charset="-122"/>
                <a:cs typeface="Arial" pitchFamily="34" charset="-120"/>
              </a:rPr>
              <a:t>Reading is automatic - we can't help but read the word. When it conflicts with the color, our brain must suppress the automatic response. This cognitive conflict increases response time, errors, and physiological arousal (including GSR).</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1852690" y="91440"/>
            <a:ext cx="10972800" cy="640080"/>
          </a:xfrm>
          <a:prstGeom prst="rect">
            <a:avLst/>
          </a:prstGeom>
          <a:noFill/>
          <a:ln/>
        </p:spPr>
        <p:txBody>
          <a:bodyPr wrap="square" rtlCol="0" anchor="ctr"/>
          <a:lstStyle/>
          <a:p>
            <a:r>
              <a:rPr lang="en-US" sz="3600" b="1" dirty="0">
                <a:solidFill>
                  <a:schemeClr val="bg1"/>
                </a:solidFill>
                <a:latin typeface="Arial Black" pitchFamily="34" charset="0"/>
                <a:ea typeface="Arial Black" pitchFamily="34" charset="-122"/>
                <a:cs typeface="Arial Black" pitchFamily="34" charset="-120"/>
              </a:rPr>
              <a:t>Stroop Task Parameters</a:t>
            </a:r>
            <a:endParaRPr lang="en-US" sz="3600" dirty="0">
              <a:solidFill>
                <a:schemeClr val="bg1"/>
              </a:solidFill>
            </a:endParaRPr>
          </a:p>
        </p:txBody>
      </p:sp>
      <p:sp>
        <p:nvSpPr>
          <p:cNvPr id="4" name="Text 2"/>
          <p:cNvSpPr/>
          <p:nvPr/>
        </p:nvSpPr>
        <p:spPr>
          <a:xfrm>
            <a:off x="458788" y="1097280"/>
            <a:ext cx="10972800" cy="365760"/>
          </a:xfrm>
          <a:prstGeom prst="rect">
            <a:avLst/>
          </a:prstGeom>
          <a:noFill/>
          <a:ln/>
        </p:spPr>
        <p:txBody>
          <a:bodyPr wrap="square" rtlCol="0" anchor="ctr"/>
          <a:lstStyle/>
          <a:p>
            <a:r>
              <a:rPr lang="en-US" sz="1600" dirty="0">
                <a:solidFill>
                  <a:srgbClr val="666666"/>
                </a:solidFill>
                <a:latin typeface="Arial" pitchFamily="34" charset="0"/>
                <a:ea typeface="Arial" pitchFamily="34" charset="-122"/>
                <a:cs typeface="Arial" pitchFamily="34" charset="-120"/>
              </a:rPr>
              <a:t>Variables you can manipulate to control difficulty</a:t>
            </a:r>
            <a:endParaRPr lang="en-US" sz="1600" dirty="0"/>
          </a:p>
        </p:txBody>
      </p:sp>
      <p:sp>
        <p:nvSpPr>
          <p:cNvPr id="5" name="Shape 3"/>
          <p:cNvSpPr/>
          <p:nvPr/>
        </p:nvSpPr>
        <p:spPr>
          <a:xfrm>
            <a:off x="458788" y="1645920"/>
            <a:ext cx="11274552" cy="1280160"/>
          </a:xfrm>
          <a:prstGeom prst="roundRect">
            <a:avLst/>
          </a:prstGeom>
          <a:solidFill>
            <a:srgbClr val="F5F5F5"/>
          </a:solidFill>
          <a:ln w="12700">
            <a:solidFill>
              <a:srgbClr val="E0E0E0"/>
            </a:solidFill>
            <a:prstDash val="solid"/>
          </a:ln>
        </p:spPr>
        <p:txBody>
          <a:bodyPr/>
          <a:lstStyle/>
          <a:p>
            <a:endParaRPr lang="en-US"/>
          </a:p>
        </p:txBody>
      </p:sp>
      <p:sp>
        <p:nvSpPr>
          <p:cNvPr id="6" name="Text 4"/>
          <p:cNvSpPr/>
          <p:nvPr/>
        </p:nvSpPr>
        <p:spPr>
          <a:xfrm>
            <a:off x="641668" y="1737360"/>
            <a:ext cx="4114800" cy="365760"/>
          </a:xfrm>
          <a:prstGeom prst="rect">
            <a:avLst/>
          </a:prstGeom>
          <a:noFill/>
          <a:ln/>
        </p:spPr>
        <p:txBody>
          <a:bodyPr wrap="square" rtlCol="0" anchor="ctr"/>
          <a:lstStyle/>
          <a:p>
            <a:r>
              <a:rPr lang="en-US" sz="1500" b="1" dirty="0">
                <a:solidFill>
                  <a:srgbClr val="F76902"/>
                </a:solidFill>
                <a:latin typeface="Arial" pitchFamily="34" charset="0"/>
                <a:ea typeface="Arial" pitchFamily="34" charset="-122"/>
                <a:cs typeface="Arial" pitchFamily="34" charset="-120"/>
              </a:rPr>
              <a:t>Number of Trials</a:t>
            </a:r>
            <a:endParaRPr lang="en-US" sz="1500" dirty="0"/>
          </a:p>
        </p:txBody>
      </p:sp>
      <p:sp>
        <p:nvSpPr>
          <p:cNvPr id="7" name="Text 5"/>
          <p:cNvSpPr/>
          <p:nvPr/>
        </p:nvSpPr>
        <p:spPr>
          <a:xfrm>
            <a:off x="4847908" y="1737360"/>
            <a:ext cx="2286000" cy="365760"/>
          </a:xfrm>
          <a:prstGeom prst="rect">
            <a:avLst/>
          </a:prstGeom>
          <a:noFill/>
          <a:ln/>
        </p:spPr>
        <p:txBody>
          <a:bodyPr wrap="square" rtlCol="0" anchor="ctr"/>
          <a:lstStyle/>
          <a:p>
            <a:r>
              <a:rPr lang="en-US" sz="1400" b="1" dirty="0">
                <a:solidFill>
                  <a:srgbClr val="1A1A1A"/>
                </a:solidFill>
                <a:latin typeface="Arial" pitchFamily="34" charset="0"/>
                <a:ea typeface="Arial" pitchFamily="34" charset="-122"/>
                <a:cs typeface="Arial" pitchFamily="34" charset="-120"/>
              </a:rPr>
              <a:t>20 - 100+</a:t>
            </a:r>
            <a:endParaRPr lang="en-US" sz="1400" dirty="0"/>
          </a:p>
        </p:txBody>
      </p:sp>
      <p:sp>
        <p:nvSpPr>
          <p:cNvPr id="8" name="Text 6"/>
          <p:cNvSpPr/>
          <p:nvPr/>
        </p:nvSpPr>
        <p:spPr>
          <a:xfrm>
            <a:off x="641668" y="2194560"/>
            <a:ext cx="10881360" cy="548640"/>
          </a:xfrm>
          <a:prstGeom prst="rect">
            <a:avLst/>
          </a:prstGeom>
          <a:noFill/>
          <a:ln/>
        </p:spPr>
        <p:txBody>
          <a:bodyPr wrap="square" rtlCol="0" anchor="ctr"/>
          <a:lstStyle/>
          <a:p>
            <a:r>
              <a:rPr lang="en-US" sz="1300" dirty="0">
                <a:solidFill>
                  <a:srgbClr val="666666"/>
                </a:solidFill>
                <a:latin typeface="Arial" pitchFamily="34" charset="0"/>
                <a:ea typeface="Arial" pitchFamily="34" charset="-122"/>
                <a:cs typeface="Arial" pitchFamily="34" charset="-120"/>
              </a:rPr>
              <a:t>More trials = more data, but fatigue increases. Trade-off between power and burden.</a:t>
            </a:r>
            <a:endParaRPr lang="en-US" sz="1300" dirty="0"/>
          </a:p>
        </p:txBody>
      </p:sp>
      <p:sp>
        <p:nvSpPr>
          <p:cNvPr id="9" name="Shape 7"/>
          <p:cNvSpPr/>
          <p:nvPr/>
        </p:nvSpPr>
        <p:spPr>
          <a:xfrm>
            <a:off x="458788" y="3108960"/>
            <a:ext cx="11274552" cy="1280160"/>
          </a:xfrm>
          <a:prstGeom prst="roundRect">
            <a:avLst/>
          </a:prstGeom>
          <a:solidFill>
            <a:srgbClr val="FFFFFF"/>
          </a:solidFill>
          <a:ln w="12700">
            <a:solidFill>
              <a:srgbClr val="E0E0E0"/>
            </a:solidFill>
            <a:prstDash val="solid"/>
          </a:ln>
        </p:spPr>
        <p:txBody>
          <a:bodyPr/>
          <a:lstStyle/>
          <a:p>
            <a:endParaRPr lang="en-US"/>
          </a:p>
        </p:txBody>
      </p:sp>
      <p:sp>
        <p:nvSpPr>
          <p:cNvPr id="10" name="Text 8"/>
          <p:cNvSpPr/>
          <p:nvPr/>
        </p:nvSpPr>
        <p:spPr>
          <a:xfrm>
            <a:off x="641668" y="3200400"/>
            <a:ext cx="4114800" cy="365760"/>
          </a:xfrm>
          <a:prstGeom prst="rect">
            <a:avLst/>
          </a:prstGeom>
          <a:noFill/>
          <a:ln/>
        </p:spPr>
        <p:txBody>
          <a:bodyPr wrap="square" rtlCol="0" anchor="ctr"/>
          <a:lstStyle/>
          <a:p>
            <a:r>
              <a:rPr lang="en-US" sz="1500" b="1" dirty="0">
                <a:solidFill>
                  <a:srgbClr val="F76902"/>
                </a:solidFill>
                <a:latin typeface="Arial" pitchFamily="34" charset="0"/>
                <a:ea typeface="Arial" pitchFamily="34" charset="-122"/>
                <a:cs typeface="Arial" pitchFamily="34" charset="-120"/>
              </a:rPr>
              <a:t>Congruent/Incongruent Ratio</a:t>
            </a:r>
            <a:endParaRPr lang="en-US" sz="1500" dirty="0"/>
          </a:p>
        </p:txBody>
      </p:sp>
      <p:sp>
        <p:nvSpPr>
          <p:cNvPr id="11" name="Text 9"/>
          <p:cNvSpPr/>
          <p:nvPr/>
        </p:nvSpPr>
        <p:spPr>
          <a:xfrm>
            <a:off x="4847908" y="3200400"/>
            <a:ext cx="2286000" cy="365760"/>
          </a:xfrm>
          <a:prstGeom prst="rect">
            <a:avLst/>
          </a:prstGeom>
          <a:noFill/>
          <a:ln/>
        </p:spPr>
        <p:txBody>
          <a:bodyPr wrap="square" rtlCol="0" anchor="ctr"/>
          <a:lstStyle/>
          <a:p>
            <a:r>
              <a:rPr lang="en-US" sz="1400" b="1" dirty="0">
                <a:solidFill>
                  <a:srgbClr val="1A1A1A"/>
                </a:solidFill>
                <a:latin typeface="Arial" pitchFamily="34" charset="0"/>
                <a:ea typeface="Arial" pitchFamily="34" charset="-122"/>
                <a:cs typeface="Arial" pitchFamily="34" charset="-120"/>
              </a:rPr>
              <a:t>50/50 to 25/75</a:t>
            </a:r>
            <a:endParaRPr lang="en-US" sz="1400" dirty="0"/>
          </a:p>
        </p:txBody>
      </p:sp>
      <p:sp>
        <p:nvSpPr>
          <p:cNvPr id="12" name="Text 10"/>
          <p:cNvSpPr/>
          <p:nvPr/>
        </p:nvSpPr>
        <p:spPr>
          <a:xfrm>
            <a:off x="641668" y="3657600"/>
            <a:ext cx="10881360" cy="548640"/>
          </a:xfrm>
          <a:prstGeom prst="rect">
            <a:avLst/>
          </a:prstGeom>
          <a:noFill/>
          <a:ln/>
        </p:spPr>
        <p:txBody>
          <a:bodyPr wrap="square" rtlCol="0" anchor="ctr"/>
          <a:lstStyle/>
          <a:p>
            <a:r>
              <a:rPr lang="en-US" sz="1300" dirty="0">
                <a:solidFill>
                  <a:srgbClr val="666666"/>
                </a:solidFill>
                <a:latin typeface="Arial" pitchFamily="34" charset="0"/>
                <a:ea typeface="Arial" pitchFamily="34" charset="-122"/>
                <a:cs typeface="Arial" pitchFamily="34" charset="-120"/>
              </a:rPr>
              <a:t>Higher incongruent ratio = more difficult. Manipulating expectation affects load.</a:t>
            </a:r>
            <a:endParaRPr lang="en-US" sz="1300" dirty="0"/>
          </a:p>
        </p:txBody>
      </p:sp>
      <p:sp>
        <p:nvSpPr>
          <p:cNvPr id="13" name="Shape 11"/>
          <p:cNvSpPr/>
          <p:nvPr/>
        </p:nvSpPr>
        <p:spPr>
          <a:xfrm>
            <a:off x="458788" y="4572000"/>
            <a:ext cx="11274552" cy="1280160"/>
          </a:xfrm>
          <a:prstGeom prst="roundRect">
            <a:avLst/>
          </a:prstGeom>
          <a:solidFill>
            <a:srgbClr val="F5F5F5"/>
          </a:solidFill>
          <a:ln w="12700">
            <a:solidFill>
              <a:srgbClr val="E0E0E0"/>
            </a:solidFill>
            <a:prstDash val="solid"/>
          </a:ln>
        </p:spPr>
        <p:txBody>
          <a:bodyPr/>
          <a:lstStyle/>
          <a:p>
            <a:endParaRPr lang="en-US"/>
          </a:p>
        </p:txBody>
      </p:sp>
      <p:sp>
        <p:nvSpPr>
          <p:cNvPr id="14" name="Text 12"/>
          <p:cNvSpPr/>
          <p:nvPr/>
        </p:nvSpPr>
        <p:spPr>
          <a:xfrm>
            <a:off x="641668" y="4663440"/>
            <a:ext cx="4114800" cy="365760"/>
          </a:xfrm>
          <a:prstGeom prst="rect">
            <a:avLst/>
          </a:prstGeom>
          <a:noFill/>
          <a:ln/>
        </p:spPr>
        <p:txBody>
          <a:bodyPr wrap="square" rtlCol="0" anchor="ctr"/>
          <a:lstStyle/>
          <a:p>
            <a:r>
              <a:rPr lang="en-US" sz="1500" b="1" dirty="0">
                <a:solidFill>
                  <a:srgbClr val="F76902"/>
                </a:solidFill>
                <a:latin typeface="Arial" pitchFamily="34" charset="0"/>
                <a:ea typeface="Arial" pitchFamily="34" charset="-122"/>
                <a:cs typeface="Arial" pitchFamily="34" charset="-120"/>
              </a:rPr>
              <a:t>Inter-Stimulus Interval (ISI)</a:t>
            </a:r>
            <a:endParaRPr lang="en-US" sz="1500" dirty="0"/>
          </a:p>
        </p:txBody>
      </p:sp>
      <p:sp>
        <p:nvSpPr>
          <p:cNvPr id="15" name="Text 13"/>
          <p:cNvSpPr/>
          <p:nvPr/>
        </p:nvSpPr>
        <p:spPr>
          <a:xfrm>
            <a:off x="4847908" y="4663440"/>
            <a:ext cx="2286000" cy="365760"/>
          </a:xfrm>
          <a:prstGeom prst="rect">
            <a:avLst/>
          </a:prstGeom>
          <a:noFill/>
          <a:ln/>
        </p:spPr>
        <p:txBody>
          <a:bodyPr wrap="square" rtlCol="0" anchor="ctr"/>
          <a:lstStyle/>
          <a:p>
            <a:r>
              <a:rPr lang="en-US" sz="1400" b="1" dirty="0">
                <a:solidFill>
                  <a:srgbClr val="1A1A1A"/>
                </a:solidFill>
                <a:latin typeface="Arial" pitchFamily="34" charset="0"/>
                <a:ea typeface="Arial" pitchFamily="34" charset="-122"/>
                <a:cs typeface="Arial" pitchFamily="34" charset="-120"/>
              </a:rPr>
              <a:t>500ms - 3000ms</a:t>
            </a:r>
            <a:endParaRPr lang="en-US" sz="1400" dirty="0"/>
          </a:p>
        </p:txBody>
      </p:sp>
      <p:sp>
        <p:nvSpPr>
          <p:cNvPr id="16" name="Text 14"/>
          <p:cNvSpPr/>
          <p:nvPr/>
        </p:nvSpPr>
        <p:spPr>
          <a:xfrm>
            <a:off x="641668" y="5120640"/>
            <a:ext cx="10881360" cy="548640"/>
          </a:xfrm>
          <a:prstGeom prst="rect">
            <a:avLst/>
          </a:prstGeom>
          <a:noFill/>
          <a:ln/>
        </p:spPr>
        <p:txBody>
          <a:bodyPr wrap="square" rtlCol="0" anchor="ctr"/>
          <a:lstStyle/>
          <a:p>
            <a:r>
              <a:rPr lang="en-US" sz="1300" dirty="0">
                <a:solidFill>
                  <a:srgbClr val="666666"/>
                </a:solidFill>
                <a:latin typeface="Arial" pitchFamily="34" charset="0"/>
                <a:ea typeface="Arial" pitchFamily="34" charset="-122"/>
                <a:cs typeface="Arial" pitchFamily="34" charset="-120"/>
              </a:rPr>
              <a:t>Shorter ISI = faster pace, more demand. Longer ISI allows recovery.</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1819237" y="91440"/>
            <a:ext cx="10972800" cy="640080"/>
          </a:xfrm>
          <a:prstGeom prst="rect">
            <a:avLst/>
          </a:prstGeom>
          <a:noFill/>
          <a:ln/>
        </p:spPr>
        <p:txBody>
          <a:bodyPr wrap="square" rtlCol="0" anchor="ctr"/>
          <a:lstStyle/>
          <a:p>
            <a:r>
              <a:rPr lang="en-US" sz="3600" b="1" dirty="0">
                <a:solidFill>
                  <a:schemeClr val="bg1"/>
                </a:solidFill>
                <a:latin typeface="Arial Black" pitchFamily="34" charset="0"/>
                <a:ea typeface="Arial Black" pitchFamily="34" charset="-122"/>
                <a:cs typeface="Arial Black" pitchFamily="34" charset="-120"/>
              </a:rPr>
              <a:t>Paired t-tests</a:t>
            </a:r>
            <a:endParaRPr lang="en-US" sz="3600" dirty="0">
              <a:solidFill>
                <a:schemeClr val="bg1"/>
              </a:solidFill>
            </a:endParaRPr>
          </a:p>
        </p:txBody>
      </p:sp>
      <p:sp>
        <p:nvSpPr>
          <p:cNvPr id="4" name="Text 2"/>
          <p:cNvSpPr/>
          <p:nvPr/>
        </p:nvSpPr>
        <p:spPr>
          <a:xfrm>
            <a:off x="458788" y="1097280"/>
            <a:ext cx="10972800" cy="365760"/>
          </a:xfrm>
          <a:prstGeom prst="rect">
            <a:avLst/>
          </a:prstGeom>
          <a:noFill/>
          <a:ln/>
        </p:spPr>
        <p:txBody>
          <a:bodyPr wrap="square" rtlCol="0" anchor="ctr"/>
          <a:lstStyle/>
          <a:p>
            <a:r>
              <a:rPr lang="en-US" sz="1600" dirty="0">
                <a:solidFill>
                  <a:srgbClr val="666666"/>
                </a:solidFill>
                <a:latin typeface="Arial" pitchFamily="34" charset="0"/>
                <a:ea typeface="Arial" pitchFamily="34" charset="-122"/>
                <a:cs typeface="Arial" pitchFamily="34" charset="-120"/>
              </a:rPr>
              <a:t>Comparing conditions in within-subjects designs</a:t>
            </a:r>
            <a:endParaRPr lang="en-US" sz="1600" dirty="0"/>
          </a:p>
        </p:txBody>
      </p:sp>
      <p:sp>
        <p:nvSpPr>
          <p:cNvPr id="5" name="Text 3"/>
          <p:cNvSpPr/>
          <p:nvPr/>
        </p:nvSpPr>
        <p:spPr>
          <a:xfrm>
            <a:off x="458788" y="1645920"/>
            <a:ext cx="11274552" cy="457200"/>
          </a:xfrm>
          <a:prstGeom prst="rect">
            <a:avLst/>
          </a:prstGeom>
          <a:noFill/>
          <a:ln/>
        </p:spPr>
        <p:txBody>
          <a:bodyPr wrap="square" rtlCol="0" anchor="ctr"/>
          <a:lstStyle/>
          <a:p>
            <a:r>
              <a:rPr lang="en-US" sz="1400" dirty="0">
                <a:solidFill>
                  <a:srgbClr val="1A1A1A"/>
                </a:solidFill>
                <a:latin typeface="Arial" pitchFamily="34" charset="0"/>
                <a:ea typeface="Arial" pitchFamily="34" charset="-122"/>
                <a:cs typeface="Arial" pitchFamily="34" charset="-120"/>
              </a:rPr>
              <a:t>After collecting GSR data, we need to determine if differences are statistically significant.</a:t>
            </a:r>
            <a:endParaRPr lang="en-US" sz="1400" dirty="0"/>
          </a:p>
        </p:txBody>
      </p:sp>
      <p:sp>
        <p:nvSpPr>
          <p:cNvPr id="6" name="Shape 4"/>
          <p:cNvSpPr/>
          <p:nvPr/>
        </p:nvSpPr>
        <p:spPr>
          <a:xfrm>
            <a:off x="458788" y="2194560"/>
            <a:ext cx="11274552" cy="2286000"/>
          </a:xfrm>
          <a:prstGeom prst="roundRect">
            <a:avLst/>
          </a:prstGeom>
          <a:solidFill>
            <a:srgbClr val="F5F5F5"/>
          </a:solidFill>
          <a:ln/>
        </p:spPr>
        <p:txBody>
          <a:bodyPr/>
          <a:lstStyle/>
          <a:p>
            <a:endParaRPr lang="en-US"/>
          </a:p>
        </p:txBody>
      </p:sp>
      <p:sp>
        <p:nvSpPr>
          <p:cNvPr id="7" name="Text 5"/>
          <p:cNvSpPr/>
          <p:nvPr/>
        </p:nvSpPr>
        <p:spPr>
          <a:xfrm>
            <a:off x="641668" y="2377440"/>
            <a:ext cx="10881360" cy="365760"/>
          </a:xfrm>
          <a:prstGeom prst="rect">
            <a:avLst/>
          </a:prstGeom>
          <a:noFill/>
          <a:ln/>
        </p:spPr>
        <p:txBody>
          <a:bodyPr wrap="square" rtlCol="0" anchor="ctr"/>
          <a:lstStyle/>
          <a:p>
            <a:r>
              <a:rPr lang="en-US" b="1" dirty="0">
                <a:solidFill>
                  <a:srgbClr val="F76902"/>
                </a:solidFill>
                <a:latin typeface="Arial" pitchFamily="34" charset="0"/>
                <a:ea typeface="Arial" pitchFamily="34" charset="-122"/>
                <a:cs typeface="Arial" pitchFamily="34" charset="-120"/>
              </a:rPr>
              <a:t>Paired t-test</a:t>
            </a:r>
            <a:endParaRPr lang="en-US" dirty="0"/>
          </a:p>
        </p:txBody>
      </p:sp>
      <p:sp>
        <p:nvSpPr>
          <p:cNvPr id="8" name="Text 6"/>
          <p:cNvSpPr/>
          <p:nvPr/>
        </p:nvSpPr>
        <p:spPr>
          <a:xfrm>
            <a:off x="641668" y="2788920"/>
            <a:ext cx="10881360" cy="274320"/>
          </a:xfrm>
          <a:prstGeom prst="rect">
            <a:avLst/>
          </a:prstGeom>
          <a:noFill/>
          <a:ln/>
        </p:spPr>
        <p:txBody>
          <a:bodyPr wrap="square" rtlCol="0" anchor="ctr"/>
          <a:lstStyle/>
          <a:p>
            <a:r>
              <a:rPr lang="en-US" sz="1300" i="1" dirty="0">
                <a:solidFill>
                  <a:srgbClr val="666666"/>
                </a:solidFill>
                <a:latin typeface="Arial" pitchFamily="34" charset="0"/>
                <a:ea typeface="Arial" pitchFamily="34" charset="-122"/>
                <a:cs typeface="Arial" pitchFamily="34" charset="-120"/>
              </a:rPr>
              <a:t>Use when comparing the SAME participants across two conditions</a:t>
            </a:r>
            <a:endParaRPr lang="en-US" sz="1300" dirty="0"/>
          </a:p>
        </p:txBody>
      </p:sp>
      <p:sp>
        <p:nvSpPr>
          <p:cNvPr id="9" name="Text 7"/>
          <p:cNvSpPr/>
          <p:nvPr/>
        </p:nvSpPr>
        <p:spPr>
          <a:xfrm>
            <a:off x="641668" y="3200400"/>
            <a:ext cx="10881360" cy="1097280"/>
          </a:xfrm>
          <a:prstGeom prst="rect">
            <a:avLst/>
          </a:prstGeom>
          <a:noFill/>
          <a:ln/>
        </p:spPr>
        <p:txBody>
          <a:bodyPr wrap="square" rtlCol="0" anchor="ctr"/>
          <a:lstStyle/>
          <a:p>
            <a:r>
              <a:rPr lang="en-US" sz="1300" dirty="0">
                <a:solidFill>
                  <a:srgbClr val="1A1A1A"/>
                </a:solidFill>
                <a:latin typeface="Arial" pitchFamily="34" charset="0"/>
                <a:ea typeface="Arial" pitchFamily="34" charset="-122"/>
                <a:cs typeface="Arial" pitchFamily="34" charset="-120"/>
              </a:rPr>
              <a:t>• Compares each participant's score in Condition A to their score in Condition B
• Controls for individual differences (each person is their own control)
• More powerful than independent t-test when assumptions are met
• Null hypothesis: The mean difference between conditions = 0</a:t>
            </a:r>
            <a:endParaRPr lang="en-US" sz="1300" dirty="0"/>
          </a:p>
        </p:txBody>
      </p:sp>
      <p:sp>
        <p:nvSpPr>
          <p:cNvPr id="10" name="Shape 8"/>
          <p:cNvSpPr/>
          <p:nvPr/>
        </p:nvSpPr>
        <p:spPr>
          <a:xfrm>
            <a:off x="458788" y="4663440"/>
            <a:ext cx="11274552" cy="1463040"/>
          </a:xfrm>
          <a:prstGeom prst="roundRect">
            <a:avLst/>
          </a:prstGeom>
          <a:solidFill>
            <a:srgbClr val="1A1A1A"/>
          </a:solidFill>
          <a:ln/>
        </p:spPr>
        <p:txBody>
          <a:bodyPr/>
          <a:lstStyle/>
          <a:p>
            <a:endParaRPr lang="en-US"/>
          </a:p>
        </p:txBody>
      </p:sp>
      <p:sp>
        <p:nvSpPr>
          <p:cNvPr id="11" name="Text 9"/>
          <p:cNvSpPr/>
          <p:nvPr/>
        </p:nvSpPr>
        <p:spPr>
          <a:xfrm>
            <a:off x="641668" y="4846320"/>
            <a:ext cx="10881360" cy="365760"/>
          </a:xfrm>
          <a:prstGeom prst="rect">
            <a:avLst/>
          </a:prstGeom>
          <a:noFill/>
          <a:ln/>
        </p:spPr>
        <p:txBody>
          <a:bodyPr wrap="square" rtlCol="0" anchor="ctr"/>
          <a:lstStyle/>
          <a:p>
            <a:r>
              <a:rPr lang="en-US" sz="1400" b="1" dirty="0">
                <a:solidFill>
                  <a:srgbClr val="F76902"/>
                </a:solidFill>
                <a:latin typeface="Arial" pitchFamily="34" charset="0"/>
                <a:ea typeface="Arial" pitchFamily="34" charset="-122"/>
                <a:cs typeface="Arial" pitchFamily="34" charset="-120"/>
              </a:rPr>
              <a:t>Example: Is mean SCL during Stroop &gt; mean SCL during Rest?</a:t>
            </a:r>
            <a:endParaRPr lang="en-US" sz="1400" dirty="0"/>
          </a:p>
        </p:txBody>
      </p:sp>
      <p:sp>
        <p:nvSpPr>
          <p:cNvPr id="12" name="Text 10"/>
          <p:cNvSpPr/>
          <p:nvPr/>
        </p:nvSpPr>
        <p:spPr>
          <a:xfrm>
            <a:off x="641668" y="5303520"/>
            <a:ext cx="10881360" cy="365760"/>
          </a:xfrm>
          <a:prstGeom prst="rect">
            <a:avLst/>
          </a:prstGeom>
          <a:noFill/>
          <a:ln/>
        </p:spPr>
        <p:txBody>
          <a:bodyPr wrap="square" rtlCol="0" anchor="ctr"/>
          <a:lstStyle/>
          <a:p>
            <a:r>
              <a:rPr lang="en-US" sz="1400" dirty="0">
                <a:solidFill>
                  <a:srgbClr val="FFFFFF"/>
                </a:solidFill>
                <a:latin typeface="Arial" pitchFamily="34" charset="0"/>
                <a:ea typeface="Arial" pitchFamily="34" charset="-122"/>
                <a:cs typeface="Arial" pitchFamily="34" charset="-120"/>
              </a:rPr>
              <a:t>H₀: μ_Stroop - μ_Rest = 0     vs     H₁: μ_Stroop - μ_Rest ≠ 0</a:t>
            </a:r>
            <a:endParaRPr lang="en-US" sz="1400" dirty="0"/>
          </a:p>
        </p:txBody>
      </p:sp>
      <p:sp>
        <p:nvSpPr>
          <p:cNvPr id="13" name="Text 11"/>
          <p:cNvSpPr/>
          <p:nvPr/>
        </p:nvSpPr>
        <p:spPr>
          <a:xfrm>
            <a:off x="641668" y="5715000"/>
            <a:ext cx="10881360" cy="320040"/>
          </a:xfrm>
          <a:prstGeom prst="rect">
            <a:avLst/>
          </a:prstGeom>
          <a:noFill/>
          <a:ln/>
        </p:spPr>
        <p:txBody>
          <a:bodyPr wrap="square" rtlCol="0" anchor="ctr"/>
          <a:lstStyle/>
          <a:p>
            <a:r>
              <a:rPr lang="en-US" sz="1200" dirty="0">
                <a:solidFill>
                  <a:schemeClr val="bg1"/>
                </a:solidFill>
                <a:latin typeface="Arial" pitchFamily="34" charset="0"/>
                <a:ea typeface="Arial" pitchFamily="34" charset="-122"/>
                <a:cs typeface="Arial" pitchFamily="34" charset="-120"/>
              </a:rPr>
              <a:t>If p &lt; 0.05, we reject H₀ and conclude the conditions differ significantly.</a:t>
            </a:r>
            <a:endParaRPr lang="en-US" sz="1200" dirty="0">
              <a:solidFill>
                <a:schemeClr val="bg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1741178" y="68580"/>
            <a:ext cx="10972800" cy="640080"/>
          </a:xfrm>
          <a:prstGeom prst="rect">
            <a:avLst/>
          </a:prstGeom>
          <a:noFill/>
          <a:ln/>
        </p:spPr>
        <p:txBody>
          <a:bodyPr wrap="square" rtlCol="0" anchor="ctr"/>
          <a:lstStyle/>
          <a:p>
            <a:r>
              <a:rPr lang="en-US" sz="3600" b="1" dirty="0">
                <a:solidFill>
                  <a:schemeClr val="bg1"/>
                </a:solidFill>
                <a:latin typeface="Arial Black" pitchFamily="34" charset="0"/>
                <a:ea typeface="Arial Black" pitchFamily="34" charset="-122"/>
                <a:cs typeface="Arial Black" pitchFamily="34" charset="-120"/>
              </a:rPr>
              <a:t>Interpreting Results</a:t>
            </a:r>
            <a:endParaRPr lang="en-US" sz="3600" dirty="0">
              <a:solidFill>
                <a:schemeClr val="bg1"/>
              </a:solidFill>
            </a:endParaRPr>
          </a:p>
        </p:txBody>
      </p:sp>
      <p:sp>
        <p:nvSpPr>
          <p:cNvPr id="4" name="Text 2"/>
          <p:cNvSpPr/>
          <p:nvPr/>
        </p:nvSpPr>
        <p:spPr>
          <a:xfrm>
            <a:off x="458788" y="1097280"/>
            <a:ext cx="10972800" cy="365760"/>
          </a:xfrm>
          <a:prstGeom prst="rect">
            <a:avLst/>
          </a:prstGeom>
          <a:noFill/>
          <a:ln/>
        </p:spPr>
        <p:txBody>
          <a:bodyPr wrap="square" rtlCol="0" anchor="ctr"/>
          <a:lstStyle/>
          <a:p>
            <a:r>
              <a:rPr lang="en-US" sz="1600" dirty="0">
                <a:solidFill>
                  <a:srgbClr val="666666"/>
                </a:solidFill>
                <a:latin typeface="Arial" pitchFamily="34" charset="0"/>
                <a:ea typeface="Arial" pitchFamily="34" charset="-122"/>
                <a:cs typeface="Arial" pitchFamily="34" charset="-120"/>
              </a:rPr>
              <a:t>Understanding p-values and effect sizes</a:t>
            </a:r>
            <a:endParaRPr lang="en-US" sz="1600" dirty="0"/>
          </a:p>
        </p:txBody>
      </p:sp>
      <p:sp>
        <p:nvSpPr>
          <p:cNvPr id="5" name="Shape 3"/>
          <p:cNvSpPr/>
          <p:nvPr/>
        </p:nvSpPr>
        <p:spPr>
          <a:xfrm>
            <a:off x="458788" y="1645920"/>
            <a:ext cx="5303520" cy="2103120"/>
          </a:xfrm>
          <a:prstGeom prst="roundRect">
            <a:avLst/>
          </a:prstGeom>
          <a:solidFill>
            <a:srgbClr val="F5F5F5"/>
          </a:solidFill>
          <a:ln/>
        </p:spPr>
        <p:txBody>
          <a:bodyPr/>
          <a:lstStyle/>
          <a:p>
            <a:endParaRPr lang="en-US"/>
          </a:p>
        </p:txBody>
      </p:sp>
      <p:sp>
        <p:nvSpPr>
          <p:cNvPr id="6" name="Text 4"/>
          <p:cNvSpPr/>
          <p:nvPr/>
        </p:nvSpPr>
        <p:spPr>
          <a:xfrm>
            <a:off x="641668" y="1783080"/>
            <a:ext cx="4937760" cy="365760"/>
          </a:xfrm>
          <a:prstGeom prst="rect">
            <a:avLst/>
          </a:prstGeom>
          <a:noFill/>
          <a:ln/>
        </p:spPr>
        <p:txBody>
          <a:bodyPr wrap="square" rtlCol="0" anchor="ctr"/>
          <a:lstStyle/>
          <a:p>
            <a:r>
              <a:rPr lang="en-US" sz="1600" b="1" dirty="0">
                <a:solidFill>
                  <a:srgbClr val="F76902"/>
                </a:solidFill>
                <a:latin typeface="Arial" pitchFamily="34" charset="0"/>
                <a:ea typeface="Arial" pitchFamily="34" charset="-122"/>
                <a:cs typeface="Arial" pitchFamily="34" charset="-120"/>
              </a:rPr>
              <a:t>p-value</a:t>
            </a:r>
            <a:endParaRPr lang="en-US" sz="1600" dirty="0"/>
          </a:p>
        </p:txBody>
      </p:sp>
      <p:sp>
        <p:nvSpPr>
          <p:cNvPr id="7" name="Text 5"/>
          <p:cNvSpPr/>
          <p:nvPr/>
        </p:nvSpPr>
        <p:spPr>
          <a:xfrm>
            <a:off x="641668" y="2194560"/>
            <a:ext cx="4937760" cy="1371600"/>
          </a:xfrm>
          <a:prstGeom prst="rect">
            <a:avLst/>
          </a:prstGeom>
          <a:noFill/>
          <a:ln/>
        </p:spPr>
        <p:txBody>
          <a:bodyPr wrap="square" rtlCol="0" anchor="ctr"/>
          <a:lstStyle/>
          <a:p>
            <a:r>
              <a:rPr lang="en-US" sz="1200" dirty="0">
                <a:solidFill>
                  <a:srgbClr val="1A1A1A"/>
                </a:solidFill>
                <a:latin typeface="Arial" pitchFamily="34" charset="0"/>
                <a:ea typeface="Arial" pitchFamily="34" charset="-122"/>
                <a:cs typeface="Arial" pitchFamily="34" charset="-120"/>
              </a:rPr>
              <a:t>Probability of observing results this extreme if H₀ is true.
• p &lt; 0.05: "Significant"
• p &lt; 0.01: More confident
• p &lt; 0.001: Highly significant</a:t>
            </a:r>
            <a:endParaRPr lang="en-US" sz="1200" dirty="0"/>
          </a:p>
        </p:txBody>
      </p:sp>
      <p:sp>
        <p:nvSpPr>
          <p:cNvPr id="8" name="Shape 6"/>
          <p:cNvSpPr/>
          <p:nvPr/>
        </p:nvSpPr>
        <p:spPr>
          <a:xfrm>
            <a:off x="6128068" y="1645920"/>
            <a:ext cx="5303520" cy="2103120"/>
          </a:xfrm>
          <a:prstGeom prst="roundRect">
            <a:avLst/>
          </a:prstGeom>
          <a:solidFill>
            <a:srgbClr val="1A1A1A"/>
          </a:solidFill>
          <a:ln/>
        </p:spPr>
        <p:txBody>
          <a:bodyPr/>
          <a:lstStyle/>
          <a:p>
            <a:endParaRPr lang="en-US"/>
          </a:p>
        </p:txBody>
      </p:sp>
      <p:sp>
        <p:nvSpPr>
          <p:cNvPr id="9" name="Text 7"/>
          <p:cNvSpPr/>
          <p:nvPr/>
        </p:nvSpPr>
        <p:spPr>
          <a:xfrm>
            <a:off x="6310948" y="1783080"/>
            <a:ext cx="4937760" cy="365760"/>
          </a:xfrm>
          <a:prstGeom prst="rect">
            <a:avLst/>
          </a:prstGeom>
          <a:noFill/>
          <a:ln/>
        </p:spPr>
        <p:txBody>
          <a:bodyPr wrap="square" rtlCol="0" anchor="ctr"/>
          <a:lstStyle/>
          <a:p>
            <a:r>
              <a:rPr lang="en-US" sz="1600" b="1" dirty="0">
                <a:solidFill>
                  <a:srgbClr val="F76902"/>
                </a:solidFill>
                <a:latin typeface="Arial" pitchFamily="34" charset="0"/>
                <a:ea typeface="Arial" pitchFamily="34" charset="-122"/>
                <a:cs typeface="Arial" pitchFamily="34" charset="-120"/>
              </a:rPr>
              <a:t>Effect Size (Cohen's d)</a:t>
            </a:r>
            <a:endParaRPr lang="en-US" sz="1600" dirty="0"/>
          </a:p>
        </p:txBody>
      </p:sp>
      <p:sp>
        <p:nvSpPr>
          <p:cNvPr id="10" name="Text 8"/>
          <p:cNvSpPr/>
          <p:nvPr/>
        </p:nvSpPr>
        <p:spPr>
          <a:xfrm>
            <a:off x="6310948" y="2194560"/>
            <a:ext cx="4937760" cy="1371600"/>
          </a:xfrm>
          <a:prstGeom prst="rect">
            <a:avLst/>
          </a:prstGeom>
          <a:noFill/>
          <a:ln/>
        </p:spPr>
        <p:txBody>
          <a:bodyPr wrap="square" rtlCol="0" anchor="ctr"/>
          <a:lstStyle/>
          <a:p>
            <a:r>
              <a:rPr lang="en-US" sz="1200" dirty="0">
                <a:solidFill>
                  <a:srgbClr val="FFFFFF"/>
                </a:solidFill>
                <a:latin typeface="Arial" pitchFamily="34" charset="0"/>
                <a:ea typeface="Arial" pitchFamily="34" charset="-122"/>
                <a:cs typeface="Arial" pitchFamily="34" charset="-120"/>
              </a:rPr>
              <a:t>Magnitude of difference, independent of sample size.
• |d| &lt; 0.2: Small
• |d| ≈ 0.5: Medium
• |d| &gt; 0.8: Large</a:t>
            </a:r>
            <a:endParaRPr lang="en-US" sz="1200" dirty="0"/>
          </a:p>
        </p:txBody>
      </p:sp>
      <p:sp>
        <p:nvSpPr>
          <p:cNvPr id="11" name="Shape 9"/>
          <p:cNvSpPr/>
          <p:nvPr/>
        </p:nvSpPr>
        <p:spPr>
          <a:xfrm>
            <a:off x="458788" y="3931920"/>
            <a:ext cx="11274552" cy="2194560"/>
          </a:xfrm>
          <a:prstGeom prst="roundRect">
            <a:avLst/>
          </a:prstGeom>
          <a:solidFill>
            <a:srgbClr val="FFFFFF"/>
          </a:solidFill>
          <a:ln w="12700">
            <a:solidFill>
              <a:srgbClr val="E0E0E0"/>
            </a:solidFill>
            <a:prstDash val="solid"/>
          </a:ln>
        </p:spPr>
        <p:txBody>
          <a:bodyPr/>
          <a:lstStyle/>
          <a:p>
            <a:endParaRPr lang="en-US"/>
          </a:p>
        </p:txBody>
      </p:sp>
      <p:sp>
        <p:nvSpPr>
          <p:cNvPr id="12" name="Text 10"/>
          <p:cNvSpPr/>
          <p:nvPr/>
        </p:nvSpPr>
        <p:spPr>
          <a:xfrm>
            <a:off x="641668" y="4069080"/>
            <a:ext cx="10881360" cy="365760"/>
          </a:xfrm>
          <a:prstGeom prst="rect">
            <a:avLst/>
          </a:prstGeom>
          <a:noFill/>
          <a:ln/>
        </p:spPr>
        <p:txBody>
          <a:bodyPr wrap="square" rtlCol="0" anchor="ctr"/>
          <a:lstStyle/>
          <a:p>
            <a:r>
              <a:rPr lang="en-US" sz="1400" b="1" dirty="0">
                <a:solidFill>
                  <a:srgbClr val="1A1A1A"/>
                </a:solidFill>
                <a:latin typeface="Arial" pitchFamily="34" charset="0"/>
                <a:ea typeface="Arial" pitchFamily="34" charset="-122"/>
                <a:cs typeface="Arial" pitchFamily="34" charset="-120"/>
              </a:rPr>
              <a:t>Example Report</a:t>
            </a:r>
            <a:endParaRPr lang="en-US" sz="1400" dirty="0"/>
          </a:p>
        </p:txBody>
      </p:sp>
      <p:sp>
        <p:nvSpPr>
          <p:cNvPr id="13" name="Text 11"/>
          <p:cNvSpPr/>
          <p:nvPr/>
        </p:nvSpPr>
        <p:spPr>
          <a:xfrm>
            <a:off x="641668" y="4480560"/>
            <a:ext cx="10881360" cy="640080"/>
          </a:xfrm>
          <a:prstGeom prst="rect">
            <a:avLst/>
          </a:prstGeom>
          <a:noFill/>
          <a:ln/>
        </p:spPr>
        <p:txBody>
          <a:bodyPr wrap="square" rtlCol="0" anchor="ctr"/>
          <a:lstStyle/>
          <a:p>
            <a:r>
              <a:rPr lang="en-US" sz="1300" i="1" dirty="0">
                <a:solidFill>
                  <a:srgbClr val="1A1A1A"/>
                </a:solidFill>
                <a:latin typeface="Arial" pitchFamily="34" charset="0"/>
                <a:ea typeface="Arial" pitchFamily="34" charset="-122"/>
                <a:cs typeface="Arial" pitchFamily="34" charset="-120"/>
              </a:rPr>
              <a:t>"Mean SCL was significantly higher during the Stroop task (M = 8.2 μS, SD = 2.1) compared to rest (M = 5.4 μS, SD = 1.8), t(19) = 4.32, p &lt; .001, d = 0.96."</a:t>
            </a:r>
            <a:endParaRPr lang="en-US" sz="1300" dirty="0"/>
          </a:p>
        </p:txBody>
      </p:sp>
      <p:sp>
        <p:nvSpPr>
          <p:cNvPr id="14" name="Text 12"/>
          <p:cNvSpPr/>
          <p:nvPr/>
        </p:nvSpPr>
        <p:spPr>
          <a:xfrm>
            <a:off x="641668" y="5212080"/>
            <a:ext cx="10881360" cy="731520"/>
          </a:xfrm>
          <a:prstGeom prst="rect">
            <a:avLst/>
          </a:prstGeom>
          <a:noFill/>
          <a:ln/>
        </p:spPr>
        <p:txBody>
          <a:bodyPr wrap="square" rtlCol="0" anchor="ctr"/>
          <a:lstStyle/>
          <a:p>
            <a:r>
              <a:rPr lang="en-US" sz="1200" dirty="0">
                <a:solidFill>
                  <a:srgbClr val="666666"/>
                </a:solidFill>
                <a:latin typeface="Arial" pitchFamily="34" charset="0"/>
                <a:ea typeface="Arial" pitchFamily="34" charset="-122"/>
                <a:cs typeface="Arial" pitchFamily="34" charset="-120"/>
              </a:rPr>
              <a:t>• Reports both conditions' means and SDs
• States test statistic t(df) and p-value
• Includes effect size (d = 0.96 is large)</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58788" y="868680"/>
            <a:ext cx="10972800" cy="640080"/>
          </a:xfrm>
          <a:prstGeom prst="rect">
            <a:avLst/>
          </a:prstGeom>
          <a:noFill/>
          <a:ln/>
        </p:spPr>
        <p:txBody>
          <a:bodyPr wrap="square" rtlCol="0" anchor="ctr"/>
          <a:lstStyle/>
          <a:p>
            <a:r>
              <a:rPr lang="en-US" sz="3600" b="1" dirty="0">
                <a:solidFill>
                  <a:srgbClr val="1A1A1A"/>
                </a:solidFill>
                <a:latin typeface="Arial Black" pitchFamily="34" charset="0"/>
                <a:ea typeface="Arial Black" pitchFamily="34" charset="-122"/>
                <a:cs typeface="Arial Black" pitchFamily="34" charset="-120"/>
              </a:rPr>
              <a:t>References &amp; Further Reading</a:t>
            </a:r>
            <a:endParaRPr lang="en-US" sz="3600" dirty="0"/>
          </a:p>
        </p:txBody>
      </p:sp>
      <p:sp>
        <p:nvSpPr>
          <p:cNvPr id="4" name="Text 2"/>
          <p:cNvSpPr/>
          <p:nvPr/>
        </p:nvSpPr>
        <p:spPr>
          <a:xfrm>
            <a:off x="458788" y="1645920"/>
            <a:ext cx="1645920" cy="365760"/>
          </a:xfrm>
          <a:prstGeom prst="rect">
            <a:avLst/>
          </a:prstGeom>
          <a:noFill/>
          <a:ln/>
        </p:spPr>
        <p:txBody>
          <a:bodyPr wrap="square" rtlCol="0" anchor="ctr"/>
          <a:lstStyle/>
          <a:p>
            <a:r>
              <a:rPr lang="en-US" sz="1200" b="1" dirty="0">
                <a:solidFill>
                  <a:srgbClr val="F76902"/>
                </a:solidFill>
                <a:latin typeface="Arial" pitchFamily="34" charset="0"/>
                <a:ea typeface="Arial" pitchFamily="34" charset="-122"/>
                <a:cs typeface="Arial" pitchFamily="34" charset="-120"/>
              </a:rPr>
              <a:t>Textbook</a:t>
            </a:r>
            <a:endParaRPr lang="en-US" sz="1200" dirty="0"/>
          </a:p>
        </p:txBody>
      </p:sp>
      <p:sp>
        <p:nvSpPr>
          <p:cNvPr id="5" name="Text 3"/>
          <p:cNvSpPr/>
          <p:nvPr/>
        </p:nvSpPr>
        <p:spPr>
          <a:xfrm>
            <a:off x="2196148" y="1645920"/>
            <a:ext cx="9509760" cy="640080"/>
          </a:xfrm>
          <a:prstGeom prst="rect">
            <a:avLst/>
          </a:prstGeom>
          <a:noFill/>
          <a:ln/>
        </p:spPr>
        <p:txBody>
          <a:bodyPr wrap="square" rtlCol="0" anchor="ctr"/>
          <a:lstStyle/>
          <a:p>
            <a:r>
              <a:rPr lang="en-US" sz="1200" dirty="0">
                <a:solidFill>
                  <a:srgbClr val="1A1A1A"/>
                </a:solidFill>
                <a:latin typeface="Arial" pitchFamily="34" charset="0"/>
                <a:ea typeface="Arial" pitchFamily="34" charset="-122"/>
                <a:cs typeface="Arial" pitchFamily="34" charset="-120"/>
              </a:rPr>
              <a:t>Boucsein, W. (2012). Electrodermal Activity (2nd ed.). Springer.</a:t>
            </a:r>
            <a:endParaRPr lang="en-US" sz="1200" dirty="0"/>
          </a:p>
        </p:txBody>
      </p:sp>
      <p:sp>
        <p:nvSpPr>
          <p:cNvPr id="6" name="Text 4"/>
          <p:cNvSpPr/>
          <p:nvPr/>
        </p:nvSpPr>
        <p:spPr>
          <a:xfrm>
            <a:off x="458788" y="2468880"/>
            <a:ext cx="1645920" cy="365760"/>
          </a:xfrm>
          <a:prstGeom prst="rect">
            <a:avLst/>
          </a:prstGeom>
          <a:noFill/>
          <a:ln/>
        </p:spPr>
        <p:txBody>
          <a:bodyPr wrap="square" rtlCol="0" anchor="ctr"/>
          <a:lstStyle/>
          <a:p>
            <a:r>
              <a:rPr lang="en-US" sz="1200" b="1" dirty="0">
                <a:solidFill>
                  <a:srgbClr val="F76902"/>
                </a:solidFill>
                <a:latin typeface="Arial" pitchFamily="34" charset="0"/>
                <a:ea typeface="Arial" pitchFamily="34" charset="-122"/>
                <a:cs typeface="Arial" pitchFamily="34" charset="-120"/>
              </a:rPr>
              <a:t>Methods</a:t>
            </a:r>
            <a:endParaRPr lang="en-US" sz="1200" dirty="0"/>
          </a:p>
        </p:txBody>
      </p:sp>
      <p:sp>
        <p:nvSpPr>
          <p:cNvPr id="7" name="Text 5"/>
          <p:cNvSpPr/>
          <p:nvPr/>
        </p:nvSpPr>
        <p:spPr>
          <a:xfrm>
            <a:off x="2196148" y="2468880"/>
            <a:ext cx="9509760" cy="640080"/>
          </a:xfrm>
          <a:prstGeom prst="rect">
            <a:avLst/>
          </a:prstGeom>
          <a:noFill/>
          <a:ln/>
        </p:spPr>
        <p:txBody>
          <a:bodyPr wrap="square" rtlCol="0" anchor="ctr"/>
          <a:lstStyle/>
          <a:p>
            <a:r>
              <a:rPr lang="en-US" sz="1200" dirty="0">
                <a:solidFill>
                  <a:srgbClr val="1A1A1A"/>
                </a:solidFill>
                <a:latin typeface="Arial" pitchFamily="34" charset="0"/>
                <a:ea typeface="Arial" pitchFamily="34" charset="-122"/>
                <a:cs typeface="Arial" pitchFamily="34" charset="-120"/>
              </a:rPr>
              <a:t>Braithwaite, J.J., et al. (2013). A Guide for Analysing Electrodermal Activity.</a:t>
            </a:r>
            <a:endParaRPr lang="en-US" sz="1200" dirty="0"/>
          </a:p>
        </p:txBody>
      </p:sp>
      <p:sp>
        <p:nvSpPr>
          <p:cNvPr id="8" name="Text 6"/>
          <p:cNvSpPr/>
          <p:nvPr/>
        </p:nvSpPr>
        <p:spPr>
          <a:xfrm>
            <a:off x="458788" y="3291840"/>
            <a:ext cx="1645920" cy="365760"/>
          </a:xfrm>
          <a:prstGeom prst="rect">
            <a:avLst/>
          </a:prstGeom>
          <a:noFill/>
          <a:ln/>
        </p:spPr>
        <p:txBody>
          <a:bodyPr wrap="square" rtlCol="0" anchor="ctr"/>
          <a:lstStyle/>
          <a:p>
            <a:r>
              <a:rPr lang="en-US" sz="1200" b="1" dirty="0">
                <a:solidFill>
                  <a:srgbClr val="F76902"/>
                </a:solidFill>
                <a:latin typeface="Arial" pitchFamily="34" charset="0"/>
                <a:ea typeface="Arial" pitchFamily="34" charset="-122"/>
                <a:cs typeface="Arial" pitchFamily="34" charset="-120"/>
              </a:rPr>
              <a:t>Stroop</a:t>
            </a:r>
            <a:endParaRPr lang="en-US" sz="1200" dirty="0"/>
          </a:p>
        </p:txBody>
      </p:sp>
      <p:sp>
        <p:nvSpPr>
          <p:cNvPr id="9" name="Text 7"/>
          <p:cNvSpPr/>
          <p:nvPr/>
        </p:nvSpPr>
        <p:spPr>
          <a:xfrm>
            <a:off x="2196148" y="3291840"/>
            <a:ext cx="9509760" cy="640080"/>
          </a:xfrm>
          <a:prstGeom prst="rect">
            <a:avLst/>
          </a:prstGeom>
          <a:noFill/>
          <a:ln/>
        </p:spPr>
        <p:txBody>
          <a:bodyPr wrap="square" rtlCol="0" anchor="ctr"/>
          <a:lstStyle/>
          <a:p>
            <a:r>
              <a:rPr lang="en-US" sz="1200" dirty="0">
                <a:solidFill>
                  <a:srgbClr val="1A1A1A"/>
                </a:solidFill>
                <a:latin typeface="Arial" pitchFamily="34" charset="0"/>
                <a:ea typeface="Arial" pitchFamily="34" charset="-122"/>
                <a:cs typeface="Arial" pitchFamily="34" charset="-120"/>
              </a:rPr>
              <a:t>Stroop, J.R. (1935). Studies of interference in serial verbal reactions.</a:t>
            </a:r>
            <a:endParaRPr lang="en-US" sz="1200" dirty="0"/>
          </a:p>
        </p:txBody>
      </p:sp>
      <p:sp>
        <p:nvSpPr>
          <p:cNvPr id="10" name="Text 8"/>
          <p:cNvSpPr/>
          <p:nvPr/>
        </p:nvSpPr>
        <p:spPr>
          <a:xfrm>
            <a:off x="458788" y="4114800"/>
            <a:ext cx="1645920" cy="365760"/>
          </a:xfrm>
          <a:prstGeom prst="rect">
            <a:avLst/>
          </a:prstGeom>
          <a:noFill/>
          <a:ln/>
        </p:spPr>
        <p:txBody>
          <a:bodyPr wrap="square" rtlCol="0" anchor="ctr"/>
          <a:lstStyle/>
          <a:p>
            <a:r>
              <a:rPr lang="en-US" sz="1200" b="1" dirty="0">
                <a:solidFill>
                  <a:srgbClr val="F76902"/>
                </a:solidFill>
                <a:latin typeface="Arial" pitchFamily="34" charset="0"/>
                <a:ea typeface="Arial" pitchFamily="34" charset="-122"/>
                <a:cs typeface="Arial" pitchFamily="34" charset="-120"/>
              </a:rPr>
              <a:t>Software</a:t>
            </a:r>
            <a:endParaRPr lang="en-US" sz="1200" dirty="0"/>
          </a:p>
        </p:txBody>
      </p:sp>
      <p:sp>
        <p:nvSpPr>
          <p:cNvPr id="11" name="Text 9"/>
          <p:cNvSpPr/>
          <p:nvPr/>
        </p:nvSpPr>
        <p:spPr>
          <a:xfrm>
            <a:off x="2196148" y="4114800"/>
            <a:ext cx="9509760" cy="640080"/>
          </a:xfrm>
          <a:prstGeom prst="rect">
            <a:avLst/>
          </a:prstGeom>
          <a:noFill/>
          <a:ln/>
        </p:spPr>
        <p:txBody>
          <a:bodyPr wrap="square" rtlCol="0" anchor="ctr"/>
          <a:lstStyle/>
          <a:p>
            <a:r>
              <a:rPr lang="en-US" sz="1200" dirty="0">
                <a:solidFill>
                  <a:srgbClr val="1A1A1A"/>
                </a:solidFill>
                <a:latin typeface="Arial" pitchFamily="34" charset="0"/>
                <a:ea typeface="Arial" pitchFamily="34" charset="-122"/>
                <a:cs typeface="Arial" pitchFamily="34" charset="-120"/>
              </a:rPr>
              <a:t>Ledalab - http://www.ledalab.de/ (MATLAB toolbox)</a:t>
            </a:r>
            <a:endParaRPr lang="en-US" sz="1200" dirty="0"/>
          </a:p>
        </p:txBody>
      </p:sp>
      <p:sp>
        <p:nvSpPr>
          <p:cNvPr id="12" name="Text 10"/>
          <p:cNvSpPr/>
          <p:nvPr/>
        </p:nvSpPr>
        <p:spPr>
          <a:xfrm>
            <a:off x="458788" y="4937760"/>
            <a:ext cx="1645920" cy="365760"/>
          </a:xfrm>
          <a:prstGeom prst="rect">
            <a:avLst/>
          </a:prstGeom>
          <a:noFill/>
          <a:ln/>
        </p:spPr>
        <p:txBody>
          <a:bodyPr wrap="square" rtlCol="0" anchor="ctr"/>
          <a:lstStyle/>
          <a:p>
            <a:r>
              <a:rPr lang="en-US" sz="1200" b="1" dirty="0">
                <a:solidFill>
                  <a:srgbClr val="F76902"/>
                </a:solidFill>
                <a:latin typeface="Arial" pitchFamily="34" charset="0"/>
                <a:ea typeface="Arial" pitchFamily="34" charset="-122"/>
                <a:cs typeface="Arial" pitchFamily="34" charset="-120"/>
              </a:rPr>
              <a:t>Python</a:t>
            </a:r>
            <a:endParaRPr lang="en-US" sz="1200" dirty="0"/>
          </a:p>
        </p:txBody>
      </p:sp>
      <p:sp>
        <p:nvSpPr>
          <p:cNvPr id="13" name="Text 11"/>
          <p:cNvSpPr/>
          <p:nvPr/>
        </p:nvSpPr>
        <p:spPr>
          <a:xfrm>
            <a:off x="2196148" y="4937760"/>
            <a:ext cx="9509760" cy="640080"/>
          </a:xfrm>
          <a:prstGeom prst="rect">
            <a:avLst/>
          </a:prstGeom>
          <a:noFill/>
          <a:ln/>
        </p:spPr>
        <p:txBody>
          <a:bodyPr wrap="square" rtlCol="0" anchor="ctr"/>
          <a:lstStyle/>
          <a:p>
            <a:r>
              <a:rPr lang="en-US" sz="1200" dirty="0">
                <a:solidFill>
                  <a:srgbClr val="1A1A1A"/>
                </a:solidFill>
                <a:latin typeface="Arial" pitchFamily="34" charset="0"/>
                <a:ea typeface="Arial" pitchFamily="34" charset="-122"/>
                <a:cs typeface="Arial" pitchFamily="34" charset="-120"/>
              </a:rPr>
              <a:t>NeuroKit2 - https://neuropsychology.github.io/NeuroKit/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range Re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37267</TotalTime>
  <Words>2330</Words>
  <Application>Microsoft Macintosh PowerPoint</Application>
  <PresentationFormat>Widescreen</PresentationFormat>
  <Paragraphs>381</Paragraphs>
  <Slides>24</Slides>
  <Notes>23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Arial Black</vt:lpstr>
      <vt:lpstr>Calibri</vt:lpstr>
      <vt:lpstr>Office Theme</vt:lpstr>
      <vt:lpstr> BioRobotics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Adaptive Collaborative Robotics</dc:title>
  <dc:creator>Jamison Heard</dc:creator>
  <cp:lastModifiedBy>Jamison Heard</cp:lastModifiedBy>
  <cp:revision>493</cp:revision>
  <dcterms:created xsi:type="dcterms:W3CDTF">2019-02-26T17:25:21Z</dcterms:created>
  <dcterms:modified xsi:type="dcterms:W3CDTF">2026-02-16T14:22:03Z</dcterms:modified>
</cp:coreProperties>
</file>