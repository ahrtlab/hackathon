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  <p:sldMasterId id="2147483672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y="5143500" cx="9144000"/>
  <p:notesSz cx="6858000" cy="9144000"/>
  <p:embeddedFontLst>
    <p:embeddedFont>
      <p:font typeface="Gill Sans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A80942-54FC-410B-82C0-A46948659490}">
  <a:tblStyle styleId="{2DA80942-54FC-410B-82C0-A46948659490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font" Target="fonts/GillSans-regular.fntdata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23" Type="http://schemas.openxmlformats.org/officeDocument/2006/relationships/font" Target="fonts/GillSans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956abddc9e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956abddc9e_2_75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956abddc9e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g3956abddc9e_0_136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956abddc9e_2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3956abddc9e_2_8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56abddc9e_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g3956abddc9e_2_113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956abddc9e_2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956abddc9e_2_122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956abddc9e_2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956abddc9e_2_14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956abddc9e_2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g3956abddc9e_2_168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956abddc9e_2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956abddc9e_2_18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956abddc9e_2_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956abddc9e_2_210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956abddc9e_2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g3956abddc9e_2_229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956abddc9e_2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g3956abddc9e_2_254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956abddc9e_2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956abddc9e_2_27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956abddc9e_2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956abddc9e_2_296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g3956abddc9e_2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g3956abddc9e_2_307:notes"/>
          <p:cNvSpPr/>
          <p:nvPr>
            <p:ph idx="2" type="sldImg"/>
          </p:nvPr>
        </p:nvSpPr>
        <p:spPr>
          <a:xfrm>
            <a:off x="1143164" y="685800"/>
            <a:ext cx="4572347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1088684" y="603389"/>
            <a:ext cx="7202400" cy="786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1088684" y="1511799"/>
            <a:ext cx="7202400" cy="25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ts val="1400"/>
              <a:buChar char="•"/>
              <a:defRPr/>
            </a:lvl1pPr>
            <a:lvl2pPr indent="-317500" lvl="1" marL="914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2pPr>
            <a:lvl3pPr indent="-317500" lvl="2" marL="1371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3pPr>
            <a:lvl4pPr indent="-317500" lvl="3" marL="1828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5665604" y="247778"/>
            <a:ext cx="26256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1088684" y="246980"/>
            <a:ext cx="4454100" cy="23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360045" y="599230"/>
            <a:ext cx="608100" cy="3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  <a:defRPr b="0" i="0" sz="2100" u="none" cap="none" strike="noStrike">
                <a:solidFill>
                  <a:schemeClr val="accent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56" name="Google Shape;56;p13"/>
          <p:cNvCxnSpPr/>
          <p:nvPr/>
        </p:nvCxnSpPr>
        <p:spPr>
          <a:xfrm>
            <a:off x="1090422" y="1385316"/>
            <a:ext cx="7205700" cy="0"/>
          </a:xfrm>
          <a:prstGeom prst="straightConnector1">
            <a:avLst/>
          </a:prstGeom>
          <a:noFill/>
          <a:ln cap="flat" cmpd="sng" w="238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9" name="Google Shape;89;p1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1" name="Google Shape;91;p1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5" name="Google Shape;95;p20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6" name="Google Shape;96;p20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7" name="Google Shape;97;p20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8" name="Google Shape;98;p2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0" name="Google Shape;100;p2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9" name="Google Shape;109;p22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23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7" name="Google Shape;117;p2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5" name="Google Shape;125;p2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0" name="Google Shape;130;p2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1" name="Google Shape;131;p2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85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/>
          <p:nvPr/>
        </p:nvSpPr>
        <p:spPr>
          <a:xfrm>
            <a:off x="0" y="0"/>
            <a:ext cx="9144015" cy="6858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6"/>
          <p:cNvSpPr/>
          <p:nvPr/>
        </p:nvSpPr>
        <p:spPr>
          <a:xfrm>
            <a:off x="0" y="1371600"/>
            <a:ext cx="240036" cy="240030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6"/>
          <p:cNvSpPr/>
          <p:nvPr/>
        </p:nvSpPr>
        <p:spPr>
          <a:xfrm>
            <a:off x="8572729" y="685800"/>
            <a:ext cx="548655" cy="54864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6"/>
          <p:cNvSpPr/>
          <p:nvPr/>
        </p:nvSpPr>
        <p:spPr>
          <a:xfrm>
            <a:off x="8092656" y="822960"/>
            <a:ext cx="1028727" cy="54864"/>
          </a:xfrm>
          <a:prstGeom prst="rect">
            <a:avLst/>
          </a:prstGeom>
          <a:solidFill>
            <a:srgbClr val="008CA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6"/>
          <p:cNvSpPr txBox="1"/>
          <p:nvPr/>
        </p:nvSpPr>
        <p:spPr>
          <a:xfrm>
            <a:off x="822982" y="1508760"/>
            <a:ext cx="7544001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4100" u="none" cap="none" strike="noStrike">
                <a:solidFill>
                  <a:srgbClr val="00B4C8"/>
                </a:solidFill>
                <a:latin typeface="Calibri"/>
                <a:ea typeface="Calibri"/>
                <a:cs typeface="Calibri"/>
                <a:sym typeface="Calibri"/>
              </a:rPr>
              <a:t>BioRadio</a:t>
            </a:r>
            <a:r>
              <a:rPr b="1" i="0" lang="en" sz="4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Hackathon 2026</a:t>
            </a:r>
            <a:endParaRPr sz="1100"/>
          </a:p>
        </p:txBody>
      </p:sp>
      <p:sp>
        <p:nvSpPr>
          <p:cNvPr id="141" name="Google Shape;141;p26"/>
          <p:cNvSpPr/>
          <p:nvPr/>
        </p:nvSpPr>
        <p:spPr>
          <a:xfrm>
            <a:off x="3086182" y="3223260"/>
            <a:ext cx="2949019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6"/>
          <p:cNvSpPr txBox="1"/>
          <p:nvPr/>
        </p:nvSpPr>
        <p:spPr>
          <a:xfrm>
            <a:off x="1371637" y="3497580"/>
            <a:ext cx="61723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00B4C8"/>
                </a:solidFill>
                <a:latin typeface="Calibri"/>
                <a:ea typeface="Calibri"/>
                <a:cs typeface="Calibri"/>
                <a:sym typeface="Calibri"/>
              </a:rPr>
              <a:t>⏱  </a:t>
            </a:r>
            <a:r>
              <a:rPr b="1" i="0" lang="en" sz="1800" u="none" cap="none" strike="noStrike">
                <a:solidFill>
                  <a:srgbClr val="B4C8DC"/>
                </a:solidFill>
                <a:latin typeface="Calibri"/>
                <a:ea typeface="Calibri"/>
                <a:cs typeface="Calibri"/>
                <a:sym typeface="Calibri"/>
              </a:rPr>
              <a:t>24-Hour Build Challenge</a:t>
            </a:r>
            <a:endParaRPr sz="1100"/>
          </a:p>
        </p:txBody>
      </p:sp>
      <p:sp>
        <p:nvSpPr>
          <p:cNvPr id="143" name="Google Shape;143;p26"/>
          <p:cNvSpPr/>
          <p:nvPr/>
        </p:nvSpPr>
        <p:spPr>
          <a:xfrm>
            <a:off x="0" y="5074920"/>
            <a:ext cx="9144015" cy="6858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 txBox="1"/>
          <p:nvPr/>
        </p:nvSpPr>
        <p:spPr>
          <a:xfrm>
            <a:off x="8092656" y="4834890"/>
            <a:ext cx="8229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7896"/>
                </a:solidFill>
                <a:latin typeface="Calibri"/>
                <a:ea typeface="Calibri"/>
                <a:cs typeface="Calibri"/>
                <a:sym typeface="Calibri"/>
              </a:rPr>
              <a:t>1 / 14</a:t>
            </a:r>
            <a:endParaRPr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7"/>
          <p:cNvSpPr/>
          <p:nvPr/>
        </p:nvSpPr>
        <p:spPr>
          <a:xfrm>
            <a:off x="0" y="0"/>
            <a:ext cx="68700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7"/>
          <p:cNvSpPr/>
          <p:nvPr/>
        </p:nvSpPr>
        <p:spPr>
          <a:xfrm>
            <a:off x="0" y="857250"/>
            <a:ext cx="9144000" cy="2730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7"/>
          <p:cNvSpPr/>
          <p:nvPr/>
        </p:nvSpPr>
        <p:spPr>
          <a:xfrm>
            <a:off x="0" y="5109210"/>
            <a:ext cx="9144000" cy="34200"/>
          </a:xfrm>
          <a:prstGeom prst="rect">
            <a:avLst/>
          </a:prstGeom>
          <a:solidFill>
            <a:srgbClr val="142850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7"/>
          <p:cNvSpPr txBox="1"/>
          <p:nvPr/>
        </p:nvSpPr>
        <p:spPr>
          <a:xfrm>
            <a:off x="411491" y="240030"/>
            <a:ext cx="78870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Schedule</a:t>
            </a:r>
            <a:endParaRPr sz="1100"/>
          </a:p>
        </p:txBody>
      </p:sp>
      <p:sp>
        <p:nvSpPr>
          <p:cNvPr id="153" name="Google Shape;153;p27"/>
          <p:cNvSpPr txBox="1"/>
          <p:nvPr/>
        </p:nvSpPr>
        <p:spPr>
          <a:xfrm>
            <a:off x="8092656" y="4834890"/>
            <a:ext cx="82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2 / 14</a:t>
            </a:r>
            <a:endParaRPr sz="1100"/>
          </a:p>
        </p:txBody>
      </p:sp>
      <p:sp>
        <p:nvSpPr>
          <p:cNvPr id="154" name="Google Shape;154;p27"/>
          <p:cNvSpPr txBox="1"/>
          <p:nvPr>
            <p:ph idx="4294967295" type="body"/>
          </p:nvPr>
        </p:nvSpPr>
        <p:spPr>
          <a:xfrm>
            <a:off x="1088684" y="1511799"/>
            <a:ext cx="7202400" cy="2588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7500" lnSpcReduction="20000"/>
          </a:bodyPr>
          <a:lstStyle/>
          <a:p>
            <a:pPr indent="-150018" lvl="0" marL="1778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62500"/>
              <a:buChar char="•"/>
            </a:pPr>
            <a:r>
              <a:rPr lang="en"/>
              <a:t>Thursday</a:t>
            </a:r>
            <a:endParaRPr/>
          </a:p>
          <a:p>
            <a:pPr indent="-157797" lvl="1" marL="5207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ct val="66666"/>
              <a:buChar char="•"/>
            </a:pPr>
            <a:r>
              <a:rPr lang="en"/>
              <a:t>Intro to Fall 2025 Hackathon</a:t>
            </a:r>
            <a:endParaRPr/>
          </a:p>
          <a:p>
            <a:pPr indent="-150018" lvl="0" marL="177800" rtl="0" algn="l">
              <a:lnSpc>
                <a:spcPct val="120000"/>
              </a:lnSpc>
              <a:spcBef>
                <a:spcPts val="800"/>
              </a:spcBef>
              <a:spcAft>
                <a:spcPts val="0"/>
              </a:spcAft>
              <a:buSzPct val="62500"/>
              <a:buChar char="•"/>
            </a:pPr>
            <a:r>
              <a:rPr lang="en"/>
              <a:t>Friday</a:t>
            </a:r>
            <a:endParaRPr/>
          </a:p>
          <a:p>
            <a:pPr indent="-157797" lvl="1" marL="5207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ct val="66666"/>
              <a:buChar char="•"/>
            </a:pPr>
            <a:r>
              <a:rPr lang="en"/>
              <a:t>Breakfast 8:30 am</a:t>
            </a:r>
            <a:endParaRPr/>
          </a:p>
          <a:p>
            <a:pPr indent="-157797" lvl="1" marL="5207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ct val="66666"/>
              <a:buChar char="•"/>
            </a:pPr>
            <a:r>
              <a:rPr lang="en"/>
              <a:t>Lunch 12:00 pm</a:t>
            </a:r>
            <a:endParaRPr/>
          </a:p>
          <a:p>
            <a:pPr indent="-157797" lvl="1" marL="5207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ct val="66666"/>
              <a:buChar char="•"/>
            </a:pPr>
            <a:r>
              <a:rPr lang="en"/>
              <a:t>Hackathon Finish, 5:00 pm</a:t>
            </a:r>
            <a:endParaRPr/>
          </a:p>
          <a:p>
            <a:pPr indent="-157797" lvl="1" marL="5207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ct val="66666"/>
              <a:buChar char="•"/>
            </a:pPr>
            <a:r>
              <a:rPr lang="en"/>
              <a:t>Dinner 5:00 pm</a:t>
            </a:r>
            <a:endParaRPr/>
          </a:p>
          <a:p>
            <a:pPr indent="-157797" lvl="1" marL="520700" rtl="0" algn="l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SzPct val="66666"/>
              <a:buChar char="•"/>
            </a:pPr>
            <a:r>
              <a:rPr lang="en"/>
              <a:t>Presentation – 5:00-6:30 pm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/>
          <p:nvPr/>
        </p:nvSpPr>
        <p:spPr>
          <a:xfrm>
            <a:off x="0" y="0"/>
            <a:ext cx="6858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8"/>
          <p:cNvSpPr/>
          <p:nvPr/>
        </p:nvSpPr>
        <p:spPr>
          <a:xfrm>
            <a:off x="0" y="857250"/>
            <a:ext cx="9144015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8"/>
          <p:cNvSpPr/>
          <p:nvPr/>
        </p:nvSpPr>
        <p:spPr>
          <a:xfrm>
            <a:off x="0" y="5109210"/>
            <a:ext cx="9144015" cy="34290"/>
          </a:xfrm>
          <a:prstGeom prst="rect">
            <a:avLst/>
          </a:prstGeom>
          <a:solidFill>
            <a:srgbClr val="1428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411491" y="240030"/>
            <a:ext cx="788691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What You'll Build</a:t>
            </a:r>
            <a:endParaRPr sz="1100"/>
          </a:p>
        </p:txBody>
      </p:sp>
      <p:sp>
        <p:nvSpPr>
          <p:cNvPr id="163" name="Google Shape;163;p28"/>
          <p:cNvSpPr txBox="1"/>
          <p:nvPr/>
        </p:nvSpPr>
        <p:spPr>
          <a:xfrm>
            <a:off x="8092656" y="4834890"/>
            <a:ext cx="8229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2 / 14</a:t>
            </a:r>
            <a:endParaRPr sz="1100"/>
          </a:p>
        </p:txBody>
      </p:sp>
      <p:sp>
        <p:nvSpPr>
          <p:cNvPr id="164" name="Google Shape;164;p28"/>
          <p:cNvSpPr/>
          <p:nvPr/>
        </p:nvSpPr>
        <p:spPr>
          <a:xfrm>
            <a:off x="480073" y="1371600"/>
            <a:ext cx="1645964" cy="1097280"/>
          </a:xfrm>
          <a:prstGeom prst="roundRect">
            <a:avLst>
              <a:gd fmla="val 5000" name="adj"/>
            </a:avLst>
          </a:prstGeom>
          <a:solidFill>
            <a:srgbClr val="E6F8FA"/>
          </a:solidFill>
          <a:ln cap="flat" cmpd="sng" w="19050">
            <a:solidFill>
              <a:srgbClr val="00B4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548655" y="1508760"/>
            <a:ext cx="150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Biosignals</a:t>
            </a:r>
            <a:endParaRPr sz="1100"/>
          </a:p>
        </p:txBody>
      </p:sp>
      <p:sp>
        <p:nvSpPr>
          <p:cNvPr id="166" name="Google Shape;166;p28"/>
          <p:cNvSpPr txBox="1"/>
          <p:nvPr/>
        </p:nvSpPr>
        <p:spPr>
          <a:xfrm>
            <a:off x="548655" y="2057400"/>
            <a:ext cx="150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(BioRadio)</a:t>
            </a:r>
            <a:endParaRPr sz="1100"/>
          </a:p>
        </p:txBody>
      </p:sp>
      <p:sp>
        <p:nvSpPr>
          <p:cNvPr id="167" name="Google Shape;167;p28"/>
          <p:cNvSpPr/>
          <p:nvPr/>
        </p:nvSpPr>
        <p:spPr>
          <a:xfrm>
            <a:off x="2194619" y="1817370"/>
            <a:ext cx="411491" cy="205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8"/>
          <p:cNvSpPr/>
          <p:nvPr/>
        </p:nvSpPr>
        <p:spPr>
          <a:xfrm>
            <a:off x="2708982" y="1371600"/>
            <a:ext cx="1645964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9050">
            <a:solidFill>
              <a:srgbClr val="B4C8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8"/>
          <p:cNvSpPr txBox="1"/>
          <p:nvPr/>
        </p:nvSpPr>
        <p:spPr>
          <a:xfrm>
            <a:off x="2777564" y="1508760"/>
            <a:ext cx="150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Feature</a:t>
            </a:r>
            <a:br>
              <a:rPr b="1" i="0" lang="en" sz="1500" u="none" cap="none" strike="noStrike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500" u="none" cap="none" strike="noStrike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Extraction</a:t>
            </a:r>
            <a:endParaRPr sz="1100"/>
          </a:p>
        </p:txBody>
      </p:sp>
      <p:sp>
        <p:nvSpPr>
          <p:cNvPr id="170" name="Google Shape;170;p28"/>
          <p:cNvSpPr txBox="1"/>
          <p:nvPr/>
        </p:nvSpPr>
        <p:spPr>
          <a:xfrm>
            <a:off x="2777564" y="2057400"/>
            <a:ext cx="150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(your code)</a:t>
            </a:r>
            <a:endParaRPr sz="1100"/>
          </a:p>
        </p:txBody>
      </p:sp>
      <p:sp>
        <p:nvSpPr>
          <p:cNvPr id="171" name="Google Shape;171;p28"/>
          <p:cNvSpPr/>
          <p:nvPr/>
        </p:nvSpPr>
        <p:spPr>
          <a:xfrm>
            <a:off x="4423528" y="1817370"/>
            <a:ext cx="411491" cy="205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8"/>
          <p:cNvSpPr/>
          <p:nvPr/>
        </p:nvSpPr>
        <p:spPr>
          <a:xfrm>
            <a:off x="4937892" y="1371600"/>
            <a:ext cx="1645964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9050">
            <a:solidFill>
              <a:srgbClr val="B4C8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8"/>
          <p:cNvSpPr txBox="1"/>
          <p:nvPr/>
        </p:nvSpPr>
        <p:spPr>
          <a:xfrm>
            <a:off x="5006473" y="1508760"/>
            <a:ext cx="150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ML</a:t>
            </a:r>
            <a:br>
              <a:rPr b="1" i="0" lang="en" sz="1500" u="none" cap="none" strike="noStrike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500" u="none" cap="none" strike="noStrike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Classifier</a:t>
            </a:r>
            <a:endParaRPr sz="1100"/>
          </a:p>
        </p:txBody>
      </p:sp>
      <p:sp>
        <p:nvSpPr>
          <p:cNvPr id="174" name="Google Shape;174;p28"/>
          <p:cNvSpPr txBox="1"/>
          <p:nvPr/>
        </p:nvSpPr>
        <p:spPr>
          <a:xfrm>
            <a:off x="5006473" y="2057400"/>
            <a:ext cx="150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(trained model)</a:t>
            </a:r>
            <a:endParaRPr sz="1100"/>
          </a:p>
        </p:txBody>
      </p:sp>
      <p:sp>
        <p:nvSpPr>
          <p:cNvPr id="175" name="Google Shape;175;p28"/>
          <p:cNvSpPr/>
          <p:nvPr/>
        </p:nvSpPr>
        <p:spPr>
          <a:xfrm>
            <a:off x="6652437" y="1817370"/>
            <a:ext cx="411491" cy="20574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8"/>
          <p:cNvSpPr/>
          <p:nvPr/>
        </p:nvSpPr>
        <p:spPr>
          <a:xfrm>
            <a:off x="7166801" y="1371600"/>
            <a:ext cx="1645964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9050">
            <a:solidFill>
              <a:srgbClr val="B4C8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8"/>
          <p:cNvSpPr txBox="1"/>
          <p:nvPr/>
        </p:nvSpPr>
        <p:spPr>
          <a:xfrm>
            <a:off x="7235383" y="1508760"/>
            <a:ext cx="1508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br>
              <a:rPr b="1" i="0" lang="en" sz="1500" u="none" cap="none" strike="noStrike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500" u="none" cap="none" strike="noStrike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 sz="1100"/>
          </a:p>
        </p:txBody>
      </p:sp>
      <p:sp>
        <p:nvSpPr>
          <p:cNvPr id="178" name="Google Shape;178;p28"/>
          <p:cNvSpPr txBox="1"/>
          <p:nvPr/>
        </p:nvSpPr>
        <p:spPr>
          <a:xfrm>
            <a:off x="7235383" y="2057400"/>
            <a:ext cx="1508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(your choice)</a:t>
            </a:r>
            <a:endParaRPr sz="1100"/>
          </a:p>
        </p:txBody>
      </p:sp>
      <p:sp>
        <p:nvSpPr>
          <p:cNvPr id="179" name="Google Shape;179;p28"/>
          <p:cNvSpPr txBox="1"/>
          <p:nvPr/>
        </p:nvSpPr>
        <p:spPr>
          <a:xfrm>
            <a:off x="548655" y="2948940"/>
            <a:ext cx="788691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B4C8"/>
                </a:solidFill>
                <a:latin typeface="Calibri"/>
                <a:ea typeface="Calibri"/>
                <a:cs typeface="Calibri"/>
                <a:sym typeface="Calibri"/>
              </a:rPr>
              <a:t>Collect biosignal data</a:t>
            </a:r>
            <a:r>
              <a:rPr lang="en" sz="17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b="1" lang="en" sz="1700">
                <a:solidFill>
                  <a:srgbClr val="00B4C8"/>
                </a:solidFill>
                <a:latin typeface="Calibri"/>
                <a:ea typeface="Calibri"/>
                <a:cs typeface="Calibri"/>
                <a:sym typeface="Calibri"/>
              </a:rPr>
              <a:t>train a classifier</a:t>
            </a:r>
            <a:r>
              <a:rPr lang="en" sz="17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, and use the output to </a:t>
            </a:r>
            <a:r>
              <a:rPr b="1" lang="en" sz="1700">
                <a:solidFill>
                  <a:srgbClr val="00B4C8"/>
                </a:solidFill>
                <a:latin typeface="Calibri"/>
                <a:ea typeface="Calibri"/>
                <a:cs typeface="Calibri"/>
                <a:sym typeface="Calibri"/>
              </a:rPr>
              <a:t>control something in real-time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9"/>
          <p:cNvSpPr/>
          <p:nvPr/>
        </p:nvSpPr>
        <p:spPr>
          <a:xfrm>
            <a:off x="0" y="0"/>
            <a:ext cx="6858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9"/>
          <p:cNvSpPr/>
          <p:nvPr/>
        </p:nvSpPr>
        <p:spPr>
          <a:xfrm>
            <a:off x="0" y="857250"/>
            <a:ext cx="9144015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9"/>
          <p:cNvSpPr/>
          <p:nvPr/>
        </p:nvSpPr>
        <p:spPr>
          <a:xfrm>
            <a:off x="0" y="5109210"/>
            <a:ext cx="9144015" cy="34290"/>
          </a:xfrm>
          <a:prstGeom prst="rect">
            <a:avLst/>
          </a:prstGeom>
          <a:solidFill>
            <a:srgbClr val="1428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411491" y="240030"/>
            <a:ext cx="788691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Signal Types Available</a:t>
            </a:r>
            <a:endParaRPr sz="1100"/>
          </a:p>
        </p:txBody>
      </p:sp>
      <p:sp>
        <p:nvSpPr>
          <p:cNvPr id="188" name="Google Shape;188;p29"/>
          <p:cNvSpPr txBox="1"/>
          <p:nvPr/>
        </p:nvSpPr>
        <p:spPr>
          <a:xfrm>
            <a:off x="8092656" y="4834890"/>
            <a:ext cx="8229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3 / 14</a:t>
            </a:r>
            <a:endParaRPr sz="1100"/>
          </a:p>
        </p:txBody>
      </p:sp>
      <p:graphicFrame>
        <p:nvGraphicFramePr>
          <p:cNvPr id="189" name="Google Shape;189;p29"/>
          <p:cNvGraphicFramePr/>
          <p:nvPr/>
        </p:nvGraphicFramePr>
        <p:xfrm>
          <a:off x="617236" y="1165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{2DA80942-54FC-410B-82C0-A46948659490}</a:tableStyleId>
              </a:tblPr>
              <a:tblGrid>
                <a:gridCol w="1234475"/>
                <a:gridCol w="2743250"/>
                <a:gridCol w="3429075"/>
              </a:tblGrid>
              <a:tr h="5143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Signal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F1E3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1E3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1E3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It Measures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F1E3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1E3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1E3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Typical Use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F1E3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1E3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1E3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850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EMG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Muscle electrical activity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Gesture control, prosthetics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EOG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Eye movement &amp; blinks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Gaze control, blink detection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GSR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Skin conductance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Stress detection, arousal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0"/>
          <p:cNvSpPr/>
          <p:nvPr/>
        </p:nvSpPr>
        <p:spPr>
          <a:xfrm>
            <a:off x="0" y="0"/>
            <a:ext cx="6858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30"/>
          <p:cNvSpPr/>
          <p:nvPr/>
        </p:nvSpPr>
        <p:spPr>
          <a:xfrm>
            <a:off x="0" y="857250"/>
            <a:ext cx="9144015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30"/>
          <p:cNvSpPr/>
          <p:nvPr/>
        </p:nvSpPr>
        <p:spPr>
          <a:xfrm>
            <a:off x="0" y="5109210"/>
            <a:ext cx="9144015" cy="34290"/>
          </a:xfrm>
          <a:prstGeom prst="rect">
            <a:avLst/>
          </a:prstGeom>
          <a:solidFill>
            <a:srgbClr val="1428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411491" y="240030"/>
            <a:ext cx="788691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The Hackathon Pipeline</a:t>
            </a:r>
            <a:endParaRPr sz="1100"/>
          </a:p>
        </p:txBody>
      </p:sp>
      <p:sp>
        <p:nvSpPr>
          <p:cNvPr id="198" name="Google Shape;198;p30"/>
          <p:cNvSpPr txBox="1"/>
          <p:nvPr/>
        </p:nvSpPr>
        <p:spPr>
          <a:xfrm>
            <a:off x="8092656" y="4834890"/>
            <a:ext cx="8229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4 / 14</a:t>
            </a:r>
            <a:endParaRPr sz="1100"/>
          </a:p>
        </p:txBody>
      </p:sp>
      <p:sp>
        <p:nvSpPr>
          <p:cNvPr id="199" name="Google Shape;199;p30"/>
          <p:cNvSpPr/>
          <p:nvPr/>
        </p:nvSpPr>
        <p:spPr>
          <a:xfrm>
            <a:off x="548655" y="1200150"/>
            <a:ext cx="377200" cy="377190"/>
          </a:xfrm>
          <a:prstGeom prst="ellipse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200" name="Google Shape;200;p30"/>
          <p:cNvSpPr/>
          <p:nvPr/>
        </p:nvSpPr>
        <p:spPr>
          <a:xfrm>
            <a:off x="720109" y="1584198"/>
            <a:ext cx="27433" cy="308610"/>
          </a:xfrm>
          <a:prstGeom prst="rect">
            <a:avLst/>
          </a:prstGeom>
          <a:solidFill>
            <a:srgbClr val="B4DC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30"/>
          <p:cNvSpPr txBox="1"/>
          <p:nvPr/>
        </p:nvSpPr>
        <p:spPr>
          <a:xfrm>
            <a:off x="1097309" y="1165860"/>
            <a:ext cx="72010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Data Collection</a:t>
            </a:r>
            <a:r>
              <a:rPr lang="en" sz="14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  —  Use the hackathon GUI to record labeled training data</a:t>
            </a:r>
            <a:endParaRPr sz="1100"/>
          </a:p>
        </p:txBody>
      </p:sp>
      <p:sp>
        <p:nvSpPr>
          <p:cNvPr id="202" name="Google Shape;202;p30"/>
          <p:cNvSpPr/>
          <p:nvPr/>
        </p:nvSpPr>
        <p:spPr>
          <a:xfrm>
            <a:off x="548655" y="1885950"/>
            <a:ext cx="377200" cy="377190"/>
          </a:xfrm>
          <a:prstGeom prst="ellipse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203" name="Google Shape;203;p30"/>
          <p:cNvSpPr/>
          <p:nvPr/>
        </p:nvSpPr>
        <p:spPr>
          <a:xfrm>
            <a:off x="720109" y="2269998"/>
            <a:ext cx="27433" cy="308610"/>
          </a:xfrm>
          <a:prstGeom prst="rect">
            <a:avLst/>
          </a:prstGeom>
          <a:solidFill>
            <a:srgbClr val="B4DC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0"/>
          <p:cNvSpPr txBox="1"/>
          <p:nvPr/>
        </p:nvSpPr>
        <p:spPr>
          <a:xfrm>
            <a:off x="1097309" y="1851660"/>
            <a:ext cx="72010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Feature Extraction</a:t>
            </a:r>
            <a:r>
              <a:rPr lang="en" sz="14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  —  Extract features (RMS, frequency bands, zero crossings, etc.)</a:t>
            </a:r>
            <a:endParaRPr sz="1100"/>
          </a:p>
        </p:txBody>
      </p:sp>
      <p:sp>
        <p:nvSpPr>
          <p:cNvPr id="205" name="Google Shape;205;p30"/>
          <p:cNvSpPr/>
          <p:nvPr/>
        </p:nvSpPr>
        <p:spPr>
          <a:xfrm>
            <a:off x="548655" y="2571750"/>
            <a:ext cx="377200" cy="377190"/>
          </a:xfrm>
          <a:prstGeom prst="ellipse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206" name="Google Shape;206;p30"/>
          <p:cNvSpPr/>
          <p:nvPr/>
        </p:nvSpPr>
        <p:spPr>
          <a:xfrm>
            <a:off x="720109" y="2955798"/>
            <a:ext cx="27433" cy="308610"/>
          </a:xfrm>
          <a:prstGeom prst="rect">
            <a:avLst/>
          </a:prstGeom>
          <a:solidFill>
            <a:srgbClr val="B4DC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1097309" y="2537460"/>
            <a:ext cx="72010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Model Training</a:t>
            </a:r>
            <a:r>
              <a:rPr lang="en" sz="14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  —  Train a classifier (scikit-learn, PyTorch, TensorFlow, etc.)</a:t>
            </a:r>
            <a:endParaRPr sz="1100"/>
          </a:p>
        </p:txBody>
      </p:sp>
      <p:sp>
        <p:nvSpPr>
          <p:cNvPr id="208" name="Google Shape;208;p30"/>
          <p:cNvSpPr/>
          <p:nvPr/>
        </p:nvSpPr>
        <p:spPr>
          <a:xfrm>
            <a:off x="548655" y="3257550"/>
            <a:ext cx="377200" cy="377190"/>
          </a:xfrm>
          <a:prstGeom prst="ellipse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sp>
        <p:nvSpPr>
          <p:cNvPr id="209" name="Google Shape;209;p30"/>
          <p:cNvSpPr/>
          <p:nvPr/>
        </p:nvSpPr>
        <p:spPr>
          <a:xfrm>
            <a:off x="720109" y="3641598"/>
            <a:ext cx="27433" cy="308610"/>
          </a:xfrm>
          <a:prstGeom prst="rect">
            <a:avLst/>
          </a:prstGeom>
          <a:solidFill>
            <a:srgbClr val="B4DC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0"/>
          <p:cNvSpPr txBox="1"/>
          <p:nvPr/>
        </p:nvSpPr>
        <p:spPr>
          <a:xfrm>
            <a:off x="1097309" y="3223260"/>
            <a:ext cx="72010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Real-Time Inference</a:t>
            </a:r>
            <a:r>
              <a:rPr lang="en" sz="14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  —  Run your model on live BioRadio data</a:t>
            </a:r>
            <a:endParaRPr sz="1100"/>
          </a:p>
        </p:txBody>
      </p:sp>
      <p:sp>
        <p:nvSpPr>
          <p:cNvPr id="211" name="Google Shape;211;p30"/>
          <p:cNvSpPr/>
          <p:nvPr/>
        </p:nvSpPr>
        <p:spPr>
          <a:xfrm>
            <a:off x="548655" y="3943350"/>
            <a:ext cx="377200" cy="377190"/>
          </a:xfrm>
          <a:prstGeom prst="ellipse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/>
          </a:p>
        </p:txBody>
      </p:sp>
      <p:sp>
        <p:nvSpPr>
          <p:cNvPr id="212" name="Google Shape;212;p30"/>
          <p:cNvSpPr txBox="1"/>
          <p:nvPr/>
        </p:nvSpPr>
        <p:spPr>
          <a:xfrm>
            <a:off x="1097309" y="3909060"/>
            <a:ext cx="720109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Control</a:t>
            </a:r>
            <a:r>
              <a:rPr lang="en" sz="14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  —  Map classifier outputs to actions in your chosen system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1"/>
          <p:cNvSpPr/>
          <p:nvPr/>
        </p:nvSpPr>
        <p:spPr>
          <a:xfrm>
            <a:off x="0" y="0"/>
            <a:ext cx="6858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1"/>
          <p:cNvSpPr/>
          <p:nvPr/>
        </p:nvSpPr>
        <p:spPr>
          <a:xfrm>
            <a:off x="0" y="857250"/>
            <a:ext cx="9144015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1"/>
          <p:cNvSpPr/>
          <p:nvPr/>
        </p:nvSpPr>
        <p:spPr>
          <a:xfrm>
            <a:off x="0" y="5109210"/>
            <a:ext cx="9144015" cy="34290"/>
          </a:xfrm>
          <a:prstGeom prst="rect">
            <a:avLst/>
          </a:prstGeom>
          <a:solidFill>
            <a:srgbClr val="1428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411491" y="240030"/>
            <a:ext cx="788691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sz="1100"/>
          </a:p>
        </p:txBody>
      </p:sp>
      <p:sp>
        <p:nvSpPr>
          <p:cNvPr id="221" name="Google Shape;221;p31"/>
          <p:cNvSpPr txBox="1"/>
          <p:nvPr/>
        </p:nvSpPr>
        <p:spPr>
          <a:xfrm>
            <a:off x="8092656" y="4834890"/>
            <a:ext cx="8229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5 / 14</a:t>
            </a:r>
            <a:endParaRPr sz="1100"/>
          </a:p>
        </p:txBody>
      </p:sp>
      <p:sp>
        <p:nvSpPr>
          <p:cNvPr id="222" name="Google Shape;222;p31"/>
          <p:cNvSpPr/>
          <p:nvPr/>
        </p:nvSpPr>
        <p:spPr>
          <a:xfrm>
            <a:off x="548655" y="1234440"/>
            <a:ext cx="7886910" cy="65151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C8D7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31"/>
          <p:cNvSpPr/>
          <p:nvPr/>
        </p:nvSpPr>
        <p:spPr>
          <a:xfrm>
            <a:off x="548655" y="1234440"/>
            <a:ext cx="54865" cy="65151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1"/>
          <p:cNvSpPr/>
          <p:nvPr/>
        </p:nvSpPr>
        <p:spPr>
          <a:xfrm>
            <a:off x="788691" y="1371600"/>
            <a:ext cx="342909" cy="342900"/>
          </a:xfrm>
          <a:prstGeom prst="ellipse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/>
          </a:p>
        </p:txBody>
      </p:sp>
      <p:sp>
        <p:nvSpPr>
          <p:cNvPr id="225" name="Google Shape;225;p31"/>
          <p:cNvSpPr txBox="1"/>
          <p:nvPr/>
        </p:nvSpPr>
        <p:spPr>
          <a:xfrm>
            <a:off x="1303055" y="1357884"/>
            <a:ext cx="6858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Classifier must run in real-time </a:t>
            </a:r>
            <a:endParaRPr sz="1100"/>
          </a:p>
        </p:txBody>
      </p:sp>
      <p:sp>
        <p:nvSpPr>
          <p:cNvPr id="226" name="Google Shape;226;p31"/>
          <p:cNvSpPr/>
          <p:nvPr/>
        </p:nvSpPr>
        <p:spPr>
          <a:xfrm>
            <a:off x="548655" y="2057400"/>
            <a:ext cx="7886910" cy="65151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C8D7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31"/>
          <p:cNvSpPr/>
          <p:nvPr/>
        </p:nvSpPr>
        <p:spPr>
          <a:xfrm>
            <a:off x="548655" y="2057400"/>
            <a:ext cx="54865" cy="65151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1"/>
          <p:cNvSpPr/>
          <p:nvPr/>
        </p:nvSpPr>
        <p:spPr>
          <a:xfrm>
            <a:off x="788691" y="2194560"/>
            <a:ext cx="342909" cy="342900"/>
          </a:xfrm>
          <a:prstGeom prst="ellipse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/>
          </a:p>
        </p:txBody>
      </p:sp>
      <p:sp>
        <p:nvSpPr>
          <p:cNvPr id="229" name="Google Shape;229;p31"/>
          <p:cNvSpPr txBox="1"/>
          <p:nvPr/>
        </p:nvSpPr>
        <p:spPr>
          <a:xfrm>
            <a:off x="1303055" y="2180844"/>
            <a:ext cx="6858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Data must come from the BioRadio</a:t>
            </a:r>
            <a:endParaRPr sz="1100"/>
          </a:p>
        </p:txBody>
      </p:sp>
      <p:sp>
        <p:nvSpPr>
          <p:cNvPr id="230" name="Google Shape;230;p31"/>
          <p:cNvSpPr/>
          <p:nvPr/>
        </p:nvSpPr>
        <p:spPr>
          <a:xfrm>
            <a:off x="548655" y="2880360"/>
            <a:ext cx="7886910" cy="65151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C8D7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1"/>
          <p:cNvSpPr/>
          <p:nvPr/>
        </p:nvSpPr>
        <p:spPr>
          <a:xfrm>
            <a:off x="548655" y="2880360"/>
            <a:ext cx="54865" cy="65151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1"/>
          <p:cNvSpPr/>
          <p:nvPr/>
        </p:nvSpPr>
        <p:spPr>
          <a:xfrm>
            <a:off x="788691" y="3017520"/>
            <a:ext cx="342909" cy="342900"/>
          </a:xfrm>
          <a:prstGeom prst="ellipse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/>
          </a:p>
        </p:txBody>
      </p:sp>
      <p:sp>
        <p:nvSpPr>
          <p:cNvPr id="233" name="Google Shape;233;p31"/>
          <p:cNvSpPr txBox="1"/>
          <p:nvPr/>
        </p:nvSpPr>
        <p:spPr>
          <a:xfrm>
            <a:off x="1303055" y="3003804"/>
            <a:ext cx="68583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You may collect your own data or use data online (WARNING about ONLINE)</a:t>
            </a:r>
            <a:endParaRPr sz="1100"/>
          </a:p>
        </p:txBody>
      </p:sp>
      <p:sp>
        <p:nvSpPr>
          <p:cNvPr id="234" name="Google Shape;234;p31"/>
          <p:cNvSpPr/>
          <p:nvPr/>
        </p:nvSpPr>
        <p:spPr>
          <a:xfrm>
            <a:off x="548655" y="3703320"/>
            <a:ext cx="7886910" cy="65151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12700">
            <a:solidFill>
              <a:srgbClr val="C8D7E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31"/>
          <p:cNvSpPr/>
          <p:nvPr/>
        </p:nvSpPr>
        <p:spPr>
          <a:xfrm>
            <a:off x="548655" y="3703320"/>
            <a:ext cx="54865" cy="65151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1"/>
          <p:cNvSpPr/>
          <p:nvPr/>
        </p:nvSpPr>
        <p:spPr>
          <a:xfrm>
            <a:off x="788691" y="3840480"/>
            <a:ext cx="342909" cy="342900"/>
          </a:xfrm>
          <a:prstGeom prst="ellipse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/>
          </a:p>
        </p:txBody>
      </p:sp>
      <p:sp>
        <p:nvSpPr>
          <p:cNvPr id="237" name="Google Shape;237;p31"/>
          <p:cNvSpPr txBox="1"/>
          <p:nvPr/>
        </p:nvSpPr>
        <p:spPr>
          <a:xfrm>
            <a:off x="1303055" y="3826764"/>
            <a:ext cx="685818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Any ML framework and any control target are allowed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32"/>
          <p:cNvSpPr/>
          <p:nvPr/>
        </p:nvSpPr>
        <p:spPr>
          <a:xfrm>
            <a:off x="0" y="0"/>
            <a:ext cx="6858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2"/>
          <p:cNvSpPr/>
          <p:nvPr/>
        </p:nvSpPr>
        <p:spPr>
          <a:xfrm>
            <a:off x="0" y="857250"/>
            <a:ext cx="9144015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32"/>
          <p:cNvSpPr/>
          <p:nvPr/>
        </p:nvSpPr>
        <p:spPr>
          <a:xfrm>
            <a:off x="0" y="5109210"/>
            <a:ext cx="9144015" cy="34290"/>
          </a:xfrm>
          <a:prstGeom prst="rect">
            <a:avLst/>
          </a:prstGeom>
          <a:solidFill>
            <a:srgbClr val="1428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32"/>
          <p:cNvSpPr txBox="1"/>
          <p:nvPr/>
        </p:nvSpPr>
        <p:spPr>
          <a:xfrm>
            <a:off x="411491" y="240030"/>
            <a:ext cx="788691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Deliverables</a:t>
            </a:r>
            <a:endParaRPr sz="1100"/>
          </a:p>
        </p:txBody>
      </p:sp>
      <p:sp>
        <p:nvSpPr>
          <p:cNvPr id="246" name="Google Shape;246;p32"/>
          <p:cNvSpPr txBox="1"/>
          <p:nvPr/>
        </p:nvSpPr>
        <p:spPr>
          <a:xfrm>
            <a:off x="8092656" y="4834890"/>
            <a:ext cx="8229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6 / 14</a:t>
            </a:r>
            <a:endParaRPr sz="1100"/>
          </a:p>
        </p:txBody>
      </p:sp>
      <p:sp>
        <p:nvSpPr>
          <p:cNvPr id="247" name="Google Shape;247;p32"/>
          <p:cNvSpPr/>
          <p:nvPr/>
        </p:nvSpPr>
        <p:spPr>
          <a:xfrm>
            <a:off x="548655" y="1234440"/>
            <a:ext cx="7886910" cy="1371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5400">
            <a:solidFill>
              <a:srgbClr val="00B4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2"/>
          <p:cNvSpPr/>
          <p:nvPr/>
        </p:nvSpPr>
        <p:spPr>
          <a:xfrm>
            <a:off x="822982" y="1577340"/>
            <a:ext cx="617236" cy="617220"/>
          </a:xfrm>
          <a:prstGeom prst="ellipse">
            <a:avLst/>
          </a:prstGeom>
          <a:solidFill>
            <a:srgbClr val="1428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249" name="Google Shape;249;p32"/>
          <p:cNvSpPr txBox="1"/>
          <p:nvPr/>
        </p:nvSpPr>
        <p:spPr>
          <a:xfrm>
            <a:off x="1714546" y="1474470"/>
            <a:ext cx="61725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Recorded</a:t>
            </a:r>
            <a:r>
              <a:rPr b="1" lang="en" sz="20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 Demo</a:t>
            </a:r>
            <a:endParaRPr sz="1100"/>
          </a:p>
        </p:txBody>
      </p:sp>
      <p:sp>
        <p:nvSpPr>
          <p:cNvPr id="250" name="Google Shape;250;p32"/>
          <p:cNvSpPr txBox="1"/>
          <p:nvPr/>
        </p:nvSpPr>
        <p:spPr>
          <a:xfrm>
            <a:off x="1714546" y="1920240"/>
            <a:ext cx="6172365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Working system that reads biosignals, runs a trained classifier, and controls something</a:t>
            </a:r>
            <a:endParaRPr sz="1100"/>
          </a:p>
        </p:txBody>
      </p:sp>
      <p:sp>
        <p:nvSpPr>
          <p:cNvPr id="251" name="Google Shape;251;p32"/>
          <p:cNvSpPr/>
          <p:nvPr/>
        </p:nvSpPr>
        <p:spPr>
          <a:xfrm>
            <a:off x="548655" y="2880360"/>
            <a:ext cx="7886910" cy="13716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5400">
            <a:solidFill>
              <a:srgbClr val="00B4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32"/>
          <p:cNvSpPr/>
          <p:nvPr/>
        </p:nvSpPr>
        <p:spPr>
          <a:xfrm>
            <a:off x="822982" y="3223260"/>
            <a:ext cx="617236" cy="617220"/>
          </a:xfrm>
          <a:prstGeom prst="ellipse">
            <a:avLst/>
          </a:prstGeom>
          <a:solidFill>
            <a:srgbClr val="1428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253" name="Google Shape;253;p32"/>
          <p:cNvSpPr txBox="1"/>
          <p:nvPr/>
        </p:nvSpPr>
        <p:spPr>
          <a:xfrm>
            <a:off x="1714546" y="3120390"/>
            <a:ext cx="6172365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Presentation (~5 min)</a:t>
            </a:r>
            <a:endParaRPr sz="1100"/>
          </a:p>
        </p:txBody>
      </p:sp>
      <p:sp>
        <p:nvSpPr>
          <p:cNvPr id="254" name="Google Shape;254;p32"/>
          <p:cNvSpPr txBox="1"/>
          <p:nvPr/>
        </p:nvSpPr>
        <p:spPr>
          <a:xfrm>
            <a:off x="1714546" y="3566160"/>
            <a:ext cx="6172365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Explain your approach, results, and what you learned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/>
          <p:nvPr/>
        </p:nvSpPr>
        <p:spPr>
          <a:xfrm>
            <a:off x="0" y="0"/>
            <a:ext cx="6858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3"/>
          <p:cNvSpPr/>
          <p:nvPr/>
        </p:nvSpPr>
        <p:spPr>
          <a:xfrm>
            <a:off x="0" y="857250"/>
            <a:ext cx="9144015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3"/>
          <p:cNvSpPr/>
          <p:nvPr/>
        </p:nvSpPr>
        <p:spPr>
          <a:xfrm>
            <a:off x="0" y="5109210"/>
            <a:ext cx="9144015" cy="34290"/>
          </a:xfrm>
          <a:prstGeom prst="rect">
            <a:avLst/>
          </a:prstGeom>
          <a:solidFill>
            <a:srgbClr val="1428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33"/>
          <p:cNvSpPr txBox="1"/>
          <p:nvPr/>
        </p:nvSpPr>
        <p:spPr>
          <a:xfrm>
            <a:off x="411491" y="240030"/>
            <a:ext cx="788691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Judging Rubric (100 pts + 10 bonus)</a:t>
            </a:r>
            <a:endParaRPr sz="1100"/>
          </a:p>
        </p:txBody>
      </p:sp>
      <p:sp>
        <p:nvSpPr>
          <p:cNvPr id="263" name="Google Shape;263;p33"/>
          <p:cNvSpPr txBox="1"/>
          <p:nvPr/>
        </p:nvSpPr>
        <p:spPr>
          <a:xfrm>
            <a:off x="8092656" y="4834890"/>
            <a:ext cx="8229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7 / 14</a:t>
            </a:r>
            <a:endParaRPr sz="1100"/>
          </a:p>
        </p:txBody>
      </p:sp>
      <p:sp>
        <p:nvSpPr>
          <p:cNvPr id="264" name="Google Shape;264;p33"/>
          <p:cNvSpPr txBox="1"/>
          <p:nvPr/>
        </p:nvSpPr>
        <p:spPr>
          <a:xfrm>
            <a:off x="548655" y="1165860"/>
            <a:ext cx="34290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ML Classifier Performance</a:t>
            </a:r>
            <a:endParaRPr sz="1100"/>
          </a:p>
        </p:txBody>
      </p:sp>
      <p:sp>
        <p:nvSpPr>
          <p:cNvPr id="265" name="Google Shape;265;p33"/>
          <p:cNvSpPr/>
          <p:nvPr/>
        </p:nvSpPr>
        <p:spPr>
          <a:xfrm>
            <a:off x="548655" y="1508760"/>
            <a:ext cx="5143637" cy="274320"/>
          </a:xfrm>
          <a:prstGeom prst="roundRect">
            <a:avLst>
              <a:gd fmla="val 40000" name="adj"/>
            </a:avLst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3"/>
          <p:cNvSpPr/>
          <p:nvPr/>
        </p:nvSpPr>
        <p:spPr>
          <a:xfrm>
            <a:off x="548655" y="1508760"/>
            <a:ext cx="5143637" cy="274320"/>
          </a:xfrm>
          <a:prstGeom prst="roundRect">
            <a:avLst>
              <a:gd fmla="val 40000" name="adj"/>
            </a:avLst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3"/>
          <p:cNvSpPr txBox="1"/>
          <p:nvPr/>
        </p:nvSpPr>
        <p:spPr>
          <a:xfrm>
            <a:off x="5898037" y="1474470"/>
            <a:ext cx="13716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00B4C8"/>
                </a:solidFill>
                <a:latin typeface="Calibri"/>
                <a:ea typeface="Calibri"/>
                <a:cs typeface="Calibri"/>
                <a:sym typeface="Calibri"/>
              </a:rPr>
              <a:t>30 pts</a:t>
            </a:r>
            <a:endParaRPr sz="1100"/>
          </a:p>
        </p:txBody>
      </p:sp>
      <p:sp>
        <p:nvSpPr>
          <p:cNvPr id="268" name="Google Shape;268;p33"/>
          <p:cNvSpPr txBox="1"/>
          <p:nvPr/>
        </p:nvSpPr>
        <p:spPr>
          <a:xfrm>
            <a:off x="548655" y="1954530"/>
            <a:ext cx="34290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Creativity &amp; Novelty</a:t>
            </a:r>
            <a:endParaRPr sz="1100"/>
          </a:p>
        </p:txBody>
      </p:sp>
      <p:sp>
        <p:nvSpPr>
          <p:cNvPr id="269" name="Google Shape;269;p33"/>
          <p:cNvSpPr/>
          <p:nvPr/>
        </p:nvSpPr>
        <p:spPr>
          <a:xfrm>
            <a:off x="548655" y="2297430"/>
            <a:ext cx="5143637" cy="274320"/>
          </a:xfrm>
          <a:prstGeom prst="roundRect">
            <a:avLst>
              <a:gd fmla="val 40000" name="adj"/>
            </a:avLst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3"/>
          <p:cNvSpPr/>
          <p:nvPr/>
        </p:nvSpPr>
        <p:spPr>
          <a:xfrm>
            <a:off x="548655" y="2297430"/>
            <a:ext cx="4286364" cy="274320"/>
          </a:xfrm>
          <a:prstGeom prst="roundRect">
            <a:avLst>
              <a:gd fmla="val 40000" name="adj"/>
            </a:avLst>
          </a:prstGeom>
          <a:solidFill>
            <a:srgbClr val="4682B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3"/>
          <p:cNvSpPr txBox="1"/>
          <p:nvPr/>
        </p:nvSpPr>
        <p:spPr>
          <a:xfrm>
            <a:off x="5898037" y="2263140"/>
            <a:ext cx="13716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4682B4"/>
                </a:solidFill>
                <a:latin typeface="Calibri"/>
                <a:ea typeface="Calibri"/>
                <a:cs typeface="Calibri"/>
                <a:sym typeface="Calibri"/>
              </a:rPr>
              <a:t>25 pts</a:t>
            </a:r>
            <a:endParaRPr sz="1100"/>
          </a:p>
        </p:txBody>
      </p:sp>
      <p:sp>
        <p:nvSpPr>
          <p:cNvPr id="272" name="Google Shape;272;p33"/>
          <p:cNvSpPr txBox="1"/>
          <p:nvPr/>
        </p:nvSpPr>
        <p:spPr>
          <a:xfrm>
            <a:off x="548655" y="2743200"/>
            <a:ext cx="34290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User Experience &amp; System Design</a:t>
            </a:r>
            <a:endParaRPr sz="1100"/>
          </a:p>
        </p:txBody>
      </p:sp>
      <p:sp>
        <p:nvSpPr>
          <p:cNvPr id="273" name="Google Shape;273;p33"/>
          <p:cNvSpPr/>
          <p:nvPr/>
        </p:nvSpPr>
        <p:spPr>
          <a:xfrm>
            <a:off x="548655" y="3086100"/>
            <a:ext cx="5143637" cy="274320"/>
          </a:xfrm>
          <a:prstGeom prst="roundRect">
            <a:avLst>
              <a:gd fmla="val 40000" name="adj"/>
            </a:avLst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3"/>
          <p:cNvSpPr/>
          <p:nvPr/>
        </p:nvSpPr>
        <p:spPr>
          <a:xfrm>
            <a:off x="548655" y="3086100"/>
            <a:ext cx="4286364" cy="274320"/>
          </a:xfrm>
          <a:prstGeom prst="roundRect">
            <a:avLst>
              <a:gd fmla="val 40000" name="adj"/>
            </a:avLst>
          </a:prstGeom>
          <a:solidFill>
            <a:srgbClr val="6495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3"/>
          <p:cNvSpPr txBox="1"/>
          <p:nvPr/>
        </p:nvSpPr>
        <p:spPr>
          <a:xfrm>
            <a:off x="5898037" y="3051810"/>
            <a:ext cx="13716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6495ED"/>
                </a:solidFill>
                <a:latin typeface="Calibri"/>
                <a:ea typeface="Calibri"/>
                <a:cs typeface="Calibri"/>
                <a:sym typeface="Calibri"/>
              </a:rPr>
              <a:t>25 pts</a:t>
            </a:r>
            <a:endParaRPr sz="1100"/>
          </a:p>
        </p:txBody>
      </p:sp>
      <p:sp>
        <p:nvSpPr>
          <p:cNvPr id="276" name="Google Shape;276;p33"/>
          <p:cNvSpPr txBox="1"/>
          <p:nvPr/>
        </p:nvSpPr>
        <p:spPr>
          <a:xfrm>
            <a:off x="548655" y="3531870"/>
            <a:ext cx="3429091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Presentation Quality</a:t>
            </a:r>
            <a:endParaRPr sz="1100"/>
          </a:p>
        </p:txBody>
      </p:sp>
      <p:sp>
        <p:nvSpPr>
          <p:cNvPr id="277" name="Google Shape;277;p33"/>
          <p:cNvSpPr/>
          <p:nvPr/>
        </p:nvSpPr>
        <p:spPr>
          <a:xfrm>
            <a:off x="548655" y="3874770"/>
            <a:ext cx="5143637" cy="274320"/>
          </a:xfrm>
          <a:prstGeom prst="roundRect">
            <a:avLst>
              <a:gd fmla="val 40000" name="adj"/>
            </a:avLst>
          </a:prstGeom>
          <a:solidFill>
            <a:srgbClr val="DCE1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3"/>
          <p:cNvSpPr/>
          <p:nvPr/>
        </p:nvSpPr>
        <p:spPr>
          <a:xfrm>
            <a:off x="548655" y="3874770"/>
            <a:ext cx="3429091" cy="274320"/>
          </a:xfrm>
          <a:prstGeom prst="roundRect">
            <a:avLst>
              <a:gd fmla="val 40000" name="adj"/>
            </a:avLst>
          </a:prstGeom>
          <a:solidFill>
            <a:srgbClr val="1E3C6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3"/>
          <p:cNvSpPr txBox="1"/>
          <p:nvPr/>
        </p:nvSpPr>
        <p:spPr>
          <a:xfrm>
            <a:off x="5898037" y="3840480"/>
            <a:ext cx="1371637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1E3C6E"/>
                </a:solidFill>
                <a:latin typeface="Calibri"/>
                <a:ea typeface="Calibri"/>
                <a:cs typeface="Calibri"/>
                <a:sym typeface="Calibri"/>
              </a:rPr>
              <a:t>20 pts</a:t>
            </a:r>
            <a:endParaRPr sz="1100"/>
          </a:p>
        </p:txBody>
      </p:sp>
      <p:sp>
        <p:nvSpPr>
          <p:cNvPr id="280" name="Google Shape;280;p33"/>
          <p:cNvSpPr/>
          <p:nvPr/>
        </p:nvSpPr>
        <p:spPr>
          <a:xfrm>
            <a:off x="548655" y="4526280"/>
            <a:ext cx="7886910" cy="548640"/>
          </a:xfrm>
          <a:prstGeom prst="roundRect">
            <a:avLst>
              <a:gd fmla="val 5000" name="adj"/>
            </a:avLst>
          </a:prstGeom>
          <a:solidFill>
            <a:srgbClr val="FFFAEB"/>
          </a:solidFill>
          <a:ln cap="flat" cmpd="sng" w="254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3"/>
          <p:cNvSpPr txBox="1"/>
          <p:nvPr/>
        </p:nvSpPr>
        <p:spPr>
          <a:xfrm>
            <a:off x="822982" y="4629150"/>
            <a:ext cx="72010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★ </a:t>
            </a:r>
            <a:r>
              <a:rPr b="1" lang="en" sz="15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Up to +10 Bonus Points </a:t>
            </a:r>
            <a:r>
              <a:rPr lang="en" sz="12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(multi-modal signals, cross-user generalization, adaptive learning, technical depth)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4"/>
          <p:cNvSpPr/>
          <p:nvPr/>
        </p:nvSpPr>
        <p:spPr>
          <a:xfrm>
            <a:off x="0" y="0"/>
            <a:ext cx="6858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4"/>
          <p:cNvSpPr/>
          <p:nvPr/>
        </p:nvSpPr>
        <p:spPr>
          <a:xfrm>
            <a:off x="0" y="857250"/>
            <a:ext cx="9144015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4"/>
          <p:cNvSpPr/>
          <p:nvPr/>
        </p:nvSpPr>
        <p:spPr>
          <a:xfrm>
            <a:off x="0" y="5109210"/>
            <a:ext cx="9144015" cy="34290"/>
          </a:xfrm>
          <a:prstGeom prst="rect">
            <a:avLst/>
          </a:prstGeom>
          <a:solidFill>
            <a:srgbClr val="1428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4"/>
          <p:cNvSpPr txBox="1"/>
          <p:nvPr/>
        </p:nvSpPr>
        <p:spPr>
          <a:xfrm>
            <a:off x="411491" y="240030"/>
            <a:ext cx="788691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Scoring Breakdown — ML Classifier (30 pts)</a:t>
            </a:r>
            <a:endParaRPr sz="1100"/>
          </a:p>
        </p:txBody>
      </p:sp>
      <p:sp>
        <p:nvSpPr>
          <p:cNvPr id="290" name="Google Shape;290;p34"/>
          <p:cNvSpPr txBox="1"/>
          <p:nvPr/>
        </p:nvSpPr>
        <p:spPr>
          <a:xfrm>
            <a:off x="8092656" y="4834890"/>
            <a:ext cx="8229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8 / 14</a:t>
            </a:r>
            <a:endParaRPr sz="1100"/>
          </a:p>
        </p:txBody>
      </p:sp>
      <p:sp>
        <p:nvSpPr>
          <p:cNvPr id="291" name="Google Shape;291;p34"/>
          <p:cNvSpPr txBox="1"/>
          <p:nvPr/>
        </p:nvSpPr>
        <p:spPr>
          <a:xfrm>
            <a:off x="548655" y="1028700"/>
            <a:ext cx="548654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7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Judges look for:</a:t>
            </a:r>
            <a:endParaRPr sz="1100"/>
          </a:p>
        </p:txBody>
      </p:sp>
      <p:sp>
        <p:nvSpPr>
          <p:cNvPr id="292" name="Google Shape;292;p34"/>
          <p:cNvSpPr/>
          <p:nvPr/>
        </p:nvSpPr>
        <p:spPr>
          <a:xfrm>
            <a:off x="617236" y="1577340"/>
            <a:ext cx="240036" cy="240030"/>
          </a:xfrm>
          <a:prstGeom prst="roundRect">
            <a:avLst>
              <a:gd fmla="val 30000" name="adj"/>
            </a:avLst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/>
          </a:p>
        </p:txBody>
      </p:sp>
      <p:sp>
        <p:nvSpPr>
          <p:cNvPr id="293" name="Google Shape;293;p34"/>
          <p:cNvSpPr txBox="1"/>
          <p:nvPr/>
        </p:nvSpPr>
        <p:spPr>
          <a:xfrm>
            <a:off x="1028727" y="1543050"/>
            <a:ext cx="720109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Number of distinct classes</a:t>
            </a:r>
            <a:endParaRPr sz="1100"/>
          </a:p>
        </p:txBody>
      </p:sp>
      <p:sp>
        <p:nvSpPr>
          <p:cNvPr id="294" name="Google Shape;294;p34"/>
          <p:cNvSpPr/>
          <p:nvPr/>
        </p:nvSpPr>
        <p:spPr>
          <a:xfrm>
            <a:off x="617236" y="2228850"/>
            <a:ext cx="240036" cy="240030"/>
          </a:xfrm>
          <a:prstGeom prst="roundRect">
            <a:avLst>
              <a:gd fmla="val 30000" name="adj"/>
            </a:avLst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/>
          </a:p>
        </p:txBody>
      </p:sp>
      <p:sp>
        <p:nvSpPr>
          <p:cNvPr id="295" name="Google Shape;295;p34"/>
          <p:cNvSpPr txBox="1"/>
          <p:nvPr/>
        </p:nvSpPr>
        <p:spPr>
          <a:xfrm>
            <a:off x="1028727" y="2194560"/>
            <a:ext cx="720109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Reported accuracy / confusion matrix</a:t>
            </a:r>
            <a:endParaRPr sz="1100"/>
          </a:p>
        </p:txBody>
      </p:sp>
      <p:sp>
        <p:nvSpPr>
          <p:cNvPr id="296" name="Google Shape;296;p34"/>
          <p:cNvSpPr/>
          <p:nvPr/>
        </p:nvSpPr>
        <p:spPr>
          <a:xfrm>
            <a:off x="617236" y="2880360"/>
            <a:ext cx="240036" cy="240030"/>
          </a:xfrm>
          <a:prstGeom prst="roundRect">
            <a:avLst>
              <a:gd fmla="val 30000" name="adj"/>
            </a:avLst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/>
          </a:p>
        </p:txBody>
      </p:sp>
      <p:sp>
        <p:nvSpPr>
          <p:cNvPr id="297" name="Google Shape;297;p34"/>
          <p:cNvSpPr txBox="1"/>
          <p:nvPr/>
        </p:nvSpPr>
        <p:spPr>
          <a:xfrm>
            <a:off x="1028727" y="2846070"/>
            <a:ext cx="720109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Responsiveness (low latency)</a:t>
            </a:r>
            <a:endParaRPr sz="1100"/>
          </a:p>
        </p:txBody>
      </p:sp>
      <p:sp>
        <p:nvSpPr>
          <p:cNvPr id="298" name="Google Shape;298;p34"/>
          <p:cNvSpPr/>
          <p:nvPr/>
        </p:nvSpPr>
        <p:spPr>
          <a:xfrm>
            <a:off x="617236" y="3531870"/>
            <a:ext cx="240036" cy="240030"/>
          </a:xfrm>
          <a:prstGeom prst="roundRect">
            <a:avLst>
              <a:gd fmla="val 30000" name="adj"/>
            </a:avLst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/>
          </a:p>
        </p:txBody>
      </p:sp>
      <p:sp>
        <p:nvSpPr>
          <p:cNvPr id="299" name="Google Shape;299;p34"/>
          <p:cNvSpPr txBox="1"/>
          <p:nvPr/>
        </p:nvSpPr>
        <p:spPr>
          <a:xfrm>
            <a:off x="1028727" y="3497580"/>
            <a:ext cx="720109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Handling transitions and resting states</a:t>
            </a:r>
            <a:endParaRPr sz="1100"/>
          </a:p>
        </p:txBody>
      </p:sp>
      <p:sp>
        <p:nvSpPr>
          <p:cNvPr id="300" name="Google Shape;300;p34"/>
          <p:cNvSpPr/>
          <p:nvPr/>
        </p:nvSpPr>
        <p:spPr>
          <a:xfrm>
            <a:off x="617236" y="4183380"/>
            <a:ext cx="240036" cy="240030"/>
          </a:xfrm>
          <a:prstGeom prst="roundRect">
            <a:avLst>
              <a:gd fmla="val 30000" name="adj"/>
            </a:avLst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sz="1100"/>
          </a:p>
        </p:txBody>
      </p:sp>
      <p:sp>
        <p:nvSpPr>
          <p:cNvPr id="301" name="Google Shape;301;p34"/>
          <p:cNvSpPr txBox="1"/>
          <p:nvPr/>
        </p:nvSpPr>
        <p:spPr>
          <a:xfrm>
            <a:off x="1028727" y="4149090"/>
            <a:ext cx="7201092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Feature engineering quality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5"/>
          <p:cNvSpPr/>
          <p:nvPr/>
        </p:nvSpPr>
        <p:spPr>
          <a:xfrm>
            <a:off x="0" y="0"/>
            <a:ext cx="6858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5"/>
          <p:cNvSpPr/>
          <p:nvPr/>
        </p:nvSpPr>
        <p:spPr>
          <a:xfrm>
            <a:off x="0" y="857250"/>
            <a:ext cx="9144015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5"/>
          <p:cNvSpPr/>
          <p:nvPr/>
        </p:nvSpPr>
        <p:spPr>
          <a:xfrm>
            <a:off x="0" y="5109210"/>
            <a:ext cx="9144015" cy="34290"/>
          </a:xfrm>
          <a:prstGeom prst="rect">
            <a:avLst/>
          </a:prstGeom>
          <a:solidFill>
            <a:srgbClr val="1428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5"/>
          <p:cNvSpPr txBox="1"/>
          <p:nvPr/>
        </p:nvSpPr>
        <p:spPr>
          <a:xfrm>
            <a:off x="411491" y="240030"/>
            <a:ext cx="788691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Scoring — Creativity &amp; User Experience</a:t>
            </a:r>
            <a:endParaRPr sz="1100"/>
          </a:p>
        </p:txBody>
      </p:sp>
      <p:sp>
        <p:nvSpPr>
          <p:cNvPr id="310" name="Google Shape;310;p35"/>
          <p:cNvSpPr txBox="1"/>
          <p:nvPr/>
        </p:nvSpPr>
        <p:spPr>
          <a:xfrm>
            <a:off x="8092656" y="4834890"/>
            <a:ext cx="8229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9 / 14</a:t>
            </a:r>
            <a:endParaRPr sz="1100"/>
          </a:p>
        </p:txBody>
      </p:sp>
      <p:sp>
        <p:nvSpPr>
          <p:cNvPr id="311" name="Google Shape;311;p35"/>
          <p:cNvSpPr/>
          <p:nvPr/>
        </p:nvSpPr>
        <p:spPr>
          <a:xfrm>
            <a:off x="411491" y="1165860"/>
            <a:ext cx="3977746" cy="3429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5400">
            <a:solidFill>
              <a:srgbClr val="00B4C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5"/>
          <p:cNvSpPr/>
          <p:nvPr/>
        </p:nvSpPr>
        <p:spPr>
          <a:xfrm>
            <a:off x="411491" y="1165860"/>
            <a:ext cx="3977746" cy="445770"/>
          </a:xfrm>
          <a:prstGeom prst="rect">
            <a:avLst/>
          </a:prstGeom>
          <a:solidFill>
            <a:srgbClr val="1428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5"/>
          <p:cNvSpPr txBox="1"/>
          <p:nvPr/>
        </p:nvSpPr>
        <p:spPr>
          <a:xfrm>
            <a:off x="617236" y="1220724"/>
            <a:ext cx="35662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Creativity &amp; Novelty (25 pts)</a:t>
            </a:r>
            <a:endParaRPr sz="1100"/>
          </a:p>
        </p:txBody>
      </p:sp>
      <p:sp>
        <p:nvSpPr>
          <p:cNvPr id="314" name="Google Shape;314;p35"/>
          <p:cNvSpPr txBox="1"/>
          <p:nvPr/>
        </p:nvSpPr>
        <p:spPr>
          <a:xfrm>
            <a:off x="617236" y="1783080"/>
            <a:ext cx="3566255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• Original application or approach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• Creative use of biosignals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• "Wow factor"</a:t>
            </a:r>
            <a:endParaRPr sz="1100"/>
          </a:p>
        </p:txBody>
      </p:sp>
      <p:sp>
        <p:nvSpPr>
          <p:cNvPr id="315" name="Google Shape;315;p35"/>
          <p:cNvSpPr/>
          <p:nvPr/>
        </p:nvSpPr>
        <p:spPr>
          <a:xfrm>
            <a:off x="4663564" y="1165860"/>
            <a:ext cx="3977746" cy="342900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5400">
            <a:solidFill>
              <a:srgbClr val="4682B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5"/>
          <p:cNvSpPr/>
          <p:nvPr/>
        </p:nvSpPr>
        <p:spPr>
          <a:xfrm>
            <a:off x="4663564" y="1165860"/>
            <a:ext cx="3977746" cy="445770"/>
          </a:xfrm>
          <a:prstGeom prst="rect">
            <a:avLst/>
          </a:prstGeom>
          <a:solidFill>
            <a:srgbClr val="1428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5"/>
          <p:cNvSpPr txBox="1"/>
          <p:nvPr/>
        </p:nvSpPr>
        <p:spPr>
          <a:xfrm>
            <a:off x="4869310" y="1220724"/>
            <a:ext cx="356625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User Experience (25 pts)</a:t>
            </a:r>
            <a:endParaRPr sz="1100"/>
          </a:p>
        </p:txBody>
      </p:sp>
      <p:sp>
        <p:nvSpPr>
          <p:cNvPr id="318" name="Google Shape;318;p35"/>
          <p:cNvSpPr txBox="1"/>
          <p:nvPr/>
        </p:nvSpPr>
        <p:spPr>
          <a:xfrm>
            <a:off x="4869310" y="1783080"/>
            <a:ext cx="3566255" cy="24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• Intuitive and enjoyable to use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• Clear feedback to the user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• Handles errors gracefully</a:t>
            </a:r>
            <a:endParaRPr sz="1100"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lang="en" sz="15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• Easy calibration for new users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6"/>
          <p:cNvSpPr/>
          <p:nvPr/>
        </p:nvSpPr>
        <p:spPr>
          <a:xfrm>
            <a:off x="0" y="0"/>
            <a:ext cx="6858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6"/>
          <p:cNvSpPr/>
          <p:nvPr/>
        </p:nvSpPr>
        <p:spPr>
          <a:xfrm>
            <a:off x="0" y="857250"/>
            <a:ext cx="9144015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6"/>
          <p:cNvSpPr/>
          <p:nvPr/>
        </p:nvSpPr>
        <p:spPr>
          <a:xfrm>
            <a:off x="0" y="5109210"/>
            <a:ext cx="9144015" cy="34290"/>
          </a:xfrm>
          <a:prstGeom prst="rect">
            <a:avLst/>
          </a:prstGeom>
          <a:solidFill>
            <a:srgbClr val="1428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6"/>
          <p:cNvSpPr txBox="1"/>
          <p:nvPr/>
        </p:nvSpPr>
        <p:spPr>
          <a:xfrm>
            <a:off x="411491" y="240030"/>
            <a:ext cx="788691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Getting Started</a:t>
            </a:r>
            <a:endParaRPr sz="1100"/>
          </a:p>
        </p:txBody>
      </p:sp>
      <p:sp>
        <p:nvSpPr>
          <p:cNvPr id="327" name="Google Shape;327;p36"/>
          <p:cNvSpPr txBox="1"/>
          <p:nvPr/>
        </p:nvSpPr>
        <p:spPr>
          <a:xfrm>
            <a:off x="8092656" y="4834890"/>
            <a:ext cx="8229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11 / 14</a:t>
            </a:r>
            <a:endParaRPr sz="1100"/>
          </a:p>
        </p:txBody>
      </p:sp>
      <p:sp>
        <p:nvSpPr>
          <p:cNvPr id="328" name="Google Shape;328;p36"/>
          <p:cNvSpPr/>
          <p:nvPr/>
        </p:nvSpPr>
        <p:spPr>
          <a:xfrm>
            <a:off x="480073" y="1186434"/>
            <a:ext cx="342909" cy="342900"/>
          </a:xfrm>
          <a:prstGeom prst="ellipse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329" name="Google Shape;329;p36"/>
          <p:cNvSpPr/>
          <p:nvPr/>
        </p:nvSpPr>
        <p:spPr>
          <a:xfrm>
            <a:off x="637811" y="1529334"/>
            <a:ext cx="27433" cy="342900"/>
          </a:xfrm>
          <a:prstGeom prst="rect">
            <a:avLst/>
          </a:prstGeom>
          <a:solidFill>
            <a:srgbClr val="B4DC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6"/>
          <p:cNvSpPr txBox="1"/>
          <p:nvPr/>
        </p:nvSpPr>
        <p:spPr>
          <a:xfrm>
            <a:off x="1028727" y="113157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Install: </a:t>
            </a:r>
            <a:r>
              <a:rPr b="0" lang="en" sz="1300">
                <a:solidFill>
                  <a:srgbClr val="00B4C8"/>
                </a:solidFill>
                <a:latin typeface="Consolas"/>
                <a:ea typeface="Consolas"/>
                <a:cs typeface="Consolas"/>
                <a:sym typeface="Consolas"/>
              </a:rPr>
              <a:t>conda env create -f environment.yml &amp;&amp; conda activate hackathon</a:t>
            </a:r>
            <a:endParaRPr sz="1100"/>
          </a:p>
        </p:txBody>
      </p:sp>
      <p:sp>
        <p:nvSpPr>
          <p:cNvPr id="331" name="Google Shape;331;p36"/>
          <p:cNvSpPr/>
          <p:nvPr/>
        </p:nvSpPr>
        <p:spPr>
          <a:xfrm>
            <a:off x="480073" y="1906524"/>
            <a:ext cx="342909" cy="342900"/>
          </a:xfrm>
          <a:prstGeom prst="ellipse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332" name="Google Shape;332;p36"/>
          <p:cNvSpPr/>
          <p:nvPr/>
        </p:nvSpPr>
        <p:spPr>
          <a:xfrm>
            <a:off x="637811" y="2249424"/>
            <a:ext cx="27433" cy="342900"/>
          </a:xfrm>
          <a:prstGeom prst="rect">
            <a:avLst/>
          </a:prstGeom>
          <a:solidFill>
            <a:srgbClr val="B4DC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6"/>
          <p:cNvSpPr txBox="1"/>
          <p:nvPr/>
        </p:nvSpPr>
        <p:spPr>
          <a:xfrm>
            <a:off x="1028727" y="185166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Launch GUI: </a:t>
            </a:r>
            <a:r>
              <a:rPr b="0" lang="en" sz="1300">
                <a:solidFill>
                  <a:srgbClr val="00B4C8"/>
                </a:solidFill>
                <a:latin typeface="Consolas"/>
                <a:ea typeface="Consolas"/>
                <a:cs typeface="Consolas"/>
                <a:sym typeface="Consolas"/>
              </a:rPr>
              <a:t>python -m src.hackathon_gui --mock</a:t>
            </a:r>
            <a:endParaRPr sz="1100"/>
          </a:p>
        </p:txBody>
      </p:sp>
      <p:sp>
        <p:nvSpPr>
          <p:cNvPr id="334" name="Google Shape;334;p36"/>
          <p:cNvSpPr/>
          <p:nvPr/>
        </p:nvSpPr>
        <p:spPr>
          <a:xfrm>
            <a:off x="480073" y="2626614"/>
            <a:ext cx="342909" cy="342900"/>
          </a:xfrm>
          <a:prstGeom prst="ellipse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335" name="Google Shape;335;p36"/>
          <p:cNvSpPr/>
          <p:nvPr/>
        </p:nvSpPr>
        <p:spPr>
          <a:xfrm>
            <a:off x="637811" y="2969514"/>
            <a:ext cx="27433" cy="342900"/>
          </a:xfrm>
          <a:prstGeom prst="rect">
            <a:avLst/>
          </a:prstGeom>
          <a:solidFill>
            <a:srgbClr val="B4DC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6"/>
          <p:cNvSpPr txBox="1"/>
          <p:nvPr/>
        </p:nvSpPr>
        <p:spPr>
          <a:xfrm>
            <a:off x="1028727" y="257175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Connect, </a:t>
            </a:r>
            <a:r>
              <a:rPr lang="en" sz="14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configure channels, start streaming</a:t>
            </a:r>
            <a:endParaRPr sz="1100"/>
          </a:p>
        </p:txBody>
      </p:sp>
      <p:sp>
        <p:nvSpPr>
          <p:cNvPr id="337" name="Google Shape;337;p36"/>
          <p:cNvSpPr/>
          <p:nvPr/>
        </p:nvSpPr>
        <p:spPr>
          <a:xfrm>
            <a:off x="480073" y="3346704"/>
            <a:ext cx="342909" cy="342900"/>
          </a:xfrm>
          <a:prstGeom prst="ellipse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sp>
        <p:nvSpPr>
          <p:cNvPr id="338" name="Google Shape;338;p36"/>
          <p:cNvSpPr/>
          <p:nvPr/>
        </p:nvSpPr>
        <p:spPr>
          <a:xfrm>
            <a:off x="637811" y="3689604"/>
            <a:ext cx="27433" cy="342900"/>
          </a:xfrm>
          <a:prstGeom prst="rect">
            <a:avLst/>
          </a:prstGeom>
          <a:solidFill>
            <a:srgbClr val="B4DCE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6"/>
          <p:cNvSpPr txBox="1"/>
          <p:nvPr/>
        </p:nvSpPr>
        <p:spPr>
          <a:xfrm>
            <a:off x="1028727" y="329184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Stream to LSL: </a:t>
            </a:r>
            <a:r>
              <a:rPr lang="en" sz="14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Check "Stream to LSL" to send data to your scripts</a:t>
            </a:r>
            <a:endParaRPr sz="1100"/>
          </a:p>
        </p:txBody>
      </p:sp>
      <p:sp>
        <p:nvSpPr>
          <p:cNvPr id="340" name="Google Shape;340;p36"/>
          <p:cNvSpPr/>
          <p:nvPr/>
        </p:nvSpPr>
        <p:spPr>
          <a:xfrm>
            <a:off x="480073" y="4066794"/>
            <a:ext cx="342909" cy="342900"/>
          </a:xfrm>
          <a:prstGeom prst="ellipse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/>
          </a:p>
        </p:txBody>
      </p:sp>
      <p:sp>
        <p:nvSpPr>
          <p:cNvPr id="341" name="Google Shape;341;p36"/>
          <p:cNvSpPr txBox="1"/>
          <p:nvPr/>
        </p:nvSpPr>
        <p:spPr>
          <a:xfrm>
            <a:off x="1028727" y="4011930"/>
            <a:ext cx="7544001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Build </a:t>
            </a:r>
            <a:r>
              <a:rPr lang="en" sz="14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your classifier and control system!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7"/>
          <p:cNvSpPr/>
          <p:nvPr/>
        </p:nvSpPr>
        <p:spPr>
          <a:xfrm>
            <a:off x="0" y="0"/>
            <a:ext cx="6858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7"/>
          <p:cNvSpPr/>
          <p:nvPr/>
        </p:nvSpPr>
        <p:spPr>
          <a:xfrm>
            <a:off x="0" y="857250"/>
            <a:ext cx="9144015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7"/>
          <p:cNvSpPr/>
          <p:nvPr/>
        </p:nvSpPr>
        <p:spPr>
          <a:xfrm>
            <a:off x="0" y="5109210"/>
            <a:ext cx="9144015" cy="34290"/>
          </a:xfrm>
          <a:prstGeom prst="rect">
            <a:avLst/>
          </a:prstGeom>
          <a:solidFill>
            <a:srgbClr val="1428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7"/>
          <p:cNvSpPr txBox="1"/>
          <p:nvPr/>
        </p:nvSpPr>
        <p:spPr>
          <a:xfrm>
            <a:off x="411491" y="240030"/>
            <a:ext cx="788691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Tips for Success</a:t>
            </a:r>
            <a:endParaRPr sz="1100"/>
          </a:p>
        </p:txBody>
      </p:sp>
      <p:sp>
        <p:nvSpPr>
          <p:cNvPr id="350" name="Google Shape;350;p37"/>
          <p:cNvSpPr txBox="1"/>
          <p:nvPr/>
        </p:nvSpPr>
        <p:spPr>
          <a:xfrm>
            <a:off x="8092656" y="4834890"/>
            <a:ext cx="8229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12 / 14</a:t>
            </a:r>
            <a:endParaRPr sz="1100"/>
          </a:p>
        </p:txBody>
      </p:sp>
      <p:sp>
        <p:nvSpPr>
          <p:cNvPr id="351" name="Google Shape;351;p37"/>
          <p:cNvSpPr/>
          <p:nvPr/>
        </p:nvSpPr>
        <p:spPr>
          <a:xfrm>
            <a:off x="548655" y="1179576"/>
            <a:ext cx="150880" cy="150876"/>
          </a:xfrm>
          <a:prstGeom prst="diamond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7"/>
          <p:cNvSpPr txBox="1"/>
          <p:nvPr/>
        </p:nvSpPr>
        <p:spPr>
          <a:xfrm>
            <a:off x="891564" y="1097280"/>
            <a:ext cx="7681165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Start collecting data early</a:t>
            </a:r>
            <a:r>
              <a:rPr lang="en" sz="14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 — your ML is only as good as your data</a:t>
            </a:r>
            <a:endParaRPr sz="1100"/>
          </a:p>
        </p:txBody>
      </p:sp>
      <p:sp>
        <p:nvSpPr>
          <p:cNvPr id="353" name="Google Shape;353;p37"/>
          <p:cNvSpPr/>
          <p:nvPr/>
        </p:nvSpPr>
        <p:spPr>
          <a:xfrm>
            <a:off x="548655" y="1796796"/>
            <a:ext cx="150880" cy="150876"/>
          </a:xfrm>
          <a:prstGeom prst="diamond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7"/>
          <p:cNvSpPr txBox="1"/>
          <p:nvPr/>
        </p:nvSpPr>
        <p:spPr>
          <a:xfrm>
            <a:off x="891564" y="1714500"/>
            <a:ext cx="7681165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Keep your classifier simple at first</a:t>
            </a:r>
            <a:r>
              <a:rPr lang="en" sz="14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 — 2-class SVM that works &gt; 10-class DNN that doesn't</a:t>
            </a:r>
            <a:endParaRPr sz="1100"/>
          </a:p>
        </p:txBody>
      </p:sp>
      <p:sp>
        <p:nvSpPr>
          <p:cNvPr id="355" name="Google Shape;355;p37"/>
          <p:cNvSpPr/>
          <p:nvPr/>
        </p:nvSpPr>
        <p:spPr>
          <a:xfrm>
            <a:off x="548655" y="2414016"/>
            <a:ext cx="150880" cy="150876"/>
          </a:xfrm>
          <a:prstGeom prst="diamond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7"/>
          <p:cNvSpPr txBox="1"/>
          <p:nvPr/>
        </p:nvSpPr>
        <p:spPr>
          <a:xfrm>
            <a:off x="891564" y="2331720"/>
            <a:ext cx="7681165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Use mock mode (--mock) to develop</a:t>
            </a:r>
            <a:r>
              <a:rPr lang="en" sz="14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 — without hardware</a:t>
            </a:r>
            <a:endParaRPr sz="1100"/>
          </a:p>
        </p:txBody>
      </p:sp>
      <p:sp>
        <p:nvSpPr>
          <p:cNvPr id="357" name="Google Shape;357;p37"/>
          <p:cNvSpPr/>
          <p:nvPr/>
        </p:nvSpPr>
        <p:spPr>
          <a:xfrm>
            <a:off x="548655" y="3031236"/>
            <a:ext cx="150880" cy="150876"/>
          </a:xfrm>
          <a:prstGeom prst="diamond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7"/>
          <p:cNvSpPr txBox="1"/>
          <p:nvPr/>
        </p:nvSpPr>
        <p:spPr>
          <a:xfrm>
            <a:off x="891564" y="2948940"/>
            <a:ext cx="7681165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Budget time for integration</a:t>
            </a:r>
            <a:r>
              <a:rPr lang="en" sz="14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 — it always takes longer than expected</a:t>
            </a:r>
            <a:endParaRPr sz="1100"/>
          </a:p>
        </p:txBody>
      </p:sp>
      <p:sp>
        <p:nvSpPr>
          <p:cNvPr id="359" name="Google Shape;359;p37"/>
          <p:cNvSpPr/>
          <p:nvPr/>
        </p:nvSpPr>
        <p:spPr>
          <a:xfrm>
            <a:off x="548655" y="3648456"/>
            <a:ext cx="150880" cy="150876"/>
          </a:xfrm>
          <a:prstGeom prst="diamond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7"/>
          <p:cNvSpPr txBox="1"/>
          <p:nvPr/>
        </p:nvSpPr>
        <p:spPr>
          <a:xfrm>
            <a:off x="891564" y="3566160"/>
            <a:ext cx="7681165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Have a backup plan</a:t>
            </a:r>
            <a:r>
              <a:rPr lang="en" sz="14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 — if ambitious approach fails, have a simpler version ready</a:t>
            </a:r>
            <a:endParaRPr sz="1100"/>
          </a:p>
        </p:txBody>
      </p:sp>
      <p:sp>
        <p:nvSpPr>
          <p:cNvPr id="361" name="Google Shape;361;p37"/>
          <p:cNvSpPr/>
          <p:nvPr/>
        </p:nvSpPr>
        <p:spPr>
          <a:xfrm>
            <a:off x="548655" y="4265676"/>
            <a:ext cx="150880" cy="150876"/>
          </a:xfrm>
          <a:prstGeom prst="diamond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7"/>
          <p:cNvSpPr txBox="1"/>
          <p:nvPr/>
        </p:nvSpPr>
        <p:spPr>
          <a:xfrm>
            <a:off x="891564" y="4183380"/>
            <a:ext cx="7681165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Test with a teammate</a:t>
            </a:r>
            <a:r>
              <a:rPr lang="en" sz="14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 — who didn't train the model (bonus points for cross-user generalization!)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8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8"/>
          <p:cNvSpPr/>
          <p:nvPr/>
        </p:nvSpPr>
        <p:spPr>
          <a:xfrm>
            <a:off x="0" y="0"/>
            <a:ext cx="68582" cy="514350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38"/>
          <p:cNvSpPr/>
          <p:nvPr/>
        </p:nvSpPr>
        <p:spPr>
          <a:xfrm>
            <a:off x="0" y="857250"/>
            <a:ext cx="9144015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8"/>
          <p:cNvSpPr/>
          <p:nvPr/>
        </p:nvSpPr>
        <p:spPr>
          <a:xfrm>
            <a:off x="0" y="5109210"/>
            <a:ext cx="9144015" cy="34290"/>
          </a:xfrm>
          <a:prstGeom prst="rect">
            <a:avLst/>
          </a:prstGeom>
          <a:solidFill>
            <a:srgbClr val="1428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8"/>
          <p:cNvSpPr txBox="1"/>
          <p:nvPr/>
        </p:nvSpPr>
        <p:spPr>
          <a:xfrm>
            <a:off x="411491" y="240030"/>
            <a:ext cx="7886910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600">
                <a:solidFill>
                  <a:srgbClr val="142850"/>
                </a:solidFill>
                <a:latin typeface="Calibri"/>
                <a:ea typeface="Calibri"/>
                <a:cs typeface="Calibri"/>
                <a:sym typeface="Calibri"/>
              </a:rPr>
              <a:t>Bonus Points (up to +10)</a:t>
            </a:r>
            <a:endParaRPr sz="1100"/>
          </a:p>
        </p:txBody>
      </p:sp>
      <p:sp>
        <p:nvSpPr>
          <p:cNvPr id="371" name="Google Shape;371;p38"/>
          <p:cNvSpPr txBox="1"/>
          <p:nvPr/>
        </p:nvSpPr>
        <p:spPr>
          <a:xfrm>
            <a:off x="8092656" y="4834890"/>
            <a:ext cx="8229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6E82"/>
                </a:solidFill>
                <a:latin typeface="Calibri"/>
                <a:ea typeface="Calibri"/>
                <a:cs typeface="Calibri"/>
                <a:sym typeface="Calibri"/>
              </a:rPr>
              <a:t>13 / 14</a:t>
            </a:r>
            <a:endParaRPr sz="1100"/>
          </a:p>
        </p:txBody>
      </p:sp>
      <p:graphicFrame>
        <p:nvGraphicFramePr>
          <p:cNvPr id="372" name="Google Shape;372;p38"/>
          <p:cNvGraphicFramePr/>
          <p:nvPr/>
        </p:nvGraphicFramePr>
        <p:xfrm>
          <a:off x="617236" y="1165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{2DA80942-54FC-410B-82C0-A46948659490}</a:tableStyleId>
              </a:tblPr>
              <a:tblGrid>
                <a:gridCol w="5486525"/>
                <a:gridCol w="1920275"/>
              </a:tblGrid>
              <a:tr h="5212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Bonus Category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F1E3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1E3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1E3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85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Points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0F1E3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F1E3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F1E3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42850"/>
                    </a:solidFill>
                  </a:tcPr>
                </a:tc>
              </a:tr>
              <a:tr h="52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Multi-modal signals (e.g., EMG + EOG combined)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A"/>
                    </a:solidFill>
                  </a:tcPr>
                </a:tc>
              </a:tr>
              <a:tr h="52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Cross-user generalization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+3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2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Adaptive / online learning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BF5FA"/>
                    </a:solidFill>
                  </a:tcPr>
                </a:tc>
              </a:tr>
              <a:tr h="521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Exceptional technical depth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1E1E3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+2</a:t>
                      </a:r>
                      <a:endParaRPr sz="1100"/>
                    </a:p>
                  </a:txBody>
                  <a:tcPr marT="41150" marB="41150" marR="82300" marL="82300" anchor="ctr">
                    <a:lnL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B4C8D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73" name="Google Shape;373;p38"/>
          <p:cNvSpPr/>
          <p:nvPr/>
        </p:nvSpPr>
        <p:spPr>
          <a:xfrm>
            <a:off x="617236" y="3977640"/>
            <a:ext cx="7818328" cy="548640"/>
          </a:xfrm>
          <a:prstGeom prst="roundRect">
            <a:avLst>
              <a:gd fmla="val 5000" name="adj"/>
            </a:avLst>
          </a:prstGeom>
          <a:solidFill>
            <a:srgbClr val="FFFAEB"/>
          </a:solidFill>
          <a:ln cap="flat" cmpd="sng" w="25400">
            <a:solidFill>
              <a:srgbClr val="FFA50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8"/>
          <p:cNvSpPr txBox="1"/>
          <p:nvPr/>
        </p:nvSpPr>
        <p:spPr>
          <a:xfrm>
            <a:off x="891564" y="4080510"/>
            <a:ext cx="7201092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FFA500"/>
                </a:solidFill>
                <a:latin typeface="Calibri"/>
                <a:ea typeface="Calibri"/>
                <a:cs typeface="Calibri"/>
                <a:sym typeface="Calibri"/>
              </a:rPr>
              <a:t>★ </a:t>
            </a:r>
            <a:r>
              <a:rPr lang="en" sz="1400">
                <a:solidFill>
                  <a:srgbClr val="1E1E32"/>
                </a:solidFill>
                <a:latin typeface="Calibri"/>
                <a:ea typeface="Calibri"/>
                <a:cs typeface="Calibri"/>
                <a:sym typeface="Calibri"/>
              </a:rPr>
              <a:t>Bonus points are awarded on top of the 100-point base score by the judges.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2850"/>
        </a:solidFill>
      </p:bgPr>
    </p:bg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39"/>
          <p:cNvSpPr/>
          <p:nvPr/>
        </p:nvSpPr>
        <p:spPr>
          <a:xfrm>
            <a:off x="0" y="0"/>
            <a:ext cx="9144015" cy="6858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9"/>
          <p:cNvSpPr/>
          <p:nvPr/>
        </p:nvSpPr>
        <p:spPr>
          <a:xfrm>
            <a:off x="0" y="1371600"/>
            <a:ext cx="240036" cy="240030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9"/>
          <p:cNvSpPr txBox="1"/>
          <p:nvPr/>
        </p:nvSpPr>
        <p:spPr>
          <a:xfrm>
            <a:off x="685818" y="1371600"/>
            <a:ext cx="788691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 Something Amazing</a:t>
            </a:r>
            <a:endParaRPr sz="1100"/>
          </a:p>
        </p:txBody>
      </p:sp>
      <p:sp>
        <p:nvSpPr>
          <p:cNvPr id="382" name="Google Shape;382;p39"/>
          <p:cNvSpPr/>
          <p:nvPr/>
        </p:nvSpPr>
        <p:spPr>
          <a:xfrm>
            <a:off x="3086182" y="2331720"/>
            <a:ext cx="2949019" cy="27432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9"/>
          <p:cNvSpPr txBox="1"/>
          <p:nvPr/>
        </p:nvSpPr>
        <p:spPr>
          <a:xfrm>
            <a:off x="1028727" y="2606040"/>
            <a:ext cx="72012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0D2E6"/>
                </a:solidFill>
                <a:latin typeface="Calibri"/>
                <a:ea typeface="Calibri"/>
                <a:cs typeface="Calibri"/>
                <a:sym typeface="Calibri"/>
              </a:rPr>
              <a:t>Good luck!.</a:t>
            </a:r>
            <a:endParaRPr sz="1100"/>
          </a:p>
        </p:txBody>
      </p:sp>
      <p:sp>
        <p:nvSpPr>
          <p:cNvPr id="384" name="Google Shape;384;p39"/>
          <p:cNvSpPr txBox="1"/>
          <p:nvPr/>
        </p:nvSpPr>
        <p:spPr>
          <a:xfrm>
            <a:off x="1371637" y="3291840"/>
            <a:ext cx="6172500" cy="84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8CA0BE"/>
                </a:solidFill>
                <a:latin typeface="Calibri"/>
                <a:ea typeface="Calibri"/>
                <a:cs typeface="Calibri"/>
                <a:sym typeface="Calibri"/>
              </a:rPr>
              <a:t>Repo: github.com/</a:t>
            </a:r>
            <a:r>
              <a:rPr lang="en">
                <a:solidFill>
                  <a:srgbClr val="8CA0BE"/>
                </a:solidFill>
                <a:latin typeface="Calibri"/>
                <a:ea typeface="Calibri"/>
                <a:cs typeface="Calibri"/>
                <a:sym typeface="Calibri"/>
              </a:rPr>
              <a:t>ahrtlab</a:t>
            </a:r>
            <a:r>
              <a:rPr lang="en" sz="1400">
                <a:solidFill>
                  <a:srgbClr val="8CA0BE"/>
                </a:solidFill>
                <a:latin typeface="Calibri"/>
                <a:ea typeface="Calibri"/>
                <a:cs typeface="Calibri"/>
                <a:sym typeface="Calibri"/>
              </a:rPr>
              <a:t>/hackathon-2026</a:t>
            </a:r>
            <a:endParaRPr sz="1100"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8CA0BE"/>
                </a:solidFill>
                <a:latin typeface="Calibri"/>
                <a:ea typeface="Calibri"/>
                <a:cs typeface="Calibri"/>
                <a:sym typeface="Calibri"/>
              </a:rPr>
              <a:t>Contact: </a:t>
            </a:r>
            <a:r>
              <a:rPr lang="en">
                <a:solidFill>
                  <a:srgbClr val="8CA0BE"/>
                </a:solidFill>
                <a:latin typeface="Calibri"/>
                <a:ea typeface="Calibri"/>
                <a:cs typeface="Calibri"/>
                <a:sym typeface="Calibri"/>
              </a:rPr>
              <a:t>jrheee@rit.edu</a:t>
            </a:r>
            <a:endParaRPr sz="1100"/>
          </a:p>
        </p:txBody>
      </p:sp>
      <p:sp>
        <p:nvSpPr>
          <p:cNvPr id="385" name="Google Shape;385;p39"/>
          <p:cNvSpPr/>
          <p:nvPr/>
        </p:nvSpPr>
        <p:spPr>
          <a:xfrm>
            <a:off x="0" y="5074920"/>
            <a:ext cx="9144015" cy="68580"/>
          </a:xfrm>
          <a:prstGeom prst="rect">
            <a:avLst/>
          </a:prstGeom>
          <a:solidFill>
            <a:srgbClr val="00B4C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9"/>
          <p:cNvSpPr txBox="1"/>
          <p:nvPr/>
        </p:nvSpPr>
        <p:spPr>
          <a:xfrm>
            <a:off x="8092656" y="4834890"/>
            <a:ext cx="822982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647896"/>
                </a:solidFill>
                <a:latin typeface="Calibri"/>
                <a:ea typeface="Calibri"/>
                <a:cs typeface="Calibri"/>
                <a:sym typeface="Calibri"/>
              </a:rPr>
              <a:t>14 / 14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