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1" r:id="rId9"/>
    <p:sldId id="264" r:id="rId10"/>
    <p:sldId id="265" r:id="rId11"/>
    <p:sldId id="267" r:id="rId12"/>
    <p:sldId id="266" r:id="rId13"/>
    <p:sldId id="268" r:id="rId14"/>
    <p:sldId id="270" r:id="rId15"/>
    <p:sldId id="282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0000"/>
    <a:srgbClr val="E8DEDE"/>
    <a:srgbClr val="9E3611"/>
    <a:srgbClr val="D34817"/>
    <a:srgbClr val="A28448"/>
    <a:srgbClr val="ECE8E1"/>
    <a:srgbClr val="353232"/>
    <a:srgbClr val="7D786B"/>
    <a:srgbClr val="AC1A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22" autoAdjust="0"/>
    <p:restoredTop sz="89932" autoAdjust="0"/>
  </p:normalViewPr>
  <p:slideViewPr>
    <p:cSldViewPr snapToGrid="0">
      <p:cViewPr varScale="1">
        <p:scale>
          <a:sx n="110" d="100"/>
          <a:sy n="110" d="100"/>
        </p:scale>
        <p:origin x="176" y="2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D68FD4D-40C0-4F62-A5E2-21965D1842F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289F3B-B524-42C6-BCF5-F100849A58E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F8E467-19B5-46AF-90B6-813870024E7C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A51003-348D-4FC9-B4AB-1221F23803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6F952-6C53-491B-AED1-68E9E3206B0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4D4D8D-7686-4B4D-85B3-DED9A45A4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040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1B394-12A3-4DC9-80FB-811A47EB22FC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9A2D32-6F87-4CE7-81EA-FAC54A396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854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C639D-AF1B-40AA-8E1C-C9A6786629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F16DA6-EBEA-4DFF-9177-EEDB709AE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B1429-07EB-4668-9B3C-1EBC8B210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3D5AF-4248-4C92-ADB4-22225EECC4D1}" type="datetime1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C8572-EDC6-485A-9BBE-6730F7F04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66785AF3-019E-4C0C-B8A0-C9D3D7E7CA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1904" y="80010"/>
            <a:ext cx="722433" cy="548640"/>
          </a:xfrm>
          <a:prstGeom prst="ellipse">
            <a:avLst/>
          </a:prstGeom>
          <a:solidFill>
            <a:srgbClr val="7F7F7F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>
              <a:spcAft>
                <a:spcPts val="600"/>
              </a:spcAft>
            </a:pPr>
            <a:fld id="{D1417333-00BA-4379-A4C8-F7A4E25774AB}" type="slidenum">
              <a:rPr lang="en-US" sz="1500">
                <a:solidFill>
                  <a:srgbClr val="FFFFFF"/>
                </a:solidFill>
              </a:rPr>
              <a:pPr algn="ctr" defTabSz="457200">
                <a:spcAft>
                  <a:spcPts val="600"/>
                </a:spcAft>
              </a:pPr>
              <a:t>‹#›</a:t>
            </a:fld>
            <a:endParaRPr lang="en-US" sz="15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450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83B78-A811-4111-9FF9-41719B44A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A23DC-9917-4F4C-B2CE-8381986E9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0EA96-0599-45CD-B9AE-E918E6FB7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ACBFF-EEA5-46E7-ADB1-366EDEE66780}" type="datetime1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ACE-55E1-449B-A563-AD0146198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7E697F6E-BE24-434E-A2E9-7896FEF5E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1904" y="80010"/>
            <a:ext cx="722433" cy="548640"/>
          </a:xfrm>
          <a:prstGeom prst="ellipse">
            <a:avLst/>
          </a:prstGeom>
          <a:solidFill>
            <a:srgbClr val="7F7F7F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>
              <a:spcAft>
                <a:spcPts val="600"/>
              </a:spcAft>
            </a:pPr>
            <a:fld id="{D1417333-00BA-4379-A4C8-F7A4E25774AB}" type="slidenum">
              <a:rPr lang="en-US" sz="1500">
                <a:solidFill>
                  <a:srgbClr val="FFFFFF"/>
                </a:solidFill>
              </a:rPr>
              <a:pPr algn="ctr" defTabSz="457200">
                <a:spcAft>
                  <a:spcPts val="600"/>
                </a:spcAft>
              </a:pPr>
              <a:t>‹#›</a:t>
            </a:fld>
            <a:endParaRPr lang="en-US" sz="15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0848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E41B9-F1D2-4F5B-9A80-103E3B98B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823D5-E53B-4B27-9937-3E96A87E1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24B2D-8EB9-42DE-851A-502F1685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CE0D5-8BF9-4B0B-9E9B-74D15229671F}" type="datetime1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51122-3C65-4C0F-9955-E6D8F46B4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E54E537-CF84-46DD-9585-8C55878C60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1904" y="80010"/>
            <a:ext cx="722433" cy="548640"/>
          </a:xfrm>
          <a:prstGeom prst="ellipse">
            <a:avLst/>
          </a:prstGeom>
          <a:solidFill>
            <a:srgbClr val="7F7F7F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>
              <a:spcAft>
                <a:spcPts val="600"/>
              </a:spcAft>
            </a:pPr>
            <a:fld id="{D1417333-00BA-4379-A4C8-F7A4E25774AB}" type="slidenum">
              <a:rPr lang="en-US" sz="1500">
                <a:solidFill>
                  <a:srgbClr val="FFFFFF"/>
                </a:solidFill>
              </a:rPr>
              <a:pPr algn="ctr" defTabSz="457200">
                <a:spcAft>
                  <a:spcPts val="600"/>
                </a:spcAft>
              </a:pPr>
              <a:t>‹#›</a:t>
            </a:fld>
            <a:endParaRPr lang="en-US" sz="15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258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4654F-85C0-455B-8103-C4A313392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31336-D2B8-48FC-A9B0-B77E7EBD52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454D0-F7EC-40EA-8AEC-0DC9EC2D5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FCB7CF-2E24-44E8-A117-020E3E25C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B9B5-C822-40A7-A50F-174220BEE249}" type="datetime1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705E5-9805-47C4-A7B0-4A9B75243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57EDF35D-9169-4168-AEE4-E48DB43E12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1904" y="80010"/>
            <a:ext cx="722433" cy="548640"/>
          </a:xfrm>
          <a:prstGeom prst="ellipse">
            <a:avLst/>
          </a:prstGeom>
          <a:solidFill>
            <a:srgbClr val="7F7F7F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>
              <a:spcAft>
                <a:spcPts val="600"/>
              </a:spcAft>
            </a:pPr>
            <a:fld id="{D1417333-00BA-4379-A4C8-F7A4E25774AB}" type="slidenum">
              <a:rPr lang="en-US" sz="1500">
                <a:solidFill>
                  <a:srgbClr val="FFFFFF"/>
                </a:solidFill>
              </a:rPr>
              <a:pPr algn="ctr" defTabSz="457200">
                <a:spcAft>
                  <a:spcPts val="600"/>
                </a:spcAft>
              </a:pPr>
              <a:t>‹#›</a:t>
            </a:fld>
            <a:endParaRPr lang="en-US" sz="15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862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6C344-1EC0-4C39-9004-1B83B333F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8FECB-28A7-4E3F-8738-802CABAFA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BD663C-8EB9-452E-B069-5579F274B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FEC5DB-3F30-430F-B34C-D7EE4055D3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DB53DD-6305-4928-B467-E7D2017AD2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28C6D6-B5BF-4936-AA85-31A97DE36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A764-CE72-42BE-8300-24BD3FDE8FBF}" type="datetime1">
              <a:rPr lang="en-US" smtClean="0"/>
              <a:t>2/1/26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992FC2-C4E1-4A55-A5BC-94A95A2FF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847013F5-8106-48DD-A23A-BD5DE3959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1904" y="80010"/>
            <a:ext cx="722433" cy="548640"/>
          </a:xfrm>
          <a:prstGeom prst="ellipse">
            <a:avLst/>
          </a:prstGeom>
          <a:solidFill>
            <a:srgbClr val="7F7F7F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>
              <a:spcAft>
                <a:spcPts val="600"/>
              </a:spcAft>
            </a:pPr>
            <a:fld id="{D1417333-00BA-4379-A4C8-F7A4E25774AB}" type="slidenum">
              <a:rPr lang="en-US" sz="1500">
                <a:solidFill>
                  <a:srgbClr val="FFFFFF"/>
                </a:solidFill>
              </a:rPr>
              <a:pPr algn="ctr" defTabSz="457200">
                <a:spcAft>
                  <a:spcPts val="600"/>
                </a:spcAft>
              </a:pPr>
              <a:t>‹#›</a:t>
            </a:fld>
            <a:endParaRPr lang="en-US" sz="15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068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A8EC0-927E-4CD1-A438-E33A7350A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6F7DBE-79AB-4267-9BBF-A820D7B68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ADF71-A2BF-4A64-8241-324090CB13F1}" type="datetime1">
              <a:rPr lang="en-US" smtClean="0"/>
              <a:t>2/1/26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696F7C-4212-4D84-AB2C-106822DB8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82657-F035-4D36-901C-495F75887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19086" y="6394942"/>
            <a:ext cx="2743200" cy="365125"/>
          </a:xfrm>
          <a:prstGeom prst="rect">
            <a:avLst/>
          </a:prstGeom>
        </p:spPr>
        <p:txBody>
          <a:bodyPr/>
          <a:lstStyle/>
          <a:p>
            <a:fld id="{D1417333-00BA-4379-A4C8-F7A4E2577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302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FE517D-2F94-409E-B452-ACEF93A88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30CC3-3EB8-4FF4-B232-93A36C01AAA4}" type="datetime1">
              <a:rPr lang="en-US" smtClean="0"/>
              <a:t>2/1/26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AC1C05-D132-40C9-BC4F-147299F5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9D0D1-5E98-4E64-BEC9-67FE66121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19086" y="6394942"/>
            <a:ext cx="2743200" cy="365125"/>
          </a:xfrm>
          <a:prstGeom prst="rect">
            <a:avLst/>
          </a:prstGeom>
        </p:spPr>
        <p:txBody>
          <a:bodyPr/>
          <a:lstStyle/>
          <a:p>
            <a:fld id="{D1417333-00BA-4379-A4C8-F7A4E2577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373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E79B2-429F-41EE-9A18-21F809429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EBE63-D482-4171-B99E-9FE14E1AB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071987-475A-4428-BA58-50115595B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52B8C-2CD4-4C4A-9591-46FC603A0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09B4-9215-4990-B633-0E1693E7B35C}" type="datetime1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76435B-C60B-4DC9-B070-D22A708F4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9450C3-38D0-41F5-9595-0B878642B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19086" y="6394942"/>
            <a:ext cx="2743200" cy="365125"/>
          </a:xfrm>
          <a:prstGeom prst="rect">
            <a:avLst/>
          </a:prstGeom>
        </p:spPr>
        <p:txBody>
          <a:bodyPr/>
          <a:lstStyle/>
          <a:p>
            <a:fld id="{D1417333-00BA-4379-A4C8-F7A4E2577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200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66927-9B3D-4DA5-B06E-E6600760A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9778BC-6F0E-469D-A57A-B9558E108E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34D122-63FE-4DE1-97D6-39ECDBB84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755C2-985D-4966-BFB3-80C1B3633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A3717-349B-4DBE-9175-4410B1509D05}" type="datetime1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79D97-89F8-40DD-97FA-3460EC184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E49D6-36AE-49EA-B5C5-AB809DB33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19086" y="6394942"/>
            <a:ext cx="2743200" cy="365125"/>
          </a:xfrm>
          <a:prstGeom prst="rect">
            <a:avLst/>
          </a:prstGeom>
        </p:spPr>
        <p:txBody>
          <a:bodyPr/>
          <a:lstStyle/>
          <a:p>
            <a:fld id="{D1417333-00BA-4379-A4C8-F7A4E2577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326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14344-83D1-46A1-B80A-FF2D0FAD0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D0D799-4A8F-44A8-A149-627C336AD9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A0356-6C53-4219-A7D6-E03805511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F07B-056F-44BE-86A4-2A9C5685036E}" type="datetime1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9CA34-BA43-4B06-9A96-16F422020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4EDCB-66B3-40E0-9A33-6978C03DD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19086" y="6394942"/>
            <a:ext cx="2743200" cy="365125"/>
          </a:xfrm>
          <a:prstGeom prst="rect">
            <a:avLst/>
          </a:prstGeom>
        </p:spPr>
        <p:txBody>
          <a:bodyPr/>
          <a:lstStyle/>
          <a:p>
            <a:fld id="{D1417333-00BA-4379-A4C8-F7A4E2577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705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70BCE0-A3E7-4DB0-B6E8-98995E848B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8D3037-19B9-482B-A9E2-DA8E9A1FC6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20CDE-09B4-407B-8949-677884D3C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EADA7-0BA0-4B70-AE0F-E45D4A2BCE9E}" type="datetime1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67465-70C7-4EF0-A355-B9F1667AF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8E197-9408-4FE8-88F4-121418E80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19086" y="6394942"/>
            <a:ext cx="2743200" cy="365125"/>
          </a:xfrm>
          <a:prstGeom prst="rect">
            <a:avLst/>
          </a:prstGeom>
        </p:spPr>
        <p:txBody>
          <a:bodyPr/>
          <a:lstStyle/>
          <a:p>
            <a:fld id="{D1417333-00BA-4379-A4C8-F7A4E2577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174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FA9DF23F-EB44-446B-A348-4076235734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65138" y="262593"/>
            <a:ext cx="2096967" cy="394166"/>
          </a:xfrm>
          <a:prstGeom prst="rect">
            <a:avLst/>
          </a:prstGeom>
        </p:spPr>
      </p:pic>
      <p:pic>
        <p:nvPicPr>
          <p:cNvPr id="11" name="Picture 2" descr="Image result for oregon state university">
            <a:extLst>
              <a:ext uri="{FF2B5EF4-FFF2-40B4-BE49-F238E27FC236}">
                <a16:creationId xmlns:a16="http://schemas.microsoft.com/office/drawing/2014/main" id="{9E5E44AC-A220-4421-9AFE-A67FB192D9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33090"/>
            <a:ext cx="1750603" cy="732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7E2B3B4B-9B04-4702-B85D-756091BE1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0671A31-DD8E-4B80-AA1A-70A7BB06D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68345-2DF1-45D2-969A-30ACEF732B2C}" type="datetime1">
              <a:rPr lang="en-US" smtClean="0"/>
              <a:t>2/1/26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75B824A-9959-4BA6-A831-4FE98F844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64C484B-F560-460D-8F36-F3F36CFBC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19086" y="6394942"/>
            <a:ext cx="2743200" cy="365125"/>
          </a:xfrm>
          <a:prstGeom prst="rect">
            <a:avLst/>
          </a:prstGeom>
        </p:spPr>
        <p:txBody>
          <a:bodyPr/>
          <a:lstStyle/>
          <a:p>
            <a:fld id="{D1417333-00BA-4379-A4C8-F7A4E25774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4320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6364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7">
            <a:extLst>
              <a:ext uri="{FF2B5EF4-FFF2-40B4-BE49-F238E27FC236}">
                <a16:creationId xmlns:a16="http://schemas.microsoft.com/office/drawing/2014/main" id="{2422D9DF-A16F-4985-A2A3-0E0D5736BA41}"/>
              </a:ext>
            </a:extLst>
          </p:cNvPr>
          <p:cNvSpPr/>
          <p:nvPr userDrawn="1"/>
        </p:nvSpPr>
        <p:spPr>
          <a:xfrm>
            <a:off x="0" y="0"/>
            <a:ext cx="12192000" cy="74199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8FDE90-097A-4626-8AF3-2A46A09C9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524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73E9B-793F-46A8-B7DC-919B5F806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F03C5-9BC0-4D72-8A5B-7D7AD8D963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AE2E2-4126-4F53-A0E3-EAF0809821A6}" type="datetime1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E14B1-D5CA-40F7-B3B9-FD2CD3342A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02D9A1CB-6C3F-46B2-B3B8-3906D8BECE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1904" y="80010"/>
            <a:ext cx="722433" cy="548640"/>
          </a:xfrm>
          <a:prstGeom prst="ellipse">
            <a:avLst/>
          </a:prstGeom>
          <a:solidFill>
            <a:srgbClr val="7F7F7F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>
              <a:spcAft>
                <a:spcPts val="600"/>
              </a:spcAft>
            </a:pPr>
            <a:fld id="{D1417333-00BA-4379-A4C8-F7A4E25774AB}" type="slidenum">
              <a:rPr lang="en-US" sz="1500">
                <a:solidFill>
                  <a:srgbClr val="FFFFFF"/>
                </a:solidFill>
              </a:rPr>
              <a:pPr algn="ctr" defTabSz="457200">
                <a:spcAft>
                  <a:spcPts val="600"/>
                </a:spcAft>
              </a:pPr>
              <a:t>‹#›</a:t>
            </a:fld>
            <a:endParaRPr lang="en-US" sz="1500">
              <a:solidFill>
                <a:srgbClr val="FFFFFF"/>
              </a:solidFill>
            </a:endParaRPr>
          </a:p>
        </p:txBody>
      </p:sp>
      <p:pic>
        <p:nvPicPr>
          <p:cNvPr id="1026" name="Picture 2" descr="mage result for rit logo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0" y="61777"/>
            <a:ext cx="1453520" cy="566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5844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661" r:id="rId12"/>
    <p:sldLayoutId id="2147483713" r:id="rId13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1">
            <a:extLst>
              <a:ext uri="{FF2B5EF4-FFF2-40B4-BE49-F238E27FC236}">
                <a16:creationId xmlns:a16="http://schemas.microsoft.com/office/drawing/2014/main" id="{F0C57C7C-DFE9-4A1E-B7A9-DF40E633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891" y="2057399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449BCF1-8931-4026-B983-88C634CA5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7354" y="965199"/>
            <a:ext cx="8411485" cy="4927601"/>
          </a:xfrm>
        </p:spPr>
        <p:txBody>
          <a:bodyPr anchor="ctr">
            <a:normAutofit/>
          </a:bodyPr>
          <a:lstStyle/>
          <a:p>
            <a:r>
              <a:rPr lang="en-US" sz="5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5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BioRobotics</a:t>
            </a:r>
            <a:endParaRPr lang="en-US" sz="5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051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4757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EMG?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609600" y="1718132"/>
            <a:ext cx="1463040" cy="73152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1913204"/>
            <a:ext cx="26822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E3A5F"/>
                </a:solidFill>
              </a:rPr>
              <a:t>Prosthetics</a:t>
            </a:r>
            <a:endParaRPr lang="en-US" sz="1867" dirty="0"/>
          </a:p>
        </p:txBody>
      </p:sp>
      <p:sp>
        <p:nvSpPr>
          <p:cNvPr id="5" name="Text 3"/>
          <p:cNvSpPr/>
          <p:nvPr/>
        </p:nvSpPr>
        <p:spPr>
          <a:xfrm>
            <a:off x="609600" y="2339924"/>
            <a:ext cx="26822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</a:rPr>
              <a:t>Intuitive control of robotic limbs using muscle signals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35680" y="1913204"/>
            <a:ext cx="26822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E3A5F"/>
                </a:solidFill>
              </a:rPr>
              <a:t>Gesture Control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3535680" y="2339924"/>
            <a:ext cx="26822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</a:rPr>
              <a:t>Hands-free interaction with devices and computers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61760" y="1913204"/>
            <a:ext cx="26822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E3A5F"/>
                </a:solidFill>
              </a:rPr>
              <a:t>Rehabilitation</a:t>
            </a:r>
            <a:endParaRPr lang="en-US" sz="1867" dirty="0"/>
          </a:p>
        </p:txBody>
      </p:sp>
      <p:sp>
        <p:nvSpPr>
          <p:cNvPr id="9" name="Text 7"/>
          <p:cNvSpPr/>
          <p:nvPr/>
        </p:nvSpPr>
        <p:spPr>
          <a:xfrm>
            <a:off x="6461760" y="2339924"/>
            <a:ext cx="26822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</a:rPr>
              <a:t>Biofeedback for stroke recovery and physical therapy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87840" y="1913204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E3A5F"/>
                </a:solidFill>
              </a:rPr>
              <a:t>Exoskeletons</a:t>
            </a:r>
            <a:endParaRPr lang="en-US" sz="1867" dirty="0"/>
          </a:p>
        </p:txBody>
      </p:sp>
      <p:sp>
        <p:nvSpPr>
          <p:cNvPr id="11" name="Text 9"/>
          <p:cNvSpPr/>
          <p:nvPr/>
        </p:nvSpPr>
        <p:spPr>
          <a:xfrm>
            <a:off x="9387840" y="2339924"/>
            <a:ext cx="24384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</a:rPr>
              <a:t>Assistive devices that respond to user intent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" y="3254324"/>
            <a:ext cx="10972800" cy="853440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609600" y="3376244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EMG provides a direct window into motor intent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944879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Picture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609600" y="1615439"/>
            <a:ext cx="1463040" cy="73152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731520" y="2438400"/>
            <a:ext cx="1584960" cy="1219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158496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Brain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FFFFFF"/>
                </a:solidFill>
              </a:rPr>
              <a:t>Intent</a:t>
            </a:r>
            <a:endParaRPr lang="en-US" sz="1467" dirty="0"/>
          </a:p>
        </p:txBody>
      </p:sp>
      <p:sp>
        <p:nvSpPr>
          <p:cNvPr id="6" name="Text 4"/>
          <p:cNvSpPr/>
          <p:nvPr/>
        </p:nvSpPr>
        <p:spPr>
          <a:xfrm>
            <a:off x="2316480" y="2743200"/>
            <a:ext cx="365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dirty="0">
                <a:solidFill>
                  <a:srgbClr val="1E3A5F"/>
                </a:solidFill>
              </a:rPr>
              <a:t>→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560320" y="2438400"/>
            <a:ext cx="1584960" cy="1219200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2560320" y="2560320"/>
            <a:ext cx="158496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Muscle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FFFFFF"/>
                </a:solidFill>
              </a:rPr>
              <a:t>Contraction</a:t>
            </a:r>
            <a:endParaRPr lang="en-US" sz="1467" dirty="0"/>
          </a:p>
        </p:txBody>
      </p:sp>
      <p:sp>
        <p:nvSpPr>
          <p:cNvPr id="9" name="Text 7"/>
          <p:cNvSpPr/>
          <p:nvPr/>
        </p:nvSpPr>
        <p:spPr>
          <a:xfrm>
            <a:off x="4145280" y="2743200"/>
            <a:ext cx="365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dirty="0">
                <a:solidFill>
                  <a:srgbClr val="1E3A5F"/>
                </a:solidFill>
              </a:rPr>
              <a:t>→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389120" y="2438400"/>
            <a:ext cx="1584960" cy="1219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4389120" y="2560320"/>
            <a:ext cx="158496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EMG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FFFFFF"/>
                </a:solidFill>
              </a:rPr>
              <a:t>Signal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5974080" y="2743200"/>
            <a:ext cx="365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dirty="0">
                <a:solidFill>
                  <a:srgbClr val="1E3A5F"/>
                </a:solidFill>
              </a:rPr>
              <a:t>→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6217920" y="2438400"/>
            <a:ext cx="1584960" cy="1219200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6217920" y="2560320"/>
            <a:ext cx="158496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Signal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FFFFFF"/>
                </a:solidFill>
              </a:rPr>
              <a:t>Processing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7802880" y="2743200"/>
            <a:ext cx="365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dirty="0">
                <a:solidFill>
                  <a:srgbClr val="1E3A5F"/>
                </a:solidFill>
              </a:rPr>
              <a:t>→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8046720" y="2438400"/>
            <a:ext cx="1584960" cy="1219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8046720" y="2560320"/>
            <a:ext cx="158496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Classification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9631680" y="2743200"/>
            <a:ext cx="365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dirty="0">
                <a:solidFill>
                  <a:srgbClr val="1E3A5F"/>
                </a:solidFill>
              </a:rPr>
              <a:t>→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9875520" y="2438400"/>
            <a:ext cx="1584960" cy="1219200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9875520" y="2560320"/>
            <a:ext cx="158496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Robot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FFFFFF"/>
                </a:solidFill>
              </a:rPr>
              <a:t>Control</a:t>
            </a:r>
            <a:endParaRPr lang="en-US" sz="146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6609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Motor Unit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609600" y="1336658"/>
            <a:ext cx="1463040" cy="73152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2"/>
          <p:cNvSpPr/>
          <p:nvPr/>
        </p:nvSpPr>
        <p:spPr>
          <a:xfrm>
            <a:off x="609600" y="597408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fundamental unit of muscle control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09600" y="48768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</a:rPr>
              <a:t>Motor neuron + all muscle fibers it innervates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</a:rPr>
              <a:t>Each motor unit fires as a single unit (all-or-none)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</a:rPr>
              <a:t>Force control: recruit more motor units or increase firing rate</a:t>
            </a:r>
            <a:endParaRPr lang="en-US" sz="1733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4B3BBC-5981-8B3A-94C2-DF4714E78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593" y="1094404"/>
            <a:ext cx="4439856" cy="43310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66097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EMG?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609600" y="1336657"/>
            <a:ext cx="1463040" cy="73152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158496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1E3A5F"/>
                </a:solidFill>
              </a:rPr>
              <a:t>Electromyography (EMG)</a:t>
            </a:r>
            <a:endParaRPr lang="en-US" sz="2933" dirty="0"/>
          </a:p>
        </p:txBody>
      </p:sp>
      <p:sp>
        <p:nvSpPr>
          <p:cNvPr id="5" name="Text 3"/>
          <p:cNvSpPr/>
          <p:nvPr/>
        </p:nvSpPr>
        <p:spPr>
          <a:xfrm>
            <a:off x="609600" y="207264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dirty="0">
                <a:solidFill>
                  <a:srgbClr val="334155"/>
                </a:solidFill>
              </a:rPr>
              <a:t>Electrical recording of muscle activity during contraction</a:t>
            </a:r>
            <a:endParaRPr lang="en-US" sz="2133" dirty="0"/>
          </a:p>
        </p:txBody>
      </p:sp>
      <p:sp>
        <p:nvSpPr>
          <p:cNvPr id="6" name="Shape 4"/>
          <p:cNvSpPr/>
          <p:nvPr/>
        </p:nvSpPr>
        <p:spPr>
          <a:xfrm>
            <a:off x="609600" y="2804160"/>
            <a:ext cx="3413760" cy="1463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1699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E85D4C"/>
                </a:solidFill>
              </a:rPr>
              <a:t>Frequency Range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31699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E3A5F"/>
                </a:solidFill>
              </a:rPr>
              <a:t>2 - 500 Hz</a:t>
            </a:r>
            <a:endParaRPr lang="en-US" sz="1733" dirty="0"/>
          </a:p>
          <a:p>
            <a:r>
              <a:rPr lang="en-US" sz="1733" dirty="0">
                <a:solidFill>
                  <a:srgbClr val="1E3A5F"/>
                </a:solidFill>
              </a:rPr>
              <a:t>(most energy 20-150 Hz)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4267200" y="2804160"/>
            <a:ext cx="3413760" cy="1463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4389120" y="2926080"/>
            <a:ext cx="31699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E85D4C"/>
                </a:solidFill>
              </a:rPr>
              <a:t>Amplitude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0" y="3291840"/>
            <a:ext cx="31699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E3A5F"/>
                </a:solidFill>
              </a:rPr>
              <a:t>50 µV - 5 mV</a:t>
            </a:r>
            <a:endParaRPr lang="en-US" sz="1733" dirty="0"/>
          </a:p>
          <a:p>
            <a:r>
              <a:rPr lang="en-US" sz="1733" dirty="0">
                <a:solidFill>
                  <a:srgbClr val="1E3A5F"/>
                </a:solidFill>
              </a:rPr>
              <a:t>(depends on electrode)</a:t>
            </a:r>
            <a:endParaRPr lang="en-US" sz="1733" dirty="0"/>
          </a:p>
        </p:txBody>
      </p:sp>
      <p:sp>
        <p:nvSpPr>
          <p:cNvPr id="12" name="Shape 10"/>
          <p:cNvSpPr/>
          <p:nvPr/>
        </p:nvSpPr>
        <p:spPr>
          <a:xfrm>
            <a:off x="7924800" y="2804160"/>
            <a:ext cx="3657600" cy="1463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8046720" y="2926080"/>
            <a:ext cx="34137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E85D4C"/>
                </a:solidFill>
              </a:rPr>
              <a:t>Electrode Types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46720" y="3291840"/>
            <a:ext cx="341376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E3A5F"/>
                </a:solidFill>
              </a:rPr>
              <a:t>Surface: non-invasive</a:t>
            </a:r>
            <a:endParaRPr lang="en-US" sz="1733" dirty="0"/>
          </a:p>
          <a:p>
            <a:r>
              <a:rPr lang="en-US" sz="1733" dirty="0">
                <a:solidFill>
                  <a:srgbClr val="1E3A5F"/>
                </a:solidFill>
              </a:rPr>
              <a:t>Intramuscular: high resolution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609600" y="524256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E85D4C"/>
                </a:solidFill>
              </a:rPr>
              <a:t>We'll focus on surface EMG (</a:t>
            </a:r>
            <a:r>
              <a:rPr lang="en-US" sz="1867" b="1" dirty="0" err="1">
                <a:solidFill>
                  <a:srgbClr val="E85D4C"/>
                </a:solidFill>
              </a:rPr>
              <a:t>sEMG</a:t>
            </a:r>
            <a:r>
              <a:rPr lang="en-US" sz="1867" b="1" dirty="0">
                <a:solidFill>
                  <a:srgbClr val="E85D4C"/>
                </a:solidFill>
              </a:rPr>
              <a:t>)</a:t>
            </a:r>
            <a:endParaRPr lang="en-US" sz="186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Action Potential to Contraction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609600" y="1280160"/>
            <a:ext cx="1463040" cy="73152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4" name="Image 0" descr="./figures/action_potential_tw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706880"/>
            <a:ext cx="8534400" cy="426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55168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</a:rPr>
              <a:t>Action potential: 1-3 ms electrical spike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</a:rPr>
              <a:t>Twitch: 10-100 ms mechanical response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</a:rPr>
              <a:t>Tetanus: fused contractions at high firing rates (&gt;30 Hz)</a:t>
            </a:r>
            <a:endParaRPr lang="en-US" sz="173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705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EMG as Superposition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609600" y="1341120"/>
            <a:ext cx="1463040" cy="73152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4" name="Image 0" descr="./figures/muap_super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446" y="1706879"/>
            <a:ext cx="9286754" cy="46433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AC28ED-4501-EB49-0489-DF141DA1E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34" y="1847595"/>
            <a:ext cx="11761166" cy="4611078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BC5E053-44A3-2692-364F-4B50BCE98653}"/>
              </a:ext>
            </a:extLst>
          </p:cNvPr>
          <p:cNvSpPr/>
          <p:nvPr/>
        </p:nvSpPr>
        <p:spPr>
          <a:xfrm>
            <a:off x="609600" y="6705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EMG Signal</a:t>
            </a:r>
            <a:endParaRPr lang="en-US" sz="3733" dirty="0"/>
          </a:p>
        </p:txBody>
      </p:sp>
    </p:spTree>
    <p:extLst>
      <p:ext uri="{BB962C8B-B14F-4D97-AF65-F5344CB8AC3E}">
        <p14:creationId xmlns:p14="http://schemas.microsoft.com/office/powerpoint/2010/main" val="897389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Electrode Configuration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609600" y="1310640"/>
            <a:ext cx="1463040" cy="73152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1584960"/>
            <a:ext cx="5120640" cy="463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Bipolar differential: 2 electrodes + reference</a:t>
            </a: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voltage difference to reject common noise</a:t>
            </a: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matters: along muscle fiber direction</a:t>
            </a: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Inter-electrode distance: 1-2 cm typical</a:t>
            </a:r>
            <a:endParaRPr lang="en-US" sz="2133" dirty="0"/>
          </a:p>
        </p:txBody>
      </p:sp>
      <p:sp>
        <p:nvSpPr>
          <p:cNvPr id="5" name="Text 3"/>
          <p:cNvSpPr/>
          <p:nvPr/>
        </p:nvSpPr>
        <p:spPr>
          <a:xfrm>
            <a:off x="6096000" y="1584960"/>
            <a:ext cx="5486400" cy="463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Myo Armband Specifications:</a:t>
            </a: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8 channels (dry electrodes)</a:t>
            </a: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200 Hz sampling rate</a:t>
            </a: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8-bit resolution</a:t>
            </a: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Wireless via Bluetooth</a:t>
            </a: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Good for gesture classification</a:t>
            </a:r>
            <a:endParaRPr lang="en-US" sz="213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66099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Sources in EMG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609600" y="1336659"/>
            <a:ext cx="1463040" cy="73152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4" name="Image 0" descr="./figures/frequency_spectr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58" y="1706879"/>
            <a:ext cx="9642486" cy="48212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350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Fundamentals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609600" y="1274064"/>
            <a:ext cx="1463040" cy="73152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1584960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E3A5F"/>
                </a:solidFill>
              </a:rPr>
              <a:t>Nyquist Theorem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600" y="2072640"/>
            <a:ext cx="4876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334155"/>
                </a:solidFill>
              </a:rPr>
              <a:t>Sample at ≥ 2× max frequency to avoid aliasing</a:t>
            </a:r>
            <a:endParaRPr lang="en-US" sz="1867" dirty="0"/>
          </a:p>
          <a:p>
            <a:r>
              <a:rPr lang="en-US" sz="1867" dirty="0">
                <a:solidFill>
                  <a:srgbClr val="334155"/>
                </a:solidFill>
              </a:rPr>
              <a:t>Myo: 200 Hz → can capture up to 100 Hz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6096000" y="1584960"/>
            <a:ext cx="5486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E3A5F"/>
                </a:solidFill>
              </a:rPr>
              <a:t>Common Filters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096000" y="195072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High-pass (20 Hz): remove motion artifacts</a:t>
            </a:r>
            <a:endParaRPr lang="en-US" sz="1600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Low-pass (450 Hz): anti-aliasing</a:t>
            </a:r>
            <a:endParaRPr lang="en-US" sz="1600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Notch (50/60 Hz): powerline rejection</a:t>
            </a:r>
            <a:endParaRPr lang="en-US" sz="1600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Butterworth: smooth frequency response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Processing Pipeline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609600" y="1310640"/>
            <a:ext cx="1463040" cy="73152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4" name="Image 0" descr="./figures/signal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706880"/>
            <a:ext cx="8534400" cy="426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5730240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</a:rPr>
              <a:t>Raw → Bandpass → Rectify → Smooth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</a:rPr>
              <a:t>Each step reveals different information</a:t>
            </a:r>
            <a:endParaRPr lang="en-US" sz="173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6446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Envelope Extraction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609600" y="1335024"/>
            <a:ext cx="1463040" cy="73152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1584960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E3A5F"/>
                </a:solidFill>
              </a:rPr>
              <a:t>Rectification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600" y="2072640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E85D4C"/>
                </a:solidFill>
              </a:rPr>
              <a:t>y(t) = |x(t)|</a:t>
            </a:r>
            <a:endParaRPr lang="en-US" sz="2667" dirty="0"/>
          </a:p>
        </p:txBody>
      </p:sp>
      <p:sp>
        <p:nvSpPr>
          <p:cNvPr id="6" name="Text 4"/>
          <p:cNvSpPr/>
          <p:nvPr/>
        </p:nvSpPr>
        <p:spPr>
          <a:xfrm>
            <a:off x="609600" y="2560320"/>
            <a:ext cx="487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334155"/>
                </a:solidFill>
              </a:rPr>
              <a:t>Convert bipolar signal to unipolar</a:t>
            </a:r>
            <a:endParaRPr lang="en-US" sz="1733" dirty="0"/>
          </a:p>
          <a:p>
            <a:r>
              <a:rPr lang="en-US" sz="1733" dirty="0">
                <a:solidFill>
                  <a:srgbClr val="334155"/>
                </a:solidFill>
              </a:rPr>
              <a:t>Makes averaging meaningful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6096000" y="1584960"/>
            <a:ext cx="5486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E3A5F"/>
                </a:solidFill>
              </a:rPr>
              <a:t>Linear Envelope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096000" y="2072640"/>
            <a:ext cx="5486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334155"/>
                </a:solidFill>
              </a:rPr>
              <a:t>Low-pass filter the rectified signal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6096000" y="243840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Smooths rapid fluctuations</a:t>
            </a:r>
            <a:endParaRPr lang="en-US" sz="1600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Tracks muscle activation level</a:t>
            </a:r>
            <a:endParaRPr lang="en-US" sz="1600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Used for proportional control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4267200"/>
            <a:ext cx="10972800" cy="853440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609600" y="438912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Proportional control: Envelope amplitude → Robot speed/force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Time-Domain Features (Hudgins Set)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609600" y="1267968"/>
            <a:ext cx="1463040" cy="73152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4" name="Image 0" descr="./figures/feature_extr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174445"/>
            <a:ext cx="8534400" cy="426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50292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MAV: Mean Absolute Value - overall activation level</a:t>
            </a:r>
            <a:endParaRPr lang="en-US" sz="1600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RMS: Root Mean Square - signal power</a:t>
            </a:r>
            <a:endParaRPr lang="en-US" sz="1600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ZC: Zero Crossings - frequency content proxy</a:t>
            </a:r>
            <a:endParaRPr lang="en-US" sz="1600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WL: Waveform Length - signal complexity</a:t>
            </a:r>
            <a:endParaRPr lang="en-US" sz="1600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SSC: Slope Sign Changes - high-frequency content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9621146D-6D40-1204-ABFB-2EE6B6F3AC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256162"/>
              </p:ext>
            </p:extLst>
          </p:nvPr>
        </p:nvGraphicFramePr>
        <p:xfrm>
          <a:off x="1217657" y="1123901"/>
          <a:ext cx="9401538" cy="4357290"/>
        </p:xfrm>
        <a:graphic>
          <a:graphicData uri="http://schemas.openxmlformats.org/drawingml/2006/table">
            <a:tbl>
              <a:tblPr/>
              <a:tblGrid>
                <a:gridCol w="1687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0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2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06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51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Physiological Correlation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1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Frequency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(MDF)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Frequency dividing power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spectrum into equal halves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↓ Decreases with FATIGUE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(spectral shift to lower freq)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Fatigue monitoring,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ergonomic assessment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1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Frequency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(MNF)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Centroid of the power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spectral density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↓ Decreases with FATIGUE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(tracks conduction velocity)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Endurance studies,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rehabilitation progress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1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 / MAV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Root mean square /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absolute value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↑ Increases with FORCE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(motor unit recruitment)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Proportional control,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force estimation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51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 Crossings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(ZC)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 of times signal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crosses zero per second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D4E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 Reflects FIRING RATE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D4E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(motor unit discharge)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Gesture classification,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MUAP analysis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51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Waveform Length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(WL)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Cumulative length of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EMG waveform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↑ Increases with ACTIVITY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(amplitude + complexity)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Onset detection,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 quantification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Shape 4">
            <a:extLst>
              <a:ext uri="{FF2B5EF4-FFF2-40B4-BE49-F238E27FC236}">
                <a16:creationId xmlns:a16="http://schemas.microsoft.com/office/drawing/2014/main" id="{811ADE2F-C6E0-6228-84D0-DA8F0754CDD5}"/>
              </a:ext>
            </a:extLst>
          </p:cNvPr>
          <p:cNvSpPr/>
          <p:nvPr/>
        </p:nvSpPr>
        <p:spPr>
          <a:xfrm>
            <a:off x="1571263" y="6035040"/>
            <a:ext cx="9047932" cy="6400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7CF6780F-90DA-2DED-5BC8-1E77B0784435}"/>
              </a:ext>
            </a:extLst>
          </p:cNvPr>
          <p:cNvSpPr/>
          <p:nvPr/>
        </p:nvSpPr>
        <p:spPr>
          <a:xfrm>
            <a:off x="1708422" y="6099048"/>
            <a:ext cx="86161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</a:rPr>
              <a:t>💡 Key Insight: </a:t>
            </a:r>
            <a:r>
              <a:rPr lang="en-US" sz="1200" dirty="0">
                <a:solidFill>
                  <a:srgbClr val="78350F"/>
                </a:solidFill>
              </a:rPr>
              <a:t>Median frequency (MDF) is the </a:t>
            </a:r>
            <a:r>
              <a:rPr lang="en-US" sz="1200" b="1" dirty="0">
                <a:solidFill>
                  <a:srgbClr val="78350F"/>
                </a:solidFill>
              </a:rPr>
              <a:t>gold standard for fatigue detection</a:t>
            </a:r>
            <a:r>
              <a:rPr lang="en-US" sz="1200" dirty="0">
                <a:solidFill>
                  <a:srgbClr val="78350F"/>
                </a:solidFill>
              </a:rPr>
              <a:t>. As muscle fatigues, conduction velocity decreases and action potentials broaden, shifting power to lower frequencies. A 10-15% drop in MDF typically indicates significant fatigue.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6921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of EMG Classification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609600" y="1280160"/>
            <a:ext cx="1463040" cy="73152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4" name="Image 0" descr="./figures/classification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13" y="1706880"/>
            <a:ext cx="11130987" cy="426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48768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</a:rPr>
              <a:t>1960s-80s: Simple threshold detectors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</a:rPr>
              <a:t>1990s-2010s: Pattern recognition (LDA dominates)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</a:rPr>
              <a:t>2010s+: Deep learning approaches</a:t>
            </a:r>
            <a:endParaRPr lang="en-US" sz="1733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9494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Discriminant Analysis (LDA)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609600" y="1365504"/>
            <a:ext cx="1463040" cy="73152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158496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E85D4C"/>
                </a:solidFill>
              </a:rPr>
              <a:t>The Workhorse of EMG Classification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600" y="2072640"/>
            <a:ext cx="609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</a:rPr>
              <a:t>Projects features to maximize class separation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</a:rPr>
              <a:t>Assumes Gaussian distributions, shared covariance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</a:rPr>
              <a:t>Fast training, fast inference, interpretable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</a:rPr>
              <a:t>QDA: allows different covariance per class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6705600" y="1828800"/>
            <a:ext cx="4876800" cy="21945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6827520" y="195072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E3A5F"/>
                </a:solidFill>
              </a:rPr>
              <a:t>Typical Pipeline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6827520" y="2316480"/>
            <a:ext cx="463296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</a:rPr>
              <a:t>8 EMG channels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→ Window (200ms)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→ Features per channel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→ Concatenate (8×4=32 features)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→ LDA classifier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600" y="4267200"/>
            <a:ext cx="10972800" cy="7315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609600" y="432816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dirty="0">
                <a:solidFill>
                  <a:srgbClr val="FFFFFF"/>
                </a:solidFill>
              </a:rPr>
              <a:t>Real-world accuracy: 90-98% for 6-10 gestures in controlled conditions</a:t>
            </a:r>
            <a:endParaRPr lang="en-US" sz="1867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Approaches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609600" y="1310640"/>
            <a:ext cx="1463040" cy="73152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1584960"/>
            <a:ext cx="5120640" cy="463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CNNs: Learn spatial patterns across channels</a:t>
            </a: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1D Convolutions: Temporal feature learning</a:t>
            </a: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RNNs/LSTMs: Capture temporal dynamics</a:t>
            </a: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Transformers: Emerging approach</a:t>
            </a:r>
            <a:endParaRPr lang="en-US" sz="2133" dirty="0"/>
          </a:p>
        </p:txBody>
      </p:sp>
      <p:sp>
        <p:nvSpPr>
          <p:cNvPr id="5" name="Text 3"/>
          <p:cNvSpPr/>
          <p:nvPr/>
        </p:nvSpPr>
        <p:spPr>
          <a:xfrm>
            <a:off x="6096000" y="1584960"/>
            <a:ext cx="5486400" cy="463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Advantages:</a:t>
            </a: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Learn features automatically</a:t>
            </a: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Better generalization (sometimes)</a:t>
            </a: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Challenges:</a:t>
            </a: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Need more training data</a:t>
            </a: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Harder to interpret</a:t>
            </a: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Computational requirements</a:t>
            </a:r>
            <a:endParaRPr lang="en-US" sz="2133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6446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Robustness Challenge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609600" y="1335024"/>
            <a:ext cx="1463040" cy="73152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146304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E85D4C"/>
                </a:solidFill>
              </a:rPr>
              <a:t>Lab accuracy ≠ Real-world performance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609600" y="2316480"/>
            <a:ext cx="5486400" cy="13411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731520" y="2438400"/>
            <a:ext cx="52425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E3A5F"/>
                </a:solidFill>
              </a:rPr>
              <a:t>Electrode Shift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52425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</a:rPr>
              <a:t>Small position changes degrade accuracy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39840" y="2316480"/>
            <a:ext cx="5486400" cy="13411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6461760" y="2438400"/>
            <a:ext cx="52425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E3A5F"/>
                </a:solidFill>
              </a:rPr>
              <a:t>Muscle Fatigue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6461760" y="2926080"/>
            <a:ext cx="52425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</a:rPr>
              <a:t>Signal characteristics change over time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" y="3901440"/>
            <a:ext cx="5486400" cy="13411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52425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E3A5F"/>
                </a:solidFill>
              </a:rPr>
              <a:t>Cross-Session</a:t>
            </a:r>
            <a:endParaRPr lang="en-US" sz="1867" dirty="0"/>
          </a:p>
        </p:txBody>
      </p:sp>
      <p:sp>
        <p:nvSpPr>
          <p:cNvPr id="13" name="Text 11"/>
          <p:cNvSpPr/>
          <p:nvPr/>
        </p:nvSpPr>
        <p:spPr>
          <a:xfrm>
            <a:off x="731520" y="4511040"/>
            <a:ext cx="52425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</a:rPr>
              <a:t>Models don't transfer between sessions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39840" y="3901440"/>
            <a:ext cx="5486400" cy="13411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6461760" y="4023360"/>
            <a:ext cx="52425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E3A5F"/>
                </a:solidFill>
              </a:rPr>
              <a:t>Arm Position</a:t>
            </a:r>
            <a:endParaRPr lang="en-US" sz="1867" dirty="0"/>
          </a:p>
        </p:txBody>
      </p:sp>
      <p:sp>
        <p:nvSpPr>
          <p:cNvPr id="16" name="Text 14"/>
          <p:cNvSpPr/>
          <p:nvPr/>
        </p:nvSpPr>
        <p:spPr>
          <a:xfrm>
            <a:off x="6461760" y="4511040"/>
            <a:ext cx="52425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</a:rPr>
              <a:t>Different limb positions → different signals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9600" y="548640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i="1" dirty="0">
                <a:solidFill>
                  <a:srgbClr val="64748B"/>
                </a:solidFill>
              </a:rPr>
              <a:t>Active research area: adaptive algorithms, domain adaptation, user calibration</a:t>
            </a:r>
            <a:endParaRPr lang="en-US" sz="1733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6446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Prosthetic Control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609600" y="1335024"/>
            <a:ext cx="1463040" cy="73152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146304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E85D4C"/>
                </a:solidFill>
              </a:rPr>
              <a:t>Evolution of Prosthetic EMG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600" y="1950720"/>
            <a:ext cx="670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</a:rPr>
              <a:t>Direct Control (1960s): 1 electrode → 1 function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</a:rPr>
              <a:t>Pattern Recognition: Multiple gestures from muscle patterns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</a:rPr>
              <a:t>Simultaneous Control: Multiple DOF at once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7559040" y="1584960"/>
            <a:ext cx="4023360" cy="20726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7680960" y="1706880"/>
            <a:ext cx="377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E85D4C"/>
                </a:solidFill>
              </a:rPr>
              <a:t>Commercial Systems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7680960" y="2072640"/>
            <a:ext cx="3779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FFFFFF"/>
                </a:solidFill>
              </a:rPr>
              <a:t>• LUKE Arm (Mobius Bionics)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• bebionic (Ottobock)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• COAPT pattern recognition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390144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E3A5F"/>
                </a:solidFill>
              </a:rPr>
              <a:t>Key insight: Pattern recognition enables more natural, intuitive control</a:t>
            </a:r>
            <a:endParaRPr lang="en-US" sz="1867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1932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Rehabilitation &amp; Therapy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609600" y="1389888"/>
            <a:ext cx="1463040" cy="73152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1706880"/>
            <a:ext cx="670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334155"/>
                </a:solidFill>
              </a:rPr>
              <a:t>Stroke Recovery: EMG biofeedback helps relearn movements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334155"/>
                </a:solidFill>
              </a:rPr>
              <a:t>Motor Learning: Real-time feedback accelerates skill acquisition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334155"/>
                </a:solidFill>
              </a:rPr>
              <a:t>Gamification: Engaging exercises improve compliance</a:t>
            </a:r>
            <a:endParaRPr lang="en-US" sz="1867" dirty="0"/>
          </a:p>
        </p:txBody>
      </p:sp>
      <p:sp>
        <p:nvSpPr>
          <p:cNvPr id="5" name="Shape 3"/>
          <p:cNvSpPr/>
          <p:nvPr/>
        </p:nvSpPr>
        <p:spPr>
          <a:xfrm>
            <a:off x="7559040" y="1584960"/>
            <a:ext cx="4023360" cy="21945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7680960" y="1706880"/>
            <a:ext cx="377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E3A5F"/>
                </a:solidFill>
              </a:rPr>
              <a:t>Biofeedback Loop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7680960" y="2072640"/>
            <a:ext cx="377952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</a:rPr>
              <a:t>Attempt movement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→ EMG detected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→ Visual/audio feedback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→ Reinforces correct patterns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Exoskeletons &amp; Cobots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609600" y="1328928"/>
            <a:ext cx="1463040" cy="73152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1706880"/>
            <a:ext cx="670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334155"/>
                </a:solidFill>
              </a:rPr>
              <a:t>Assistive Exoskeletons: EMG triggers and modulates assistance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334155"/>
                </a:solidFill>
              </a:rPr>
              <a:t>Collaborative Robots: EMG for intent detection and safety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334155"/>
                </a:solidFill>
              </a:rPr>
              <a:t>Industrial Augmentation: Reduce worker fatigue and injury</a:t>
            </a:r>
            <a:endParaRPr lang="en-US" sz="1867" dirty="0"/>
          </a:p>
        </p:txBody>
      </p:sp>
      <p:sp>
        <p:nvSpPr>
          <p:cNvPr id="5" name="Shape 3"/>
          <p:cNvSpPr/>
          <p:nvPr/>
        </p:nvSpPr>
        <p:spPr>
          <a:xfrm>
            <a:off x="7559040" y="1584960"/>
            <a:ext cx="4023360" cy="1828800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7680960" y="1706880"/>
            <a:ext cx="37795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</a:rPr>
              <a:t>Key Advantage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7680960" y="2133600"/>
            <a:ext cx="377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FFFFFF"/>
                </a:solidFill>
              </a:rPr>
              <a:t>EMG provides intent ~50-100ms before motion begins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&amp; Emerging Applications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609600" y="1310640"/>
            <a:ext cx="1463040" cy="73152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1584960"/>
            <a:ext cx="5120640" cy="463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Myo Armband (2014-2018): First mainstream consumer EMG. Gesture control for presentations, drones, gaming.</a:t>
            </a: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Neural Interface: Wristband with high-density EMG for AR/VR. Acquired CTRL-labs (2019).</a:t>
            </a: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 &amp; VR: Hands-free control, accessibility</a:t>
            </a:r>
            <a:endParaRPr lang="en-US" sz="2133" dirty="0"/>
          </a:p>
        </p:txBody>
      </p:sp>
      <p:sp>
        <p:nvSpPr>
          <p:cNvPr id="5" name="Text 3"/>
          <p:cNvSpPr/>
          <p:nvPr/>
        </p:nvSpPr>
        <p:spPr>
          <a:xfrm>
            <a:off x="6096000" y="1584960"/>
            <a:ext cx="5486400" cy="463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Applications:</a:t>
            </a: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speech (facial EMG)</a:t>
            </a: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performance (accessibility)</a:t>
            </a: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 tracking (muscle activation)</a:t>
            </a: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(computer control)</a:t>
            </a: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endParaRPr lang="en-US" sz="2133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Frontiers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609600" y="1310640"/>
            <a:ext cx="1463040" cy="73152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1584960"/>
            <a:ext cx="5120640" cy="463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High-Density EMG (HD-EMG): 64-256 electrode grids for spatial mapping, motor unit decomposition</a:t>
            </a: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Implantable Sensors: Targeted muscle reinnervation (TMR), intramuscular electrodes</a:t>
            </a: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Brain-Muscle Interfaces: EEG + EMG fusion for intent detection</a:t>
            </a:r>
            <a:endParaRPr lang="en-US" sz="2133" dirty="0"/>
          </a:p>
        </p:txBody>
      </p:sp>
      <p:sp>
        <p:nvSpPr>
          <p:cNvPr id="5" name="Text 3"/>
          <p:cNvSpPr/>
          <p:nvPr/>
        </p:nvSpPr>
        <p:spPr>
          <a:xfrm>
            <a:off x="6096000" y="1584960"/>
            <a:ext cx="5486400" cy="463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Research:</a:t>
            </a: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learning: Adapt to new users</a:t>
            </a: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Unsupervised adaptation: Self-updating</a:t>
            </a: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Regression control: Continuous force</a:t>
            </a: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Real-time edge AI: On-device inference</a:t>
            </a: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endParaRPr lang="en-US" sz="21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13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challenge: Robust control that works all day, every day</a:t>
            </a:r>
            <a:endParaRPr lang="en-US" sz="213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37237</TotalTime>
  <Words>1105</Words>
  <Application>Microsoft Macintosh PowerPoint</Application>
  <PresentationFormat>Widescreen</PresentationFormat>
  <Paragraphs>244</Paragraphs>
  <Slides>24</Slides>
  <Notes>21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 BioRobotics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Collaborative Robotics</dc:title>
  <dc:creator>Jamison Heard</dc:creator>
  <cp:lastModifiedBy>Jamison Heard</cp:lastModifiedBy>
  <cp:revision>488</cp:revision>
  <dcterms:created xsi:type="dcterms:W3CDTF">2019-02-26T17:25:21Z</dcterms:created>
  <dcterms:modified xsi:type="dcterms:W3CDTF">2026-02-02T14:46:44Z</dcterms:modified>
</cp:coreProperties>
</file>