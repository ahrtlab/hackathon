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notesMasterIdLst>
    <p:notesMasterId r:id="rId27"/>
  </p:notesMasterIdLst>
  <p:handoutMasterIdLst>
    <p:handoutMasterId r:id="rId28"/>
  </p:handoutMasterIdLst>
  <p:sldIdLst>
    <p:sldId id="256" r:id="rId2"/>
    <p:sldId id="283" r:id="rId3"/>
    <p:sldId id="284" r:id="rId4"/>
    <p:sldId id="285" r:id="rId5"/>
    <p:sldId id="287" r:id="rId6"/>
    <p:sldId id="263" r:id="rId7"/>
    <p:sldId id="289" r:id="rId8"/>
    <p:sldId id="290" r:id="rId9"/>
    <p:sldId id="291" r:id="rId10"/>
    <p:sldId id="298" r:id="rId11"/>
    <p:sldId id="299" r:id="rId12"/>
    <p:sldId id="300" r:id="rId13"/>
    <p:sldId id="301" r:id="rId14"/>
    <p:sldId id="302" r:id="rId15"/>
    <p:sldId id="304" r:id="rId16"/>
    <p:sldId id="305" r:id="rId17"/>
    <p:sldId id="269" r:id="rId18"/>
    <p:sldId id="293" r:id="rId19"/>
    <p:sldId id="294" r:id="rId20"/>
    <p:sldId id="295" r:id="rId21"/>
    <p:sldId id="296" r:id="rId22"/>
    <p:sldId id="297" r:id="rId23"/>
    <p:sldId id="306" r:id="rId24"/>
    <p:sldId id="307" r:id="rId25"/>
    <p:sldId id="30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0000"/>
    <a:srgbClr val="E8DEDE"/>
    <a:srgbClr val="9E3611"/>
    <a:srgbClr val="D34817"/>
    <a:srgbClr val="A28448"/>
    <a:srgbClr val="ECE8E1"/>
    <a:srgbClr val="353232"/>
    <a:srgbClr val="7D786B"/>
    <a:srgbClr val="AC1A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14" autoAdjust="0"/>
    <p:restoredTop sz="89932" autoAdjust="0"/>
  </p:normalViewPr>
  <p:slideViewPr>
    <p:cSldViewPr snapToGrid="0">
      <p:cViewPr varScale="1">
        <p:scale>
          <a:sx n="115" d="100"/>
          <a:sy n="115" d="100"/>
        </p:scale>
        <p:origin x="1216" y="184"/>
      </p:cViewPr>
      <p:guideLst/>
    </p:cSldViewPr>
  </p:slideViewPr>
  <p:notesTextViewPr>
    <p:cViewPr>
      <p:scale>
        <a:sx n="3" d="2"/>
        <a:sy n="3" d="2"/>
      </p:scale>
      <p:origin x="0" y="0"/>
    </p:cViewPr>
  </p:notesTextViewPr>
  <p:notesViewPr>
    <p:cSldViewPr snapToGrid="0">
      <p:cViewPr varScale="1">
        <p:scale>
          <a:sx n="65" d="100"/>
          <a:sy n="65" d="100"/>
        </p:scale>
        <p:origin x="3154"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68FD4D-40C0-4F62-A5E2-21965D1842F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2289F3B-B524-42C6-BCF5-F100849A58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F8E467-19B5-46AF-90B6-813870024E7C}" type="datetimeFigureOut">
              <a:rPr lang="en-US" smtClean="0"/>
              <a:t>2/9/26</a:t>
            </a:fld>
            <a:endParaRPr lang="en-US"/>
          </a:p>
        </p:txBody>
      </p:sp>
      <p:sp>
        <p:nvSpPr>
          <p:cNvPr id="4" name="Footer Placeholder 3">
            <a:extLst>
              <a:ext uri="{FF2B5EF4-FFF2-40B4-BE49-F238E27FC236}">
                <a16:creationId xmlns:a16="http://schemas.microsoft.com/office/drawing/2014/main" id="{71A51003-348D-4FC9-B4AB-1221F238031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3A6F952-6C53-491B-AED1-68E9E3206B0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74D4D8D-7686-4B4D-85B3-DED9A45A4360}" type="slidenum">
              <a:rPr lang="en-US" smtClean="0"/>
              <a:t>‹#›</a:t>
            </a:fld>
            <a:endParaRPr lang="en-US"/>
          </a:p>
        </p:txBody>
      </p:sp>
    </p:spTree>
    <p:extLst>
      <p:ext uri="{BB962C8B-B14F-4D97-AF65-F5344CB8AC3E}">
        <p14:creationId xmlns:p14="http://schemas.microsoft.com/office/powerpoint/2010/main" val="38100400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1B394-12A3-4DC9-80FB-811A47EB22FC}"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A2D32-6F87-4CE7-81EA-FAC54A396ABA}" type="slidenum">
              <a:rPr lang="en-US" smtClean="0"/>
              <a:t>‹#›</a:t>
            </a:fld>
            <a:endParaRPr lang="en-US"/>
          </a:p>
        </p:txBody>
      </p:sp>
    </p:spTree>
    <p:extLst>
      <p:ext uri="{BB962C8B-B14F-4D97-AF65-F5344CB8AC3E}">
        <p14:creationId xmlns:p14="http://schemas.microsoft.com/office/powerpoint/2010/main" val="998854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05984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628353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87200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371145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157739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903737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286927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C639D-AF1B-40AA-8E1C-C9A678662919}"/>
              </a:ext>
            </a:extLst>
          </p:cNvPr>
          <p:cNvSpPr>
            <a:spLocks noGrp="1"/>
          </p:cNvSpPr>
          <p:nvPr>
            <p:ph type="ctrTitle"/>
          </p:nvPr>
        </p:nvSpPr>
        <p:spPr>
          <a:xfrm>
            <a:off x="1524000" y="1122363"/>
            <a:ext cx="9144000" cy="2387600"/>
          </a:xfrm>
        </p:spPr>
        <p:txBody>
          <a:bodyPr anchor="b"/>
          <a:lstStyle>
            <a:lvl1pPr algn="ctr">
              <a:defRPr sz="6000">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AF16DA6-EBEA-4DFF-9177-EEDB709AE880}"/>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BB1429-07EB-4668-9B3C-1EBC8B210EBE}"/>
              </a:ext>
            </a:extLst>
          </p:cNvPr>
          <p:cNvSpPr>
            <a:spLocks noGrp="1"/>
          </p:cNvSpPr>
          <p:nvPr>
            <p:ph type="dt" sz="half" idx="10"/>
          </p:nvPr>
        </p:nvSpPr>
        <p:spPr/>
        <p:txBody>
          <a:bodyPr/>
          <a:lstStyle/>
          <a:p>
            <a:fld id="{FFE3D5AF-4248-4C92-ADB4-22225EECC4D1}" type="datetime1">
              <a:rPr lang="en-US" smtClean="0"/>
              <a:t>2/9/26</a:t>
            </a:fld>
            <a:endParaRPr lang="en-US"/>
          </a:p>
        </p:txBody>
      </p:sp>
      <p:sp>
        <p:nvSpPr>
          <p:cNvPr id="5" name="Footer Placeholder 4">
            <a:extLst>
              <a:ext uri="{FF2B5EF4-FFF2-40B4-BE49-F238E27FC236}">
                <a16:creationId xmlns:a16="http://schemas.microsoft.com/office/drawing/2014/main" id="{932C8572-EDC6-485A-9BBE-6730F7F041E3}"/>
              </a:ext>
            </a:extLst>
          </p:cNvPr>
          <p:cNvSpPr>
            <a:spLocks noGrp="1"/>
          </p:cNvSpPr>
          <p:nvPr>
            <p:ph type="ftr" sz="quarter" idx="11"/>
          </p:nvPr>
        </p:nvSpPr>
        <p:spPr/>
        <p:txBody>
          <a:bodyPr/>
          <a:lstStyle/>
          <a:p>
            <a:endParaRPr lang="en-US"/>
          </a:p>
        </p:txBody>
      </p:sp>
      <p:sp>
        <p:nvSpPr>
          <p:cNvPr id="12" name="Slide Number Placeholder 3">
            <a:extLst>
              <a:ext uri="{FF2B5EF4-FFF2-40B4-BE49-F238E27FC236}">
                <a16:creationId xmlns:a16="http://schemas.microsoft.com/office/drawing/2014/main" id="{66785AF3-019E-4C0C-B8A0-C9D3D7E7CA93}"/>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2274505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83B78-A811-4111-9FF9-41719B44AEB4}"/>
              </a:ext>
            </a:extLst>
          </p:cNvPr>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9A23DC-9917-4F4C-B2CE-8381986E96AB}"/>
              </a:ext>
            </a:extLst>
          </p:cNvPr>
          <p:cNvSpPr>
            <a:spLocks noGrp="1"/>
          </p:cNvSpPr>
          <p:nvPr>
            <p:ph idx="1"/>
          </p:nvPr>
        </p:nvSpPr>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0EA96-0599-45CD-B9AE-E918E6FB7E00}"/>
              </a:ext>
            </a:extLst>
          </p:cNvPr>
          <p:cNvSpPr>
            <a:spLocks noGrp="1"/>
          </p:cNvSpPr>
          <p:nvPr>
            <p:ph type="dt" sz="half" idx="10"/>
          </p:nvPr>
        </p:nvSpPr>
        <p:spPr/>
        <p:txBody>
          <a:bodyPr/>
          <a:lstStyle/>
          <a:p>
            <a:fld id="{FB6ACBFF-EEA5-46E7-ADB1-366EDEE66780}" type="datetime1">
              <a:rPr lang="en-US" smtClean="0"/>
              <a:t>2/9/26</a:t>
            </a:fld>
            <a:endParaRPr lang="en-US"/>
          </a:p>
        </p:txBody>
      </p:sp>
      <p:sp>
        <p:nvSpPr>
          <p:cNvPr id="5" name="Footer Placeholder 4">
            <a:extLst>
              <a:ext uri="{FF2B5EF4-FFF2-40B4-BE49-F238E27FC236}">
                <a16:creationId xmlns:a16="http://schemas.microsoft.com/office/drawing/2014/main" id="{7BD99ACE-55E1-449B-A563-AD0146198B67}"/>
              </a:ext>
            </a:extLst>
          </p:cNvPr>
          <p:cNvSpPr>
            <a:spLocks noGrp="1"/>
          </p:cNvSpPr>
          <p:nvPr>
            <p:ph type="ftr" sz="quarter" idx="11"/>
          </p:nvPr>
        </p:nvSpPr>
        <p:spPr/>
        <p:txBody>
          <a:bodyPr/>
          <a:lstStyle/>
          <a:p>
            <a:endParaRPr lang="en-US"/>
          </a:p>
        </p:txBody>
      </p:sp>
      <p:sp>
        <p:nvSpPr>
          <p:cNvPr id="8" name="Slide Number Placeholder 3">
            <a:extLst>
              <a:ext uri="{FF2B5EF4-FFF2-40B4-BE49-F238E27FC236}">
                <a16:creationId xmlns:a16="http://schemas.microsoft.com/office/drawing/2014/main" id="{7E697F6E-BE24-434E-A2E9-7896FEF5EC08}"/>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31508487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41B9-F1D2-4F5B-9A80-103E3B98BE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C823D5-E53B-4B27-9937-3E96A87E1A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8424B2D-8EB9-42DE-851A-502F1685C55E}"/>
              </a:ext>
            </a:extLst>
          </p:cNvPr>
          <p:cNvSpPr>
            <a:spLocks noGrp="1"/>
          </p:cNvSpPr>
          <p:nvPr>
            <p:ph type="dt" sz="half" idx="10"/>
          </p:nvPr>
        </p:nvSpPr>
        <p:spPr/>
        <p:txBody>
          <a:bodyPr/>
          <a:lstStyle/>
          <a:p>
            <a:fld id="{3C4CE0D5-8BF9-4B0B-9E9B-74D15229671F}" type="datetime1">
              <a:rPr lang="en-US" smtClean="0"/>
              <a:t>2/9/26</a:t>
            </a:fld>
            <a:endParaRPr lang="en-US"/>
          </a:p>
        </p:txBody>
      </p:sp>
      <p:sp>
        <p:nvSpPr>
          <p:cNvPr id="5" name="Footer Placeholder 4">
            <a:extLst>
              <a:ext uri="{FF2B5EF4-FFF2-40B4-BE49-F238E27FC236}">
                <a16:creationId xmlns:a16="http://schemas.microsoft.com/office/drawing/2014/main" id="{2E051122-3C65-4C0F-9955-E6D8F46B477C}"/>
              </a:ext>
            </a:extLst>
          </p:cNvPr>
          <p:cNvSpPr>
            <a:spLocks noGrp="1"/>
          </p:cNvSpPr>
          <p:nvPr>
            <p:ph type="ftr" sz="quarter" idx="11"/>
          </p:nvPr>
        </p:nvSpPr>
        <p:spPr/>
        <p:txBody>
          <a:bodyPr/>
          <a:lstStyle/>
          <a:p>
            <a:endParaRPr lang="en-US"/>
          </a:p>
        </p:txBody>
      </p:sp>
      <p:sp>
        <p:nvSpPr>
          <p:cNvPr id="7" name="Slide Number Placeholder 3">
            <a:extLst>
              <a:ext uri="{FF2B5EF4-FFF2-40B4-BE49-F238E27FC236}">
                <a16:creationId xmlns:a16="http://schemas.microsoft.com/office/drawing/2014/main" id="{CE54E537-CF84-46DD-9585-8C55878C602B}"/>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1590258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654F-85C0-455B-8103-C4A3133922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631336-D2B8-48FC-A9B0-B77E7EBD52D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7454D0-F7EC-40EA-8AEC-0DC9EC2D539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AFCB7CF-2E24-44E8-A117-020E3E25C2FF}"/>
              </a:ext>
            </a:extLst>
          </p:cNvPr>
          <p:cNvSpPr>
            <a:spLocks noGrp="1"/>
          </p:cNvSpPr>
          <p:nvPr>
            <p:ph type="dt" sz="half" idx="10"/>
          </p:nvPr>
        </p:nvSpPr>
        <p:spPr/>
        <p:txBody>
          <a:bodyPr/>
          <a:lstStyle/>
          <a:p>
            <a:fld id="{DB4BB9B5-C822-40A7-A50F-174220BEE249}" type="datetime1">
              <a:rPr lang="en-US" smtClean="0"/>
              <a:t>2/9/26</a:t>
            </a:fld>
            <a:endParaRPr lang="en-US"/>
          </a:p>
        </p:txBody>
      </p:sp>
      <p:sp>
        <p:nvSpPr>
          <p:cNvPr id="6" name="Footer Placeholder 5">
            <a:extLst>
              <a:ext uri="{FF2B5EF4-FFF2-40B4-BE49-F238E27FC236}">
                <a16:creationId xmlns:a16="http://schemas.microsoft.com/office/drawing/2014/main" id="{A30705E5-9805-47C4-A7B0-4A9B75243FE7}"/>
              </a:ext>
            </a:extLst>
          </p:cNvPr>
          <p:cNvSpPr>
            <a:spLocks noGrp="1"/>
          </p:cNvSpPr>
          <p:nvPr>
            <p:ph type="ftr" sz="quarter" idx="11"/>
          </p:nvPr>
        </p:nvSpPr>
        <p:spPr/>
        <p:txBody>
          <a:bodyPr/>
          <a:lstStyle/>
          <a:p>
            <a:endParaRPr lang="en-US"/>
          </a:p>
        </p:txBody>
      </p:sp>
      <p:sp>
        <p:nvSpPr>
          <p:cNvPr id="8" name="Slide Number Placeholder 3">
            <a:extLst>
              <a:ext uri="{FF2B5EF4-FFF2-40B4-BE49-F238E27FC236}">
                <a16:creationId xmlns:a16="http://schemas.microsoft.com/office/drawing/2014/main" id="{57EDF35D-9169-4168-AEE4-E48DB43E1209}"/>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1677862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6C344-1EC0-4C39-9004-1B83B333FC8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8FECB-28A7-4E3F-8738-802CABAFA2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DBD663C-8EB9-452E-B069-5579F274B9C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FEC5DB-3F30-430F-B34C-D7EE4055D3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EDB53DD-6305-4928-B467-E7D2017AD28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D28C6D6-B5BF-4936-AA85-31A97DE36E57}"/>
              </a:ext>
            </a:extLst>
          </p:cNvPr>
          <p:cNvSpPr>
            <a:spLocks noGrp="1"/>
          </p:cNvSpPr>
          <p:nvPr>
            <p:ph type="dt" sz="half" idx="10"/>
          </p:nvPr>
        </p:nvSpPr>
        <p:spPr/>
        <p:txBody>
          <a:bodyPr/>
          <a:lstStyle/>
          <a:p>
            <a:fld id="{33AFA764-CE72-42BE-8300-24BD3FDE8FBF}" type="datetime1">
              <a:rPr lang="en-US" smtClean="0"/>
              <a:t>2/9/26</a:t>
            </a:fld>
            <a:endParaRPr lang="en-US"/>
          </a:p>
        </p:txBody>
      </p:sp>
      <p:sp>
        <p:nvSpPr>
          <p:cNvPr id="8" name="Footer Placeholder 7">
            <a:extLst>
              <a:ext uri="{FF2B5EF4-FFF2-40B4-BE49-F238E27FC236}">
                <a16:creationId xmlns:a16="http://schemas.microsoft.com/office/drawing/2014/main" id="{9D992FC2-C4E1-4A55-A5BC-94A95A2FFA73}"/>
              </a:ext>
            </a:extLst>
          </p:cNvPr>
          <p:cNvSpPr>
            <a:spLocks noGrp="1"/>
          </p:cNvSpPr>
          <p:nvPr>
            <p:ph type="ftr" sz="quarter" idx="11"/>
          </p:nvPr>
        </p:nvSpPr>
        <p:spPr/>
        <p:txBody>
          <a:bodyPr/>
          <a:lstStyle/>
          <a:p>
            <a:endParaRPr lang="en-US"/>
          </a:p>
        </p:txBody>
      </p:sp>
      <p:sp>
        <p:nvSpPr>
          <p:cNvPr id="10" name="Slide Number Placeholder 3">
            <a:extLst>
              <a:ext uri="{FF2B5EF4-FFF2-40B4-BE49-F238E27FC236}">
                <a16:creationId xmlns:a16="http://schemas.microsoft.com/office/drawing/2014/main" id="{847013F5-8106-48DD-A23A-BD5DE3959976}"/>
              </a:ext>
            </a:extLst>
          </p:cNvPr>
          <p:cNvSpPr>
            <a:spLocks noGrp="1"/>
          </p:cNvSpPr>
          <p:nvPr>
            <p:ph type="sldNum" sz="quarter" idx="12"/>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spTree>
    <p:extLst>
      <p:ext uri="{BB962C8B-B14F-4D97-AF65-F5344CB8AC3E}">
        <p14:creationId xmlns:p14="http://schemas.microsoft.com/office/powerpoint/2010/main" val="2024068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A8EC0-927E-4CD1-A438-E33A7350AF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6F7DBE-79AB-4267-9BBF-A820D7B689AE}"/>
              </a:ext>
            </a:extLst>
          </p:cNvPr>
          <p:cNvSpPr>
            <a:spLocks noGrp="1"/>
          </p:cNvSpPr>
          <p:nvPr>
            <p:ph type="dt" sz="half" idx="10"/>
          </p:nvPr>
        </p:nvSpPr>
        <p:spPr/>
        <p:txBody>
          <a:bodyPr/>
          <a:lstStyle/>
          <a:p>
            <a:fld id="{A8BADF71-A2BF-4A64-8241-324090CB13F1}" type="datetime1">
              <a:rPr lang="en-US" smtClean="0"/>
              <a:t>2/9/26</a:t>
            </a:fld>
            <a:endParaRPr lang="en-US"/>
          </a:p>
        </p:txBody>
      </p:sp>
      <p:sp>
        <p:nvSpPr>
          <p:cNvPr id="4" name="Footer Placeholder 3">
            <a:extLst>
              <a:ext uri="{FF2B5EF4-FFF2-40B4-BE49-F238E27FC236}">
                <a16:creationId xmlns:a16="http://schemas.microsoft.com/office/drawing/2014/main" id="{8B696F7C-4212-4D84-AB2C-106822DB8E0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D82657-F035-4D36-901C-495F75887785}"/>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8063025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FE517D-2F94-409E-B452-ACEF93A88CB3}"/>
              </a:ext>
            </a:extLst>
          </p:cNvPr>
          <p:cNvSpPr>
            <a:spLocks noGrp="1"/>
          </p:cNvSpPr>
          <p:nvPr>
            <p:ph type="dt" sz="half" idx="10"/>
          </p:nvPr>
        </p:nvSpPr>
        <p:spPr/>
        <p:txBody>
          <a:bodyPr/>
          <a:lstStyle/>
          <a:p>
            <a:fld id="{DAA30CC3-3EB8-4FF4-B232-93A36C01AAA4}" type="datetime1">
              <a:rPr lang="en-US" smtClean="0"/>
              <a:t>2/9/26</a:t>
            </a:fld>
            <a:endParaRPr lang="en-US"/>
          </a:p>
        </p:txBody>
      </p:sp>
      <p:sp>
        <p:nvSpPr>
          <p:cNvPr id="3" name="Footer Placeholder 2">
            <a:extLst>
              <a:ext uri="{FF2B5EF4-FFF2-40B4-BE49-F238E27FC236}">
                <a16:creationId xmlns:a16="http://schemas.microsoft.com/office/drawing/2014/main" id="{3CAC1C05-D132-40C9-BC4F-147299F5757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79D0D1-5E98-4E64-BEC9-67FE66121C33}"/>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796373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E79B2-429F-41EE-9A18-21F8094296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FEBE63-D482-4171-B99E-9FE14E1AB7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071987-475A-4428-BA58-50115595B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CC52B8C-2CD4-4C4A-9591-46FC603A03B8}"/>
              </a:ext>
            </a:extLst>
          </p:cNvPr>
          <p:cNvSpPr>
            <a:spLocks noGrp="1"/>
          </p:cNvSpPr>
          <p:nvPr>
            <p:ph type="dt" sz="half" idx="10"/>
          </p:nvPr>
        </p:nvSpPr>
        <p:spPr/>
        <p:txBody>
          <a:bodyPr/>
          <a:lstStyle/>
          <a:p>
            <a:fld id="{E99309B4-9215-4990-B633-0E1693E7B35C}" type="datetime1">
              <a:rPr lang="en-US" smtClean="0"/>
              <a:t>2/9/26</a:t>
            </a:fld>
            <a:endParaRPr lang="en-US"/>
          </a:p>
        </p:txBody>
      </p:sp>
      <p:sp>
        <p:nvSpPr>
          <p:cNvPr id="6" name="Footer Placeholder 5">
            <a:extLst>
              <a:ext uri="{FF2B5EF4-FFF2-40B4-BE49-F238E27FC236}">
                <a16:creationId xmlns:a16="http://schemas.microsoft.com/office/drawing/2014/main" id="{FD76435B-C60B-4DC9-B070-D22A708F4F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9450C3-38D0-41F5-9595-0B878642BC90}"/>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3367200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6927-9B3D-4DA5-B06E-E6600760AD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D9778BC-6F0E-469D-A57A-B9558E108E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34D122-63FE-4DE1-97D6-39ECDBB842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D3755C2-985D-4966-BFB3-80C1B3633A8F}"/>
              </a:ext>
            </a:extLst>
          </p:cNvPr>
          <p:cNvSpPr>
            <a:spLocks noGrp="1"/>
          </p:cNvSpPr>
          <p:nvPr>
            <p:ph type="dt" sz="half" idx="10"/>
          </p:nvPr>
        </p:nvSpPr>
        <p:spPr/>
        <p:txBody>
          <a:bodyPr/>
          <a:lstStyle/>
          <a:p>
            <a:fld id="{234A3717-349B-4DBE-9175-4410B1509D05}" type="datetime1">
              <a:rPr lang="en-US" smtClean="0"/>
              <a:t>2/9/26</a:t>
            </a:fld>
            <a:endParaRPr lang="en-US"/>
          </a:p>
        </p:txBody>
      </p:sp>
      <p:sp>
        <p:nvSpPr>
          <p:cNvPr id="6" name="Footer Placeholder 5">
            <a:extLst>
              <a:ext uri="{FF2B5EF4-FFF2-40B4-BE49-F238E27FC236}">
                <a16:creationId xmlns:a16="http://schemas.microsoft.com/office/drawing/2014/main" id="{54A79D97-89F8-40DD-97FA-3460EC1843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DE49D6-36AE-49EA-B5C5-AB809DB33D72}"/>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395326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14344-83D1-46A1-B80A-FF2D0FAD0F7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D0D799-4A8F-44A8-A149-627C336AD95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7A0356-6C53-4219-A7D6-E0380551195B}"/>
              </a:ext>
            </a:extLst>
          </p:cNvPr>
          <p:cNvSpPr>
            <a:spLocks noGrp="1"/>
          </p:cNvSpPr>
          <p:nvPr>
            <p:ph type="dt" sz="half" idx="10"/>
          </p:nvPr>
        </p:nvSpPr>
        <p:spPr/>
        <p:txBody>
          <a:bodyPr/>
          <a:lstStyle/>
          <a:p>
            <a:fld id="{6F53F07B-056F-44BE-86A4-2A9C5685036E}" type="datetime1">
              <a:rPr lang="en-US" smtClean="0"/>
              <a:t>2/9/26</a:t>
            </a:fld>
            <a:endParaRPr lang="en-US"/>
          </a:p>
        </p:txBody>
      </p:sp>
      <p:sp>
        <p:nvSpPr>
          <p:cNvPr id="5" name="Footer Placeholder 4">
            <a:extLst>
              <a:ext uri="{FF2B5EF4-FFF2-40B4-BE49-F238E27FC236}">
                <a16:creationId xmlns:a16="http://schemas.microsoft.com/office/drawing/2014/main" id="{E5F9CA34-BA43-4B06-9A96-16F4220205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F4EDCB-66B3-40E0-9A33-6978C03DD062}"/>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3312705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70BCE0-A3E7-4DB0-B6E8-98995E848B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D8D3037-19B9-482B-A9E2-DA8E9A1FC6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20CDE-09B4-407B-8949-677884D3C836}"/>
              </a:ext>
            </a:extLst>
          </p:cNvPr>
          <p:cNvSpPr>
            <a:spLocks noGrp="1"/>
          </p:cNvSpPr>
          <p:nvPr>
            <p:ph type="dt" sz="half" idx="10"/>
          </p:nvPr>
        </p:nvSpPr>
        <p:spPr/>
        <p:txBody>
          <a:bodyPr/>
          <a:lstStyle/>
          <a:p>
            <a:fld id="{0AAEADA7-0BA0-4B70-AE0F-E45D4A2BCE9E}" type="datetime1">
              <a:rPr lang="en-US" smtClean="0"/>
              <a:t>2/9/26</a:t>
            </a:fld>
            <a:endParaRPr lang="en-US"/>
          </a:p>
        </p:txBody>
      </p:sp>
      <p:sp>
        <p:nvSpPr>
          <p:cNvPr id="5" name="Footer Placeholder 4">
            <a:extLst>
              <a:ext uri="{FF2B5EF4-FFF2-40B4-BE49-F238E27FC236}">
                <a16:creationId xmlns:a16="http://schemas.microsoft.com/office/drawing/2014/main" id="{EB967465-70C7-4EF0-A355-B9F1667AF1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F8E197-9408-4FE8-88F4-121418E808C3}"/>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a:p>
        </p:txBody>
      </p:sp>
    </p:spTree>
    <p:extLst>
      <p:ext uri="{BB962C8B-B14F-4D97-AF65-F5344CB8AC3E}">
        <p14:creationId xmlns:p14="http://schemas.microsoft.com/office/powerpoint/2010/main" val="2423174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A9DF23F-EB44-446B-A348-407623573490}"/>
              </a:ext>
            </a:extLst>
          </p:cNvPr>
          <p:cNvPicPr>
            <a:picLocks noChangeAspect="1"/>
          </p:cNvPicPr>
          <p:nvPr userDrawn="1"/>
        </p:nvPicPr>
        <p:blipFill>
          <a:blip r:embed="rId2">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6465138" y="262593"/>
            <a:ext cx="2096967" cy="394166"/>
          </a:xfrm>
          <a:prstGeom prst="rect">
            <a:avLst/>
          </a:prstGeom>
        </p:spPr>
      </p:pic>
      <p:pic>
        <p:nvPicPr>
          <p:cNvPr id="11" name="Picture 2" descr="Image result for oregon state university">
            <a:extLst>
              <a:ext uri="{FF2B5EF4-FFF2-40B4-BE49-F238E27FC236}">
                <a16:creationId xmlns:a16="http://schemas.microsoft.com/office/drawing/2014/main" id="{9E5E44AC-A220-4421-9AFE-A67FB192D9B6}"/>
              </a:ext>
            </a:extLst>
          </p:cNvPr>
          <p:cNvPicPr>
            <a:picLocks noChangeAspect="1" noChangeArrowheads="1"/>
          </p:cNvPicPr>
          <p:nvPr userDrawn="1"/>
        </p:nvPicPr>
        <p:blipFill>
          <a:blip r:embed="rId3">
            <a:extLst>
              <a:ext uri="{28A0092B-C50C-407E-A947-70E740481C1C}">
                <a14:useLocalDpi xmlns:a14="http://schemas.microsoft.com/office/drawing/2010/main"/>
              </a:ext>
            </a:extLst>
          </a:blip>
          <a:srcRect/>
          <a:stretch>
            <a:fillRect/>
          </a:stretch>
        </p:blipFill>
        <p:spPr bwMode="auto">
          <a:xfrm>
            <a:off x="0" y="33090"/>
            <a:ext cx="1750603" cy="732470"/>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2">
            <a:extLst>
              <a:ext uri="{FF2B5EF4-FFF2-40B4-BE49-F238E27FC236}">
                <a16:creationId xmlns:a16="http://schemas.microsoft.com/office/drawing/2014/main" id="{7E2B3B4B-9B04-4702-B85D-756091BE1EA9}"/>
              </a:ext>
            </a:extLst>
          </p:cNvPr>
          <p:cNvSpPr>
            <a:spLocks noGrp="1"/>
          </p:cNvSpPr>
          <p:nvPr>
            <p:ph type="title"/>
          </p:nvPr>
        </p:nvSpPr>
        <p:spPr/>
        <p:txBody>
          <a:bodyPr/>
          <a:lstStyle/>
          <a:p>
            <a:r>
              <a:rPr lang="en-US"/>
              <a:t>Click to edit Master title style</a:t>
            </a:r>
          </a:p>
        </p:txBody>
      </p:sp>
      <p:sp>
        <p:nvSpPr>
          <p:cNvPr id="14" name="Date Placeholder 13">
            <a:extLst>
              <a:ext uri="{FF2B5EF4-FFF2-40B4-BE49-F238E27FC236}">
                <a16:creationId xmlns:a16="http://schemas.microsoft.com/office/drawing/2014/main" id="{80671A31-DD8E-4B80-AA1A-70A7BB06DA2E}"/>
              </a:ext>
            </a:extLst>
          </p:cNvPr>
          <p:cNvSpPr>
            <a:spLocks noGrp="1"/>
          </p:cNvSpPr>
          <p:nvPr>
            <p:ph type="dt" sz="half" idx="10"/>
          </p:nvPr>
        </p:nvSpPr>
        <p:spPr/>
        <p:txBody>
          <a:bodyPr/>
          <a:lstStyle/>
          <a:p>
            <a:fld id="{B3968345-2DF1-45D2-969A-30ACEF732B2C}" type="datetime1">
              <a:rPr lang="en-US" smtClean="0"/>
              <a:t>2/9/26</a:t>
            </a:fld>
            <a:endParaRPr lang="en-US"/>
          </a:p>
        </p:txBody>
      </p:sp>
      <p:sp>
        <p:nvSpPr>
          <p:cNvPr id="15" name="Footer Placeholder 14">
            <a:extLst>
              <a:ext uri="{FF2B5EF4-FFF2-40B4-BE49-F238E27FC236}">
                <a16:creationId xmlns:a16="http://schemas.microsoft.com/office/drawing/2014/main" id="{D75B824A-9959-4BA6-A831-4FE98F84412B}"/>
              </a:ext>
            </a:extLst>
          </p:cNvPr>
          <p:cNvSpPr>
            <a:spLocks noGrp="1"/>
          </p:cNvSpPr>
          <p:nvPr>
            <p:ph type="ftr" sz="quarter" idx="11"/>
          </p:nvPr>
        </p:nvSpPr>
        <p:spPr/>
        <p:txBody>
          <a:bodyPr/>
          <a:lstStyle/>
          <a:p>
            <a:endParaRPr lang="en-US"/>
          </a:p>
        </p:txBody>
      </p:sp>
      <p:sp>
        <p:nvSpPr>
          <p:cNvPr id="16" name="Slide Number Placeholder 15">
            <a:extLst>
              <a:ext uri="{FF2B5EF4-FFF2-40B4-BE49-F238E27FC236}">
                <a16:creationId xmlns:a16="http://schemas.microsoft.com/office/drawing/2014/main" id="{B64C484B-F560-460D-8F36-F3F36CFBC88A}"/>
              </a:ext>
            </a:extLst>
          </p:cNvPr>
          <p:cNvSpPr>
            <a:spLocks noGrp="1"/>
          </p:cNvSpPr>
          <p:nvPr>
            <p:ph type="sldNum" sz="quarter" idx="12"/>
          </p:nvPr>
        </p:nvSpPr>
        <p:spPr>
          <a:xfrm>
            <a:off x="3819086" y="6394942"/>
            <a:ext cx="2743200" cy="365125"/>
          </a:xfrm>
          <a:prstGeom prst="rect">
            <a:avLst/>
          </a:prstGeom>
        </p:spPr>
        <p:txBody>
          <a:bodyPr/>
          <a:lstStyle/>
          <a:p>
            <a:fld id="{D1417333-00BA-4379-A4C8-F7A4E25774AB}" type="slidenum">
              <a:rPr lang="en-US" smtClean="0"/>
              <a:t>‹#›</a:t>
            </a:fld>
            <a:endParaRPr lang="en-US" dirty="0"/>
          </a:p>
        </p:txBody>
      </p:sp>
    </p:spTree>
    <p:extLst>
      <p:ext uri="{BB962C8B-B14F-4D97-AF65-F5344CB8AC3E}">
        <p14:creationId xmlns:p14="http://schemas.microsoft.com/office/powerpoint/2010/main" val="3027432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6364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Shape 27">
            <a:extLst>
              <a:ext uri="{FF2B5EF4-FFF2-40B4-BE49-F238E27FC236}">
                <a16:creationId xmlns:a16="http://schemas.microsoft.com/office/drawing/2014/main" id="{2422D9DF-A16F-4985-A2A3-0E0D5736BA41}"/>
              </a:ext>
            </a:extLst>
          </p:cNvPr>
          <p:cNvSpPr/>
          <p:nvPr userDrawn="1"/>
        </p:nvSpPr>
        <p:spPr>
          <a:xfrm>
            <a:off x="0" y="0"/>
            <a:ext cx="12192000" cy="741995"/>
          </a:xfrm>
          <a:prstGeom prst="rect">
            <a:avLst/>
          </a:prstGeom>
          <a:solidFill>
            <a:srgbClr val="000000"/>
          </a:solidFill>
          <a:ln>
            <a:noFill/>
          </a:ln>
        </p:spPr>
        <p:txBody>
          <a:bodyPr lIns="91425" tIns="91425" rIns="91425" bIns="91425" anchor="ctr" anchorCtr="0">
            <a:noAutofit/>
          </a:bodyPr>
          <a:lstStyle/>
          <a:p>
            <a:pPr lvl="0">
              <a:spcBef>
                <a:spcPts val="0"/>
              </a:spcBef>
              <a:buNone/>
            </a:pPr>
            <a:endParaRPr/>
          </a:p>
        </p:txBody>
      </p:sp>
      <p:sp>
        <p:nvSpPr>
          <p:cNvPr id="2" name="Title Placeholder 1">
            <a:extLst>
              <a:ext uri="{FF2B5EF4-FFF2-40B4-BE49-F238E27FC236}">
                <a16:creationId xmlns:a16="http://schemas.microsoft.com/office/drawing/2014/main" id="{098FDE90-097A-4626-8AF3-2A46A09C99B4}"/>
              </a:ext>
            </a:extLst>
          </p:cNvPr>
          <p:cNvSpPr>
            <a:spLocks noGrp="1"/>
          </p:cNvSpPr>
          <p:nvPr>
            <p:ph type="title"/>
          </p:nvPr>
        </p:nvSpPr>
        <p:spPr>
          <a:xfrm>
            <a:off x="838200" y="-252413"/>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8673E9B-793F-46A8-B7DC-919B5F8069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2F03C5-9BC0-4D72-8A5B-7D7AD8D963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CAE2E2-4126-4F53-A0E3-EAF0809821A6}" type="datetime1">
              <a:rPr lang="en-US" smtClean="0"/>
              <a:t>2/9/26</a:t>
            </a:fld>
            <a:endParaRPr lang="en-US"/>
          </a:p>
        </p:txBody>
      </p:sp>
      <p:sp>
        <p:nvSpPr>
          <p:cNvPr id="5" name="Footer Placeholder 4">
            <a:extLst>
              <a:ext uri="{FF2B5EF4-FFF2-40B4-BE49-F238E27FC236}">
                <a16:creationId xmlns:a16="http://schemas.microsoft.com/office/drawing/2014/main" id="{E71E14B1-D5CA-40F7-B3B9-FD2CD3342A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3">
            <a:extLst>
              <a:ext uri="{FF2B5EF4-FFF2-40B4-BE49-F238E27FC236}">
                <a16:creationId xmlns:a16="http://schemas.microsoft.com/office/drawing/2014/main" id="{02D9A1CB-6C3F-46B2-B3B8-3906D8BECE93}"/>
              </a:ext>
            </a:extLst>
          </p:cNvPr>
          <p:cNvSpPr>
            <a:spLocks noGrp="1"/>
          </p:cNvSpPr>
          <p:nvPr>
            <p:ph type="sldNum" sz="quarter" idx="4"/>
          </p:nvPr>
        </p:nvSpPr>
        <p:spPr>
          <a:xfrm>
            <a:off x="11431904" y="80010"/>
            <a:ext cx="722433" cy="548640"/>
          </a:xfrm>
          <a:prstGeom prst="ellipse">
            <a:avLst/>
          </a:prstGeom>
          <a:solidFill>
            <a:srgbClr val="7F7F7F"/>
          </a:solidFill>
        </p:spPr>
        <p:txBody>
          <a:bodyPr vert="horz" lIns="91440" tIns="45720" rIns="91440" bIns="45720" rtlCol="0" anchor="ctr">
            <a:normAutofit/>
          </a:bodyPr>
          <a:lstStyle/>
          <a:p>
            <a:pPr algn="ctr" defTabSz="457200">
              <a:spcAft>
                <a:spcPts val="600"/>
              </a:spcAft>
            </a:pPr>
            <a:fld id="{D1417333-00BA-4379-A4C8-F7A4E25774AB}" type="slidenum">
              <a:rPr lang="en-US" sz="1500">
                <a:solidFill>
                  <a:srgbClr val="FFFFFF"/>
                </a:solidFill>
              </a:rPr>
              <a:pPr algn="ctr" defTabSz="457200">
                <a:spcAft>
                  <a:spcPts val="600"/>
                </a:spcAft>
              </a:pPr>
              <a:t>‹#›</a:t>
            </a:fld>
            <a:endParaRPr lang="en-US" sz="1500">
              <a:solidFill>
                <a:srgbClr val="FFFFFF"/>
              </a:solidFill>
            </a:endParaRPr>
          </a:p>
        </p:txBody>
      </p:sp>
      <p:pic>
        <p:nvPicPr>
          <p:cNvPr id="1026" name="Picture 2" descr="mage result for rit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30630" y="61777"/>
            <a:ext cx="1453520" cy="566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84448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661" r:id="rId12"/>
    <p:sldLayoutId id="2147483713" r:id="rId13"/>
  </p:sldLayoutIdLst>
  <p:hf hdr="0" ftr="0" dt="0"/>
  <p:txStyles>
    <p:titleStyle>
      <a:lvl1pPr algn="ctr"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8" name="Straight Connector 11">
            <a:extLst>
              <a:ext uri="{FF2B5EF4-FFF2-40B4-BE49-F238E27FC236}">
                <a16:creationId xmlns:a16="http://schemas.microsoft.com/office/drawing/2014/main" id="{F0C57C7C-DFE9-4A1E-B7A9-DF40E63366B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5891" y="2057399"/>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449BCF1-8931-4026-B983-88C634CA5C23}"/>
              </a:ext>
            </a:extLst>
          </p:cNvPr>
          <p:cNvSpPr>
            <a:spLocks noGrp="1"/>
          </p:cNvSpPr>
          <p:nvPr>
            <p:ph type="ctrTitle"/>
          </p:nvPr>
        </p:nvSpPr>
        <p:spPr>
          <a:xfrm>
            <a:off x="3817354" y="965199"/>
            <a:ext cx="8411485" cy="4927601"/>
          </a:xfrm>
        </p:spPr>
        <p:txBody>
          <a:bodyPr anchor="ctr">
            <a:normAutofit/>
          </a:bodyPr>
          <a:lstStyle/>
          <a:p>
            <a:r>
              <a:rPr lang="en-US" sz="5300" dirty="0">
                <a:solidFill>
                  <a:schemeClr val="tx1">
                    <a:lumMod val="85000"/>
                    <a:lumOff val="15000"/>
                  </a:schemeClr>
                </a:solidFill>
              </a:rPr>
              <a:t> </a:t>
            </a:r>
            <a:r>
              <a:rPr lang="en-US" sz="5300" dirty="0" err="1">
                <a:solidFill>
                  <a:schemeClr val="tx1">
                    <a:lumMod val="85000"/>
                    <a:lumOff val="15000"/>
                  </a:schemeClr>
                </a:solidFill>
              </a:rPr>
              <a:t>BioRobotics</a:t>
            </a:r>
            <a:endParaRPr lang="en-US" sz="5300" dirty="0">
              <a:solidFill>
                <a:schemeClr val="tx1">
                  <a:lumMod val="85000"/>
                  <a:lumOff val="15000"/>
                </a:schemeClr>
              </a:solidFill>
            </a:endParaRPr>
          </a:p>
        </p:txBody>
      </p:sp>
    </p:spTree>
    <p:extLst>
      <p:ext uri="{BB962C8B-B14F-4D97-AF65-F5344CB8AC3E}">
        <p14:creationId xmlns:p14="http://schemas.microsoft.com/office/powerpoint/2010/main" val="1604051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70104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What is Electrooculography?</a:t>
            </a:r>
            <a:endParaRPr lang="en-US" sz="4267" dirty="0"/>
          </a:p>
        </p:txBody>
      </p:sp>
      <p:sp>
        <p:nvSpPr>
          <p:cNvPr id="5" name="Shape 3"/>
          <p:cNvSpPr/>
          <p:nvPr/>
        </p:nvSpPr>
        <p:spPr>
          <a:xfrm>
            <a:off x="609600" y="1463040"/>
            <a:ext cx="10972800" cy="1341120"/>
          </a:xfrm>
          <a:prstGeom prst="rect">
            <a:avLst/>
          </a:prstGeom>
          <a:solidFill>
            <a:srgbClr val="F5F5F5"/>
          </a:solidFill>
          <a:ln/>
        </p:spPr>
        <p:txBody>
          <a:bodyPr/>
          <a:lstStyle/>
          <a:p>
            <a:endParaRPr lang="en-US" sz="2400"/>
          </a:p>
        </p:txBody>
      </p:sp>
      <p:sp>
        <p:nvSpPr>
          <p:cNvPr id="6" name="Shape 4"/>
          <p:cNvSpPr/>
          <p:nvPr/>
        </p:nvSpPr>
        <p:spPr>
          <a:xfrm>
            <a:off x="609600" y="1463040"/>
            <a:ext cx="97536" cy="1341120"/>
          </a:xfrm>
          <a:prstGeom prst="rect">
            <a:avLst/>
          </a:prstGeom>
          <a:solidFill>
            <a:srgbClr val="F76902"/>
          </a:solidFill>
          <a:ln/>
        </p:spPr>
        <p:txBody>
          <a:bodyPr/>
          <a:lstStyle/>
          <a:p>
            <a:endParaRPr lang="en-US" sz="2400"/>
          </a:p>
        </p:txBody>
      </p:sp>
      <p:sp>
        <p:nvSpPr>
          <p:cNvPr id="7" name="Text 5"/>
          <p:cNvSpPr/>
          <p:nvPr/>
        </p:nvSpPr>
        <p:spPr>
          <a:xfrm>
            <a:off x="914400" y="1584960"/>
            <a:ext cx="10363200" cy="1097280"/>
          </a:xfrm>
          <a:prstGeom prst="rect">
            <a:avLst/>
          </a:prstGeom>
          <a:noFill/>
          <a:ln/>
        </p:spPr>
        <p:txBody>
          <a:bodyPr wrap="square" rtlCol="0" anchor="ctr"/>
          <a:lstStyle/>
          <a:p>
            <a:r>
              <a:rPr lang="en-US" sz="2133" i="1" dirty="0">
                <a:solidFill>
                  <a:srgbClr val="1A1A1A"/>
                </a:solidFill>
                <a:latin typeface="Calibri" pitchFamily="34" charset="0"/>
                <a:ea typeface="Calibri" pitchFamily="34" charset="-122"/>
                <a:cs typeface="Calibri" pitchFamily="34" charset="-120"/>
              </a:rPr>
              <a:t>EOG is the technique of measuring the corneo-retinal standing potential that exists between the front and back of the eye.</a:t>
            </a:r>
            <a:endParaRPr lang="en-US" sz="2133" dirty="0"/>
          </a:p>
        </p:txBody>
      </p:sp>
      <p:sp>
        <p:nvSpPr>
          <p:cNvPr id="8" name="Text 6"/>
          <p:cNvSpPr/>
          <p:nvPr/>
        </p:nvSpPr>
        <p:spPr>
          <a:xfrm>
            <a:off x="609600" y="3048000"/>
            <a:ext cx="6096000" cy="487680"/>
          </a:xfrm>
          <a:prstGeom prst="rect">
            <a:avLst/>
          </a:prstGeom>
          <a:noFill/>
          <a:ln/>
        </p:spPr>
        <p:txBody>
          <a:bodyPr wrap="square" rtlCol="0" anchor="ctr"/>
          <a:lstStyle/>
          <a:p>
            <a:r>
              <a:rPr lang="en-US" sz="2400" b="1" dirty="0">
                <a:solidFill>
                  <a:srgbClr val="F76902"/>
                </a:solidFill>
                <a:latin typeface="Calibri" pitchFamily="34" charset="0"/>
                <a:ea typeface="Calibri" pitchFamily="34" charset="-122"/>
                <a:cs typeface="Calibri" pitchFamily="34" charset="-120"/>
              </a:rPr>
              <a:t>Key Concept: The Eye as a Battery</a:t>
            </a:r>
            <a:endParaRPr lang="en-US" sz="2400" dirty="0"/>
          </a:p>
        </p:txBody>
      </p:sp>
      <p:sp>
        <p:nvSpPr>
          <p:cNvPr id="9" name="Text 7"/>
          <p:cNvSpPr/>
          <p:nvPr/>
        </p:nvSpPr>
        <p:spPr>
          <a:xfrm>
            <a:off x="853440" y="3657600"/>
            <a:ext cx="3048000" cy="426720"/>
          </a:xfrm>
          <a:prstGeom prst="rect">
            <a:avLst/>
          </a:prstGeom>
          <a:noFill/>
          <a:ln/>
        </p:spPr>
        <p:txBody>
          <a:bodyPr wrap="square" rtlCol="0" anchor="ctr"/>
          <a:lstStyle/>
          <a:p>
            <a:r>
              <a:rPr lang="en-US" sz="1867" dirty="0">
                <a:solidFill>
                  <a:srgbClr val="666666"/>
                </a:solidFill>
                <a:latin typeface="Calibri" pitchFamily="34" charset="0"/>
                <a:ea typeface="Calibri" pitchFamily="34" charset="-122"/>
                <a:cs typeface="Calibri" pitchFamily="34" charset="-120"/>
              </a:rPr>
              <a:t>Cornea (front):</a:t>
            </a:r>
            <a:endParaRPr lang="en-US" sz="1867" dirty="0"/>
          </a:p>
        </p:txBody>
      </p:sp>
      <p:sp>
        <p:nvSpPr>
          <p:cNvPr id="10" name="Text 8"/>
          <p:cNvSpPr/>
          <p:nvPr/>
        </p:nvSpPr>
        <p:spPr>
          <a:xfrm>
            <a:off x="3901440" y="3657600"/>
            <a:ext cx="36576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Positively charged (+)</a:t>
            </a:r>
            <a:endParaRPr lang="en-US" sz="1867" dirty="0"/>
          </a:p>
        </p:txBody>
      </p:sp>
      <p:sp>
        <p:nvSpPr>
          <p:cNvPr id="11" name="Text 9"/>
          <p:cNvSpPr/>
          <p:nvPr/>
        </p:nvSpPr>
        <p:spPr>
          <a:xfrm>
            <a:off x="853440" y="4206240"/>
            <a:ext cx="3048000" cy="426720"/>
          </a:xfrm>
          <a:prstGeom prst="rect">
            <a:avLst/>
          </a:prstGeom>
          <a:noFill/>
          <a:ln/>
        </p:spPr>
        <p:txBody>
          <a:bodyPr wrap="square" rtlCol="0" anchor="ctr"/>
          <a:lstStyle/>
          <a:p>
            <a:r>
              <a:rPr lang="en-US" sz="1867" dirty="0">
                <a:solidFill>
                  <a:srgbClr val="666666"/>
                </a:solidFill>
                <a:latin typeface="Calibri" pitchFamily="34" charset="0"/>
                <a:ea typeface="Calibri" pitchFamily="34" charset="-122"/>
                <a:cs typeface="Calibri" pitchFamily="34" charset="-120"/>
              </a:rPr>
              <a:t>Retina (back):</a:t>
            </a:r>
            <a:endParaRPr lang="en-US" sz="1867" dirty="0"/>
          </a:p>
        </p:txBody>
      </p:sp>
      <p:sp>
        <p:nvSpPr>
          <p:cNvPr id="12" name="Text 10"/>
          <p:cNvSpPr/>
          <p:nvPr/>
        </p:nvSpPr>
        <p:spPr>
          <a:xfrm>
            <a:off x="3901440" y="4206240"/>
            <a:ext cx="36576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Negatively charged (−)</a:t>
            </a:r>
            <a:endParaRPr lang="en-US" sz="1867" dirty="0"/>
          </a:p>
        </p:txBody>
      </p:sp>
      <p:sp>
        <p:nvSpPr>
          <p:cNvPr id="13" name="Text 11"/>
          <p:cNvSpPr/>
          <p:nvPr/>
        </p:nvSpPr>
        <p:spPr>
          <a:xfrm>
            <a:off x="853440" y="4754880"/>
            <a:ext cx="3048000" cy="426720"/>
          </a:xfrm>
          <a:prstGeom prst="rect">
            <a:avLst/>
          </a:prstGeom>
          <a:noFill/>
          <a:ln/>
        </p:spPr>
        <p:txBody>
          <a:bodyPr wrap="square" rtlCol="0" anchor="ctr"/>
          <a:lstStyle/>
          <a:p>
            <a:r>
              <a:rPr lang="en-US" sz="1867" dirty="0">
                <a:solidFill>
                  <a:srgbClr val="666666"/>
                </a:solidFill>
                <a:latin typeface="Calibri" pitchFamily="34" charset="0"/>
                <a:ea typeface="Calibri" pitchFamily="34" charset="-122"/>
                <a:cs typeface="Calibri" pitchFamily="34" charset="-120"/>
              </a:rPr>
              <a:t>Potential difference:</a:t>
            </a:r>
            <a:endParaRPr lang="en-US" sz="1867" dirty="0"/>
          </a:p>
        </p:txBody>
      </p:sp>
      <p:sp>
        <p:nvSpPr>
          <p:cNvPr id="14" name="Text 12"/>
          <p:cNvSpPr/>
          <p:nvPr/>
        </p:nvSpPr>
        <p:spPr>
          <a:xfrm>
            <a:off x="3901440" y="4754880"/>
            <a:ext cx="36576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0.4 to 1.0 mV</a:t>
            </a:r>
            <a:endParaRPr lang="en-US" sz="1867" dirty="0"/>
          </a:p>
        </p:txBody>
      </p:sp>
      <p:sp>
        <p:nvSpPr>
          <p:cNvPr id="15" name="Text 13"/>
          <p:cNvSpPr/>
          <p:nvPr/>
        </p:nvSpPr>
        <p:spPr>
          <a:xfrm>
            <a:off x="853440" y="5303520"/>
            <a:ext cx="3048000" cy="426720"/>
          </a:xfrm>
          <a:prstGeom prst="rect">
            <a:avLst/>
          </a:prstGeom>
          <a:noFill/>
          <a:ln/>
        </p:spPr>
        <p:txBody>
          <a:bodyPr wrap="square" rtlCol="0" anchor="ctr"/>
          <a:lstStyle/>
          <a:p>
            <a:r>
              <a:rPr lang="en-US" sz="1867" dirty="0">
                <a:solidFill>
                  <a:srgbClr val="666666"/>
                </a:solidFill>
                <a:latin typeface="Calibri" pitchFamily="34" charset="0"/>
                <a:ea typeface="Calibri" pitchFamily="34" charset="-122"/>
                <a:cs typeface="Calibri" pitchFamily="34" charset="-120"/>
              </a:rPr>
              <a:t>When eyes rotate:</a:t>
            </a:r>
            <a:endParaRPr lang="en-US" sz="1867" dirty="0"/>
          </a:p>
        </p:txBody>
      </p:sp>
      <p:sp>
        <p:nvSpPr>
          <p:cNvPr id="16" name="Text 14"/>
          <p:cNvSpPr/>
          <p:nvPr/>
        </p:nvSpPr>
        <p:spPr>
          <a:xfrm>
            <a:off x="3901440" y="5303520"/>
            <a:ext cx="36576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Dipole orientation changes</a:t>
            </a:r>
            <a:endParaRPr lang="en-US" sz="1867" dirty="0"/>
          </a:p>
        </p:txBody>
      </p:sp>
      <p:sp>
        <p:nvSpPr>
          <p:cNvPr id="17" name="Shape 15"/>
          <p:cNvSpPr/>
          <p:nvPr/>
        </p:nvSpPr>
        <p:spPr>
          <a:xfrm>
            <a:off x="7559040" y="2926080"/>
            <a:ext cx="4023360" cy="34137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8" name="Text 16"/>
          <p:cNvSpPr/>
          <p:nvPr/>
        </p:nvSpPr>
        <p:spPr>
          <a:xfrm>
            <a:off x="7559040" y="3048000"/>
            <a:ext cx="4023360" cy="426720"/>
          </a:xfrm>
          <a:prstGeom prst="rect">
            <a:avLst/>
          </a:prstGeom>
          <a:noFill/>
          <a:ln/>
        </p:spPr>
        <p:txBody>
          <a:bodyPr wrap="square" rtlCol="0" anchor="ctr"/>
          <a:lstStyle/>
          <a:p>
            <a:pPr algn="ctr"/>
            <a:r>
              <a:rPr lang="en-US" sz="1600" b="1" dirty="0">
                <a:solidFill>
                  <a:srgbClr val="F76902"/>
                </a:solidFill>
                <a:latin typeface="Calibri" pitchFamily="34" charset="0"/>
                <a:ea typeface="Calibri" pitchFamily="34" charset="-122"/>
                <a:cs typeface="Calibri" pitchFamily="34" charset="-120"/>
              </a:rPr>
              <a:t>Corneo-Retinal Dipole</a:t>
            </a:r>
            <a:endParaRPr lang="en-US" sz="1600" dirty="0"/>
          </a:p>
        </p:txBody>
      </p:sp>
      <p:sp>
        <p:nvSpPr>
          <p:cNvPr id="19" name="Shape 17"/>
          <p:cNvSpPr/>
          <p:nvPr/>
        </p:nvSpPr>
        <p:spPr>
          <a:xfrm>
            <a:off x="8534400" y="3657600"/>
            <a:ext cx="2194560" cy="1828800"/>
          </a:xfrm>
          <a:prstGeom prst="ellipse">
            <a:avLst/>
          </a:prstGeom>
          <a:solidFill>
            <a:srgbClr val="FFFFFF"/>
          </a:solidFill>
          <a:ln w="25400">
            <a:solidFill>
              <a:srgbClr val="513127"/>
            </a:solidFill>
            <a:prstDash val="solid"/>
          </a:ln>
        </p:spPr>
        <p:txBody>
          <a:bodyPr/>
          <a:lstStyle/>
          <a:p>
            <a:endParaRPr lang="en-US" sz="2400"/>
          </a:p>
        </p:txBody>
      </p:sp>
      <p:sp>
        <p:nvSpPr>
          <p:cNvPr id="20" name="Shape 18"/>
          <p:cNvSpPr/>
          <p:nvPr/>
        </p:nvSpPr>
        <p:spPr>
          <a:xfrm>
            <a:off x="10180320" y="4206240"/>
            <a:ext cx="609600" cy="731520"/>
          </a:xfrm>
          <a:prstGeom prst="ellipse">
            <a:avLst/>
          </a:prstGeom>
          <a:solidFill>
            <a:srgbClr val="F76902"/>
          </a:solidFill>
          <a:ln/>
        </p:spPr>
        <p:txBody>
          <a:bodyPr/>
          <a:lstStyle/>
          <a:p>
            <a:endParaRPr lang="en-US" sz="2400"/>
          </a:p>
        </p:txBody>
      </p:sp>
      <p:sp>
        <p:nvSpPr>
          <p:cNvPr id="21" name="Text 19"/>
          <p:cNvSpPr/>
          <p:nvPr/>
        </p:nvSpPr>
        <p:spPr>
          <a:xfrm>
            <a:off x="10180320" y="4206240"/>
            <a:ext cx="609600" cy="731520"/>
          </a:xfrm>
          <a:prstGeom prst="rect">
            <a:avLst/>
          </a:prstGeom>
          <a:noFill/>
          <a:ln/>
        </p:spPr>
        <p:txBody>
          <a:bodyPr wrap="square" rtlCol="0" anchor="ctr"/>
          <a:lstStyle/>
          <a:p>
            <a:pPr algn="ctr"/>
            <a:r>
              <a:rPr lang="en-US" sz="2667" b="1" dirty="0">
                <a:solidFill>
                  <a:srgbClr val="FFFFFF"/>
                </a:solidFill>
              </a:rPr>
              <a:t>+</a:t>
            </a:r>
            <a:endParaRPr lang="en-US" sz="2667" dirty="0"/>
          </a:p>
        </p:txBody>
      </p:sp>
      <p:sp>
        <p:nvSpPr>
          <p:cNvPr id="22" name="Shape 20"/>
          <p:cNvSpPr/>
          <p:nvPr/>
        </p:nvSpPr>
        <p:spPr>
          <a:xfrm>
            <a:off x="8473440" y="4206240"/>
            <a:ext cx="609600" cy="731520"/>
          </a:xfrm>
          <a:prstGeom prst="ellipse">
            <a:avLst/>
          </a:prstGeom>
          <a:solidFill>
            <a:srgbClr val="D32F2F"/>
          </a:solidFill>
          <a:ln/>
        </p:spPr>
        <p:txBody>
          <a:bodyPr/>
          <a:lstStyle/>
          <a:p>
            <a:endParaRPr lang="en-US" sz="2400"/>
          </a:p>
        </p:txBody>
      </p:sp>
      <p:sp>
        <p:nvSpPr>
          <p:cNvPr id="23" name="Text 21"/>
          <p:cNvSpPr/>
          <p:nvPr/>
        </p:nvSpPr>
        <p:spPr>
          <a:xfrm>
            <a:off x="8473440" y="4206240"/>
            <a:ext cx="609600" cy="731520"/>
          </a:xfrm>
          <a:prstGeom prst="rect">
            <a:avLst/>
          </a:prstGeom>
          <a:noFill/>
          <a:ln/>
        </p:spPr>
        <p:txBody>
          <a:bodyPr wrap="square" rtlCol="0" anchor="ctr"/>
          <a:lstStyle/>
          <a:p>
            <a:pPr algn="ctr"/>
            <a:r>
              <a:rPr lang="en-US" sz="2667" b="1" dirty="0">
                <a:solidFill>
                  <a:srgbClr val="FFFFFF"/>
                </a:solidFill>
              </a:rPr>
              <a:t>−</a:t>
            </a:r>
            <a:endParaRPr lang="en-US" sz="2667" dirty="0"/>
          </a:p>
        </p:txBody>
      </p:sp>
      <p:sp>
        <p:nvSpPr>
          <p:cNvPr id="24" name="Text 22"/>
          <p:cNvSpPr/>
          <p:nvPr/>
        </p:nvSpPr>
        <p:spPr>
          <a:xfrm>
            <a:off x="7559040" y="5608320"/>
            <a:ext cx="4023360" cy="365760"/>
          </a:xfrm>
          <a:prstGeom prst="rect">
            <a:avLst/>
          </a:prstGeom>
          <a:noFill/>
          <a:ln/>
        </p:spPr>
        <p:txBody>
          <a:bodyPr wrap="square" rtlCol="0" anchor="ctr"/>
          <a:lstStyle/>
          <a:p>
            <a:pPr algn="ctr"/>
            <a:r>
              <a:rPr lang="en-US" sz="1333" dirty="0">
                <a:solidFill>
                  <a:srgbClr val="666666"/>
                </a:solidFill>
                <a:latin typeface="Calibri" pitchFamily="34" charset="0"/>
                <a:ea typeface="Calibri" pitchFamily="34" charset="-122"/>
                <a:cs typeface="Calibri" pitchFamily="34" charset="-120"/>
              </a:rPr>
              <a:t>Retina (−)          Cornea (+)</a:t>
            </a:r>
            <a:endParaRPr lang="en-US" sz="1333" dirty="0"/>
          </a:p>
        </p:txBody>
      </p:sp>
      <p:sp>
        <p:nvSpPr>
          <p:cNvPr id="25" name="Text 23"/>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3 / 32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7620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How EOG Detects Eye Movements</a:t>
            </a:r>
            <a:endParaRPr lang="en-US" sz="4267" dirty="0"/>
          </a:p>
        </p:txBody>
      </p:sp>
      <p:sp>
        <p:nvSpPr>
          <p:cNvPr id="5" name="Shape 3"/>
          <p:cNvSpPr/>
          <p:nvPr/>
        </p:nvSpPr>
        <p:spPr>
          <a:xfrm>
            <a:off x="731520" y="1584960"/>
            <a:ext cx="3535680" cy="31699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6" name="Text 4"/>
          <p:cNvSpPr/>
          <p:nvPr/>
        </p:nvSpPr>
        <p:spPr>
          <a:xfrm>
            <a:off x="731520" y="1706880"/>
            <a:ext cx="3535680" cy="426720"/>
          </a:xfrm>
          <a:prstGeom prst="rect">
            <a:avLst/>
          </a:prstGeom>
          <a:noFill/>
          <a:ln/>
        </p:spPr>
        <p:txBody>
          <a:bodyPr wrap="square" rtlCol="0" anchor="ctr"/>
          <a:lstStyle/>
          <a:p>
            <a:pPr algn="ctr"/>
            <a:r>
              <a:rPr lang="en-US" sz="1867" b="1" dirty="0">
                <a:solidFill>
                  <a:srgbClr val="F76902"/>
                </a:solidFill>
                <a:latin typeface="Calibri" pitchFamily="34" charset="0"/>
                <a:ea typeface="Calibri" pitchFamily="34" charset="-122"/>
                <a:cs typeface="Calibri" pitchFamily="34" charset="-120"/>
              </a:rPr>
              <a:t>Eyes Center</a:t>
            </a:r>
            <a:endParaRPr lang="en-US" sz="1867" dirty="0"/>
          </a:p>
        </p:txBody>
      </p:sp>
      <p:sp>
        <p:nvSpPr>
          <p:cNvPr id="7" name="Shape 5"/>
          <p:cNvSpPr/>
          <p:nvPr/>
        </p:nvSpPr>
        <p:spPr>
          <a:xfrm>
            <a:off x="1219200" y="2438400"/>
            <a:ext cx="975360" cy="731520"/>
          </a:xfrm>
          <a:prstGeom prst="ellipse">
            <a:avLst/>
          </a:prstGeom>
          <a:solidFill>
            <a:srgbClr val="FFFFFF"/>
          </a:solidFill>
          <a:ln w="19050">
            <a:solidFill>
              <a:srgbClr val="513127"/>
            </a:solidFill>
            <a:prstDash val="solid"/>
          </a:ln>
        </p:spPr>
        <p:txBody>
          <a:bodyPr/>
          <a:lstStyle/>
          <a:p>
            <a:endParaRPr lang="en-US" sz="2400"/>
          </a:p>
        </p:txBody>
      </p:sp>
      <p:sp>
        <p:nvSpPr>
          <p:cNvPr id="8" name="Shape 6"/>
          <p:cNvSpPr/>
          <p:nvPr/>
        </p:nvSpPr>
        <p:spPr>
          <a:xfrm>
            <a:off x="2804160" y="2438400"/>
            <a:ext cx="975360" cy="731520"/>
          </a:xfrm>
          <a:prstGeom prst="ellipse">
            <a:avLst/>
          </a:prstGeom>
          <a:solidFill>
            <a:srgbClr val="FFFFFF"/>
          </a:solidFill>
          <a:ln w="19050">
            <a:solidFill>
              <a:srgbClr val="513127"/>
            </a:solidFill>
            <a:prstDash val="solid"/>
          </a:ln>
        </p:spPr>
        <p:txBody>
          <a:bodyPr/>
          <a:lstStyle/>
          <a:p>
            <a:endParaRPr lang="en-US" sz="2400"/>
          </a:p>
        </p:txBody>
      </p:sp>
      <p:sp>
        <p:nvSpPr>
          <p:cNvPr id="9" name="Text 7"/>
          <p:cNvSpPr/>
          <p:nvPr/>
        </p:nvSpPr>
        <p:spPr>
          <a:xfrm>
            <a:off x="853440" y="2499360"/>
            <a:ext cx="365760" cy="609600"/>
          </a:xfrm>
          <a:prstGeom prst="rect">
            <a:avLst/>
          </a:prstGeom>
          <a:noFill/>
          <a:ln/>
        </p:spPr>
        <p:txBody>
          <a:bodyPr wrap="square" rtlCol="0" anchor="ctr"/>
          <a:lstStyle/>
          <a:p>
            <a:pPr algn="ctr"/>
            <a:r>
              <a:rPr lang="en-US" sz="2400" b="1" dirty="0">
                <a:solidFill>
                  <a:srgbClr val="D32F2F"/>
                </a:solidFill>
              </a:rPr>
              <a:t>0</a:t>
            </a:r>
            <a:endParaRPr lang="en-US" sz="2400" dirty="0"/>
          </a:p>
        </p:txBody>
      </p:sp>
      <p:sp>
        <p:nvSpPr>
          <p:cNvPr id="10" name="Text 8"/>
          <p:cNvSpPr/>
          <p:nvPr/>
        </p:nvSpPr>
        <p:spPr>
          <a:xfrm>
            <a:off x="3779520" y="2499360"/>
            <a:ext cx="365760" cy="609600"/>
          </a:xfrm>
          <a:prstGeom prst="rect">
            <a:avLst/>
          </a:prstGeom>
          <a:noFill/>
          <a:ln/>
        </p:spPr>
        <p:txBody>
          <a:bodyPr wrap="square" rtlCol="0" anchor="ctr"/>
          <a:lstStyle/>
          <a:p>
            <a:pPr algn="ctr"/>
            <a:r>
              <a:rPr lang="en-US" sz="2400" b="1" dirty="0">
                <a:solidFill>
                  <a:srgbClr val="F76902"/>
                </a:solidFill>
              </a:rPr>
              <a:t>0</a:t>
            </a:r>
            <a:endParaRPr lang="en-US" sz="2400" dirty="0"/>
          </a:p>
        </p:txBody>
      </p:sp>
      <p:sp>
        <p:nvSpPr>
          <p:cNvPr id="11" name="Text 9"/>
          <p:cNvSpPr/>
          <p:nvPr/>
        </p:nvSpPr>
        <p:spPr>
          <a:xfrm>
            <a:off x="853440" y="3413760"/>
            <a:ext cx="3291840" cy="975360"/>
          </a:xfrm>
          <a:prstGeom prst="rect">
            <a:avLst/>
          </a:prstGeom>
          <a:noFill/>
          <a:ln/>
        </p:spPr>
        <p:txBody>
          <a:bodyPr wrap="square" rtlCol="0" anchor="t"/>
          <a:lstStyle/>
          <a:p>
            <a:pPr algn="ctr"/>
            <a:r>
              <a:rPr lang="en-US" sz="1467" dirty="0">
                <a:solidFill>
                  <a:srgbClr val="666666"/>
                </a:solidFill>
                <a:latin typeface="Calibri" pitchFamily="34" charset="0"/>
                <a:ea typeface="Calibri" pitchFamily="34" charset="-122"/>
                <a:cs typeface="Calibri" pitchFamily="34" charset="-120"/>
              </a:rPr>
              <a:t>Equal potential at both electrodes</a:t>
            </a:r>
            <a:endParaRPr lang="en-US" sz="1467" dirty="0"/>
          </a:p>
        </p:txBody>
      </p:sp>
      <p:sp>
        <p:nvSpPr>
          <p:cNvPr id="12" name="Shape 10"/>
          <p:cNvSpPr/>
          <p:nvPr/>
        </p:nvSpPr>
        <p:spPr>
          <a:xfrm>
            <a:off x="4511040" y="1584960"/>
            <a:ext cx="3535680" cy="31699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3" name="Text 11"/>
          <p:cNvSpPr/>
          <p:nvPr/>
        </p:nvSpPr>
        <p:spPr>
          <a:xfrm>
            <a:off x="4511040" y="1706880"/>
            <a:ext cx="3535680" cy="426720"/>
          </a:xfrm>
          <a:prstGeom prst="rect">
            <a:avLst/>
          </a:prstGeom>
          <a:noFill/>
          <a:ln/>
        </p:spPr>
        <p:txBody>
          <a:bodyPr wrap="square" rtlCol="0" anchor="ctr"/>
          <a:lstStyle/>
          <a:p>
            <a:pPr algn="ctr"/>
            <a:r>
              <a:rPr lang="en-US" sz="1867" b="1" dirty="0">
                <a:solidFill>
                  <a:srgbClr val="F76902"/>
                </a:solidFill>
                <a:latin typeface="Calibri" pitchFamily="34" charset="0"/>
                <a:ea typeface="Calibri" pitchFamily="34" charset="-122"/>
                <a:cs typeface="Calibri" pitchFamily="34" charset="-120"/>
              </a:rPr>
              <a:t>Eyes Right</a:t>
            </a:r>
            <a:endParaRPr lang="en-US" sz="1867" dirty="0"/>
          </a:p>
        </p:txBody>
      </p:sp>
      <p:sp>
        <p:nvSpPr>
          <p:cNvPr id="14" name="Shape 12"/>
          <p:cNvSpPr/>
          <p:nvPr/>
        </p:nvSpPr>
        <p:spPr>
          <a:xfrm>
            <a:off x="4998720" y="2438400"/>
            <a:ext cx="975360" cy="731520"/>
          </a:xfrm>
          <a:prstGeom prst="ellipse">
            <a:avLst/>
          </a:prstGeom>
          <a:solidFill>
            <a:srgbClr val="FFFFFF"/>
          </a:solidFill>
          <a:ln w="19050">
            <a:solidFill>
              <a:srgbClr val="513127"/>
            </a:solidFill>
            <a:prstDash val="solid"/>
          </a:ln>
        </p:spPr>
        <p:txBody>
          <a:bodyPr/>
          <a:lstStyle/>
          <a:p>
            <a:endParaRPr lang="en-US" sz="2400"/>
          </a:p>
        </p:txBody>
      </p:sp>
      <p:sp>
        <p:nvSpPr>
          <p:cNvPr id="15" name="Shape 13"/>
          <p:cNvSpPr/>
          <p:nvPr/>
        </p:nvSpPr>
        <p:spPr>
          <a:xfrm>
            <a:off x="6583680" y="2438400"/>
            <a:ext cx="975360" cy="731520"/>
          </a:xfrm>
          <a:prstGeom prst="ellipse">
            <a:avLst/>
          </a:prstGeom>
          <a:solidFill>
            <a:srgbClr val="FFFFFF"/>
          </a:solidFill>
          <a:ln w="19050">
            <a:solidFill>
              <a:srgbClr val="513127"/>
            </a:solidFill>
            <a:prstDash val="solid"/>
          </a:ln>
        </p:spPr>
        <p:txBody>
          <a:bodyPr/>
          <a:lstStyle/>
          <a:p>
            <a:endParaRPr lang="en-US" sz="2400"/>
          </a:p>
        </p:txBody>
      </p:sp>
      <p:sp>
        <p:nvSpPr>
          <p:cNvPr id="16" name="Text 14"/>
          <p:cNvSpPr/>
          <p:nvPr/>
        </p:nvSpPr>
        <p:spPr>
          <a:xfrm>
            <a:off x="4632960" y="2499360"/>
            <a:ext cx="365760" cy="609600"/>
          </a:xfrm>
          <a:prstGeom prst="rect">
            <a:avLst/>
          </a:prstGeom>
          <a:noFill/>
          <a:ln/>
        </p:spPr>
        <p:txBody>
          <a:bodyPr wrap="square" rtlCol="0" anchor="ctr"/>
          <a:lstStyle/>
          <a:p>
            <a:pPr algn="ctr"/>
            <a:r>
              <a:rPr lang="en-US" sz="2400" b="1" dirty="0">
                <a:solidFill>
                  <a:srgbClr val="D32F2F"/>
                </a:solidFill>
              </a:rPr>
              <a:t>−</a:t>
            </a:r>
            <a:endParaRPr lang="en-US" sz="2400" dirty="0"/>
          </a:p>
        </p:txBody>
      </p:sp>
      <p:sp>
        <p:nvSpPr>
          <p:cNvPr id="17" name="Text 15"/>
          <p:cNvSpPr/>
          <p:nvPr/>
        </p:nvSpPr>
        <p:spPr>
          <a:xfrm>
            <a:off x="7559040" y="2499360"/>
            <a:ext cx="365760" cy="609600"/>
          </a:xfrm>
          <a:prstGeom prst="rect">
            <a:avLst/>
          </a:prstGeom>
          <a:noFill/>
          <a:ln/>
        </p:spPr>
        <p:txBody>
          <a:bodyPr wrap="square" rtlCol="0" anchor="ctr"/>
          <a:lstStyle/>
          <a:p>
            <a:pPr algn="ctr"/>
            <a:r>
              <a:rPr lang="en-US" sz="2400" b="1" dirty="0">
                <a:solidFill>
                  <a:srgbClr val="F76902"/>
                </a:solidFill>
              </a:rPr>
              <a:t>+</a:t>
            </a:r>
            <a:endParaRPr lang="en-US" sz="2400" dirty="0"/>
          </a:p>
        </p:txBody>
      </p:sp>
      <p:sp>
        <p:nvSpPr>
          <p:cNvPr id="18" name="Text 16"/>
          <p:cNvSpPr/>
          <p:nvPr/>
        </p:nvSpPr>
        <p:spPr>
          <a:xfrm>
            <a:off x="4632960" y="3413760"/>
            <a:ext cx="3291840" cy="975360"/>
          </a:xfrm>
          <a:prstGeom prst="rect">
            <a:avLst/>
          </a:prstGeom>
          <a:noFill/>
          <a:ln/>
        </p:spPr>
        <p:txBody>
          <a:bodyPr wrap="square" rtlCol="0" anchor="t"/>
          <a:lstStyle/>
          <a:p>
            <a:pPr algn="ctr"/>
            <a:r>
              <a:rPr lang="en-US" sz="1467" dirty="0">
                <a:solidFill>
                  <a:srgbClr val="666666"/>
                </a:solidFill>
                <a:latin typeface="Calibri" pitchFamily="34" charset="0"/>
                <a:ea typeface="Calibri" pitchFamily="34" charset="-122"/>
                <a:cs typeface="Calibri" pitchFamily="34" charset="-120"/>
              </a:rPr>
              <a:t>Cornea (+) closer to right electrode</a:t>
            </a:r>
            <a:endParaRPr lang="en-US" sz="1467" dirty="0"/>
          </a:p>
        </p:txBody>
      </p:sp>
      <p:sp>
        <p:nvSpPr>
          <p:cNvPr id="19" name="Shape 17"/>
          <p:cNvSpPr/>
          <p:nvPr/>
        </p:nvSpPr>
        <p:spPr>
          <a:xfrm>
            <a:off x="8290560" y="1584960"/>
            <a:ext cx="3535680" cy="31699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0" name="Text 18"/>
          <p:cNvSpPr/>
          <p:nvPr/>
        </p:nvSpPr>
        <p:spPr>
          <a:xfrm>
            <a:off x="8290560" y="1706880"/>
            <a:ext cx="3535680" cy="426720"/>
          </a:xfrm>
          <a:prstGeom prst="rect">
            <a:avLst/>
          </a:prstGeom>
          <a:noFill/>
          <a:ln/>
        </p:spPr>
        <p:txBody>
          <a:bodyPr wrap="square" rtlCol="0" anchor="ctr"/>
          <a:lstStyle/>
          <a:p>
            <a:pPr algn="ctr"/>
            <a:r>
              <a:rPr lang="en-US" sz="1867" b="1" dirty="0">
                <a:solidFill>
                  <a:srgbClr val="F76902"/>
                </a:solidFill>
                <a:latin typeface="Calibri" pitchFamily="34" charset="0"/>
                <a:ea typeface="Calibri" pitchFamily="34" charset="-122"/>
                <a:cs typeface="Calibri" pitchFamily="34" charset="-120"/>
              </a:rPr>
              <a:t>Eyes Left</a:t>
            </a:r>
            <a:endParaRPr lang="en-US" sz="1867" dirty="0"/>
          </a:p>
        </p:txBody>
      </p:sp>
      <p:sp>
        <p:nvSpPr>
          <p:cNvPr id="21" name="Shape 19"/>
          <p:cNvSpPr/>
          <p:nvPr/>
        </p:nvSpPr>
        <p:spPr>
          <a:xfrm>
            <a:off x="8778240" y="2438400"/>
            <a:ext cx="975360" cy="731520"/>
          </a:xfrm>
          <a:prstGeom prst="ellipse">
            <a:avLst/>
          </a:prstGeom>
          <a:solidFill>
            <a:srgbClr val="FFFFFF"/>
          </a:solidFill>
          <a:ln w="19050">
            <a:solidFill>
              <a:srgbClr val="513127"/>
            </a:solidFill>
            <a:prstDash val="solid"/>
          </a:ln>
        </p:spPr>
        <p:txBody>
          <a:bodyPr/>
          <a:lstStyle/>
          <a:p>
            <a:endParaRPr lang="en-US" sz="2400"/>
          </a:p>
        </p:txBody>
      </p:sp>
      <p:sp>
        <p:nvSpPr>
          <p:cNvPr id="22" name="Shape 20"/>
          <p:cNvSpPr/>
          <p:nvPr/>
        </p:nvSpPr>
        <p:spPr>
          <a:xfrm>
            <a:off x="10363200" y="2438400"/>
            <a:ext cx="975360" cy="731520"/>
          </a:xfrm>
          <a:prstGeom prst="ellipse">
            <a:avLst/>
          </a:prstGeom>
          <a:solidFill>
            <a:srgbClr val="FFFFFF"/>
          </a:solidFill>
          <a:ln w="19050">
            <a:solidFill>
              <a:srgbClr val="513127"/>
            </a:solidFill>
            <a:prstDash val="solid"/>
          </a:ln>
        </p:spPr>
        <p:txBody>
          <a:bodyPr/>
          <a:lstStyle/>
          <a:p>
            <a:endParaRPr lang="en-US" sz="2400"/>
          </a:p>
        </p:txBody>
      </p:sp>
      <p:sp>
        <p:nvSpPr>
          <p:cNvPr id="23" name="Text 21"/>
          <p:cNvSpPr/>
          <p:nvPr/>
        </p:nvSpPr>
        <p:spPr>
          <a:xfrm>
            <a:off x="8412480" y="2499360"/>
            <a:ext cx="365760" cy="609600"/>
          </a:xfrm>
          <a:prstGeom prst="rect">
            <a:avLst/>
          </a:prstGeom>
          <a:noFill/>
          <a:ln/>
        </p:spPr>
        <p:txBody>
          <a:bodyPr wrap="square" rtlCol="0" anchor="ctr"/>
          <a:lstStyle/>
          <a:p>
            <a:pPr algn="ctr"/>
            <a:r>
              <a:rPr lang="en-US" sz="2400" b="1" dirty="0">
                <a:solidFill>
                  <a:srgbClr val="D32F2F"/>
                </a:solidFill>
              </a:rPr>
              <a:t>+</a:t>
            </a:r>
            <a:endParaRPr lang="en-US" sz="2400" dirty="0"/>
          </a:p>
        </p:txBody>
      </p:sp>
      <p:sp>
        <p:nvSpPr>
          <p:cNvPr id="24" name="Text 22"/>
          <p:cNvSpPr/>
          <p:nvPr/>
        </p:nvSpPr>
        <p:spPr>
          <a:xfrm>
            <a:off x="11338560" y="2499360"/>
            <a:ext cx="365760" cy="609600"/>
          </a:xfrm>
          <a:prstGeom prst="rect">
            <a:avLst/>
          </a:prstGeom>
          <a:noFill/>
          <a:ln/>
        </p:spPr>
        <p:txBody>
          <a:bodyPr wrap="square" rtlCol="0" anchor="ctr"/>
          <a:lstStyle/>
          <a:p>
            <a:pPr algn="ctr"/>
            <a:r>
              <a:rPr lang="en-US" sz="2400" b="1" dirty="0">
                <a:solidFill>
                  <a:srgbClr val="F76902"/>
                </a:solidFill>
              </a:rPr>
              <a:t>−</a:t>
            </a:r>
            <a:endParaRPr lang="en-US" sz="2400" dirty="0"/>
          </a:p>
        </p:txBody>
      </p:sp>
      <p:sp>
        <p:nvSpPr>
          <p:cNvPr id="25" name="Text 23"/>
          <p:cNvSpPr/>
          <p:nvPr/>
        </p:nvSpPr>
        <p:spPr>
          <a:xfrm>
            <a:off x="8412480" y="3413760"/>
            <a:ext cx="3291840" cy="975360"/>
          </a:xfrm>
          <a:prstGeom prst="rect">
            <a:avLst/>
          </a:prstGeom>
          <a:noFill/>
          <a:ln/>
        </p:spPr>
        <p:txBody>
          <a:bodyPr wrap="square" rtlCol="0" anchor="t"/>
          <a:lstStyle/>
          <a:p>
            <a:pPr algn="ctr"/>
            <a:r>
              <a:rPr lang="en-US" sz="1467" dirty="0">
                <a:solidFill>
                  <a:srgbClr val="666666"/>
                </a:solidFill>
                <a:latin typeface="Calibri" pitchFamily="34" charset="0"/>
                <a:ea typeface="Calibri" pitchFamily="34" charset="-122"/>
                <a:cs typeface="Calibri" pitchFamily="34" charset="-120"/>
              </a:rPr>
              <a:t>Cornea (+) closer to left electrode</a:t>
            </a:r>
            <a:endParaRPr lang="en-US" sz="1467" dirty="0"/>
          </a:p>
        </p:txBody>
      </p:sp>
      <p:sp>
        <p:nvSpPr>
          <p:cNvPr id="26" name="Shape 24"/>
          <p:cNvSpPr/>
          <p:nvPr/>
        </p:nvSpPr>
        <p:spPr>
          <a:xfrm>
            <a:off x="609600" y="4998720"/>
            <a:ext cx="10972800" cy="1463040"/>
          </a:xfrm>
          <a:prstGeom prst="rect">
            <a:avLst/>
          </a:prstGeom>
          <a:solidFill>
            <a:srgbClr val="1A1A1A"/>
          </a:solidFill>
          <a:ln/>
        </p:spPr>
        <p:txBody>
          <a:bodyPr/>
          <a:lstStyle/>
          <a:p>
            <a:endParaRPr lang="en-US" sz="2400"/>
          </a:p>
        </p:txBody>
      </p:sp>
      <p:sp>
        <p:nvSpPr>
          <p:cNvPr id="27" name="Text 25"/>
          <p:cNvSpPr/>
          <p:nvPr/>
        </p:nvSpPr>
        <p:spPr>
          <a:xfrm>
            <a:off x="853440" y="5120640"/>
            <a:ext cx="2438400" cy="426720"/>
          </a:xfrm>
          <a:prstGeom prst="rect">
            <a:avLst/>
          </a:prstGeom>
          <a:noFill/>
          <a:ln/>
        </p:spPr>
        <p:txBody>
          <a:bodyPr wrap="square" rtlCol="0" anchor="ctr"/>
          <a:lstStyle/>
          <a:p>
            <a:r>
              <a:rPr lang="en-US" sz="1867" b="1" dirty="0">
                <a:solidFill>
                  <a:srgbClr val="F76902"/>
                </a:solidFill>
                <a:latin typeface="Calibri" pitchFamily="34" charset="0"/>
                <a:ea typeface="Calibri" pitchFamily="34" charset="-122"/>
                <a:cs typeface="Calibri" pitchFamily="34" charset="-120"/>
              </a:rPr>
              <a:t>The Principle</a:t>
            </a:r>
            <a:endParaRPr lang="en-US" sz="1867" dirty="0"/>
          </a:p>
        </p:txBody>
      </p:sp>
      <p:sp>
        <p:nvSpPr>
          <p:cNvPr id="28" name="Text 26"/>
          <p:cNvSpPr/>
          <p:nvPr/>
        </p:nvSpPr>
        <p:spPr>
          <a:xfrm>
            <a:off x="853440" y="5547360"/>
            <a:ext cx="10485120" cy="853440"/>
          </a:xfrm>
          <a:prstGeom prst="rect">
            <a:avLst/>
          </a:prstGeom>
          <a:noFill/>
          <a:ln/>
        </p:spPr>
        <p:txBody>
          <a:bodyPr wrap="square" rtlCol="0" anchor="ctr"/>
          <a:lstStyle/>
          <a:p>
            <a:r>
              <a:rPr lang="en-US" sz="1733" dirty="0">
                <a:solidFill>
                  <a:srgbClr val="FFFFFF"/>
                </a:solidFill>
                <a:latin typeface="Calibri" pitchFamily="34" charset="0"/>
                <a:ea typeface="Calibri" pitchFamily="34" charset="-122"/>
                <a:cs typeface="Calibri" pitchFamily="34" charset="-120"/>
              </a:rPr>
              <a:t>Electrodes placed around the eyes detect changes in the electric field as the eye rotates. The voltage difference between electrode pairs is proportional to the angular displacement of the eye.</a:t>
            </a:r>
            <a:endParaRPr lang="en-US" sz="1733" dirty="0"/>
          </a:p>
        </p:txBody>
      </p:sp>
      <p:sp>
        <p:nvSpPr>
          <p:cNvPr id="29" name="Text 27"/>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4 / 32</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Types of Eye Movements</a:t>
            </a:r>
            <a:endParaRPr lang="en-US" sz="4267" dirty="0"/>
          </a:p>
        </p:txBody>
      </p:sp>
      <p:sp>
        <p:nvSpPr>
          <p:cNvPr id="5" name="Shape 3"/>
          <p:cNvSpPr/>
          <p:nvPr/>
        </p:nvSpPr>
        <p:spPr>
          <a:xfrm>
            <a:off x="609600" y="1463040"/>
            <a:ext cx="97536" cy="1158240"/>
          </a:xfrm>
          <a:prstGeom prst="rect">
            <a:avLst/>
          </a:prstGeom>
          <a:solidFill>
            <a:srgbClr val="F76902"/>
          </a:solidFill>
          <a:ln/>
        </p:spPr>
        <p:txBody>
          <a:bodyPr/>
          <a:lstStyle/>
          <a:p>
            <a:endParaRPr lang="en-US" sz="2400"/>
          </a:p>
        </p:txBody>
      </p:sp>
      <p:sp>
        <p:nvSpPr>
          <p:cNvPr id="6" name="Shape 4"/>
          <p:cNvSpPr/>
          <p:nvPr/>
        </p:nvSpPr>
        <p:spPr>
          <a:xfrm>
            <a:off x="707136" y="1463040"/>
            <a:ext cx="10972800" cy="1158240"/>
          </a:xfrm>
          <a:prstGeom prst="rect">
            <a:avLst/>
          </a:prstGeom>
          <a:solidFill>
            <a:srgbClr val="F5F5F5"/>
          </a:solidFill>
          <a:ln/>
        </p:spPr>
        <p:txBody>
          <a:bodyPr/>
          <a:lstStyle/>
          <a:p>
            <a:endParaRPr lang="en-US" sz="2400"/>
          </a:p>
        </p:txBody>
      </p:sp>
      <p:sp>
        <p:nvSpPr>
          <p:cNvPr id="7" name="Text 5"/>
          <p:cNvSpPr/>
          <p:nvPr/>
        </p:nvSpPr>
        <p:spPr>
          <a:xfrm>
            <a:off x="914400" y="1584960"/>
            <a:ext cx="2438400" cy="426720"/>
          </a:xfrm>
          <a:prstGeom prst="rect">
            <a:avLst/>
          </a:prstGeom>
          <a:noFill/>
          <a:ln/>
        </p:spPr>
        <p:txBody>
          <a:bodyPr wrap="square" rtlCol="0" anchor="ctr"/>
          <a:lstStyle/>
          <a:p>
            <a:r>
              <a:rPr lang="en-US" sz="2133" b="1" dirty="0">
                <a:solidFill>
                  <a:srgbClr val="1A1A1A"/>
                </a:solidFill>
                <a:latin typeface="Calibri" pitchFamily="34" charset="0"/>
                <a:ea typeface="Calibri" pitchFamily="34" charset="-122"/>
                <a:cs typeface="Calibri" pitchFamily="34" charset="-120"/>
              </a:rPr>
              <a:t>Saccades</a:t>
            </a:r>
            <a:endParaRPr lang="en-US" sz="2133" dirty="0"/>
          </a:p>
        </p:txBody>
      </p:sp>
      <p:sp>
        <p:nvSpPr>
          <p:cNvPr id="8" name="Text 6"/>
          <p:cNvSpPr/>
          <p:nvPr/>
        </p:nvSpPr>
        <p:spPr>
          <a:xfrm>
            <a:off x="3413760" y="158496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Speed: 30-500°/s</a:t>
            </a:r>
            <a:endParaRPr lang="en-US" sz="1467" dirty="0"/>
          </a:p>
        </p:txBody>
      </p:sp>
      <p:sp>
        <p:nvSpPr>
          <p:cNvPr id="9" name="Text 7"/>
          <p:cNvSpPr/>
          <p:nvPr/>
        </p:nvSpPr>
        <p:spPr>
          <a:xfrm>
            <a:off x="5608320" y="158496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Duration: 20-200 ms</a:t>
            </a:r>
            <a:endParaRPr lang="en-US" sz="1467" dirty="0"/>
          </a:p>
        </p:txBody>
      </p:sp>
      <p:sp>
        <p:nvSpPr>
          <p:cNvPr id="10" name="Text 8"/>
          <p:cNvSpPr/>
          <p:nvPr/>
        </p:nvSpPr>
        <p:spPr>
          <a:xfrm>
            <a:off x="914400" y="2072640"/>
            <a:ext cx="103632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Rapid, ballistic movements between fixation points</a:t>
            </a:r>
            <a:endParaRPr lang="en-US" sz="1733" dirty="0"/>
          </a:p>
        </p:txBody>
      </p:sp>
      <p:sp>
        <p:nvSpPr>
          <p:cNvPr id="11" name="Shape 9"/>
          <p:cNvSpPr/>
          <p:nvPr/>
        </p:nvSpPr>
        <p:spPr>
          <a:xfrm>
            <a:off x="609600" y="2743200"/>
            <a:ext cx="97536" cy="1158240"/>
          </a:xfrm>
          <a:prstGeom prst="rect">
            <a:avLst/>
          </a:prstGeom>
          <a:solidFill>
            <a:srgbClr val="513127"/>
          </a:solidFill>
          <a:ln/>
        </p:spPr>
        <p:txBody>
          <a:bodyPr/>
          <a:lstStyle/>
          <a:p>
            <a:endParaRPr lang="en-US" sz="2400"/>
          </a:p>
        </p:txBody>
      </p:sp>
      <p:sp>
        <p:nvSpPr>
          <p:cNvPr id="12" name="Shape 10"/>
          <p:cNvSpPr/>
          <p:nvPr/>
        </p:nvSpPr>
        <p:spPr>
          <a:xfrm>
            <a:off x="707136" y="2743200"/>
            <a:ext cx="10972800" cy="1158240"/>
          </a:xfrm>
          <a:prstGeom prst="rect">
            <a:avLst/>
          </a:prstGeom>
          <a:solidFill>
            <a:srgbClr val="F5F5F5"/>
          </a:solidFill>
          <a:ln/>
        </p:spPr>
        <p:txBody>
          <a:bodyPr/>
          <a:lstStyle/>
          <a:p>
            <a:endParaRPr lang="en-US" sz="2400"/>
          </a:p>
        </p:txBody>
      </p:sp>
      <p:sp>
        <p:nvSpPr>
          <p:cNvPr id="13" name="Text 11"/>
          <p:cNvSpPr/>
          <p:nvPr/>
        </p:nvSpPr>
        <p:spPr>
          <a:xfrm>
            <a:off x="914400" y="2865120"/>
            <a:ext cx="2438400" cy="426720"/>
          </a:xfrm>
          <a:prstGeom prst="rect">
            <a:avLst/>
          </a:prstGeom>
          <a:noFill/>
          <a:ln/>
        </p:spPr>
        <p:txBody>
          <a:bodyPr wrap="square" rtlCol="0" anchor="ctr"/>
          <a:lstStyle/>
          <a:p>
            <a:r>
              <a:rPr lang="en-US" sz="2133" b="1" dirty="0">
                <a:solidFill>
                  <a:srgbClr val="1A1A1A"/>
                </a:solidFill>
                <a:latin typeface="Calibri" pitchFamily="34" charset="0"/>
                <a:ea typeface="Calibri" pitchFamily="34" charset="-122"/>
                <a:cs typeface="Calibri" pitchFamily="34" charset="-120"/>
              </a:rPr>
              <a:t>Fixations</a:t>
            </a:r>
            <a:endParaRPr lang="en-US" sz="2133" dirty="0"/>
          </a:p>
        </p:txBody>
      </p:sp>
      <p:sp>
        <p:nvSpPr>
          <p:cNvPr id="14" name="Text 12"/>
          <p:cNvSpPr/>
          <p:nvPr/>
        </p:nvSpPr>
        <p:spPr>
          <a:xfrm>
            <a:off x="3413760" y="286512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Speed: &lt; 1°/s</a:t>
            </a:r>
            <a:endParaRPr lang="en-US" sz="1467" dirty="0"/>
          </a:p>
        </p:txBody>
      </p:sp>
      <p:sp>
        <p:nvSpPr>
          <p:cNvPr id="15" name="Text 13"/>
          <p:cNvSpPr/>
          <p:nvPr/>
        </p:nvSpPr>
        <p:spPr>
          <a:xfrm>
            <a:off x="5608320" y="286512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Duration: 200-600 ms</a:t>
            </a:r>
            <a:endParaRPr lang="en-US" sz="1467" dirty="0"/>
          </a:p>
        </p:txBody>
      </p:sp>
      <p:sp>
        <p:nvSpPr>
          <p:cNvPr id="16" name="Text 14"/>
          <p:cNvSpPr/>
          <p:nvPr/>
        </p:nvSpPr>
        <p:spPr>
          <a:xfrm>
            <a:off x="914400" y="3352800"/>
            <a:ext cx="103632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Stable gaze on a target with micro-movements</a:t>
            </a:r>
            <a:endParaRPr lang="en-US" sz="1733" dirty="0"/>
          </a:p>
        </p:txBody>
      </p:sp>
      <p:sp>
        <p:nvSpPr>
          <p:cNvPr id="17" name="Shape 15"/>
          <p:cNvSpPr/>
          <p:nvPr/>
        </p:nvSpPr>
        <p:spPr>
          <a:xfrm>
            <a:off x="609600" y="4023360"/>
            <a:ext cx="97536" cy="1158240"/>
          </a:xfrm>
          <a:prstGeom prst="rect">
            <a:avLst/>
          </a:prstGeom>
          <a:solidFill>
            <a:srgbClr val="F76902"/>
          </a:solidFill>
          <a:ln/>
        </p:spPr>
        <p:txBody>
          <a:bodyPr/>
          <a:lstStyle/>
          <a:p>
            <a:endParaRPr lang="en-US" sz="2400"/>
          </a:p>
        </p:txBody>
      </p:sp>
      <p:sp>
        <p:nvSpPr>
          <p:cNvPr id="18" name="Shape 16"/>
          <p:cNvSpPr/>
          <p:nvPr/>
        </p:nvSpPr>
        <p:spPr>
          <a:xfrm>
            <a:off x="707136" y="4023360"/>
            <a:ext cx="10972800" cy="1158240"/>
          </a:xfrm>
          <a:prstGeom prst="rect">
            <a:avLst/>
          </a:prstGeom>
          <a:solidFill>
            <a:srgbClr val="F5F5F5"/>
          </a:solidFill>
          <a:ln/>
        </p:spPr>
        <p:txBody>
          <a:bodyPr/>
          <a:lstStyle/>
          <a:p>
            <a:endParaRPr lang="en-US" sz="2400"/>
          </a:p>
        </p:txBody>
      </p:sp>
      <p:sp>
        <p:nvSpPr>
          <p:cNvPr id="19" name="Text 17"/>
          <p:cNvSpPr/>
          <p:nvPr/>
        </p:nvSpPr>
        <p:spPr>
          <a:xfrm>
            <a:off x="914400" y="4145280"/>
            <a:ext cx="2438400" cy="426720"/>
          </a:xfrm>
          <a:prstGeom prst="rect">
            <a:avLst/>
          </a:prstGeom>
          <a:noFill/>
          <a:ln/>
        </p:spPr>
        <p:txBody>
          <a:bodyPr wrap="square" rtlCol="0" anchor="ctr"/>
          <a:lstStyle/>
          <a:p>
            <a:r>
              <a:rPr lang="en-US" sz="2133" b="1" dirty="0">
                <a:solidFill>
                  <a:srgbClr val="1A1A1A"/>
                </a:solidFill>
                <a:latin typeface="Calibri" pitchFamily="34" charset="0"/>
                <a:ea typeface="Calibri" pitchFamily="34" charset="-122"/>
                <a:cs typeface="Calibri" pitchFamily="34" charset="-120"/>
              </a:rPr>
              <a:t>Smooth Pursuit</a:t>
            </a:r>
            <a:endParaRPr lang="en-US" sz="2133" dirty="0"/>
          </a:p>
        </p:txBody>
      </p:sp>
      <p:sp>
        <p:nvSpPr>
          <p:cNvPr id="20" name="Text 18"/>
          <p:cNvSpPr/>
          <p:nvPr/>
        </p:nvSpPr>
        <p:spPr>
          <a:xfrm>
            <a:off x="3413760" y="414528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Speed: 10-30°/s</a:t>
            </a:r>
            <a:endParaRPr lang="en-US" sz="1467" dirty="0"/>
          </a:p>
        </p:txBody>
      </p:sp>
      <p:sp>
        <p:nvSpPr>
          <p:cNvPr id="21" name="Text 19"/>
          <p:cNvSpPr/>
          <p:nvPr/>
        </p:nvSpPr>
        <p:spPr>
          <a:xfrm>
            <a:off x="5608320" y="414528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Duration: Variable</a:t>
            </a:r>
            <a:endParaRPr lang="en-US" sz="1467" dirty="0"/>
          </a:p>
        </p:txBody>
      </p:sp>
      <p:sp>
        <p:nvSpPr>
          <p:cNvPr id="22" name="Text 20"/>
          <p:cNvSpPr/>
          <p:nvPr/>
        </p:nvSpPr>
        <p:spPr>
          <a:xfrm>
            <a:off x="914400" y="4632960"/>
            <a:ext cx="103632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Slow tracking of moving objects</a:t>
            </a:r>
            <a:endParaRPr lang="en-US" sz="1733" dirty="0"/>
          </a:p>
        </p:txBody>
      </p:sp>
      <p:sp>
        <p:nvSpPr>
          <p:cNvPr id="23" name="Shape 21"/>
          <p:cNvSpPr/>
          <p:nvPr/>
        </p:nvSpPr>
        <p:spPr>
          <a:xfrm>
            <a:off x="609600" y="5303520"/>
            <a:ext cx="97536" cy="1158240"/>
          </a:xfrm>
          <a:prstGeom prst="rect">
            <a:avLst/>
          </a:prstGeom>
          <a:solidFill>
            <a:srgbClr val="D32F2F"/>
          </a:solidFill>
          <a:ln/>
        </p:spPr>
        <p:txBody>
          <a:bodyPr/>
          <a:lstStyle/>
          <a:p>
            <a:endParaRPr lang="en-US" sz="2400"/>
          </a:p>
        </p:txBody>
      </p:sp>
      <p:sp>
        <p:nvSpPr>
          <p:cNvPr id="24" name="Shape 22"/>
          <p:cNvSpPr/>
          <p:nvPr/>
        </p:nvSpPr>
        <p:spPr>
          <a:xfrm>
            <a:off x="707136" y="5303520"/>
            <a:ext cx="10972800" cy="1158240"/>
          </a:xfrm>
          <a:prstGeom prst="rect">
            <a:avLst/>
          </a:prstGeom>
          <a:solidFill>
            <a:srgbClr val="F5F5F5"/>
          </a:solidFill>
          <a:ln/>
        </p:spPr>
        <p:txBody>
          <a:bodyPr/>
          <a:lstStyle/>
          <a:p>
            <a:endParaRPr lang="en-US" sz="2400"/>
          </a:p>
        </p:txBody>
      </p:sp>
      <p:sp>
        <p:nvSpPr>
          <p:cNvPr id="25" name="Text 23"/>
          <p:cNvSpPr/>
          <p:nvPr/>
        </p:nvSpPr>
        <p:spPr>
          <a:xfrm>
            <a:off x="914400" y="5425440"/>
            <a:ext cx="2438400" cy="426720"/>
          </a:xfrm>
          <a:prstGeom prst="rect">
            <a:avLst/>
          </a:prstGeom>
          <a:noFill/>
          <a:ln/>
        </p:spPr>
        <p:txBody>
          <a:bodyPr wrap="square" rtlCol="0" anchor="ctr"/>
          <a:lstStyle/>
          <a:p>
            <a:r>
              <a:rPr lang="en-US" sz="2133" b="1" dirty="0">
                <a:solidFill>
                  <a:srgbClr val="1A1A1A"/>
                </a:solidFill>
                <a:latin typeface="Calibri" pitchFamily="34" charset="0"/>
                <a:ea typeface="Calibri" pitchFamily="34" charset="-122"/>
                <a:cs typeface="Calibri" pitchFamily="34" charset="-120"/>
              </a:rPr>
              <a:t>Blinks</a:t>
            </a:r>
            <a:endParaRPr lang="en-US" sz="2133" dirty="0"/>
          </a:p>
        </p:txBody>
      </p:sp>
      <p:sp>
        <p:nvSpPr>
          <p:cNvPr id="26" name="Text 24"/>
          <p:cNvSpPr/>
          <p:nvPr/>
        </p:nvSpPr>
        <p:spPr>
          <a:xfrm>
            <a:off x="3413760" y="542544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Speed: N/A</a:t>
            </a:r>
            <a:endParaRPr lang="en-US" sz="1467" dirty="0"/>
          </a:p>
        </p:txBody>
      </p:sp>
      <p:sp>
        <p:nvSpPr>
          <p:cNvPr id="27" name="Text 25"/>
          <p:cNvSpPr/>
          <p:nvPr/>
        </p:nvSpPr>
        <p:spPr>
          <a:xfrm>
            <a:off x="5608320" y="5425440"/>
            <a:ext cx="2194560" cy="426720"/>
          </a:xfrm>
          <a:prstGeom prst="rect">
            <a:avLst/>
          </a:prstGeom>
          <a:noFill/>
          <a:ln/>
        </p:spPr>
        <p:txBody>
          <a:bodyPr wrap="square" rtlCol="0" anchor="ctr"/>
          <a:lstStyle/>
          <a:p>
            <a:r>
              <a:rPr lang="en-US" sz="1467" dirty="0">
                <a:solidFill>
                  <a:srgbClr val="666666"/>
                </a:solidFill>
                <a:latin typeface="Calibri" pitchFamily="34" charset="0"/>
                <a:ea typeface="Calibri" pitchFamily="34" charset="-122"/>
                <a:cs typeface="Calibri" pitchFamily="34" charset="-120"/>
              </a:rPr>
              <a:t>Duration: 100-400 ms</a:t>
            </a:r>
            <a:endParaRPr lang="en-US" sz="1467" dirty="0"/>
          </a:p>
        </p:txBody>
      </p:sp>
      <p:sp>
        <p:nvSpPr>
          <p:cNvPr id="28" name="Text 26"/>
          <p:cNvSpPr/>
          <p:nvPr/>
        </p:nvSpPr>
        <p:spPr>
          <a:xfrm>
            <a:off x="914400" y="5913120"/>
            <a:ext cx="103632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Eyelid closure, creates large VEOG artifact</a:t>
            </a:r>
            <a:endParaRPr lang="en-US" sz="1733" dirty="0"/>
          </a:p>
        </p:txBody>
      </p:sp>
      <p:sp>
        <p:nvSpPr>
          <p:cNvPr id="29" name="Text 27"/>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5 / 32</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EOG Electrode Placement</a:t>
            </a:r>
            <a:endParaRPr lang="en-US" sz="4267" dirty="0"/>
          </a:p>
        </p:txBody>
      </p:sp>
      <p:sp>
        <p:nvSpPr>
          <p:cNvPr id="5" name="Text 3"/>
          <p:cNvSpPr/>
          <p:nvPr/>
        </p:nvSpPr>
        <p:spPr>
          <a:xfrm>
            <a:off x="609600" y="1219200"/>
            <a:ext cx="10972800" cy="426720"/>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Standard 2-Channel Bipolar Configuration</a:t>
            </a:r>
            <a:endParaRPr lang="en-US" sz="2133" dirty="0"/>
          </a:p>
        </p:txBody>
      </p:sp>
      <p:sp>
        <p:nvSpPr>
          <p:cNvPr id="6" name="Shape 4"/>
          <p:cNvSpPr/>
          <p:nvPr/>
        </p:nvSpPr>
        <p:spPr>
          <a:xfrm>
            <a:off x="609600" y="1828800"/>
            <a:ext cx="5364480" cy="28041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7" name="Shape 5"/>
          <p:cNvSpPr/>
          <p:nvPr/>
        </p:nvSpPr>
        <p:spPr>
          <a:xfrm>
            <a:off x="609600" y="1828800"/>
            <a:ext cx="5364480" cy="548640"/>
          </a:xfrm>
          <a:prstGeom prst="rect">
            <a:avLst/>
          </a:prstGeom>
          <a:solidFill>
            <a:srgbClr val="513127"/>
          </a:solidFill>
          <a:ln/>
        </p:spPr>
        <p:txBody>
          <a:bodyPr/>
          <a:lstStyle/>
          <a:p>
            <a:endParaRPr lang="en-US" sz="2400"/>
          </a:p>
        </p:txBody>
      </p:sp>
      <p:sp>
        <p:nvSpPr>
          <p:cNvPr id="8" name="Text 6"/>
          <p:cNvSpPr/>
          <p:nvPr/>
        </p:nvSpPr>
        <p:spPr>
          <a:xfrm>
            <a:off x="731520" y="1889760"/>
            <a:ext cx="5120640" cy="42672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Channel 1: Horizontal EOG (HEOG)</a:t>
            </a:r>
            <a:endParaRPr lang="en-US" sz="1733" dirty="0"/>
          </a:p>
        </p:txBody>
      </p:sp>
      <p:sp>
        <p:nvSpPr>
          <p:cNvPr id="9" name="Text 7"/>
          <p:cNvSpPr/>
          <p:nvPr/>
        </p:nvSpPr>
        <p:spPr>
          <a:xfrm>
            <a:off x="853440" y="2499360"/>
            <a:ext cx="4998720" cy="1950720"/>
          </a:xfrm>
          <a:prstGeom prst="rect">
            <a:avLst/>
          </a:prstGeom>
          <a:noFill/>
          <a:ln/>
        </p:spPr>
        <p:txBody>
          <a:bodyPr wrap="square" rtlCol="0" anchor="ctr"/>
          <a:lstStyle/>
          <a:p>
            <a:r>
              <a:rPr lang="en-US" sz="1733" b="1" dirty="0">
                <a:solidFill>
                  <a:srgbClr val="1A1A1A"/>
                </a:solidFill>
                <a:latin typeface="Calibri" pitchFamily="34" charset="0"/>
                <a:ea typeface="Calibri" pitchFamily="34" charset="-122"/>
                <a:cs typeface="Calibri" pitchFamily="34" charset="-120"/>
              </a:rPr>
              <a:t>Electrode placement:</a:t>
            </a:r>
            <a:endParaRPr lang="en-US" sz="1733" dirty="0"/>
          </a:p>
          <a:p>
            <a:r>
              <a:rPr lang="en-US" sz="1733" dirty="0">
                <a:solidFill>
                  <a:srgbClr val="1A1A1A"/>
                </a:solidFill>
                <a:latin typeface="Calibri" pitchFamily="34" charset="0"/>
                <a:ea typeface="Calibri" pitchFamily="34" charset="-122"/>
                <a:cs typeface="Calibri" pitchFamily="34" charset="-120"/>
              </a:rPr>
              <a:t>• Right outer canthus (+)</a:t>
            </a:r>
            <a:endParaRPr lang="en-US" sz="1733" dirty="0"/>
          </a:p>
          <a:p>
            <a:r>
              <a:rPr lang="en-US" sz="1733" dirty="0">
                <a:solidFill>
                  <a:srgbClr val="1A1A1A"/>
                </a:solidFill>
                <a:latin typeface="Calibri" pitchFamily="34" charset="0"/>
                <a:ea typeface="Calibri" pitchFamily="34" charset="-122"/>
                <a:cs typeface="Calibri" pitchFamily="34" charset="-120"/>
              </a:rPr>
              <a:t>• Left outer canthus (−)</a:t>
            </a:r>
            <a:endParaRPr lang="en-US" sz="1733" dirty="0"/>
          </a:p>
          <a:p>
            <a:endParaRPr lang="en-US" sz="1733" dirty="0"/>
          </a:p>
          <a:p>
            <a:r>
              <a:rPr lang="en-US" sz="1733" b="1" dirty="0">
                <a:solidFill>
                  <a:srgbClr val="1A1A1A"/>
                </a:solidFill>
                <a:latin typeface="Calibri" pitchFamily="34" charset="0"/>
                <a:ea typeface="Calibri" pitchFamily="34" charset="-122"/>
                <a:cs typeface="Calibri" pitchFamily="34" charset="-120"/>
              </a:rPr>
              <a:t>Detects: Left/Right eye movements</a:t>
            </a:r>
            <a:endParaRPr lang="en-US" sz="1733" dirty="0"/>
          </a:p>
        </p:txBody>
      </p:sp>
      <p:sp>
        <p:nvSpPr>
          <p:cNvPr id="10" name="Shape 8"/>
          <p:cNvSpPr/>
          <p:nvPr/>
        </p:nvSpPr>
        <p:spPr>
          <a:xfrm>
            <a:off x="6217920" y="1828800"/>
            <a:ext cx="5364480" cy="28041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1" name="Shape 9"/>
          <p:cNvSpPr/>
          <p:nvPr/>
        </p:nvSpPr>
        <p:spPr>
          <a:xfrm>
            <a:off x="6217920" y="1828800"/>
            <a:ext cx="5364480" cy="548640"/>
          </a:xfrm>
          <a:prstGeom prst="rect">
            <a:avLst/>
          </a:prstGeom>
          <a:solidFill>
            <a:srgbClr val="F76902"/>
          </a:solidFill>
          <a:ln/>
        </p:spPr>
        <p:txBody>
          <a:bodyPr/>
          <a:lstStyle/>
          <a:p>
            <a:endParaRPr lang="en-US" sz="2400"/>
          </a:p>
        </p:txBody>
      </p:sp>
      <p:sp>
        <p:nvSpPr>
          <p:cNvPr id="12" name="Text 10"/>
          <p:cNvSpPr/>
          <p:nvPr/>
        </p:nvSpPr>
        <p:spPr>
          <a:xfrm>
            <a:off x="6339840" y="1889760"/>
            <a:ext cx="5120640" cy="42672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Channel 2: Vertical EOG (VEOG)</a:t>
            </a:r>
            <a:endParaRPr lang="en-US" sz="1733" dirty="0"/>
          </a:p>
        </p:txBody>
      </p:sp>
      <p:sp>
        <p:nvSpPr>
          <p:cNvPr id="13" name="Text 11"/>
          <p:cNvSpPr/>
          <p:nvPr/>
        </p:nvSpPr>
        <p:spPr>
          <a:xfrm>
            <a:off x="6461760" y="2499360"/>
            <a:ext cx="4998720" cy="1950720"/>
          </a:xfrm>
          <a:prstGeom prst="rect">
            <a:avLst/>
          </a:prstGeom>
          <a:noFill/>
          <a:ln/>
        </p:spPr>
        <p:txBody>
          <a:bodyPr wrap="square" rtlCol="0" anchor="ctr"/>
          <a:lstStyle/>
          <a:p>
            <a:r>
              <a:rPr lang="en-US" sz="1733" b="1" dirty="0">
                <a:solidFill>
                  <a:srgbClr val="1A1A1A"/>
                </a:solidFill>
                <a:latin typeface="Calibri" pitchFamily="34" charset="0"/>
                <a:ea typeface="Calibri" pitchFamily="34" charset="-122"/>
                <a:cs typeface="Calibri" pitchFamily="34" charset="-120"/>
              </a:rPr>
              <a:t>Electrode placement:</a:t>
            </a:r>
            <a:endParaRPr lang="en-US" sz="1733" dirty="0"/>
          </a:p>
          <a:p>
            <a:r>
              <a:rPr lang="en-US" sz="1733" dirty="0">
                <a:solidFill>
                  <a:srgbClr val="1A1A1A"/>
                </a:solidFill>
                <a:latin typeface="Calibri" pitchFamily="34" charset="0"/>
                <a:ea typeface="Calibri" pitchFamily="34" charset="-122"/>
                <a:cs typeface="Calibri" pitchFamily="34" charset="-120"/>
              </a:rPr>
              <a:t>• Above right eye (+)</a:t>
            </a:r>
            <a:endParaRPr lang="en-US" sz="1733" dirty="0"/>
          </a:p>
          <a:p>
            <a:r>
              <a:rPr lang="en-US" sz="1733" dirty="0">
                <a:solidFill>
                  <a:srgbClr val="1A1A1A"/>
                </a:solidFill>
                <a:latin typeface="Calibri" pitchFamily="34" charset="0"/>
                <a:ea typeface="Calibri" pitchFamily="34" charset="-122"/>
                <a:cs typeface="Calibri" pitchFamily="34" charset="-120"/>
              </a:rPr>
              <a:t>• Below right eye (−)</a:t>
            </a:r>
            <a:endParaRPr lang="en-US" sz="1733" dirty="0"/>
          </a:p>
          <a:p>
            <a:endParaRPr lang="en-US" sz="1733" dirty="0"/>
          </a:p>
          <a:p>
            <a:r>
              <a:rPr lang="en-US" sz="1733" b="1" dirty="0">
                <a:solidFill>
                  <a:srgbClr val="1A1A1A"/>
                </a:solidFill>
                <a:latin typeface="Calibri" pitchFamily="34" charset="0"/>
                <a:ea typeface="Calibri" pitchFamily="34" charset="-122"/>
                <a:cs typeface="Calibri" pitchFamily="34" charset="-120"/>
              </a:rPr>
              <a:t>Detects: Up/Down movements + Blinks</a:t>
            </a:r>
            <a:endParaRPr lang="en-US" sz="1733" dirty="0"/>
          </a:p>
        </p:txBody>
      </p:sp>
      <p:sp>
        <p:nvSpPr>
          <p:cNvPr id="14" name="Shape 12"/>
          <p:cNvSpPr/>
          <p:nvPr/>
        </p:nvSpPr>
        <p:spPr>
          <a:xfrm>
            <a:off x="609600" y="4815840"/>
            <a:ext cx="10972800" cy="853440"/>
          </a:xfrm>
          <a:prstGeom prst="rect">
            <a:avLst/>
          </a:prstGeom>
          <a:solidFill>
            <a:srgbClr val="1A1A1A"/>
          </a:solidFill>
          <a:ln/>
        </p:spPr>
        <p:txBody>
          <a:bodyPr/>
          <a:lstStyle/>
          <a:p>
            <a:endParaRPr lang="en-US" sz="2400"/>
          </a:p>
        </p:txBody>
      </p:sp>
      <p:sp>
        <p:nvSpPr>
          <p:cNvPr id="15" name="Text 13"/>
          <p:cNvSpPr/>
          <p:nvPr/>
        </p:nvSpPr>
        <p:spPr>
          <a:xfrm>
            <a:off x="853440" y="4937760"/>
            <a:ext cx="2438400" cy="60960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Ground Electrode:</a:t>
            </a:r>
            <a:endParaRPr lang="en-US" sz="1733" dirty="0"/>
          </a:p>
        </p:txBody>
      </p:sp>
      <p:sp>
        <p:nvSpPr>
          <p:cNvPr id="16" name="Text 14"/>
          <p:cNvSpPr/>
          <p:nvPr/>
        </p:nvSpPr>
        <p:spPr>
          <a:xfrm>
            <a:off x="3291840" y="4937760"/>
            <a:ext cx="7924800" cy="609600"/>
          </a:xfrm>
          <a:prstGeom prst="rect">
            <a:avLst/>
          </a:prstGeom>
          <a:noFill/>
          <a:ln/>
        </p:spPr>
        <p:txBody>
          <a:bodyPr wrap="square" rtlCol="0" anchor="ctr"/>
          <a:lstStyle/>
          <a:p>
            <a:r>
              <a:rPr lang="en-US" sz="1733" dirty="0">
                <a:solidFill>
                  <a:srgbClr val="FFFFFF"/>
                </a:solidFill>
                <a:latin typeface="Calibri" pitchFamily="34" charset="0"/>
                <a:ea typeface="Calibri" pitchFamily="34" charset="-122"/>
                <a:cs typeface="Calibri" pitchFamily="34" charset="-120"/>
              </a:rPr>
              <a:t>Center of forehead or behind ear (mastoid) - provides stable reference potential</a:t>
            </a:r>
            <a:endParaRPr lang="en-US" sz="1733" dirty="0"/>
          </a:p>
        </p:txBody>
      </p:sp>
      <p:sp>
        <p:nvSpPr>
          <p:cNvPr id="17" name="Shape 15"/>
          <p:cNvSpPr/>
          <p:nvPr/>
        </p:nvSpPr>
        <p:spPr>
          <a:xfrm>
            <a:off x="4267200" y="5852160"/>
            <a:ext cx="3657600" cy="853440"/>
          </a:xfrm>
          <a:prstGeom prst="ellipse">
            <a:avLst/>
          </a:prstGeom>
          <a:solidFill>
            <a:srgbClr val="F5F5F5"/>
          </a:solidFill>
          <a:ln w="12700">
            <a:solidFill>
              <a:srgbClr val="666666"/>
            </a:solidFill>
            <a:prstDash val="solid"/>
          </a:ln>
        </p:spPr>
        <p:txBody>
          <a:bodyPr/>
          <a:lstStyle/>
          <a:p>
            <a:endParaRPr lang="en-US" sz="2400"/>
          </a:p>
        </p:txBody>
      </p:sp>
      <p:sp>
        <p:nvSpPr>
          <p:cNvPr id="18" name="Text 16"/>
          <p:cNvSpPr/>
          <p:nvPr/>
        </p:nvSpPr>
        <p:spPr>
          <a:xfrm>
            <a:off x="4267200" y="5974080"/>
            <a:ext cx="3657600" cy="609600"/>
          </a:xfrm>
          <a:prstGeom prst="rect">
            <a:avLst/>
          </a:prstGeom>
          <a:noFill/>
          <a:ln/>
        </p:spPr>
        <p:txBody>
          <a:bodyPr wrap="square" rtlCol="0" anchor="ctr"/>
          <a:lstStyle/>
          <a:p>
            <a:pPr algn="ctr"/>
            <a:r>
              <a:rPr lang="en-US" sz="1333" dirty="0">
                <a:solidFill>
                  <a:srgbClr val="666666"/>
                </a:solidFill>
                <a:latin typeface="Calibri" pitchFamily="34" charset="0"/>
                <a:ea typeface="Calibri" pitchFamily="34" charset="-122"/>
                <a:cs typeface="Calibri" pitchFamily="34" charset="-120"/>
              </a:rPr>
              <a:t>Face Diagram (see lab handout for detailed placement)</a:t>
            </a:r>
            <a:endParaRPr lang="en-US" sz="1333" dirty="0"/>
          </a:p>
        </p:txBody>
      </p:sp>
      <p:sp>
        <p:nvSpPr>
          <p:cNvPr id="19" name="Text 17"/>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7 / 32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F76902"/>
          </a:solidFill>
          <a:ln/>
        </p:spPr>
        <p:txBody>
          <a:bodyPr/>
          <a:lstStyle/>
          <a:p>
            <a:endParaRPr lang="en-US" sz="2400"/>
          </a:p>
        </p:txBody>
      </p:sp>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HEOG vs VEOG Signal Patterns</a:t>
            </a:r>
            <a:endParaRPr lang="en-US" sz="4267" dirty="0"/>
          </a:p>
        </p:txBody>
      </p:sp>
      <p:sp>
        <p:nvSpPr>
          <p:cNvPr id="5" name="Shape 3"/>
          <p:cNvSpPr/>
          <p:nvPr/>
        </p:nvSpPr>
        <p:spPr>
          <a:xfrm>
            <a:off x="609600" y="1463040"/>
            <a:ext cx="10972800" cy="609600"/>
          </a:xfrm>
          <a:prstGeom prst="rect">
            <a:avLst/>
          </a:prstGeom>
          <a:solidFill>
            <a:srgbClr val="1A1A1A"/>
          </a:solidFill>
          <a:ln/>
        </p:spPr>
        <p:txBody>
          <a:bodyPr/>
          <a:lstStyle/>
          <a:p>
            <a:endParaRPr lang="en-US" sz="2400"/>
          </a:p>
        </p:txBody>
      </p:sp>
      <p:sp>
        <p:nvSpPr>
          <p:cNvPr id="6" name="Text 4"/>
          <p:cNvSpPr/>
          <p:nvPr/>
        </p:nvSpPr>
        <p:spPr>
          <a:xfrm>
            <a:off x="731520" y="1524000"/>
            <a:ext cx="3048000" cy="48768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Gaze Direction</a:t>
            </a:r>
            <a:endParaRPr lang="en-US" sz="1733" dirty="0"/>
          </a:p>
        </p:txBody>
      </p:sp>
      <p:sp>
        <p:nvSpPr>
          <p:cNvPr id="7" name="Text 5"/>
          <p:cNvSpPr/>
          <p:nvPr/>
        </p:nvSpPr>
        <p:spPr>
          <a:xfrm>
            <a:off x="3901440" y="1524000"/>
            <a:ext cx="3413760" cy="48768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HEOG Response</a:t>
            </a:r>
            <a:endParaRPr lang="en-US" sz="1733" dirty="0"/>
          </a:p>
        </p:txBody>
      </p:sp>
      <p:sp>
        <p:nvSpPr>
          <p:cNvPr id="8" name="Text 6"/>
          <p:cNvSpPr/>
          <p:nvPr/>
        </p:nvSpPr>
        <p:spPr>
          <a:xfrm>
            <a:off x="7437120" y="1524000"/>
            <a:ext cx="3901440" cy="487680"/>
          </a:xfrm>
          <a:prstGeom prst="rect">
            <a:avLst/>
          </a:prstGeom>
          <a:noFill/>
          <a:ln/>
        </p:spPr>
        <p:txBody>
          <a:bodyPr wrap="square" rtlCol="0" anchor="ctr"/>
          <a:lstStyle/>
          <a:p>
            <a:pPr algn="ctr"/>
            <a:r>
              <a:rPr lang="en-US" sz="1733" b="1" dirty="0">
                <a:solidFill>
                  <a:srgbClr val="FFFFFF"/>
                </a:solidFill>
                <a:latin typeface="Calibri" pitchFamily="34" charset="0"/>
                <a:ea typeface="Calibri" pitchFamily="34" charset="-122"/>
                <a:cs typeface="Calibri" pitchFamily="34" charset="-120"/>
              </a:rPr>
              <a:t>VEOG Response</a:t>
            </a:r>
            <a:endParaRPr lang="en-US" sz="1733" dirty="0"/>
          </a:p>
        </p:txBody>
      </p:sp>
      <p:sp>
        <p:nvSpPr>
          <p:cNvPr id="9" name="Shape 7"/>
          <p:cNvSpPr/>
          <p:nvPr/>
        </p:nvSpPr>
        <p:spPr>
          <a:xfrm>
            <a:off x="609600" y="2072640"/>
            <a:ext cx="10972800" cy="670560"/>
          </a:xfrm>
          <a:prstGeom prst="rect">
            <a:avLst/>
          </a:prstGeom>
          <a:solidFill>
            <a:srgbClr val="F5F5F5"/>
          </a:solidFill>
          <a:ln/>
        </p:spPr>
        <p:txBody>
          <a:bodyPr/>
          <a:lstStyle/>
          <a:p>
            <a:endParaRPr lang="en-US" sz="2400"/>
          </a:p>
        </p:txBody>
      </p:sp>
      <p:sp>
        <p:nvSpPr>
          <p:cNvPr id="10" name="Text 8"/>
          <p:cNvSpPr/>
          <p:nvPr/>
        </p:nvSpPr>
        <p:spPr>
          <a:xfrm>
            <a:off x="731520" y="2170176"/>
            <a:ext cx="3048000" cy="48768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Look Right</a:t>
            </a:r>
            <a:endParaRPr lang="en-US" sz="1733" dirty="0"/>
          </a:p>
        </p:txBody>
      </p:sp>
      <p:sp>
        <p:nvSpPr>
          <p:cNvPr id="11" name="Text 9"/>
          <p:cNvSpPr/>
          <p:nvPr/>
        </p:nvSpPr>
        <p:spPr>
          <a:xfrm>
            <a:off x="3901440" y="2170176"/>
            <a:ext cx="341376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Positive (+)</a:t>
            </a:r>
            <a:endParaRPr lang="en-US" sz="1733" dirty="0"/>
          </a:p>
        </p:txBody>
      </p:sp>
      <p:sp>
        <p:nvSpPr>
          <p:cNvPr id="12" name="Text 10"/>
          <p:cNvSpPr/>
          <p:nvPr/>
        </p:nvSpPr>
        <p:spPr>
          <a:xfrm>
            <a:off x="7437120" y="2170176"/>
            <a:ext cx="3901440" cy="487680"/>
          </a:xfrm>
          <a:prstGeom prst="rect">
            <a:avLst/>
          </a:prstGeom>
          <a:noFill/>
          <a:ln/>
        </p:spPr>
        <p:txBody>
          <a:bodyPr wrap="square" rtlCol="0" anchor="ctr"/>
          <a:lstStyle/>
          <a:p>
            <a:pPr algn="ctr"/>
            <a:r>
              <a:rPr lang="en-US" sz="1733" b="1" dirty="0">
                <a:solidFill>
                  <a:srgbClr val="666666"/>
                </a:solidFill>
                <a:latin typeface="Calibri" pitchFamily="34" charset="0"/>
                <a:ea typeface="Calibri" pitchFamily="34" charset="-122"/>
                <a:cs typeface="Calibri" pitchFamily="34" charset="-120"/>
              </a:rPr>
              <a:t>~Baseline</a:t>
            </a:r>
            <a:endParaRPr lang="en-US" sz="1733" dirty="0"/>
          </a:p>
        </p:txBody>
      </p:sp>
      <p:sp>
        <p:nvSpPr>
          <p:cNvPr id="13" name="Shape 11"/>
          <p:cNvSpPr/>
          <p:nvPr/>
        </p:nvSpPr>
        <p:spPr>
          <a:xfrm>
            <a:off x="609600" y="2743200"/>
            <a:ext cx="10972800" cy="670560"/>
          </a:xfrm>
          <a:prstGeom prst="rect">
            <a:avLst/>
          </a:prstGeom>
          <a:solidFill>
            <a:srgbClr val="FFFFFF"/>
          </a:solidFill>
          <a:ln/>
        </p:spPr>
        <p:txBody>
          <a:bodyPr/>
          <a:lstStyle/>
          <a:p>
            <a:endParaRPr lang="en-US" sz="2400"/>
          </a:p>
        </p:txBody>
      </p:sp>
      <p:sp>
        <p:nvSpPr>
          <p:cNvPr id="14" name="Text 12"/>
          <p:cNvSpPr/>
          <p:nvPr/>
        </p:nvSpPr>
        <p:spPr>
          <a:xfrm>
            <a:off x="731520" y="2840736"/>
            <a:ext cx="3048000" cy="48768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Look Left</a:t>
            </a:r>
            <a:endParaRPr lang="en-US" sz="1733" dirty="0"/>
          </a:p>
        </p:txBody>
      </p:sp>
      <p:sp>
        <p:nvSpPr>
          <p:cNvPr id="15" name="Text 13"/>
          <p:cNvSpPr/>
          <p:nvPr/>
        </p:nvSpPr>
        <p:spPr>
          <a:xfrm>
            <a:off x="3901440" y="2840736"/>
            <a:ext cx="3413760" cy="487680"/>
          </a:xfrm>
          <a:prstGeom prst="rect">
            <a:avLst/>
          </a:prstGeom>
          <a:noFill/>
          <a:ln/>
        </p:spPr>
        <p:txBody>
          <a:bodyPr wrap="square" rtlCol="0" anchor="ctr"/>
          <a:lstStyle/>
          <a:p>
            <a:pPr algn="ctr"/>
            <a:r>
              <a:rPr lang="en-US" sz="1733" b="1" dirty="0">
                <a:solidFill>
                  <a:srgbClr val="D32F2F"/>
                </a:solidFill>
                <a:latin typeface="Calibri" pitchFamily="34" charset="0"/>
                <a:ea typeface="Calibri" pitchFamily="34" charset="-122"/>
                <a:cs typeface="Calibri" pitchFamily="34" charset="-120"/>
              </a:rPr>
              <a:t>Negative (−)</a:t>
            </a:r>
            <a:endParaRPr lang="en-US" sz="1733" dirty="0"/>
          </a:p>
        </p:txBody>
      </p:sp>
      <p:sp>
        <p:nvSpPr>
          <p:cNvPr id="16" name="Text 14"/>
          <p:cNvSpPr/>
          <p:nvPr/>
        </p:nvSpPr>
        <p:spPr>
          <a:xfrm>
            <a:off x="7437120" y="2840736"/>
            <a:ext cx="3901440" cy="487680"/>
          </a:xfrm>
          <a:prstGeom prst="rect">
            <a:avLst/>
          </a:prstGeom>
          <a:noFill/>
          <a:ln/>
        </p:spPr>
        <p:txBody>
          <a:bodyPr wrap="square" rtlCol="0" anchor="ctr"/>
          <a:lstStyle/>
          <a:p>
            <a:pPr algn="ctr"/>
            <a:r>
              <a:rPr lang="en-US" sz="1733" b="1" dirty="0">
                <a:solidFill>
                  <a:srgbClr val="666666"/>
                </a:solidFill>
                <a:latin typeface="Calibri" pitchFamily="34" charset="0"/>
                <a:ea typeface="Calibri" pitchFamily="34" charset="-122"/>
                <a:cs typeface="Calibri" pitchFamily="34" charset="-120"/>
              </a:rPr>
              <a:t>~Baseline</a:t>
            </a:r>
            <a:endParaRPr lang="en-US" sz="1733" dirty="0"/>
          </a:p>
        </p:txBody>
      </p:sp>
      <p:sp>
        <p:nvSpPr>
          <p:cNvPr id="17" name="Shape 15"/>
          <p:cNvSpPr/>
          <p:nvPr/>
        </p:nvSpPr>
        <p:spPr>
          <a:xfrm>
            <a:off x="609600" y="3413760"/>
            <a:ext cx="10972800" cy="670560"/>
          </a:xfrm>
          <a:prstGeom prst="rect">
            <a:avLst/>
          </a:prstGeom>
          <a:solidFill>
            <a:srgbClr val="F5F5F5"/>
          </a:solidFill>
          <a:ln/>
        </p:spPr>
        <p:txBody>
          <a:bodyPr/>
          <a:lstStyle/>
          <a:p>
            <a:endParaRPr lang="en-US" sz="2400"/>
          </a:p>
        </p:txBody>
      </p:sp>
      <p:sp>
        <p:nvSpPr>
          <p:cNvPr id="18" name="Text 16"/>
          <p:cNvSpPr/>
          <p:nvPr/>
        </p:nvSpPr>
        <p:spPr>
          <a:xfrm>
            <a:off x="731520" y="3511296"/>
            <a:ext cx="3048000" cy="48768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Look Up</a:t>
            </a:r>
            <a:endParaRPr lang="en-US" sz="1733" dirty="0"/>
          </a:p>
        </p:txBody>
      </p:sp>
      <p:sp>
        <p:nvSpPr>
          <p:cNvPr id="19" name="Text 17"/>
          <p:cNvSpPr/>
          <p:nvPr/>
        </p:nvSpPr>
        <p:spPr>
          <a:xfrm>
            <a:off x="3901440" y="3511296"/>
            <a:ext cx="3413760" cy="487680"/>
          </a:xfrm>
          <a:prstGeom prst="rect">
            <a:avLst/>
          </a:prstGeom>
          <a:noFill/>
          <a:ln/>
        </p:spPr>
        <p:txBody>
          <a:bodyPr wrap="square" rtlCol="0" anchor="ctr"/>
          <a:lstStyle/>
          <a:p>
            <a:pPr algn="ctr"/>
            <a:r>
              <a:rPr lang="en-US" sz="1733" b="1" dirty="0">
                <a:solidFill>
                  <a:srgbClr val="666666"/>
                </a:solidFill>
                <a:latin typeface="Calibri" pitchFamily="34" charset="0"/>
                <a:ea typeface="Calibri" pitchFamily="34" charset="-122"/>
                <a:cs typeface="Calibri" pitchFamily="34" charset="-120"/>
              </a:rPr>
              <a:t>~Baseline</a:t>
            </a:r>
            <a:endParaRPr lang="en-US" sz="1733" dirty="0"/>
          </a:p>
        </p:txBody>
      </p:sp>
      <p:sp>
        <p:nvSpPr>
          <p:cNvPr id="20" name="Text 18"/>
          <p:cNvSpPr/>
          <p:nvPr/>
        </p:nvSpPr>
        <p:spPr>
          <a:xfrm>
            <a:off x="7437120" y="3511296"/>
            <a:ext cx="390144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Positive (+)</a:t>
            </a:r>
            <a:endParaRPr lang="en-US" sz="1733" dirty="0"/>
          </a:p>
        </p:txBody>
      </p:sp>
      <p:sp>
        <p:nvSpPr>
          <p:cNvPr id="21" name="Shape 19"/>
          <p:cNvSpPr/>
          <p:nvPr/>
        </p:nvSpPr>
        <p:spPr>
          <a:xfrm>
            <a:off x="609600" y="4084320"/>
            <a:ext cx="10972800" cy="670560"/>
          </a:xfrm>
          <a:prstGeom prst="rect">
            <a:avLst/>
          </a:prstGeom>
          <a:solidFill>
            <a:srgbClr val="FFFFFF"/>
          </a:solidFill>
          <a:ln/>
        </p:spPr>
        <p:txBody>
          <a:bodyPr/>
          <a:lstStyle/>
          <a:p>
            <a:endParaRPr lang="en-US" sz="2400"/>
          </a:p>
        </p:txBody>
      </p:sp>
      <p:sp>
        <p:nvSpPr>
          <p:cNvPr id="22" name="Text 20"/>
          <p:cNvSpPr/>
          <p:nvPr/>
        </p:nvSpPr>
        <p:spPr>
          <a:xfrm>
            <a:off x="731520" y="4181856"/>
            <a:ext cx="3048000" cy="48768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Look Down</a:t>
            </a:r>
            <a:endParaRPr lang="en-US" sz="1733" dirty="0"/>
          </a:p>
        </p:txBody>
      </p:sp>
      <p:sp>
        <p:nvSpPr>
          <p:cNvPr id="23" name="Text 21"/>
          <p:cNvSpPr/>
          <p:nvPr/>
        </p:nvSpPr>
        <p:spPr>
          <a:xfrm>
            <a:off x="3901440" y="4181856"/>
            <a:ext cx="3413760" cy="487680"/>
          </a:xfrm>
          <a:prstGeom prst="rect">
            <a:avLst/>
          </a:prstGeom>
          <a:noFill/>
          <a:ln/>
        </p:spPr>
        <p:txBody>
          <a:bodyPr wrap="square" rtlCol="0" anchor="ctr"/>
          <a:lstStyle/>
          <a:p>
            <a:pPr algn="ctr"/>
            <a:r>
              <a:rPr lang="en-US" sz="1733" b="1" dirty="0">
                <a:solidFill>
                  <a:srgbClr val="666666"/>
                </a:solidFill>
                <a:latin typeface="Calibri" pitchFamily="34" charset="0"/>
                <a:ea typeface="Calibri" pitchFamily="34" charset="-122"/>
                <a:cs typeface="Calibri" pitchFamily="34" charset="-120"/>
              </a:rPr>
              <a:t>~Baseline</a:t>
            </a:r>
            <a:endParaRPr lang="en-US" sz="1733" dirty="0"/>
          </a:p>
        </p:txBody>
      </p:sp>
      <p:sp>
        <p:nvSpPr>
          <p:cNvPr id="24" name="Text 22"/>
          <p:cNvSpPr/>
          <p:nvPr/>
        </p:nvSpPr>
        <p:spPr>
          <a:xfrm>
            <a:off x="7437120" y="4181856"/>
            <a:ext cx="3901440" cy="487680"/>
          </a:xfrm>
          <a:prstGeom prst="rect">
            <a:avLst/>
          </a:prstGeom>
          <a:noFill/>
          <a:ln/>
        </p:spPr>
        <p:txBody>
          <a:bodyPr wrap="square" rtlCol="0" anchor="ctr"/>
          <a:lstStyle/>
          <a:p>
            <a:pPr algn="ctr"/>
            <a:r>
              <a:rPr lang="en-US" sz="1733" b="1" dirty="0">
                <a:solidFill>
                  <a:srgbClr val="D32F2F"/>
                </a:solidFill>
                <a:latin typeface="Calibri" pitchFamily="34" charset="0"/>
                <a:ea typeface="Calibri" pitchFamily="34" charset="-122"/>
                <a:cs typeface="Calibri" pitchFamily="34" charset="-120"/>
              </a:rPr>
              <a:t>Negative (−)</a:t>
            </a:r>
            <a:endParaRPr lang="en-US" sz="1733" dirty="0"/>
          </a:p>
        </p:txBody>
      </p:sp>
      <p:sp>
        <p:nvSpPr>
          <p:cNvPr id="25" name="Shape 23"/>
          <p:cNvSpPr/>
          <p:nvPr/>
        </p:nvSpPr>
        <p:spPr>
          <a:xfrm>
            <a:off x="609600" y="4754880"/>
            <a:ext cx="10972800" cy="670560"/>
          </a:xfrm>
          <a:prstGeom prst="rect">
            <a:avLst/>
          </a:prstGeom>
          <a:solidFill>
            <a:srgbClr val="F5F5F5"/>
          </a:solidFill>
          <a:ln/>
        </p:spPr>
        <p:txBody>
          <a:bodyPr/>
          <a:lstStyle/>
          <a:p>
            <a:endParaRPr lang="en-US" sz="2400"/>
          </a:p>
        </p:txBody>
      </p:sp>
      <p:sp>
        <p:nvSpPr>
          <p:cNvPr id="26" name="Text 24"/>
          <p:cNvSpPr/>
          <p:nvPr/>
        </p:nvSpPr>
        <p:spPr>
          <a:xfrm>
            <a:off x="731520" y="4852416"/>
            <a:ext cx="3048000" cy="48768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Blink</a:t>
            </a:r>
            <a:endParaRPr lang="en-US" sz="1733" dirty="0"/>
          </a:p>
        </p:txBody>
      </p:sp>
      <p:sp>
        <p:nvSpPr>
          <p:cNvPr id="27" name="Text 25"/>
          <p:cNvSpPr/>
          <p:nvPr/>
        </p:nvSpPr>
        <p:spPr>
          <a:xfrm>
            <a:off x="3901440" y="4852416"/>
            <a:ext cx="3413760" cy="487680"/>
          </a:xfrm>
          <a:prstGeom prst="rect">
            <a:avLst/>
          </a:prstGeom>
          <a:noFill/>
          <a:ln/>
        </p:spPr>
        <p:txBody>
          <a:bodyPr wrap="square" rtlCol="0" anchor="ctr"/>
          <a:lstStyle/>
          <a:p>
            <a:pPr algn="ctr"/>
            <a:r>
              <a:rPr lang="en-US" sz="1733" b="1" dirty="0">
                <a:solidFill>
                  <a:srgbClr val="666666"/>
                </a:solidFill>
                <a:latin typeface="Calibri" pitchFamily="34" charset="0"/>
                <a:ea typeface="Calibri" pitchFamily="34" charset="-122"/>
                <a:cs typeface="Calibri" pitchFamily="34" charset="-120"/>
              </a:rPr>
              <a:t>Small artifact</a:t>
            </a:r>
            <a:endParaRPr lang="en-US" sz="1733" dirty="0"/>
          </a:p>
        </p:txBody>
      </p:sp>
      <p:sp>
        <p:nvSpPr>
          <p:cNvPr id="28" name="Text 26"/>
          <p:cNvSpPr/>
          <p:nvPr/>
        </p:nvSpPr>
        <p:spPr>
          <a:xfrm>
            <a:off x="7437120" y="4852416"/>
            <a:ext cx="3901440" cy="487680"/>
          </a:xfrm>
          <a:prstGeom prst="rect">
            <a:avLst/>
          </a:prstGeom>
          <a:noFill/>
          <a:ln/>
        </p:spPr>
        <p:txBody>
          <a:bodyPr wrap="square" rtlCol="0" anchor="ctr"/>
          <a:lstStyle/>
          <a:p>
            <a:pPr algn="ctr"/>
            <a:r>
              <a:rPr lang="en-US" sz="1733" b="1" dirty="0">
                <a:solidFill>
                  <a:srgbClr val="FFA726"/>
                </a:solidFill>
                <a:latin typeface="Calibri" pitchFamily="34" charset="0"/>
                <a:ea typeface="Calibri" pitchFamily="34" charset="-122"/>
                <a:cs typeface="Calibri" pitchFamily="34" charset="-120"/>
              </a:rPr>
              <a:t>Large spike (+)</a:t>
            </a:r>
            <a:endParaRPr lang="en-US" sz="1733" dirty="0"/>
          </a:p>
        </p:txBody>
      </p:sp>
      <p:sp>
        <p:nvSpPr>
          <p:cNvPr id="29" name="Shape 27"/>
          <p:cNvSpPr/>
          <p:nvPr/>
        </p:nvSpPr>
        <p:spPr>
          <a:xfrm>
            <a:off x="609600" y="5608320"/>
            <a:ext cx="10972800" cy="975360"/>
          </a:xfrm>
          <a:prstGeom prst="rect">
            <a:avLst/>
          </a:prstGeom>
          <a:solidFill>
            <a:srgbClr val="FFA726">
              <a:alpha val="30000"/>
            </a:srgbClr>
          </a:solidFill>
          <a:ln/>
        </p:spPr>
        <p:txBody>
          <a:bodyPr/>
          <a:lstStyle/>
          <a:p>
            <a:endParaRPr lang="en-US" sz="2400"/>
          </a:p>
        </p:txBody>
      </p:sp>
      <p:sp>
        <p:nvSpPr>
          <p:cNvPr id="30" name="Text 28"/>
          <p:cNvSpPr/>
          <p:nvPr/>
        </p:nvSpPr>
        <p:spPr>
          <a:xfrm>
            <a:off x="853440" y="5730240"/>
            <a:ext cx="10485120" cy="73152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 Key Insight: HEOG and VEOG are largely independent. Horizontal movements primarily affect HEOG, vertical movements primarily affect VEOG. Blinks create the largest artifact in VEOG.</a:t>
            </a:r>
            <a:endParaRPr lang="en-US" sz="1600" dirty="0"/>
          </a:p>
        </p:txBody>
      </p:sp>
      <p:sp>
        <p:nvSpPr>
          <p:cNvPr id="31" name="Text 29"/>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8 / 32</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F76902"/>
          </a:solidFill>
          <a:ln/>
        </p:spPr>
        <p:txBody>
          <a:bodyPr/>
          <a:lstStyle/>
          <a:p>
            <a:endParaRPr lang="en-US" sz="2400"/>
          </a:p>
        </p:txBody>
      </p:sp>
      <p:sp>
        <p:nvSpPr>
          <p:cNvPr id="4" name="Text 2"/>
          <p:cNvSpPr/>
          <p:nvPr/>
        </p:nvSpPr>
        <p:spPr>
          <a:xfrm>
            <a:off x="609600" y="70104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EOG Signal Characteristics</a:t>
            </a:r>
            <a:endParaRPr lang="en-US" sz="4267" dirty="0"/>
          </a:p>
        </p:txBody>
      </p:sp>
      <p:sp>
        <p:nvSpPr>
          <p:cNvPr id="5" name="Shape 3"/>
          <p:cNvSpPr/>
          <p:nvPr/>
        </p:nvSpPr>
        <p:spPr>
          <a:xfrm>
            <a:off x="609600" y="1463040"/>
            <a:ext cx="5364480" cy="16459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6" name="Shape 4"/>
          <p:cNvSpPr/>
          <p:nvPr/>
        </p:nvSpPr>
        <p:spPr>
          <a:xfrm>
            <a:off x="609600" y="1463040"/>
            <a:ext cx="97536" cy="1645920"/>
          </a:xfrm>
          <a:prstGeom prst="rect">
            <a:avLst/>
          </a:prstGeom>
          <a:solidFill>
            <a:srgbClr val="F76902"/>
          </a:solidFill>
          <a:ln/>
        </p:spPr>
        <p:txBody>
          <a:bodyPr/>
          <a:lstStyle/>
          <a:p>
            <a:endParaRPr lang="en-US" sz="2400"/>
          </a:p>
        </p:txBody>
      </p:sp>
      <p:sp>
        <p:nvSpPr>
          <p:cNvPr id="7" name="Text 5"/>
          <p:cNvSpPr/>
          <p:nvPr/>
        </p:nvSpPr>
        <p:spPr>
          <a:xfrm>
            <a:off x="853440" y="1645920"/>
            <a:ext cx="4876800" cy="365760"/>
          </a:xfrm>
          <a:prstGeom prst="rect">
            <a:avLst/>
          </a:prstGeom>
          <a:noFill/>
          <a:ln/>
        </p:spPr>
        <p:txBody>
          <a:bodyPr wrap="square" rtlCol="0" anchor="ctr"/>
          <a:lstStyle/>
          <a:p>
            <a:r>
              <a:rPr lang="en-US" sz="1600" dirty="0">
                <a:solidFill>
                  <a:srgbClr val="666666"/>
                </a:solidFill>
                <a:latin typeface="Calibri" pitchFamily="34" charset="0"/>
                <a:ea typeface="Calibri" pitchFamily="34" charset="-122"/>
                <a:cs typeface="Calibri" pitchFamily="34" charset="-120"/>
              </a:rPr>
              <a:t>Frequency Range</a:t>
            </a:r>
            <a:endParaRPr lang="en-US" sz="1600" dirty="0"/>
          </a:p>
        </p:txBody>
      </p:sp>
      <p:sp>
        <p:nvSpPr>
          <p:cNvPr id="8" name="Text 6"/>
          <p:cNvSpPr/>
          <p:nvPr/>
        </p:nvSpPr>
        <p:spPr>
          <a:xfrm>
            <a:off x="853440" y="2011680"/>
            <a:ext cx="4876800" cy="548640"/>
          </a:xfrm>
          <a:prstGeom prst="rect">
            <a:avLst/>
          </a:prstGeom>
          <a:noFill/>
          <a:ln/>
        </p:spPr>
        <p:txBody>
          <a:bodyPr wrap="square" rtlCol="0" anchor="ctr"/>
          <a:lstStyle/>
          <a:p>
            <a:r>
              <a:rPr lang="en-US" sz="2933" b="1" dirty="0">
                <a:solidFill>
                  <a:srgbClr val="F76902"/>
                </a:solidFill>
                <a:latin typeface="Trebuchet MS" pitchFamily="34" charset="0"/>
                <a:ea typeface="Trebuchet MS" pitchFamily="34" charset="-122"/>
                <a:cs typeface="Trebuchet MS" pitchFamily="34" charset="-120"/>
              </a:rPr>
              <a:t>DC - 30 Hz</a:t>
            </a:r>
            <a:endParaRPr lang="en-US" sz="2933" dirty="0"/>
          </a:p>
        </p:txBody>
      </p:sp>
      <p:sp>
        <p:nvSpPr>
          <p:cNvPr id="9" name="Text 7"/>
          <p:cNvSpPr/>
          <p:nvPr/>
        </p:nvSpPr>
        <p:spPr>
          <a:xfrm>
            <a:off x="853440" y="2621280"/>
            <a:ext cx="4876800" cy="365760"/>
          </a:xfrm>
          <a:prstGeom prst="rect">
            <a:avLst/>
          </a:prstGeom>
          <a:noFill/>
          <a:ln/>
        </p:spPr>
        <p:txBody>
          <a:bodyPr wrap="square" rtlCol="0" anchor="ctr"/>
          <a:lstStyle/>
          <a:p>
            <a:r>
              <a:rPr lang="en-US" sz="1467" i="1" dirty="0">
                <a:solidFill>
                  <a:srgbClr val="666666"/>
                </a:solidFill>
                <a:latin typeface="Calibri" pitchFamily="34" charset="0"/>
                <a:ea typeface="Calibri" pitchFamily="34" charset="-122"/>
                <a:cs typeface="Calibri" pitchFamily="34" charset="-120"/>
              </a:rPr>
              <a:t>Very low frequency content</a:t>
            </a:r>
            <a:endParaRPr lang="en-US" sz="1467" dirty="0"/>
          </a:p>
        </p:txBody>
      </p:sp>
      <p:sp>
        <p:nvSpPr>
          <p:cNvPr id="10" name="Shape 8"/>
          <p:cNvSpPr/>
          <p:nvPr/>
        </p:nvSpPr>
        <p:spPr>
          <a:xfrm>
            <a:off x="6217920" y="1463040"/>
            <a:ext cx="5364480" cy="16459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1" name="Shape 9"/>
          <p:cNvSpPr/>
          <p:nvPr/>
        </p:nvSpPr>
        <p:spPr>
          <a:xfrm>
            <a:off x="6217920" y="1463040"/>
            <a:ext cx="97536" cy="1645920"/>
          </a:xfrm>
          <a:prstGeom prst="rect">
            <a:avLst/>
          </a:prstGeom>
          <a:solidFill>
            <a:srgbClr val="F76902"/>
          </a:solidFill>
          <a:ln/>
        </p:spPr>
        <p:txBody>
          <a:bodyPr/>
          <a:lstStyle/>
          <a:p>
            <a:endParaRPr lang="en-US" sz="2400"/>
          </a:p>
        </p:txBody>
      </p:sp>
      <p:sp>
        <p:nvSpPr>
          <p:cNvPr id="12" name="Text 10"/>
          <p:cNvSpPr/>
          <p:nvPr/>
        </p:nvSpPr>
        <p:spPr>
          <a:xfrm>
            <a:off x="6461760" y="1645920"/>
            <a:ext cx="4876800" cy="365760"/>
          </a:xfrm>
          <a:prstGeom prst="rect">
            <a:avLst/>
          </a:prstGeom>
          <a:noFill/>
          <a:ln/>
        </p:spPr>
        <p:txBody>
          <a:bodyPr wrap="square" rtlCol="0" anchor="ctr"/>
          <a:lstStyle/>
          <a:p>
            <a:r>
              <a:rPr lang="en-US" sz="1600" dirty="0">
                <a:solidFill>
                  <a:srgbClr val="666666"/>
                </a:solidFill>
                <a:latin typeface="Calibri" pitchFamily="34" charset="0"/>
                <a:ea typeface="Calibri" pitchFamily="34" charset="-122"/>
                <a:cs typeface="Calibri" pitchFamily="34" charset="-120"/>
              </a:rPr>
              <a:t>Amplitude</a:t>
            </a:r>
            <a:endParaRPr lang="en-US" sz="1600" dirty="0"/>
          </a:p>
        </p:txBody>
      </p:sp>
      <p:sp>
        <p:nvSpPr>
          <p:cNvPr id="13" name="Text 11"/>
          <p:cNvSpPr/>
          <p:nvPr/>
        </p:nvSpPr>
        <p:spPr>
          <a:xfrm>
            <a:off x="6461760" y="2011680"/>
            <a:ext cx="4876800" cy="548640"/>
          </a:xfrm>
          <a:prstGeom prst="rect">
            <a:avLst/>
          </a:prstGeom>
          <a:noFill/>
          <a:ln/>
        </p:spPr>
        <p:txBody>
          <a:bodyPr wrap="square" rtlCol="0" anchor="ctr"/>
          <a:lstStyle/>
          <a:p>
            <a:r>
              <a:rPr lang="en-US" sz="2933" b="1" dirty="0">
                <a:solidFill>
                  <a:srgbClr val="F76902"/>
                </a:solidFill>
                <a:latin typeface="Trebuchet MS" pitchFamily="34" charset="0"/>
                <a:ea typeface="Trebuchet MS" pitchFamily="34" charset="-122"/>
                <a:cs typeface="Trebuchet MS" pitchFamily="34" charset="-120"/>
              </a:rPr>
              <a:t>15-200 μV/°</a:t>
            </a:r>
            <a:endParaRPr lang="en-US" sz="2933" dirty="0"/>
          </a:p>
        </p:txBody>
      </p:sp>
      <p:sp>
        <p:nvSpPr>
          <p:cNvPr id="14" name="Text 12"/>
          <p:cNvSpPr/>
          <p:nvPr/>
        </p:nvSpPr>
        <p:spPr>
          <a:xfrm>
            <a:off x="6461760" y="2621280"/>
            <a:ext cx="4876800" cy="365760"/>
          </a:xfrm>
          <a:prstGeom prst="rect">
            <a:avLst/>
          </a:prstGeom>
          <a:noFill/>
          <a:ln/>
        </p:spPr>
        <p:txBody>
          <a:bodyPr wrap="square" rtlCol="0" anchor="ctr"/>
          <a:lstStyle/>
          <a:p>
            <a:r>
              <a:rPr lang="en-US" sz="1467" i="1" dirty="0">
                <a:solidFill>
                  <a:srgbClr val="666666"/>
                </a:solidFill>
                <a:latin typeface="Calibri" pitchFamily="34" charset="0"/>
                <a:ea typeface="Calibri" pitchFamily="34" charset="-122"/>
                <a:cs typeface="Calibri" pitchFamily="34" charset="-120"/>
              </a:rPr>
              <a:t>Per degree of eye rotation</a:t>
            </a:r>
            <a:endParaRPr lang="en-US" sz="1467" dirty="0"/>
          </a:p>
        </p:txBody>
      </p:sp>
      <p:sp>
        <p:nvSpPr>
          <p:cNvPr id="15" name="Shape 13"/>
          <p:cNvSpPr/>
          <p:nvPr/>
        </p:nvSpPr>
        <p:spPr>
          <a:xfrm>
            <a:off x="609600" y="3291840"/>
            <a:ext cx="5364480" cy="16459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6" name="Shape 14"/>
          <p:cNvSpPr/>
          <p:nvPr/>
        </p:nvSpPr>
        <p:spPr>
          <a:xfrm>
            <a:off x="609600" y="3291840"/>
            <a:ext cx="97536" cy="1645920"/>
          </a:xfrm>
          <a:prstGeom prst="rect">
            <a:avLst/>
          </a:prstGeom>
          <a:solidFill>
            <a:srgbClr val="F76902"/>
          </a:solidFill>
          <a:ln/>
        </p:spPr>
        <p:txBody>
          <a:bodyPr/>
          <a:lstStyle/>
          <a:p>
            <a:endParaRPr lang="en-US" sz="2400"/>
          </a:p>
        </p:txBody>
      </p:sp>
      <p:sp>
        <p:nvSpPr>
          <p:cNvPr id="17" name="Text 15"/>
          <p:cNvSpPr/>
          <p:nvPr/>
        </p:nvSpPr>
        <p:spPr>
          <a:xfrm>
            <a:off x="853440" y="3474720"/>
            <a:ext cx="4876800" cy="365760"/>
          </a:xfrm>
          <a:prstGeom prst="rect">
            <a:avLst/>
          </a:prstGeom>
          <a:noFill/>
          <a:ln/>
        </p:spPr>
        <p:txBody>
          <a:bodyPr wrap="square" rtlCol="0" anchor="ctr"/>
          <a:lstStyle/>
          <a:p>
            <a:r>
              <a:rPr lang="en-US" sz="1600" dirty="0">
                <a:solidFill>
                  <a:srgbClr val="666666"/>
                </a:solidFill>
                <a:latin typeface="Calibri" pitchFamily="34" charset="0"/>
                <a:ea typeface="Calibri" pitchFamily="34" charset="-122"/>
                <a:cs typeface="Calibri" pitchFamily="34" charset="-120"/>
              </a:rPr>
              <a:t>Sample Rate</a:t>
            </a:r>
            <a:endParaRPr lang="en-US" sz="1600" dirty="0"/>
          </a:p>
        </p:txBody>
      </p:sp>
      <p:sp>
        <p:nvSpPr>
          <p:cNvPr id="18" name="Text 16"/>
          <p:cNvSpPr/>
          <p:nvPr/>
        </p:nvSpPr>
        <p:spPr>
          <a:xfrm>
            <a:off x="853440" y="3840480"/>
            <a:ext cx="4876800" cy="548640"/>
          </a:xfrm>
          <a:prstGeom prst="rect">
            <a:avLst/>
          </a:prstGeom>
          <a:noFill/>
          <a:ln/>
        </p:spPr>
        <p:txBody>
          <a:bodyPr wrap="square" rtlCol="0" anchor="ctr"/>
          <a:lstStyle/>
          <a:p>
            <a:r>
              <a:rPr lang="en-US" sz="2933" b="1" dirty="0">
                <a:solidFill>
                  <a:srgbClr val="F76902"/>
                </a:solidFill>
                <a:latin typeface="Trebuchet MS" pitchFamily="34" charset="0"/>
                <a:ea typeface="Trebuchet MS" pitchFamily="34" charset="-122"/>
                <a:cs typeface="Trebuchet MS" pitchFamily="34" charset="-120"/>
              </a:rPr>
              <a:t>250-500 Hz</a:t>
            </a:r>
            <a:endParaRPr lang="en-US" sz="2933" dirty="0"/>
          </a:p>
        </p:txBody>
      </p:sp>
      <p:sp>
        <p:nvSpPr>
          <p:cNvPr id="19" name="Text 17"/>
          <p:cNvSpPr/>
          <p:nvPr/>
        </p:nvSpPr>
        <p:spPr>
          <a:xfrm>
            <a:off x="853440" y="4450080"/>
            <a:ext cx="4876800" cy="365760"/>
          </a:xfrm>
          <a:prstGeom prst="rect">
            <a:avLst/>
          </a:prstGeom>
          <a:noFill/>
          <a:ln/>
        </p:spPr>
        <p:txBody>
          <a:bodyPr wrap="square" rtlCol="0" anchor="ctr"/>
          <a:lstStyle/>
          <a:p>
            <a:r>
              <a:rPr lang="en-US" sz="1467" i="1" dirty="0">
                <a:solidFill>
                  <a:srgbClr val="666666"/>
                </a:solidFill>
                <a:latin typeface="Calibri" pitchFamily="34" charset="0"/>
                <a:ea typeface="Calibri" pitchFamily="34" charset="-122"/>
                <a:cs typeface="Calibri" pitchFamily="34" charset="-120"/>
              </a:rPr>
              <a:t>Sufficient for most applications</a:t>
            </a:r>
            <a:endParaRPr lang="en-US" sz="1467" dirty="0"/>
          </a:p>
        </p:txBody>
      </p:sp>
      <p:sp>
        <p:nvSpPr>
          <p:cNvPr id="20" name="Shape 18"/>
          <p:cNvSpPr/>
          <p:nvPr/>
        </p:nvSpPr>
        <p:spPr>
          <a:xfrm>
            <a:off x="6217920" y="3291840"/>
            <a:ext cx="5364480" cy="16459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1" name="Shape 19"/>
          <p:cNvSpPr/>
          <p:nvPr/>
        </p:nvSpPr>
        <p:spPr>
          <a:xfrm>
            <a:off x="6217920" y="3291840"/>
            <a:ext cx="97536" cy="1645920"/>
          </a:xfrm>
          <a:prstGeom prst="rect">
            <a:avLst/>
          </a:prstGeom>
          <a:solidFill>
            <a:srgbClr val="F76902"/>
          </a:solidFill>
          <a:ln/>
        </p:spPr>
        <p:txBody>
          <a:bodyPr/>
          <a:lstStyle/>
          <a:p>
            <a:endParaRPr lang="en-US" sz="2400"/>
          </a:p>
        </p:txBody>
      </p:sp>
      <p:sp>
        <p:nvSpPr>
          <p:cNvPr id="22" name="Text 20"/>
          <p:cNvSpPr/>
          <p:nvPr/>
        </p:nvSpPr>
        <p:spPr>
          <a:xfrm>
            <a:off x="6461760" y="3474720"/>
            <a:ext cx="4876800" cy="365760"/>
          </a:xfrm>
          <a:prstGeom prst="rect">
            <a:avLst/>
          </a:prstGeom>
          <a:noFill/>
          <a:ln/>
        </p:spPr>
        <p:txBody>
          <a:bodyPr wrap="square" rtlCol="0" anchor="ctr"/>
          <a:lstStyle/>
          <a:p>
            <a:r>
              <a:rPr lang="en-US" sz="1600" dirty="0">
                <a:solidFill>
                  <a:srgbClr val="666666"/>
                </a:solidFill>
                <a:latin typeface="Calibri" pitchFamily="34" charset="0"/>
                <a:ea typeface="Calibri" pitchFamily="34" charset="-122"/>
                <a:cs typeface="Calibri" pitchFamily="34" charset="-120"/>
              </a:rPr>
              <a:t>Signal Type</a:t>
            </a:r>
            <a:endParaRPr lang="en-US" sz="1600" dirty="0"/>
          </a:p>
        </p:txBody>
      </p:sp>
      <p:sp>
        <p:nvSpPr>
          <p:cNvPr id="23" name="Text 21"/>
          <p:cNvSpPr/>
          <p:nvPr/>
        </p:nvSpPr>
        <p:spPr>
          <a:xfrm>
            <a:off x="6461760" y="3840480"/>
            <a:ext cx="4876800" cy="548640"/>
          </a:xfrm>
          <a:prstGeom prst="rect">
            <a:avLst/>
          </a:prstGeom>
          <a:noFill/>
          <a:ln/>
        </p:spPr>
        <p:txBody>
          <a:bodyPr wrap="square" rtlCol="0" anchor="ctr"/>
          <a:lstStyle/>
          <a:p>
            <a:r>
              <a:rPr lang="en-US" sz="2933" b="1" dirty="0">
                <a:solidFill>
                  <a:srgbClr val="F76902"/>
                </a:solidFill>
                <a:latin typeface="Trebuchet MS" pitchFamily="34" charset="0"/>
                <a:ea typeface="Trebuchet MS" pitchFamily="34" charset="-122"/>
                <a:cs typeface="Trebuchet MS" pitchFamily="34" charset="-120"/>
              </a:rPr>
              <a:t>Quasi-DC</a:t>
            </a:r>
            <a:endParaRPr lang="en-US" sz="2933" dirty="0"/>
          </a:p>
        </p:txBody>
      </p:sp>
      <p:sp>
        <p:nvSpPr>
          <p:cNvPr id="24" name="Text 22"/>
          <p:cNvSpPr/>
          <p:nvPr/>
        </p:nvSpPr>
        <p:spPr>
          <a:xfrm>
            <a:off x="6461760" y="4450080"/>
            <a:ext cx="4876800" cy="365760"/>
          </a:xfrm>
          <a:prstGeom prst="rect">
            <a:avLst/>
          </a:prstGeom>
          <a:noFill/>
          <a:ln/>
        </p:spPr>
        <p:txBody>
          <a:bodyPr wrap="square" rtlCol="0" anchor="ctr"/>
          <a:lstStyle/>
          <a:p>
            <a:r>
              <a:rPr lang="en-US" sz="1467" i="1" dirty="0">
                <a:solidFill>
                  <a:srgbClr val="666666"/>
                </a:solidFill>
                <a:latin typeface="Calibri" pitchFamily="34" charset="0"/>
                <a:ea typeface="Calibri" pitchFamily="34" charset="-122"/>
                <a:cs typeface="Calibri" pitchFamily="34" charset="-120"/>
              </a:rPr>
              <a:t>Sustained gaze = sustained voltage</a:t>
            </a:r>
            <a:endParaRPr lang="en-US" sz="1467" dirty="0"/>
          </a:p>
        </p:txBody>
      </p:sp>
      <p:sp>
        <p:nvSpPr>
          <p:cNvPr id="25" name="Shape 23"/>
          <p:cNvSpPr/>
          <p:nvPr/>
        </p:nvSpPr>
        <p:spPr>
          <a:xfrm>
            <a:off x="609600" y="5364480"/>
            <a:ext cx="10972800" cy="1219200"/>
          </a:xfrm>
          <a:prstGeom prst="rect">
            <a:avLst/>
          </a:prstGeom>
          <a:solidFill>
            <a:srgbClr val="1A1A1A"/>
          </a:solidFill>
          <a:ln/>
        </p:spPr>
        <p:txBody>
          <a:bodyPr/>
          <a:lstStyle/>
          <a:p>
            <a:endParaRPr lang="en-US" sz="2400"/>
          </a:p>
        </p:txBody>
      </p:sp>
      <p:sp>
        <p:nvSpPr>
          <p:cNvPr id="26" name="Text 24"/>
          <p:cNvSpPr/>
          <p:nvPr/>
        </p:nvSpPr>
        <p:spPr>
          <a:xfrm>
            <a:off x="853440" y="5486400"/>
            <a:ext cx="4876800" cy="426720"/>
          </a:xfrm>
          <a:prstGeom prst="rect">
            <a:avLst/>
          </a:prstGeom>
          <a:noFill/>
          <a:ln/>
        </p:spPr>
        <p:txBody>
          <a:bodyPr wrap="square" rtlCol="0" anchor="ctr"/>
          <a:lstStyle/>
          <a:p>
            <a:r>
              <a:rPr lang="en-US" sz="1867" b="1" dirty="0">
                <a:solidFill>
                  <a:srgbClr val="F76902"/>
                </a:solidFill>
                <a:latin typeface="Calibri" pitchFamily="34" charset="0"/>
                <a:ea typeface="Calibri" pitchFamily="34" charset="-122"/>
                <a:cs typeface="Calibri" pitchFamily="34" charset="-120"/>
              </a:rPr>
              <a:t>Why This Matters for Processing</a:t>
            </a:r>
            <a:endParaRPr lang="en-US" sz="1867" dirty="0"/>
          </a:p>
        </p:txBody>
      </p:sp>
      <p:sp>
        <p:nvSpPr>
          <p:cNvPr id="27" name="Text 25"/>
          <p:cNvSpPr/>
          <p:nvPr/>
        </p:nvSpPr>
        <p:spPr>
          <a:xfrm>
            <a:off x="853440" y="5913120"/>
            <a:ext cx="10485120" cy="609600"/>
          </a:xfrm>
          <a:prstGeom prst="rect">
            <a:avLst/>
          </a:prstGeom>
          <a:noFill/>
          <a:ln/>
        </p:spPr>
        <p:txBody>
          <a:bodyPr wrap="square" rtlCol="0" anchor="ctr"/>
          <a:lstStyle/>
          <a:p>
            <a:r>
              <a:rPr lang="en-US" sz="1600" dirty="0">
                <a:solidFill>
                  <a:srgbClr val="FFFFFF"/>
                </a:solidFill>
                <a:latin typeface="Calibri" pitchFamily="34" charset="0"/>
                <a:ea typeface="Calibri" pitchFamily="34" charset="-122"/>
                <a:cs typeface="Calibri" pitchFamily="34" charset="-120"/>
              </a:rPr>
              <a:t>The low frequency content of EOG means simple low-pass filtering is very effective. However, DC coupling is essential to capture sustained gaze positions, and baseline drift becomes a significant concern.</a:t>
            </a:r>
            <a:endParaRPr lang="en-US" sz="1600" dirty="0"/>
          </a:p>
        </p:txBody>
      </p:sp>
      <p:sp>
        <p:nvSpPr>
          <p:cNvPr id="28" name="Text 26"/>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10 / 32</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F76902"/>
          </a:solidFill>
          <a:ln/>
        </p:spPr>
        <p:txBody>
          <a:bodyPr/>
          <a:lstStyle/>
          <a:p>
            <a:endParaRPr lang="en-US" sz="2400"/>
          </a:p>
        </p:txBody>
      </p:sp>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EOG vs EMG: Key Differences</a:t>
            </a:r>
            <a:endParaRPr lang="en-US" sz="4267" dirty="0"/>
          </a:p>
        </p:txBody>
      </p:sp>
      <p:sp>
        <p:nvSpPr>
          <p:cNvPr id="5" name="Text 3"/>
          <p:cNvSpPr/>
          <p:nvPr/>
        </p:nvSpPr>
        <p:spPr>
          <a:xfrm>
            <a:off x="609600" y="1219200"/>
            <a:ext cx="10972800" cy="365760"/>
          </a:xfrm>
          <a:prstGeom prst="rect">
            <a:avLst/>
          </a:prstGeom>
          <a:noFill/>
          <a:ln/>
        </p:spPr>
        <p:txBody>
          <a:bodyPr wrap="square" rtlCol="0" anchor="ctr"/>
          <a:lstStyle/>
          <a:p>
            <a:r>
              <a:rPr lang="en-US" sz="1867" dirty="0">
                <a:solidFill>
                  <a:srgbClr val="666666"/>
                </a:solidFill>
                <a:latin typeface="Calibri" pitchFamily="34" charset="0"/>
                <a:ea typeface="Calibri" pitchFamily="34" charset="-122"/>
                <a:cs typeface="Calibri" pitchFamily="34" charset="-120"/>
              </a:rPr>
              <a:t>Understanding how these signals differ helps you apply the right processing techniques</a:t>
            </a:r>
            <a:endParaRPr lang="en-US" sz="1867" dirty="0"/>
          </a:p>
        </p:txBody>
      </p:sp>
      <p:sp>
        <p:nvSpPr>
          <p:cNvPr id="6" name="Shape 4"/>
          <p:cNvSpPr/>
          <p:nvPr/>
        </p:nvSpPr>
        <p:spPr>
          <a:xfrm>
            <a:off x="609600" y="1706880"/>
            <a:ext cx="10972800" cy="609600"/>
          </a:xfrm>
          <a:prstGeom prst="rect">
            <a:avLst/>
          </a:prstGeom>
          <a:solidFill>
            <a:srgbClr val="1A1A1A"/>
          </a:solidFill>
          <a:ln/>
        </p:spPr>
        <p:txBody>
          <a:bodyPr/>
          <a:lstStyle/>
          <a:p>
            <a:endParaRPr lang="en-US" sz="2400"/>
          </a:p>
        </p:txBody>
      </p:sp>
      <p:sp>
        <p:nvSpPr>
          <p:cNvPr id="7" name="Text 5"/>
          <p:cNvSpPr/>
          <p:nvPr/>
        </p:nvSpPr>
        <p:spPr>
          <a:xfrm>
            <a:off x="731520" y="1767840"/>
            <a:ext cx="2682240" cy="48768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Property</a:t>
            </a:r>
            <a:endParaRPr lang="en-US" sz="1733" dirty="0"/>
          </a:p>
        </p:txBody>
      </p:sp>
      <p:sp>
        <p:nvSpPr>
          <p:cNvPr id="8" name="Text 6"/>
          <p:cNvSpPr/>
          <p:nvPr/>
        </p:nvSpPr>
        <p:spPr>
          <a:xfrm>
            <a:off x="3535680" y="1767840"/>
            <a:ext cx="365760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EOG</a:t>
            </a:r>
            <a:endParaRPr lang="en-US" sz="1733" dirty="0"/>
          </a:p>
        </p:txBody>
      </p:sp>
      <p:sp>
        <p:nvSpPr>
          <p:cNvPr id="9" name="Text 7"/>
          <p:cNvSpPr/>
          <p:nvPr/>
        </p:nvSpPr>
        <p:spPr>
          <a:xfrm>
            <a:off x="7315200" y="1767840"/>
            <a:ext cx="4023360" cy="487680"/>
          </a:xfrm>
          <a:prstGeom prst="rect">
            <a:avLst/>
          </a:prstGeom>
          <a:noFill/>
          <a:ln/>
        </p:spPr>
        <p:txBody>
          <a:bodyPr wrap="square" rtlCol="0" anchor="ctr"/>
          <a:lstStyle/>
          <a:p>
            <a:pPr algn="ctr"/>
            <a:r>
              <a:rPr lang="en-US" sz="1733" b="1" dirty="0">
                <a:solidFill>
                  <a:srgbClr val="D32F2F"/>
                </a:solidFill>
                <a:latin typeface="Calibri" pitchFamily="34" charset="0"/>
                <a:ea typeface="Calibri" pitchFamily="34" charset="-122"/>
                <a:cs typeface="Calibri" pitchFamily="34" charset="-120"/>
              </a:rPr>
              <a:t>EMG</a:t>
            </a:r>
            <a:endParaRPr lang="en-US" sz="1733" dirty="0"/>
          </a:p>
        </p:txBody>
      </p:sp>
      <p:sp>
        <p:nvSpPr>
          <p:cNvPr id="10" name="Shape 8"/>
          <p:cNvSpPr/>
          <p:nvPr/>
        </p:nvSpPr>
        <p:spPr>
          <a:xfrm>
            <a:off x="609600" y="2316480"/>
            <a:ext cx="10972800" cy="585216"/>
          </a:xfrm>
          <a:prstGeom prst="rect">
            <a:avLst/>
          </a:prstGeom>
          <a:solidFill>
            <a:srgbClr val="F5F5F5"/>
          </a:solidFill>
          <a:ln/>
        </p:spPr>
        <p:txBody>
          <a:bodyPr/>
          <a:lstStyle/>
          <a:p>
            <a:endParaRPr lang="en-US" sz="2400"/>
          </a:p>
        </p:txBody>
      </p:sp>
      <p:sp>
        <p:nvSpPr>
          <p:cNvPr id="11" name="Text 9"/>
          <p:cNvSpPr/>
          <p:nvPr/>
        </p:nvSpPr>
        <p:spPr>
          <a:xfrm>
            <a:off x="731520" y="2377440"/>
            <a:ext cx="2682240" cy="463296"/>
          </a:xfrm>
          <a:prstGeom prst="rect">
            <a:avLst/>
          </a:prstGeom>
          <a:noFill/>
          <a:ln/>
        </p:spPr>
        <p:txBody>
          <a:bodyPr wrap="square" rtlCol="0" anchor="ctr"/>
          <a:lstStyle/>
          <a:p>
            <a:r>
              <a:rPr lang="en-US" sz="1467" b="1" dirty="0">
                <a:solidFill>
                  <a:srgbClr val="1A1A1A"/>
                </a:solidFill>
                <a:latin typeface="Calibri" pitchFamily="34" charset="0"/>
                <a:ea typeface="Calibri" pitchFamily="34" charset="-122"/>
                <a:cs typeface="Calibri" pitchFamily="34" charset="-120"/>
              </a:rPr>
              <a:t>Signal Source</a:t>
            </a:r>
            <a:endParaRPr lang="en-US" sz="1467" dirty="0"/>
          </a:p>
        </p:txBody>
      </p:sp>
      <p:sp>
        <p:nvSpPr>
          <p:cNvPr id="12" name="Text 10"/>
          <p:cNvSpPr/>
          <p:nvPr/>
        </p:nvSpPr>
        <p:spPr>
          <a:xfrm>
            <a:off x="3535680" y="2377440"/>
            <a:ext cx="365760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Corneo-retinal potential</a:t>
            </a:r>
            <a:endParaRPr lang="en-US" sz="1467" dirty="0"/>
          </a:p>
        </p:txBody>
      </p:sp>
      <p:sp>
        <p:nvSpPr>
          <p:cNvPr id="13" name="Text 11"/>
          <p:cNvSpPr/>
          <p:nvPr/>
        </p:nvSpPr>
        <p:spPr>
          <a:xfrm>
            <a:off x="7315200" y="2377440"/>
            <a:ext cx="402336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Motor unit action potentials</a:t>
            </a:r>
            <a:endParaRPr lang="en-US" sz="1467" dirty="0"/>
          </a:p>
        </p:txBody>
      </p:sp>
      <p:sp>
        <p:nvSpPr>
          <p:cNvPr id="14" name="Shape 12"/>
          <p:cNvSpPr/>
          <p:nvPr/>
        </p:nvSpPr>
        <p:spPr>
          <a:xfrm>
            <a:off x="609600" y="2901696"/>
            <a:ext cx="10972800" cy="585216"/>
          </a:xfrm>
          <a:prstGeom prst="rect">
            <a:avLst/>
          </a:prstGeom>
          <a:solidFill>
            <a:srgbClr val="FFFFFF"/>
          </a:solidFill>
          <a:ln/>
        </p:spPr>
        <p:txBody>
          <a:bodyPr/>
          <a:lstStyle/>
          <a:p>
            <a:endParaRPr lang="en-US" sz="2400"/>
          </a:p>
        </p:txBody>
      </p:sp>
      <p:sp>
        <p:nvSpPr>
          <p:cNvPr id="15" name="Text 13"/>
          <p:cNvSpPr/>
          <p:nvPr/>
        </p:nvSpPr>
        <p:spPr>
          <a:xfrm>
            <a:off x="731520" y="2962656"/>
            <a:ext cx="2682240" cy="463296"/>
          </a:xfrm>
          <a:prstGeom prst="rect">
            <a:avLst/>
          </a:prstGeom>
          <a:noFill/>
          <a:ln/>
        </p:spPr>
        <p:txBody>
          <a:bodyPr wrap="square" rtlCol="0" anchor="ctr"/>
          <a:lstStyle/>
          <a:p>
            <a:r>
              <a:rPr lang="en-US" sz="1467" b="1" dirty="0">
                <a:solidFill>
                  <a:srgbClr val="1A1A1A"/>
                </a:solidFill>
                <a:latin typeface="Calibri" pitchFamily="34" charset="0"/>
                <a:ea typeface="Calibri" pitchFamily="34" charset="-122"/>
                <a:cs typeface="Calibri" pitchFamily="34" charset="-120"/>
              </a:rPr>
              <a:t>Frequency Range</a:t>
            </a:r>
            <a:endParaRPr lang="en-US" sz="1467" dirty="0"/>
          </a:p>
        </p:txBody>
      </p:sp>
      <p:sp>
        <p:nvSpPr>
          <p:cNvPr id="16" name="Text 14"/>
          <p:cNvSpPr/>
          <p:nvPr/>
        </p:nvSpPr>
        <p:spPr>
          <a:xfrm>
            <a:off x="3535680" y="2962656"/>
            <a:ext cx="365760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DC - 30 Hz</a:t>
            </a:r>
            <a:endParaRPr lang="en-US" sz="1467" dirty="0"/>
          </a:p>
        </p:txBody>
      </p:sp>
      <p:sp>
        <p:nvSpPr>
          <p:cNvPr id="17" name="Text 15"/>
          <p:cNvSpPr/>
          <p:nvPr/>
        </p:nvSpPr>
        <p:spPr>
          <a:xfrm>
            <a:off x="7315200" y="2962656"/>
            <a:ext cx="402336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20 - 500 Hz</a:t>
            </a:r>
            <a:endParaRPr lang="en-US" sz="1467" dirty="0"/>
          </a:p>
        </p:txBody>
      </p:sp>
      <p:sp>
        <p:nvSpPr>
          <p:cNvPr id="18" name="Shape 16"/>
          <p:cNvSpPr/>
          <p:nvPr/>
        </p:nvSpPr>
        <p:spPr>
          <a:xfrm>
            <a:off x="609600" y="3486912"/>
            <a:ext cx="10972800" cy="585216"/>
          </a:xfrm>
          <a:prstGeom prst="rect">
            <a:avLst/>
          </a:prstGeom>
          <a:solidFill>
            <a:srgbClr val="F5F5F5"/>
          </a:solidFill>
          <a:ln/>
        </p:spPr>
        <p:txBody>
          <a:bodyPr/>
          <a:lstStyle/>
          <a:p>
            <a:endParaRPr lang="en-US" sz="2400"/>
          </a:p>
        </p:txBody>
      </p:sp>
      <p:sp>
        <p:nvSpPr>
          <p:cNvPr id="19" name="Text 17"/>
          <p:cNvSpPr/>
          <p:nvPr/>
        </p:nvSpPr>
        <p:spPr>
          <a:xfrm>
            <a:off x="731520" y="3547872"/>
            <a:ext cx="2682240" cy="463296"/>
          </a:xfrm>
          <a:prstGeom prst="rect">
            <a:avLst/>
          </a:prstGeom>
          <a:noFill/>
          <a:ln/>
        </p:spPr>
        <p:txBody>
          <a:bodyPr wrap="square" rtlCol="0" anchor="ctr"/>
          <a:lstStyle/>
          <a:p>
            <a:r>
              <a:rPr lang="en-US" sz="1467" b="1" dirty="0">
                <a:solidFill>
                  <a:srgbClr val="1A1A1A"/>
                </a:solidFill>
                <a:latin typeface="Calibri" pitchFamily="34" charset="0"/>
                <a:ea typeface="Calibri" pitchFamily="34" charset="-122"/>
                <a:cs typeface="Calibri" pitchFamily="34" charset="-120"/>
              </a:rPr>
              <a:t>Amplitude</a:t>
            </a:r>
            <a:endParaRPr lang="en-US" sz="1467" dirty="0"/>
          </a:p>
        </p:txBody>
      </p:sp>
      <p:sp>
        <p:nvSpPr>
          <p:cNvPr id="20" name="Text 18"/>
          <p:cNvSpPr/>
          <p:nvPr/>
        </p:nvSpPr>
        <p:spPr>
          <a:xfrm>
            <a:off x="3535680" y="3547872"/>
            <a:ext cx="365760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15-200 μV</a:t>
            </a:r>
            <a:endParaRPr lang="en-US" sz="1467" dirty="0"/>
          </a:p>
        </p:txBody>
      </p:sp>
      <p:sp>
        <p:nvSpPr>
          <p:cNvPr id="21" name="Text 19"/>
          <p:cNvSpPr/>
          <p:nvPr/>
        </p:nvSpPr>
        <p:spPr>
          <a:xfrm>
            <a:off x="7315200" y="3547872"/>
            <a:ext cx="402336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50 μV - 5 mV</a:t>
            </a:r>
            <a:endParaRPr lang="en-US" sz="1467" dirty="0"/>
          </a:p>
        </p:txBody>
      </p:sp>
      <p:sp>
        <p:nvSpPr>
          <p:cNvPr id="22" name="Shape 20"/>
          <p:cNvSpPr/>
          <p:nvPr/>
        </p:nvSpPr>
        <p:spPr>
          <a:xfrm>
            <a:off x="609600" y="4072128"/>
            <a:ext cx="10972800" cy="585216"/>
          </a:xfrm>
          <a:prstGeom prst="rect">
            <a:avLst/>
          </a:prstGeom>
          <a:solidFill>
            <a:srgbClr val="FFFFFF"/>
          </a:solidFill>
          <a:ln/>
        </p:spPr>
        <p:txBody>
          <a:bodyPr/>
          <a:lstStyle/>
          <a:p>
            <a:endParaRPr lang="en-US" sz="2400"/>
          </a:p>
        </p:txBody>
      </p:sp>
      <p:sp>
        <p:nvSpPr>
          <p:cNvPr id="23" name="Text 21"/>
          <p:cNvSpPr/>
          <p:nvPr/>
        </p:nvSpPr>
        <p:spPr>
          <a:xfrm>
            <a:off x="731520" y="4133088"/>
            <a:ext cx="2682240" cy="463296"/>
          </a:xfrm>
          <a:prstGeom prst="rect">
            <a:avLst/>
          </a:prstGeom>
          <a:noFill/>
          <a:ln/>
        </p:spPr>
        <p:txBody>
          <a:bodyPr wrap="square" rtlCol="0" anchor="ctr"/>
          <a:lstStyle/>
          <a:p>
            <a:r>
              <a:rPr lang="en-US" sz="1467" b="1" dirty="0">
                <a:solidFill>
                  <a:srgbClr val="1A1A1A"/>
                </a:solidFill>
                <a:latin typeface="Calibri" pitchFamily="34" charset="0"/>
                <a:ea typeface="Calibri" pitchFamily="34" charset="-122"/>
                <a:cs typeface="Calibri" pitchFamily="34" charset="-120"/>
              </a:rPr>
              <a:t>Coupling</a:t>
            </a:r>
            <a:endParaRPr lang="en-US" sz="1467" dirty="0"/>
          </a:p>
        </p:txBody>
      </p:sp>
      <p:sp>
        <p:nvSpPr>
          <p:cNvPr id="24" name="Text 22"/>
          <p:cNvSpPr/>
          <p:nvPr/>
        </p:nvSpPr>
        <p:spPr>
          <a:xfrm>
            <a:off x="3535680" y="4133088"/>
            <a:ext cx="365760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DC (essential)</a:t>
            </a:r>
            <a:endParaRPr lang="en-US" sz="1467" dirty="0"/>
          </a:p>
        </p:txBody>
      </p:sp>
      <p:sp>
        <p:nvSpPr>
          <p:cNvPr id="25" name="Text 23"/>
          <p:cNvSpPr/>
          <p:nvPr/>
        </p:nvSpPr>
        <p:spPr>
          <a:xfrm>
            <a:off x="7315200" y="4133088"/>
            <a:ext cx="402336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AC (typical)</a:t>
            </a:r>
            <a:endParaRPr lang="en-US" sz="1467" dirty="0"/>
          </a:p>
        </p:txBody>
      </p:sp>
      <p:sp>
        <p:nvSpPr>
          <p:cNvPr id="26" name="Shape 24"/>
          <p:cNvSpPr/>
          <p:nvPr/>
        </p:nvSpPr>
        <p:spPr>
          <a:xfrm>
            <a:off x="609600" y="4657344"/>
            <a:ext cx="10972800" cy="585216"/>
          </a:xfrm>
          <a:prstGeom prst="rect">
            <a:avLst/>
          </a:prstGeom>
          <a:solidFill>
            <a:srgbClr val="F5F5F5"/>
          </a:solidFill>
          <a:ln/>
        </p:spPr>
        <p:txBody>
          <a:bodyPr/>
          <a:lstStyle/>
          <a:p>
            <a:endParaRPr lang="en-US" sz="2400"/>
          </a:p>
        </p:txBody>
      </p:sp>
      <p:sp>
        <p:nvSpPr>
          <p:cNvPr id="27" name="Text 25"/>
          <p:cNvSpPr/>
          <p:nvPr/>
        </p:nvSpPr>
        <p:spPr>
          <a:xfrm>
            <a:off x="731520" y="4718304"/>
            <a:ext cx="2682240" cy="463296"/>
          </a:xfrm>
          <a:prstGeom prst="rect">
            <a:avLst/>
          </a:prstGeom>
          <a:noFill/>
          <a:ln/>
        </p:spPr>
        <p:txBody>
          <a:bodyPr wrap="square" rtlCol="0" anchor="ctr"/>
          <a:lstStyle/>
          <a:p>
            <a:r>
              <a:rPr lang="en-US" sz="1467" b="1" dirty="0">
                <a:solidFill>
                  <a:srgbClr val="1A1A1A"/>
                </a:solidFill>
                <a:latin typeface="Calibri" pitchFamily="34" charset="0"/>
                <a:ea typeface="Calibri" pitchFamily="34" charset="-122"/>
                <a:cs typeface="Calibri" pitchFamily="34" charset="-120"/>
              </a:rPr>
              <a:t>Signal Nature</a:t>
            </a:r>
            <a:endParaRPr lang="en-US" sz="1467" dirty="0"/>
          </a:p>
        </p:txBody>
      </p:sp>
      <p:sp>
        <p:nvSpPr>
          <p:cNvPr id="28" name="Text 26"/>
          <p:cNvSpPr/>
          <p:nvPr/>
        </p:nvSpPr>
        <p:spPr>
          <a:xfrm>
            <a:off x="3535680" y="4718304"/>
            <a:ext cx="365760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Quasi-DC, position-based</a:t>
            </a:r>
            <a:endParaRPr lang="en-US" sz="1467" dirty="0"/>
          </a:p>
        </p:txBody>
      </p:sp>
      <p:sp>
        <p:nvSpPr>
          <p:cNvPr id="29" name="Text 27"/>
          <p:cNvSpPr/>
          <p:nvPr/>
        </p:nvSpPr>
        <p:spPr>
          <a:xfrm>
            <a:off x="7315200" y="4718304"/>
            <a:ext cx="402336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Stochastic, activity-based</a:t>
            </a:r>
            <a:endParaRPr lang="en-US" sz="1467" dirty="0"/>
          </a:p>
        </p:txBody>
      </p:sp>
      <p:sp>
        <p:nvSpPr>
          <p:cNvPr id="30" name="Shape 28"/>
          <p:cNvSpPr/>
          <p:nvPr/>
        </p:nvSpPr>
        <p:spPr>
          <a:xfrm>
            <a:off x="609600" y="5242560"/>
            <a:ext cx="10972800" cy="585216"/>
          </a:xfrm>
          <a:prstGeom prst="rect">
            <a:avLst/>
          </a:prstGeom>
          <a:solidFill>
            <a:srgbClr val="FFFFFF"/>
          </a:solidFill>
          <a:ln/>
        </p:spPr>
        <p:txBody>
          <a:bodyPr/>
          <a:lstStyle/>
          <a:p>
            <a:endParaRPr lang="en-US" sz="2400"/>
          </a:p>
        </p:txBody>
      </p:sp>
      <p:sp>
        <p:nvSpPr>
          <p:cNvPr id="31" name="Text 29"/>
          <p:cNvSpPr/>
          <p:nvPr/>
        </p:nvSpPr>
        <p:spPr>
          <a:xfrm>
            <a:off x="731520" y="5303520"/>
            <a:ext cx="2682240" cy="463296"/>
          </a:xfrm>
          <a:prstGeom prst="rect">
            <a:avLst/>
          </a:prstGeom>
          <a:noFill/>
          <a:ln/>
        </p:spPr>
        <p:txBody>
          <a:bodyPr wrap="square" rtlCol="0" anchor="ctr"/>
          <a:lstStyle/>
          <a:p>
            <a:r>
              <a:rPr lang="en-US" sz="1467" b="1" dirty="0">
                <a:solidFill>
                  <a:srgbClr val="1A1A1A"/>
                </a:solidFill>
                <a:latin typeface="Calibri" pitchFamily="34" charset="0"/>
                <a:ea typeface="Calibri" pitchFamily="34" charset="-122"/>
                <a:cs typeface="Calibri" pitchFamily="34" charset="-120"/>
              </a:rPr>
              <a:t>Baseline</a:t>
            </a:r>
            <a:endParaRPr lang="en-US" sz="1467" dirty="0"/>
          </a:p>
        </p:txBody>
      </p:sp>
      <p:sp>
        <p:nvSpPr>
          <p:cNvPr id="32" name="Text 30"/>
          <p:cNvSpPr/>
          <p:nvPr/>
        </p:nvSpPr>
        <p:spPr>
          <a:xfrm>
            <a:off x="3535680" y="5303520"/>
            <a:ext cx="365760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Drifts significantly</a:t>
            </a:r>
            <a:endParaRPr lang="en-US" sz="1467" dirty="0"/>
          </a:p>
        </p:txBody>
      </p:sp>
      <p:sp>
        <p:nvSpPr>
          <p:cNvPr id="33" name="Text 31"/>
          <p:cNvSpPr/>
          <p:nvPr/>
        </p:nvSpPr>
        <p:spPr>
          <a:xfrm>
            <a:off x="7315200" y="5303520"/>
            <a:ext cx="402336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Returns to zero</a:t>
            </a:r>
            <a:endParaRPr lang="en-US" sz="1467" dirty="0"/>
          </a:p>
        </p:txBody>
      </p:sp>
      <p:sp>
        <p:nvSpPr>
          <p:cNvPr id="34" name="Shape 32"/>
          <p:cNvSpPr/>
          <p:nvPr/>
        </p:nvSpPr>
        <p:spPr>
          <a:xfrm>
            <a:off x="609600" y="5827776"/>
            <a:ext cx="10972800" cy="585216"/>
          </a:xfrm>
          <a:prstGeom prst="rect">
            <a:avLst/>
          </a:prstGeom>
          <a:solidFill>
            <a:srgbClr val="F5F5F5"/>
          </a:solidFill>
          <a:ln/>
        </p:spPr>
        <p:txBody>
          <a:bodyPr/>
          <a:lstStyle/>
          <a:p>
            <a:endParaRPr lang="en-US" sz="2400"/>
          </a:p>
        </p:txBody>
      </p:sp>
      <p:sp>
        <p:nvSpPr>
          <p:cNvPr id="35" name="Text 33"/>
          <p:cNvSpPr/>
          <p:nvPr/>
        </p:nvSpPr>
        <p:spPr>
          <a:xfrm>
            <a:off x="731520" y="5888736"/>
            <a:ext cx="2682240" cy="463296"/>
          </a:xfrm>
          <a:prstGeom prst="rect">
            <a:avLst/>
          </a:prstGeom>
          <a:noFill/>
          <a:ln/>
        </p:spPr>
        <p:txBody>
          <a:bodyPr wrap="square" rtlCol="0" anchor="ctr"/>
          <a:lstStyle/>
          <a:p>
            <a:r>
              <a:rPr lang="en-US" sz="1467" b="1" dirty="0">
                <a:solidFill>
                  <a:srgbClr val="1A1A1A"/>
                </a:solidFill>
                <a:latin typeface="Calibri" pitchFamily="34" charset="0"/>
                <a:ea typeface="Calibri" pitchFamily="34" charset="-122"/>
                <a:cs typeface="Calibri" pitchFamily="34" charset="-120"/>
              </a:rPr>
              <a:t>Key Challenge</a:t>
            </a:r>
            <a:endParaRPr lang="en-US" sz="1467" dirty="0"/>
          </a:p>
        </p:txBody>
      </p:sp>
      <p:sp>
        <p:nvSpPr>
          <p:cNvPr id="36" name="Text 34"/>
          <p:cNvSpPr/>
          <p:nvPr/>
        </p:nvSpPr>
        <p:spPr>
          <a:xfrm>
            <a:off x="3535680" y="5888736"/>
            <a:ext cx="365760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Drift &amp; blink artifacts</a:t>
            </a:r>
            <a:endParaRPr lang="en-US" sz="1467" dirty="0"/>
          </a:p>
        </p:txBody>
      </p:sp>
      <p:sp>
        <p:nvSpPr>
          <p:cNvPr id="37" name="Text 35"/>
          <p:cNvSpPr/>
          <p:nvPr/>
        </p:nvSpPr>
        <p:spPr>
          <a:xfrm>
            <a:off x="7315200" y="5888736"/>
            <a:ext cx="4023360" cy="463296"/>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Crosstalk &amp; fatigue</a:t>
            </a:r>
            <a:endParaRPr lang="en-US" sz="1467" dirty="0"/>
          </a:p>
        </p:txBody>
      </p:sp>
      <p:sp>
        <p:nvSpPr>
          <p:cNvPr id="38" name="Text 36"/>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11 / 32</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Signal Appearance: EOG vs EMG</a:t>
            </a:r>
            <a:endParaRPr lang="en-US" sz="4267" dirty="0"/>
          </a:p>
        </p:txBody>
      </p:sp>
      <p:sp>
        <p:nvSpPr>
          <p:cNvPr id="5" name="Shape 3"/>
          <p:cNvSpPr/>
          <p:nvPr/>
        </p:nvSpPr>
        <p:spPr>
          <a:xfrm>
            <a:off x="609600" y="1463040"/>
            <a:ext cx="5364480" cy="24384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6" name="Text 4"/>
          <p:cNvSpPr/>
          <p:nvPr/>
        </p:nvSpPr>
        <p:spPr>
          <a:xfrm>
            <a:off x="731520" y="1584960"/>
            <a:ext cx="5120640" cy="365760"/>
          </a:xfrm>
          <a:prstGeom prst="rect">
            <a:avLst/>
          </a:prstGeom>
          <a:noFill/>
          <a:ln/>
        </p:spPr>
        <p:txBody>
          <a:bodyPr wrap="square" rtlCol="0" anchor="ctr"/>
          <a:lstStyle/>
          <a:p>
            <a:r>
              <a:rPr lang="en-US" sz="1600" b="1" dirty="0">
                <a:solidFill>
                  <a:srgbClr val="F76902"/>
                </a:solidFill>
                <a:latin typeface="Calibri" pitchFamily="34" charset="0"/>
                <a:ea typeface="Calibri" pitchFamily="34" charset="-122"/>
                <a:cs typeface="Calibri" pitchFamily="34" charset="-120"/>
              </a:rPr>
              <a:t>EOG Signal (Look Right → Center → Left)</a:t>
            </a:r>
            <a:endParaRPr lang="en-US" sz="1600" dirty="0"/>
          </a:p>
        </p:txBody>
      </p:sp>
      <p:sp>
        <p:nvSpPr>
          <p:cNvPr id="7" name="Shape 5"/>
          <p:cNvSpPr/>
          <p:nvPr/>
        </p:nvSpPr>
        <p:spPr>
          <a:xfrm>
            <a:off x="975360" y="2682240"/>
            <a:ext cx="609600" cy="0"/>
          </a:xfrm>
          <a:prstGeom prst="line">
            <a:avLst/>
          </a:prstGeom>
          <a:noFill/>
          <a:ln w="25400">
            <a:solidFill>
              <a:srgbClr val="513127"/>
            </a:solidFill>
            <a:prstDash val="solid"/>
          </a:ln>
        </p:spPr>
        <p:txBody>
          <a:bodyPr/>
          <a:lstStyle/>
          <a:p>
            <a:endParaRPr lang="en-US" sz="2400"/>
          </a:p>
        </p:txBody>
      </p:sp>
      <p:sp>
        <p:nvSpPr>
          <p:cNvPr id="8" name="Shape 6"/>
          <p:cNvSpPr/>
          <p:nvPr/>
        </p:nvSpPr>
        <p:spPr>
          <a:xfrm>
            <a:off x="1584960" y="2682240"/>
            <a:ext cx="0" cy="487680"/>
          </a:xfrm>
          <a:prstGeom prst="line">
            <a:avLst/>
          </a:prstGeom>
          <a:noFill/>
          <a:ln w="25400">
            <a:solidFill>
              <a:srgbClr val="513127"/>
            </a:solidFill>
            <a:prstDash val="solid"/>
          </a:ln>
        </p:spPr>
        <p:txBody>
          <a:bodyPr/>
          <a:lstStyle/>
          <a:p>
            <a:endParaRPr lang="en-US" sz="2400"/>
          </a:p>
        </p:txBody>
      </p:sp>
      <p:sp>
        <p:nvSpPr>
          <p:cNvPr id="9" name="Shape 7"/>
          <p:cNvSpPr/>
          <p:nvPr/>
        </p:nvSpPr>
        <p:spPr>
          <a:xfrm>
            <a:off x="1584960" y="3169920"/>
            <a:ext cx="1219200" cy="0"/>
          </a:xfrm>
          <a:prstGeom prst="line">
            <a:avLst/>
          </a:prstGeom>
          <a:noFill/>
          <a:ln w="25400">
            <a:solidFill>
              <a:srgbClr val="513127"/>
            </a:solidFill>
            <a:prstDash val="solid"/>
          </a:ln>
        </p:spPr>
        <p:txBody>
          <a:bodyPr/>
          <a:lstStyle/>
          <a:p>
            <a:endParaRPr lang="en-US" sz="2400"/>
          </a:p>
        </p:txBody>
      </p:sp>
      <p:sp>
        <p:nvSpPr>
          <p:cNvPr id="10" name="Shape 8"/>
          <p:cNvSpPr/>
          <p:nvPr/>
        </p:nvSpPr>
        <p:spPr>
          <a:xfrm>
            <a:off x="2804160" y="2682240"/>
            <a:ext cx="0" cy="487680"/>
          </a:xfrm>
          <a:prstGeom prst="line">
            <a:avLst/>
          </a:prstGeom>
          <a:noFill/>
          <a:ln w="25400">
            <a:solidFill>
              <a:srgbClr val="513127"/>
            </a:solidFill>
            <a:prstDash val="solid"/>
          </a:ln>
        </p:spPr>
        <p:txBody>
          <a:bodyPr/>
          <a:lstStyle/>
          <a:p>
            <a:endParaRPr lang="en-US" sz="2400"/>
          </a:p>
        </p:txBody>
      </p:sp>
      <p:sp>
        <p:nvSpPr>
          <p:cNvPr id="11" name="Shape 9"/>
          <p:cNvSpPr/>
          <p:nvPr/>
        </p:nvSpPr>
        <p:spPr>
          <a:xfrm>
            <a:off x="2804160" y="2682240"/>
            <a:ext cx="975360" cy="0"/>
          </a:xfrm>
          <a:prstGeom prst="line">
            <a:avLst/>
          </a:prstGeom>
          <a:noFill/>
          <a:ln w="25400">
            <a:solidFill>
              <a:srgbClr val="513127"/>
            </a:solidFill>
            <a:prstDash val="solid"/>
          </a:ln>
        </p:spPr>
        <p:txBody>
          <a:bodyPr/>
          <a:lstStyle/>
          <a:p>
            <a:endParaRPr lang="en-US" sz="2400"/>
          </a:p>
        </p:txBody>
      </p:sp>
      <p:sp>
        <p:nvSpPr>
          <p:cNvPr id="12" name="Shape 10"/>
          <p:cNvSpPr/>
          <p:nvPr/>
        </p:nvSpPr>
        <p:spPr>
          <a:xfrm>
            <a:off x="3779520" y="2194560"/>
            <a:ext cx="0" cy="487680"/>
          </a:xfrm>
          <a:prstGeom prst="line">
            <a:avLst/>
          </a:prstGeom>
          <a:noFill/>
          <a:ln w="25400">
            <a:solidFill>
              <a:srgbClr val="513127"/>
            </a:solidFill>
            <a:prstDash val="solid"/>
          </a:ln>
        </p:spPr>
        <p:txBody>
          <a:bodyPr/>
          <a:lstStyle/>
          <a:p>
            <a:endParaRPr lang="en-US" sz="2400"/>
          </a:p>
        </p:txBody>
      </p:sp>
      <p:sp>
        <p:nvSpPr>
          <p:cNvPr id="13" name="Shape 11"/>
          <p:cNvSpPr/>
          <p:nvPr/>
        </p:nvSpPr>
        <p:spPr>
          <a:xfrm>
            <a:off x="3779520" y="2194560"/>
            <a:ext cx="1219200" cy="0"/>
          </a:xfrm>
          <a:prstGeom prst="line">
            <a:avLst/>
          </a:prstGeom>
          <a:noFill/>
          <a:ln w="25400">
            <a:solidFill>
              <a:srgbClr val="513127"/>
            </a:solidFill>
            <a:prstDash val="solid"/>
          </a:ln>
        </p:spPr>
        <p:txBody>
          <a:bodyPr/>
          <a:lstStyle/>
          <a:p>
            <a:endParaRPr lang="en-US" sz="2400"/>
          </a:p>
        </p:txBody>
      </p:sp>
      <p:sp>
        <p:nvSpPr>
          <p:cNvPr id="14" name="Text 12"/>
          <p:cNvSpPr/>
          <p:nvPr/>
        </p:nvSpPr>
        <p:spPr>
          <a:xfrm>
            <a:off x="731520" y="3535680"/>
            <a:ext cx="5120640" cy="30480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Step-like changes with sustained levels</a:t>
            </a:r>
            <a:endParaRPr lang="en-US" sz="1333" dirty="0"/>
          </a:p>
        </p:txBody>
      </p:sp>
      <p:sp>
        <p:nvSpPr>
          <p:cNvPr id="15" name="Shape 13"/>
          <p:cNvSpPr/>
          <p:nvPr/>
        </p:nvSpPr>
        <p:spPr>
          <a:xfrm>
            <a:off x="6217920" y="1463040"/>
            <a:ext cx="5364480" cy="24384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6" name="Text 14"/>
          <p:cNvSpPr/>
          <p:nvPr/>
        </p:nvSpPr>
        <p:spPr>
          <a:xfrm>
            <a:off x="6339840" y="1584960"/>
            <a:ext cx="5120640" cy="365760"/>
          </a:xfrm>
          <a:prstGeom prst="rect">
            <a:avLst/>
          </a:prstGeom>
          <a:noFill/>
          <a:ln/>
        </p:spPr>
        <p:txBody>
          <a:bodyPr wrap="square" rtlCol="0" anchor="ctr"/>
          <a:lstStyle/>
          <a:p>
            <a:r>
              <a:rPr lang="en-US" sz="1600" b="1" dirty="0">
                <a:solidFill>
                  <a:srgbClr val="D32F2F"/>
                </a:solidFill>
                <a:latin typeface="Calibri" pitchFamily="34" charset="0"/>
                <a:ea typeface="Calibri" pitchFamily="34" charset="-122"/>
                <a:cs typeface="Calibri" pitchFamily="34" charset="-120"/>
              </a:rPr>
              <a:t>EMG Signal (Muscle Contraction)</a:t>
            </a:r>
            <a:endParaRPr lang="en-US" sz="1600" dirty="0"/>
          </a:p>
        </p:txBody>
      </p:sp>
      <p:sp>
        <p:nvSpPr>
          <p:cNvPr id="17" name="Shape 15"/>
          <p:cNvSpPr/>
          <p:nvPr/>
        </p:nvSpPr>
        <p:spPr>
          <a:xfrm>
            <a:off x="6583680" y="2682240"/>
            <a:ext cx="731520" cy="0"/>
          </a:xfrm>
          <a:prstGeom prst="line">
            <a:avLst/>
          </a:prstGeom>
          <a:noFill/>
          <a:ln w="12700">
            <a:solidFill>
              <a:srgbClr val="D32F2F"/>
            </a:solidFill>
            <a:prstDash val="solid"/>
          </a:ln>
        </p:spPr>
        <p:txBody>
          <a:bodyPr/>
          <a:lstStyle/>
          <a:p>
            <a:endParaRPr lang="en-US" sz="2400"/>
          </a:p>
        </p:txBody>
      </p:sp>
      <p:sp>
        <p:nvSpPr>
          <p:cNvPr id="18" name="Shape 16"/>
          <p:cNvSpPr/>
          <p:nvPr/>
        </p:nvSpPr>
        <p:spPr>
          <a:xfrm>
            <a:off x="7315200" y="2316480"/>
            <a:ext cx="2194560" cy="731520"/>
          </a:xfrm>
          <a:prstGeom prst="ellipse">
            <a:avLst/>
          </a:prstGeom>
          <a:solidFill>
            <a:srgbClr val="D32F2F">
              <a:alpha val="40000"/>
            </a:srgbClr>
          </a:solidFill>
          <a:ln/>
        </p:spPr>
        <p:txBody>
          <a:bodyPr/>
          <a:lstStyle/>
          <a:p>
            <a:endParaRPr lang="en-US" sz="2400"/>
          </a:p>
        </p:txBody>
      </p:sp>
      <p:sp>
        <p:nvSpPr>
          <p:cNvPr id="19" name="Shape 17"/>
          <p:cNvSpPr/>
          <p:nvPr/>
        </p:nvSpPr>
        <p:spPr>
          <a:xfrm>
            <a:off x="9509760" y="2682240"/>
            <a:ext cx="1706880" cy="0"/>
          </a:xfrm>
          <a:prstGeom prst="line">
            <a:avLst/>
          </a:prstGeom>
          <a:noFill/>
          <a:ln w="12700">
            <a:solidFill>
              <a:srgbClr val="D32F2F"/>
            </a:solidFill>
            <a:prstDash val="solid"/>
          </a:ln>
        </p:spPr>
        <p:txBody>
          <a:bodyPr/>
          <a:lstStyle/>
          <a:p>
            <a:endParaRPr lang="en-US" sz="2400"/>
          </a:p>
        </p:txBody>
      </p:sp>
      <p:sp>
        <p:nvSpPr>
          <p:cNvPr id="20" name="Text 18"/>
          <p:cNvSpPr/>
          <p:nvPr/>
        </p:nvSpPr>
        <p:spPr>
          <a:xfrm>
            <a:off x="6339840" y="3535680"/>
            <a:ext cx="5120640" cy="30480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Stochastic bursts, returns to baseline</a:t>
            </a:r>
            <a:endParaRPr lang="en-US" sz="1333" dirty="0"/>
          </a:p>
        </p:txBody>
      </p:sp>
      <p:sp>
        <p:nvSpPr>
          <p:cNvPr id="21" name="Text 19"/>
          <p:cNvSpPr/>
          <p:nvPr/>
        </p:nvSpPr>
        <p:spPr>
          <a:xfrm>
            <a:off x="609600" y="4267200"/>
            <a:ext cx="10972800" cy="487680"/>
          </a:xfrm>
          <a:prstGeom prst="rect">
            <a:avLst/>
          </a:prstGeom>
          <a:noFill/>
          <a:ln/>
        </p:spPr>
        <p:txBody>
          <a:bodyPr wrap="square" rtlCol="0" anchor="ctr"/>
          <a:lstStyle/>
          <a:p>
            <a:r>
              <a:rPr lang="en-US" sz="2400" b="1" dirty="0">
                <a:solidFill>
                  <a:srgbClr val="1A1A1A"/>
                </a:solidFill>
                <a:latin typeface="Calibri" pitchFamily="34" charset="0"/>
                <a:ea typeface="Calibri" pitchFamily="34" charset="-122"/>
                <a:cs typeface="Calibri" pitchFamily="34" charset="-120"/>
              </a:rPr>
              <a:t>Key Processing Implications</a:t>
            </a:r>
            <a:endParaRPr lang="en-US" sz="2400" dirty="0"/>
          </a:p>
        </p:txBody>
      </p:sp>
      <p:sp>
        <p:nvSpPr>
          <p:cNvPr id="22" name="Shape 20"/>
          <p:cNvSpPr/>
          <p:nvPr/>
        </p:nvSpPr>
        <p:spPr>
          <a:xfrm>
            <a:off x="609600" y="4815840"/>
            <a:ext cx="97536" cy="731520"/>
          </a:xfrm>
          <a:prstGeom prst="rect">
            <a:avLst/>
          </a:prstGeom>
          <a:solidFill>
            <a:srgbClr val="513127"/>
          </a:solidFill>
          <a:ln/>
        </p:spPr>
        <p:txBody>
          <a:bodyPr/>
          <a:lstStyle/>
          <a:p>
            <a:endParaRPr lang="en-US" sz="2400"/>
          </a:p>
        </p:txBody>
      </p:sp>
      <p:sp>
        <p:nvSpPr>
          <p:cNvPr id="23" name="Text 21"/>
          <p:cNvSpPr/>
          <p:nvPr/>
        </p:nvSpPr>
        <p:spPr>
          <a:xfrm>
            <a:off x="853440" y="4876800"/>
            <a:ext cx="853440" cy="609600"/>
          </a:xfrm>
          <a:prstGeom prst="rect">
            <a:avLst/>
          </a:prstGeom>
          <a:noFill/>
          <a:ln/>
        </p:spPr>
        <p:txBody>
          <a:bodyPr wrap="square" rtlCol="0" anchor="ctr"/>
          <a:lstStyle/>
          <a:p>
            <a:r>
              <a:rPr lang="en-US" sz="1733" b="1" dirty="0">
                <a:solidFill>
                  <a:srgbClr val="513127"/>
                </a:solidFill>
                <a:latin typeface="Calibri" pitchFamily="34" charset="0"/>
                <a:ea typeface="Calibri" pitchFamily="34" charset="-122"/>
                <a:cs typeface="Calibri" pitchFamily="34" charset="-120"/>
              </a:rPr>
              <a:t>EOG:</a:t>
            </a:r>
            <a:endParaRPr lang="en-US" sz="1733" dirty="0"/>
          </a:p>
        </p:txBody>
      </p:sp>
      <p:sp>
        <p:nvSpPr>
          <p:cNvPr id="24" name="Text 22"/>
          <p:cNvSpPr/>
          <p:nvPr/>
        </p:nvSpPr>
        <p:spPr>
          <a:xfrm>
            <a:off x="1706880" y="4876800"/>
            <a:ext cx="975360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Low-pass filter effective; baseline correction critical; feature = amplitude/position</a:t>
            </a:r>
            <a:endParaRPr lang="en-US" sz="1600" dirty="0"/>
          </a:p>
        </p:txBody>
      </p:sp>
      <p:sp>
        <p:nvSpPr>
          <p:cNvPr id="25" name="Shape 23"/>
          <p:cNvSpPr/>
          <p:nvPr/>
        </p:nvSpPr>
        <p:spPr>
          <a:xfrm>
            <a:off x="609600" y="5608320"/>
            <a:ext cx="97536" cy="731520"/>
          </a:xfrm>
          <a:prstGeom prst="rect">
            <a:avLst/>
          </a:prstGeom>
          <a:solidFill>
            <a:srgbClr val="D32F2F"/>
          </a:solidFill>
          <a:ln/>
        </p:spPr>
        <p:txBody>
          <a:bodyPr/>
          <a:lstStyle/>
          <a:p>
            <a:endParaRPr lang="en-US" sz="2400"/>
          </a:p>
        </p:txBody>
      </p:sp>
      <p:sp>
        <p:nvSpPr>
          <p:cNvPr id="26" name="Text 24"/>
          <p:cNvSpPr/>
          <p:nvPr/>
        </p:nvSpPr>
        <p:spPr>
          <a:xfrm>
            <a:off x="853440" y="5669280"/>
            <a:ext cx="853440" cy="609600"/>
          </a:xfrm>
          <a:prstGeom prst="rect">
            <a:avLst/>
          </a:prstGeom>
          <a:noFill/>
          <a:ln/>
        </p:spPr>
        <p:txBody>
          <a:bodyPr wrap="square" rtlCol="0" anchor="ctr"/>
          <a:lstStyle/>
          <a:p>
            <a:r>
              <a:rPr lang="en-US" sz="1733" b="1" dirty="0">
                <a:solidFill>
                  <a:srgbClr val="D32F2F"/>
                </a:solidFill>
                <a:latin typeface="Calibri" pitchFamily="34" charset="0"/>
                <a:ea typeface="Calibri" pitchFamily="34" charset="-122"/>
                <a:cs typeface="Calibri" pitchFamily="34" charset="-120"/>
              </a:rPr>
              <a:t>EMG:</a:t>
            </a:r>
            <a:endParaRPr lang="en-US" sz="1733" dirty="0"/>
          </a:p>
        </p:txBody>
      </p:sp>
      <p:sp>
        <p:nvSpPr>
          <p:cNvPr id="27" name="Text 25"/>
          <p:cNvSpPr/>
          <p:nvPr/>
        </p:nvSpPr>
        <p:spPr>
          <a:xfrm>
            <a:off x="1706880" y="5669280"/>
            <a:ext cx="975360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Band-pass filter needed; RMS/MAV for envelope; frequency features important</a:t>
            </a:r>
            <a:endParaRPr lang="en-US" sz="1600" dirty="0"/>
          </a:p>
        </p:txBody>
      </p:sp>
      <p:sp>
        <p:nvSpPr>
          <p:cNvPr id="28" name="Text 26"/>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12 / 32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82752"/>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EOG Hardware Requirements</a:t>
            </a:r>
            <a:endParaRPr lang="en-US" sz="4267" dirty="0"/>
          </a:p>
        </p:txBody>
      </p:sp>
      <p:sp>
        <p:nvSpPr>
          <p:cNvPr id="5" name="Shape 3"/>
          <p:cNvSpPr/>
          <p:nvPr/>
        </p:nvSpPr>
        <p:spPr>
          <a:xfrm>
            <a:off x="609600" y="1463040"/>
            <a:ext cx="6705600" cy="707136"/>
          </a:xfrm>
          <a:prstGeom prst="rect">
            <a:avLst/>
          </a:prstGeom>
          <a:solidFill>
            <a:srgbClr val="F5F5F5"/>
          </a:solidFill>
          <a:ln/>
        </p:spPr>
        <p:txBody>
          <a:bodyPr/>
          <a:lstStyle/>
          <a:p>
            <a:endParaRPr lang="en-US" sz="2400"/>
          </a:p>
        </p:txBody>
      </p:sp>
      <p:sp>
        <p:nvSpPr>
          <p:cNvPr id="6" name="Text 4"/>
          <p:cNvSpPr/>
          <p:nvPr/>
        </p:nvSpPr>
        <p:spPr>
          <a:xfrm>
            <a:off x="792480" y="1584960"/>
            <a:ext cx="2438400" cy="48768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Biosignal Amplifier</a:t>
            </a:r>
            <a:endParaRPr lang="en-US" sz="1733" dirty="0"/>
          </a:p>
        </p:txBody>
      </p:sp>
      <p:sp>
        <p:nvSpPr>
          <p:cNvPr id="7" name="Text 5"/>
          <p:cNvSpPr/>
          <p:nvPr/>
        </p:nvSpPr>
        <p:spPr>
          <a:xfrm>
            <a:off x="3291840" y="1584960"/>
            <a:ext cx="39014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High input impedance, DC-coupled input, 2+ channels</a:t>
            </a:r>
            <a:endParaRPr lang="en-US" sz="1467" dirty="0"/>
          </a:p>
        </p:txBody>
      </p:sp>
      <p:sp>
        <p:nvSpPr>
          <p:cNvPr id="8" name="Shape 6"/>
          <p:cNvSpPr/>
          <p:nvPr/>
        </p:nvSpPr>
        <p:spPr>
          <a:xfrm>
            <a:off x="609600" y="2170176"/>
            <a:ext cx="6705600" cy="707136"/>
          </a:xfrm>
          <a:prstGeom prst="rect">
            <a:avLst/>
          </a:prstGeom>
          <a:solidFill>
            <a:srgbClr val="FFFFFF"/>
          </a:solidFill>
          <a:ln/>
        </p:spPr>
        <p:txBody>
          <a:bodyPr/>
          <a:lstStyle/>
          <a:p>
            <a:endParaRPr lang="en-US" sz="2400"/>
          </a:p>
        </p:txBody>
      </p:sp>
      <p:sp>
        <p:nvSpPr>
          <p:cNvPr id="9" name="Text 7"/>
          <p:cNvSpPr/>
          <p:nvPr/>
        </p:nvSpPr>
        <p:spPr>
          <a:xfrm>
            <a:off x="792480" y="2292096"/>
            <a:ext cx="2438400" cy="48768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Electrodes</a:t>
            </a:r>
            <a:endParaRPr lang="en-US" sz="1733" dirty="0"/>
          </a:p>
        </p:txBody>
      </p:sp>
      <p:sp>
        <p:nvSpPr>
          <p:cNvPr id="10" name="Text 8"/>
          <p:cNvSpPr/>
          <p:nvPr/>
        </p:nvSpPr>
        <p:spPr>
          <a:xfrm>
            <a:off x="3291840" y="2292096"/>
            <a:ext cx="39014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Ag/AgCl disposable or reusable cup electrodes</a:t>
            </a:r>
            <a:endParaRPr lang="en-US" sz="1467" dirty="0"/>
          </a:p>
        </p:txBody>
      </p:sp>
      <p:sp>
        <p:nvSpPr>
          <p:cNvPr id="11" name="Shape 9"/>
          <p:cNvSpPr/>
          <p:nvPr/>
        </p:nvSpPr>
        <p:spPr>
          <a:xfrm>
            <a:off x="609600" y="2877312"/>
            <a:ext cx="6705600" cy="707136"/>
          </a:xfrm>
          <a:prstGeom prst="rect">
            <a:avLst/>
          </a:prstGeom>
          <a:solidFill>
            <a:srgbClr val="F5F5F5"/>
          </a:solidFill>
          <a:ln/>
        </p:spPr>
        <p:txBody>
          <a:bodyPr/>
          <a:lstStyle/>
          <a:p>
            <a:endParaRPr lang="en-US" sz="2400"/>
          </a:p>
        </p:txBody>
      </p:sp>
      <p:sp>
        <p:nvSpPr>
          <p:cNvPr id="12" name="Text 10"/>
          <p:cNvSpPr/>
          <p:nvPr/>
        </p:nvSpPr>
        <p:spPr>
          <a:xfrm>
            <a:off x="792480" y="2999232"/>
            <a:ext cx="2438400" cy="48768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Conductive Gel</a:t>
            </a:r>
            <a:endParaRPr lang="en-US" sz="1733" dirty="0"/>
          </a:p>
        </p:txBody>
      </p:sp>
      <p:sp>
        <p:nvSpPr>
          <p:cNvPr id="13" name="Text 11"/>
          <p:cNvSpPr/>
          <p:nvPr/>
        </p:nvSpPr>
        <p:spPr>
          <a:xfrm>
            <a:off x="3291840" y="2999232"/>
            <a:ext cx="39014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Electrolyte gel for low impedance contact</a:t>
            </a:r>
            <a:endParaRPr lang="en-US" sz="1467" dirty="0"/>
          </a:p>
        </p:txBody>
      </p:sp>
      <p:sp>
        <p:nvSpPr>
          <p:cNvPr id="14" name="Shape 12"/>
          <p:cNvSpPr/>
          <p:nvPr/>
        </p:nvSpPr>
        <p:spPr>
          <a:xfrm>
            <a:off x="609600" y="3584448"/>
            <a:ext cx="6705600" cy="707136"/>
          </a:xfrm>
          <a:prstGeom prst="rect">
            <a:avLst/>
          </a:prstGeom>
          <a:solidFill>
            <a:srgbClr val="FFFFFF"/>
          </a:solidFill>
          <a:ln/>
        </p:spPr>
        <p:txBody>
          <a:bodyPr/>
          <a:lstStyle/>
          <a:p>
            <a:endParaRPr lang="en-US" sz="2400"/>
          </a:p>
        </p:txBody>
      </p:sp>
      <p:sp>
        <p:nvSpPr>
          <p:cNvPr id="15" name="Text 13"/>
          <p:cNvSpPr/>
          <p:nvPr/>
        </p:nvSpPr>
        <p:spPr>
          <a:xfrm>
            <a:off x="792480" y="3706368"/>
            <a:ext cx="2438400" cy="48768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ADC</a:t>
            </a:r>
            <a:endParaRPr lang="en-US" sz="1733" dirty="0"/>
          </a:p>
        </p:txBody>
      </p:sp>
      <p:sp>
        <p:nvSpPr>
          <p:cNvPr id="16" name="Text 14"/>
          <p:cNvSpPr/>
          <p:nvPr/>
        </p:nvSpPr>
        <p:spPr>
          <a:xfrm>
            <a:off x="3291840" y="3706368"/>
            <a:ext cx="39014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12-16 bit resolution, 250-500 Hz sample rate</a:t>
            </a:r>
            <a:endParaRPr lang="en-US" sz="1467" dirty="0"/>
          </a:p>
        </p:txBody>
      </p:sp>
      <p:sp>
        <p:nvSpPr>
          <p:cNvPr id="17" name="Shape 15"/>
          <p:cNvSpPr/>
          <p:nvPr/>
        </p:nvSpPr>
        <p:spPr>
          <a:xfrm>
            <a:off x="609600" y="4291584"/>
            <a:ext cx="6705600" cy="707136"/>
          </a:xfrm>
          <a:prstGeom prst="rect">
            <a:avLst/>
          </a:prstGeom>
          <a:solidFill>
            <a:srgbClr val="F5F5F5"/>
          </a:solidFill>
          <a:ln/>
        </p:spPr>
        <p:txBody>
          <a:bodyPr/>
          <a:lstStyle/>
          <a:p>
            <a:endParaRPr lang="en-US" sz="2400"/>
          </a:p>
        </p:txBody>
      </p:sp>
      <p:sp>
        <p:nvSpPr>
          <p:cNvPr id="18" name="Text 16"/>
          <p:cNvSpPr/>
          <p:nvPr/>
        </p:nvSpPr>
        <p:spPr>
          <a:xfrm>
            <a:off x="792480" y="4413504"/>
            <a:ext cx="2438400" cy="48768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Software</a:t>
            </a:r>
            <a:endParaRPr lang="en-US" sz="1733" dirty="0"/>
          </a:p>
        </p:txBody>
      </p:sp>
      <p:sp>
        <p:nvSpPr>
          <p:cNvPr id="19" name="Text 17"/>
          <p:cNvSpPr/>
          <p:nvPr/>
        </p:nvSpPr>
        <p:spPr>
          <a:xfrm>
            <a:off x="3291840" y="4413504"/>
            <a:ext cx="39014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Real-time acquisition and processing capability</a:t>
            </a:r>
            <a:endParaRPr lang="en-US" sz="1467" dirty="0"/>
          </a:p>
        </p:txBody>
      </p:sp>
      <p:sp>
        <p:nvSpPr>
          <p:cNvPr id="20" name="Shape 18"/>
          <p:cNvSpPr/>
          <p:nvPr/>
        </p:nvSpPr>
        <p:spPr>
          <a:xfrm>
            <a:off x="7559040" y="1463040"/>
            <a:ext cx="4023360" cy="3291840"/>
          </a:xfrm>
          <a:prstGeom prst="rect">
            <a:avLst/>
          </a:prstGeom>
          <a:solidFill>
            <a:srgbClr val="1A1A1A"/>
          </a:solidFill>
          <a:ln/>
          <a:effectLst>
            <a:outerShdw blurRad="50800" dist="25400" dir="8100000" algn="bl" rotWithShape="0">
              <a:srgbClr val="000000">
                <a:alpha val="10000"/>
              </a:srgbClr>
            </a:outerShdw>
          </a:effectLst>
        </p:spPr>
        <p:txBody>
          <a:bodyPr/>
          <a:lstStyle/>
          <a:p>
            <a:endParaRPr lang="en-US" sz="2400"/>
          </a:p>
        </p:txBody>
      </p:sp>
      <p:sp>
        <p:nvSpPr>
          <p:cNvPr id="21" name="Text 19"/>
          <p:cNvSpPr/>
          <p:nvPr/>
        </p:nvSpPr>
        <p:spPr>
          <a:xfrm>
            <a:off x="7680960" y="1584960"/>
            <a:ext cx="3779520" cy="487680"/>
          </a:xfrm>
          <a:prstGeom prst="rect">
            <a:avLst/>
          </a:prstGeom>
          <a:noFill/>
          <a:ln/>
        </p:spPr>
        <p:txBody>
          <a:bodyPr wrap="square" rtlCol="0" anchor="ctr"/>
          <a:lstStyle/>
          <a:p>
            <a:pPr algn="ctr"/>
            <a:r>
              <a:rPr lang="en-US" sz="1867" b="1" dirty="0">
                <a:solidFill>
                  <a:srgbClr val="F76902"/>
                </a:solidFill>
                <a:latin typeface="Calibri" pitchFamily="34" charset="0"/>
                <a:ea typeface="Calibri" pitchFamily="34" charset="-122"/>
                <a:cs typeface="Calibri" pitchFamily="34" charset="-120"/>
              </a:rPr>
              <a:t>Typical Specifications</a:t>
            </a:r>
            <a:endParaRPr lang="en-US" sz="1867" dirty="0"/>
          </a:p>
        </p:txBody>
      </p:sp>
      <p:sp>
        <p:nvSpPr>
          <p:cNvPr id="22" name="Text 20"/>
          <p:cNvSpPr/>
          <p:nvPr/>
        </p:nvSpPr>
        <p:spPr>
          <a:xfrm>
            <a:off x="7802880" y="2194560"/>
            <a:ext cx="1950720" cy="426720"/>
          </a:xfrm>
          <a:prstGeom prst="rect">
            <a:avLst/>
          </a:prstGeom>
          <a:noFill/>
          <a:ln/>
        </p:spPr>
        <p:txBody>
          <a:bodyPr wrap="square" rtlCol="0" anchor="ctr"/>
          <a:lstStyle/>
          <a:p>
            <a:r>
              <a:rPr lang="en-US" sz="1467" dirty="0">
                <a:solidFill>
                  <a:schemeClr val="bg1"/>
                </a:solidFill>
                <a:latin typeface="Calibri" pitchFamily="34" charset="0"/>
                <a:ea typeface="Calibri" pitchFamily="34" charset="-122"/>
                <a:cs typeface="Calibri" pitchFamily="34" charset="-120"/>
              </a:rPr>
              <a:t>Sample Rate</a:t>
            </a:r>
            <a:endParaRPr lang="en-US" sz="1467" dirty="0">
              <a:solidFill>
                <a:schemeClr val="bg1"/>
              </a:solidFill>
            </a:endParaRPr>
          </a:p>
        </p:txBody>
      </p:sp>
      <p:sp>
        <p:nvSpPr>
          <p:cNvPr id="23" name="Text 21"/>
          <p:cNvSpPr/>
          <p:nvPr/>
        </p:nvSpPr>
        <p:spPr>
          <a:xfrm>
            <a:off x="9753600" y="2194560"/>
            <a:ext cx="1706880" cy="426720"/>
          </a:xfrm>
          <a:prstGeom prst="rect">
            <a:avLst/>
          </a:prstGeom>
          <a:noFill/>
          <a:ln/>
        </p:spPr>
        <p:txBody>
          <a:bodyPr wrap="square" rtlCol="0" anchor="ctr"/>
          <a:lstStyle/>
          <a:p>
            <a:pPr algn="r"/>
            <a:r>
              <a:rPr lang="en-US" sz="1467" b="1" dirty="0">
                <a:solidFill>
                  <a:srgbClr val="FFFFFF"/>
                </a:solidFill>
                <a:latin typeface="Calibri" pitchFamily="34" charset="0"/>
                <a:ea typeface="Calibri" pitchFamily="34" charset="-122"/>
                <a:cs typeface="Calibri" pitchFamily="34" charset="-120"/>
              </a:rPr>
              <a:t>250-500 Hz</a:t>
            </a:r>
            <a:endParaRPr lang="en-US" sz="1467" dirty="0"/>
          </a:p>
        </p:txBody>
      </p:sp>
      <p:sp>
        <p:nvSpPr>
          <p:cNvPr id="24" name="Text 22"/>
          <p:cNvSpPr/>
          <p:nvPr/>
        </p:nvSpPr>
        <p:spPr>
          <a:xfrm>
            <a:off x="7802880" y="2657856"/>
            <a:ext cx="1950720" cy="426720"/>
          </a:xfrm>
          <a:prstGeom prst="rect">
            <a:avLst/>
          </a:prstGeom>
          <a:noFill/>
          <a:ln/>
        </p:spPr>
        <p:txBody>
          <a:bodyPr wrap="square" rtlCol="0" anchor="ctr"/>
          <a:lstStyle/>
          <a:p>
            <a:r>
              <a:rPr lang="en-US" sz="1467" dirty="0">
                <a:solidFill>
                  <a:schemeClr val="bg1"/>
                </a:solidFill>
                <a:latin typeface="Calibri" pitchFamily="34" charset="0"/>
                <a:ea typeface="Calibri" pitchFamily="34" charset="-122"/>
                <a:cs typeface="Calibri" pitchFamily="34" charset="-120"/>
              </a:rPr>
              <a:t>Resolution</a:t>
            </a:r>
            <a:endParaRPr lang="en-US" sz="1467" dirty="0">
              <a:solidFill>
                <a:schemeClr val="bg1"/>
              </a:solidFill>
            </a:endParaRPr>
          </a:p>
        </p:txBody>
      </p:sp>
      <p:sp>
        <p:nvSpPr>
          <p:cNvPr id="25" name="Text 23"/>
          <p:cNvSpPr/>
          <p:nvPr/>
        </p:nvSpPr>
        <p:spPr>
          <a:xfrm>
            <a:off x="9753600" y="2657856"/>
            <a:ext cx="1706880" cy="426720"/>
          </a:xfrm>
          <a:prstGeom prst="rect">
            <a:avLst/>
          </a:prstGeom>
          <a:noFill/>
          <a:ln/>
        </p:spPr>
        <p:txBody>
          <a:bodyPr wrap="square" rtlCol="0" anchor="ctr"/>
          <a:lstStyle/>
          <a:p>
            <a:pPr algn="r"/>
            <a:r>
              <a:rPr lang="en-US" sz="1467" b="1" dirty="0">
                <a:solidFill>
                  <a:srgbClr val="FFFFFF"/>
                </a:solidFill>
                <a:latin typeface="Calibri" pitchFamily="34" charset="0"/>
                <a:ea typeface="Calibri" pitchFamily="34" charset="-122"/>
                <a:cs typeface="Calibri" pitchFamily="34" charset="-120"/>
              </a:rPr>
              <a:t>12-16 bit</a:t>
            </a:r>
            <a:endParaRPr lang="en-US" sz="1467" dirty="0"/>
          </a:p>
        </p:txBody>
      </p:sp>
      <p:sp>
        <p:nvSpPr>
          <p:cNvPr id="26" name="Text 24"/>
          <p:cNvSpPr/>
          <p:nvPr/>
        </p:nvSpPr>
        <p:spPr>
          <a:xfrm>
            <a:off x="7802880" y="3121152"/>
            <a:ext cx="1950720" cy="426720"/>
          </a:xfrm>
          <a:prstGeom prst="rect">
            <a:avLst/>
          </a:prstGeom>
          <a:noFill/>
          <a:ln/>
        </p:spPr>
        <p:txBody>
          <a:bodyPr wrap="square" rtlCol="0" anchor="ctr"/>
          <a:lstStyle/>
          <a:p>
            <a:r>
              <a:rPr lang="en-US" sz="1467" dirty="0">
                <a:solidFill>
                  <a:schemeClr val="bg1"/>
                </a:solidFill>
                <a:latin typeface="Calibri" pitchFamily="34" charset="0"/>
                <a:ea typeface="Calibri" pitchFamily="34" charset="-122"/>
                <a:cs typeface="Calibri" pitchFamily="34" charset="-120"/>
              </a:rPr>
              <a:t>Input Range</a:t>
            </a:r>
            <a:endParaRPr lang="en-US" sz="1467" dirty="0">
              <a:solidFill>
                <a:schemeClr val="bg1"/>
              </a:solidFill>
            </a:endParaRPr>
          </a:p>
        </p:txBody>
      </p:sp>
      <p:sp>
        <p:nvSpPr>
          <p:cNvPr id="27" name="Text 25"/>
          <p:cNvSpPr/>
          <p:nvPr/>
        </p:nvSpPr>
        <p:spPr>
          <a:xfrm>
            <a:off x="9753600" y="3121152"/>
            <a:ext cx="1706880" cy="426720"/>
          </a:xfrm>
          <a:prstGeom prst="rect">
            <a:avLst/>
          </a:prstGeom>
          <a:noFill/>
          <a:ln/>
        </p:spPr>
        <p:txBody>
          <a:bodyPr wrap="square" rtlCol="0" anchor="ctr"/>
          <a:lstStyle/>
          <a:p>
            <a:pPr algn="r"/>
            <a:r>
              <a:rPr lang="en-US" sz="1467" b="1" dirty="0">
                <a:solidFill>
                  <a:srgbClr val="FFFFFF"/>
                </a:solidFill>
                <a:latin typeface="Calibri" pitchFamily="34" charset="0"/>
                <a:ea typeface="Calibri" pitchFamily="34" charset="-122"/>
                <a:cs typeface="Calibri" pitchFamily="34" charset="-120"/>
              </a:rPr>
              <a:t>±2-5 mV</a:t>
            </a:r>
            <a:endParaRPr lang="en-US" sz="1467" dirty="0"/>
          </a:p>
        </p:txBody>
      </p:sp>
      <p:sp>
        <p:nvSpPr>
          <p:cNvPr id="28" name="Text 26"/>
          <p:cNvSpPr/>
          <p:nvPr/>
        </p:nvSpPr>
        <p:spPr>
          <a:xfrm>
            <a:off x="7802880" y="3584448"/>
            <a:ext cx="1950720" cy="426720"/>
          </a:xfrm>
          <a:prstGeom prst="rect">
            <a:avLst/>
          </a:prstGeom>
          <a:noFill/>
          <a:ln/>
        </p:spPr>
        <p:txBody>
          <a:bodyPr wrap="square" rtlCol="0" anchor="ctr"/>
          <a:lstStyle/>
          <a:p>
            <a:r>
              <a:rPr lang="en-US" sz="1467" dirty="0">
                <a:solidFill>
                  <a:schemeClr val="bg1"/>
                </a:solidFill>
                <a:latin typeface="Calibri" pitchFamily="34" charset="0"/>
                <a:ea typeface="Calibri" pitchFamily="34" charset="-122"/>
                <a:cs typeface="Calibri" pitchFamily="34" charset="-120"/>
              </a:rPr>
              <a:t>CMRR</a:t>
            </a:r>
            <a:endParaRPr lang="en-US" sz="1467" dirty="0">
              <a:solidFill>
                <a:schemeClr val="bg1"/>
              </a:solidFill>
            </a:endParaRPr>
          </a:p>
        </p:txBody>
      </p:sp>
      <p:sp>
        <p:nvSpPr>
          <p:cNvPr id="29" name="Text 27"/>
          <p:cNvSpPr/>
          <p:nvPr/>
        </p:nvSpPr>
        <p:spPr>
          <a:xfrm>
            <a:off x="9753600" y="3584448"/>
            <a:ext cx="1706880" cy="426720"/>
          </a:xfrm>
          <a:prstGeom prst="rect">
            <a:avLst/>
          </a:prstGeom>
          <a:noFill/>
          <a:ln/>
        </p:spPr>
        <p:txBody>
          <a:bodyPr wrap="square" rtlCol="0" anchor="ctr"/>
          <a:lstStyle/>
          <a:p>
            <a:pPr algn="r"/>
            <a:r>
              <a:rPr lang="en-US" sz="1467" b="1" dirty="0">
                <a:solidFill>
                  <a:srgbClr val="FFFFFF"/>
                </a:solidFill>
                <a:latin typeface="Calibri" pitchFamily="34" charset="0"/>
                <a:ea typeface="Calibri" pitchFamily="34" charset="-122"/>
                <a:cs typeface="Calibri" pitchFamily="34" charset="-120"/>
              </a:rPr>
              <a:t>&gt;80 dB</a:t>
            </a:r>
            <a:endParaRPr lang="en-US" sz="1467" dirty="0"/>
          </a:p>
        </p:txBody>
      </p:sp>
      <p:sp>
        <p:nvSpPr>
          <p:cNvPr id="30" name="Text 28"/>
          <p:cNvSpPr/>
          <p:nvPr/>
        </p:nvSpPr>
        <p:spPr>
          <a:xfrm>
            <a:off x="7802880" y="4047744"/>
            <a:ext cx="1950720" cy="426720"/>
          </a:xfrm>
          <a:prstGeom prst="rect">
            <a:avLst/>
          </a:prstGeom>
          <a:noFill/>
          <a:ln/>
        </p:spPr>
        <p:txBody>
          <a:bodyPr wrap="square" rtlCol="0" anchor="ctr"/>
          <a:lstStyle/>
          <a:p>
            <a:r>
              <a:rPr lang="en-US" sz="1467" dirty="0">
                <a:solidFill>
                  <a:schemeClr val="bg1"/>
                </a:solidFill>
                <a:latin typeface="Calibri" pitchFamily="34" charset="0"/>
                <a:ea typeface="Calibri" pitchFamily="34" charset="-122"/>
                <a:cs typeface="Calibri" pitchFamily="34" charset="-120"/>
              </a:rPr>
              <a:t>Bandwidth</a:t>
            </a:r>
            <a:endParaRPr lang="en-US" sz="1467" dirty="0">
              <a:solidFill>
                <a:schemeClr val="bg1"/>
              </a:solidFill>
            </a:endParaRPr>
          </a:p>
        </p:txBody>
      </p:sp>
      <p:sp>
        <p:nvSpPr>
          <p:cNvPr id="31" name="Text 29"/>
          <p:cNvSpPr/>
          <p:nvPr/>
        </p:nvSpPr>
        <p:spPr>
          <a:xfrm>
            <a:off x="9753600" y="4047744"/>
            <a:ext cx="1706880" cy="426720"/>
          </a:xfrm>
          <a:prstGeom prst="rect">
            <a:avLst/>
          </a:prstGeom>
          <a:noFill/>
          <a:ln/>
        </p:spPr>
        <p:txBody>
          <a:bodyPr wrap="square" rtlCol="0" anchor="ctr"/>
          <a:lstStyle/>
          <a:p>
            <a:pPr algn="r"/>
            <a:r>
              <a:rPr lang="en-US" sz="1467" b="1" dirty="0">
                <a:solidFill>
                  <a:srgbClr val="FFFFFF"/>
                </a:solidFill>
                <a:latin typeface="Calibri" pitchFamily="34" charset="0"/>
                <a:ea typeface="Calibri" pitchFamily="34" charset="-122"/>
                <a:cs typeface="Calibri" pitchFamily="34" charset="-120"/>
              </a:rPr>
              <a:t>DC-100 Hz</a:t>
            </a:r>
            <a:endParaRPr lang="en-US" sz="1467" dirty="0"/>
          </a:p>
        </p:txBody>
      </p:sp>
      <p:sp>
        <p:nvSpPr>
          <p:cNvPr id="32" name="Shape 30"/>
          <p:cNvSpPr/>
          <p:nvPr/>
        </p:nvSpPr>
        <p:spPr>
          <a:xfrm>
            <a:off x="609600" y="5120640"/>
            <a:ext cx="10972800" cy="1341120"/>
          </a:xfrm>
          <a:prstGeom prst="rect">
            <a:avLst/>
          </a:prstGeom>
          <a:solidFill>
            <a:srgbClr val="FFA726">
              <a:alpha val="25000"/>
            </a:srgbClr>
          </a:solidFill>
          <a:ln/>
        </p:spPr>
        <p:txBody>
          <a:bodyPr/>
          <a:lstStyle/>
          <a:p>
            <a:endParaRPr lang="en-US" sz="2400"/>
          </a:p>
        </p:txBody>
      </p:sp>
      <p:sp>
        <p:nvSpPr>
          <p:cNvPr id="33" name="Text 31"/>
          <p:cNvSpPr/>
          <p:nvPr/>
        </p:nvSpPr>
        <p:spPr>
          <a:xfrm>
            <a:off x="853440" y="5242560"/>
            <a:ext cx="48768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 Critical: DC Coupling Required</a:t>
            </a:r>
            <a:endParaRPr lang="en-US" sz="1867" dirty="0"/>
          </a:p>
        </p:txBody>
      </p:sp>
      <p:sp>
        <p:nvSpPr>
          <p:cNvPr id="34" name="Text 32"/>
          <p:cNvSpPr/>
          <p:nvPr/>
        </p:nvSpPr>
        <p:spPr>
          <a:xfrm>
            <a:off x="853440" y="5669280"/>
            <a:ext cx="10485120" cy="73152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Unlike EMG, EOG requires DC coupling to capture sustained gaze positions. AC coupling will filter out the steady-state voltages that indicate where the eye is looking. Ensure your amplifier supports DC mode or has a very low high-pass cutoff (&lt;0.1 Hz).</a:t>
            </a:r>
            <a:endParaRPr lang="en-US" sz="1600" dirty="0"/>
          </a:p>
        </p:txBody>
      </p:sp>
      <p:sp>
        <p:nvSpPr>
          <p:cNvPr id="35" name="Text 33"/>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21 / 32</a:t>
            </a:r>
            <a:endParaRPr lang="en-US" sz="1200" dirty="0"/>
          </a:p>
        </p:txBody>
      </p:sp>
    </p:spTree>
    <p:extLst>
      <p:ext uri="{BB962C8B-B14F-4D97-AF65-F5344CB8AC3E}">
        <p14:creationId xmlns:p14="http://schemas.microsoft.com/office/powerpoint/2010/main" val="411345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Electrode Placement Tips</a:t>
            </a:r>
            <a:endParaRPr lang="en-US" sz="4267" dirty="0"/>
          </a:p>
        </p:txBody>
      </p:sp>
      <p:sp>
        <p:nvSpPr>
          <p:cNvPr id="5" name="Shape 3"/>
          <p:cNvSpPr/>
          <p:nvPr/>
        </p:nvSpPr>
        <p:spPr>
          <a:xfrm>
            <a:off x="609600" y="1402080"/>
            <a:ext cx="5364480" cy="22555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6" name="Shape 4"/>
          <p:cNvSpPr/>
          <p:nvPr/>
        </p:nvSpPr>
        <p:spPr>
          <a:xfrm>
            <a:off x="609600" y="1402080"/>
            <a:ext cx="5364480" cy="487680"/>
          </a:xfrm>
          <a:prstGeom prst="rect">
            <a:avLst/>
          </a:prstGeom>
          <a:solidFill>
            <a:srgbClr val="F76902"/>
          </a:solidFill>
          <a:ln/>
        </p:spPr>
        <p:txBody>
          <a:bodyPr/>
          <a:lstStyle/>
          <a:p>
            <a:endParaRPr lang="en-US" sz="2400"/>
          </a:p>
        </p:txBody>
      </p:sp>
      <p:sp>
        <p:nvSpPr>
          <p:cNvPr id="7" name="Text 5"/>
          <p:cNvSpPr/>
          <p:nvPr/>
        </p:nvSpPr>
        <p:spPr>
          <a:xfrm>
            <a:off x="792480" y="1463040"/>
            <a:ext cx="4998720" cy="365760"/>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Skin Preparation</a:t>
            </a:r>
            <a:endParaRPr lang="en-US" sz="1600" dirty="0"/>
          </a:p>
        </p:txBody>
      </p:sp>
      <p:sp>
        <p:nvSpPr>
          <p:cNvPr id="8" name="Text 6"/>
          <p:cNvSpPr/>
          <p:nvPr/>
        </p:nvSpPr>
        <p:spPr>
          <a:xfrm>
            <a:off x="853440" y="2011680"/>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Clean with alcohol wipe</a:t>
            </a:r>
            <a:endParaRPr lang="en-US" sz="1467" dirty="0"/>
          </a:p>
        </p:txBody>
      </p:sp>
      <p:sp>
        <p:nvSpPr>
          <p:cNvPr id="9" name="Text 7"/>
          <p:cNvSpPr/>
          <p:nvPr/>
        </p:nvSpPr>
        <p:spPr>
          <a:xfrm>
            <a:off x="853440" y="2401824"/>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Allow to dry completely</a:t>
            </a:r>
            <a:endParaRPr lang="en-US" sz="1467" dirty="0"/>
          </a:p>
        </p:txBody>
      </p:sp>
      <p:sp>
        <p:nvSpPr>
          <p:cNvPr id="10" name="Text 8"/>
          <p:cNvSpPr/>
          <p:nvPr/>
        </p:nvSpPr>
        <p:spPr>
          <a:xfrm>
            <a:off x="853440" y="2791968"/>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Light abrasion if needed</a:t>
            </a:r>
            <a:endParaRPr lang="en-US" sz="1467" dirty="0"/>
          </a:p>
        </p:txBody>
      </p:sp>
      <p:sp>
        <p:nvSpPr>
          <p:cNvPr id="11" name="Text 9"/>
          <p:cNvSpPr/>
          <p:nvPr/>
        </p:nvSpPr>
        <p:spPr>
          <a:xfrm>
            <a:off x="853440" y="3182112"/>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Check impedance &lt;10kΩ</a:t>
            </a:r>
            <a:endParaRPr lang="en-US" sz="1467" dirty="0"/>
          </a:p>
        </p:txBody>
      </p:sp>
      <p:sp>
        <p:nvSpPr>
          <p:cNvPr id="12" name="Shape 10"/>
          <p:cNvSpPr/>
          <p:nvPr/>
        </p:nvSpPr>
        <p:spPr>
          <a:xfrm>
            <a:off x="6217920" y="1402080"/>
            <a:ext cx="5364480" cy="22555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3" name="Shape 11"/>
          <p:cNvSpPr/>
          <p:nvPr/>
        </p:nvSpPr>
        <p:spPr>
          <a:xfrm>
            <a:off x="6217920" y="1402080"/>
            <a:ext cx="5364480" cy="487680"/>
          </a:xfrm>
          <a:prstGeom prst="rect">
            <a:avLst/>
          </a:prstGeom>
          <a:solidFill>
            <a:srgbClr val="513127"/>
          </a:solidFill>
          <a:ln/>
        </p:spPr>
        <p:txBody>
          <a:bodyPr/>
          <a:lstStyle/>
          <a:p>
            <a:endParaRPr lang="en-US" sz="2400"/>
          </a:p>
        </p:txBody>
      </p:sp>
      <p:sp>
        <p:nvSpPr>
          <p:cNvPr id="14" name="Text 12"/>
          <p:cNvSpPr/>
          <p:nvPr/>
        </p:nvSpPr>
        <p:spPr>
          <a:xfrm>
            <a:off x="6400800" y="1463040"/>
            <a:ext cx="4998720" cy="365760"/>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Electrode Placement</a:t>
            </a:r>
            <a:endParaRPr lang="en-US" sz="1600" dirty="0"/>
          </a:p>
        </p:txBody>
      </p:sp>
      <p:sp>
        <p:nvSpPr>
          <p:cNvPr id="15" name="Text 13"/>
          <p:cNvSpPr/>
          <p:nvPr/>
        </p:nvSpPr>
        <p:spPr>
          <a:xfrm>
            <a:off x="6461760" y="2011680"/>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Outer canthi for HEOG</a:t>
            </a:r>
            <a:endParaRPr lang="en-US" sz="1467" dirty="0"/>
          </a:p>
        </p:txBody>
      </p:sp>
      <p:sp>
        <p:nvSpPr>
          <p:cNvPr id="16" name="Text 14"/>
          <p:cNvSpPr/>
          <p:nvPr/>
        </p:nvSpPr>
        <p:spPr>
          <a:xfrm>
            <a:off x="6461760" y="2401824"/>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Above/below eye for VEOG</a:t>
            </a:r>
            <a:endParaRPr lang="en-US" sz="1467" dirty="0"/>
          </a:p>
        </p:txBody>
      </p:sp>
      <p:sp>
        <p:nvSpPr>
          <p:cNvPr id="17" name="Text 15"/>
          <p:cNvSpPr/>
          <p:nvPr/>
        </p:nvSpPr>
        <p:spPr>
          <a:xfrm>
            <a:off x="6461760" y="2791968"/>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~1 cm from eye</a:t>
            </a:r>
            <a:endParaRPr lang="en-US" sz="1467" dirty="0"/>
          </a:p>
        </p:txBody>
      </p:sp>
      <p:sp>
        <p:nvSpPr>
          <p:cNvPr id="18" name="Text 16"/>
          <p:cNvSpPr/>
          <p:nvPr/>
        </p:nvSpPr>
        <p:spPr>
          <a:xfrm>
            <a:off x="6461760" y="3182112"/>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Symmetrical positioning</a:t>
            </a:r>
            <a:endParaRPr lang="en-US" sz="1467" dirty="0"/>
          </a:p>
        </p:txBody>
      </p:sp>
      <p:sp>
        <p:nvSpPr>
          <p:cNvPr id="19" name="Shape 17"/>
          <p:cNvSpPr/>
          <p:nvPr/>
        </p:nvSpPr>
        <p:spPr>
          <a:xfrm>
            <a:off x="609600" y="3840480"/>
            <a:ext cx="5364480" cy="22555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0" name="Shape 18"/>
          <p:cNvSpPr/>
          <p:nvPr/>
        </p:nvSpPr>
        <p:spPr>
          <a:xfrm>
            <a:off x="609600" y="3840480"/>
            <a:ext cx="5364480" cy="487680"/>
          </a:xfrm>
          <a:prstGeom prst="rect">
            <a:avLst/>
          </a:prstGeom>
          <a:solidFill>
            <a:srgbClr val="D32F2F"/>
          </a:solidFill>
          <a:ln/>
        </p:spPr>
        <p:txBody>
          <a:bodyPr/>
          <a:lstStyle/>
          <a:p>
            <a:endParaRPr lang="en-US" sz="2400"/>
          </a:p>
        </p:txBody>
      </p:sp>
      <p:sp>
        <p:nvSpPr>
          <p:cNvPr id="21" name="Text 19"/>
          <p:cNvSpPr/>
          <p:nvPr/>
        </p:nvSpPr>
        <p:spPr>
          <a:xfrm>
            <a:off x="792480" y="3901440"/>
            <a:ext cx="4998720" cy="365760"/>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Common Mistakes</a:t>
            </a:r>
            <a:endParaRPr lang="en-US" sz="1600" dirty="0"/>
          </a:p>
        </p:txBody>
      </p:sp>
      <p:sp>
        <p:nvSpPr>
          <p:cNvPr id="22" name="Text 20"/>
          <p:cNvSpPr/>
          <p:nvPr/>
        </p:nvSpPr>
        <p:spPr>
          <a:xfrm>
            <a:off x="853440" y="4450080"/>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Electrodes too far from eye</a:t>
            </a:r>
            <a:endParaRPr lang="en-US" sz="1467" dirty="0"/>
          </a:p>
        </p:txBody>
      </p:sp>
      <p:sp>
        <p:nvSpPr>
          <p:cNvPr id="23" name="Text 21"/>
          <p:cNvSpPr/>
          <p:nvPr/>
        </p:nvSpPr>
        <p:spPr>
          <a:xfrm>
            <a:off x="853440" y="4840224"/>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Asymmetric placement</a:t>
            </a:r>
            <a:endParaRPr lang="en-US" sz="1467" dirty="0"/>
          </a:p>
        </p:txBody>
      </p:sp>
      <p:sp>
        <p:nvSpPr>
          <p:cNvPr id="24" name="Text 22"/>
          <p:cNvSpPr/>
          <p:nvPr/>
        </p:nvSpPr>
        <p:spPr>
          <a:xfrm>
            <a:off x="853440" y="5230368"/>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Poor skin contact</a:t>
            </a:r>
            <a:endParaRPr lang="en-US" sz="1467" dirty="0"/>
          </a:p>
        </p:txBody>
      </p:sp>
      <p:sp>
        <p:nvSpPr>
          <p:cNvPr id="25" name="Text 23"/>
          <p:cNvSpPr/>
          <p:nvPr/>
        </p:nvSpPr>
        <p:spPr>
          <a:xfrm>
            <a:off x="853440" y="5620512"/>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Dried out gel</a:t>
            </a:r>
            <a:endParaRPr lang="en-US" sz="1467" dirty="0"/>
          </a:p>
        </p:txBody>
      </p:sp>
      <p:sp>
        <p:nvSpPr>
          <p:cNvPr id="26" name="Shape 24"/>
          <p:cNvSpPr/>
          <p:nvPr/>
        </p:nvSpPr>
        <p:spPr>
          <a:xfrm>
            <a:off x="6217920" y="3840480"/>
            <a:ext cx="5364480" cy="225552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7" name="Shape 25"/>
          <p:cNvSpPr/>
          <p:nvPr/>
        </p:nvSpPr>
        <p:spPr>
          <a:xfrm>
            <a:off x="6217920" y="3840480"/>
            <a:ext cx="5364480" cy="487680"/>
          </a:xfrm>
          <a:prstGeom prst="rect">
            <a:avLst/>
          </a:prstGeom>
          <a:solidFill>
            <a:srgbClr val="F76902"/>
          </a:solidFill>
          <a:ln/>
        </p:spPr>
        <p:txBody>
          <a:bodyPr/>
          <a:lstStyle/>
          <a:p>
            <a:endParaRPr lang="en-US" sz="2400"/>
          </a:p>
        </p:txBody>
      </p:sp>
      <p:sp>
        <p:nvSpPr>
          <p:cNvPr id="28" name="Text 26"/>
          <p:cNvSpPr/>
          <p:nvPr/>
        </p:nvSpPr>
        <p:spPr>
          <a:xfrm>
            <a:off x="6400800" y="3901440"/>
            <a:ext cx="4998720" cy="365760"/>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Quality Checks</a:t>
            </a:r>
            <a:endParaRPr lang="en-US" sz="1600" dirty="0"/>
          </a:p>
        </p:txBody>
      </p:sp>
      <p:sp>
        <p:nvSpPr>
          <p:cNvPr id="29" name="Text 27"/>
          <p:cNvSpPr/>
          <p:nvPr/>
        </p:nvSpPr>
        <p:spPr>
          <a:xfrm>
            <a:off x="6461760" y="4450080"/>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Look L/R - verify HEOG</a:t>
            </a:r>
            <a:endParaRPr lang="en-US" sz="1467" dirty="0"/>
          </a:p>
        </p:txBody>
      </p:sp>
      <p:sp>
        <p:nvSpPr>
          <p:cNvPr id="30" name="Text 28"/>
          <p:cNvSpPr/>
          <p:nvPr/>
        </p:nvSpPr>
        <p:spPr>
          <a:xfrm>
            <a:off x="6461760" y="4840224"/>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Look U/D - verify VEOG</a:t>
            </a:r>
            <a:endParaRPr lang="en-US" sz="1467" dirty="0"/>
          </a:p>
        </p:txBody>
      </p:sp>
      <p:sp>
        <p:nvSpPr>
          <p:cNvPr id="31" name="Text 29"/>
          <p:cNvSpPr/>
          <p:nvPr/>
        </p:nvSpPr>
        <p:spPr>
          <a:xfrm>
            <a:off x="6461760" y="5230368"/>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Blink - large VEOG spike</a:t>
            </a:r>
            <a:endParaRPr lang="en-US" sz="1467" dirty="0"/>
          </a:p>
        </p:txBody>
      </p:sp>
      <p:sp>
        <p:nvSpPr>
          <p:cNvPr id="32" name="Text 30"/>
          <p:cNvSpPr/>
          <p:nvPr/>
        </p:nvSpPr>
        <p:spPr>
          <a:xfrm>
            <a:off x="6461760" y="5620512"/>
            <a:ext cx="4876800" cy="390144"/>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Stable baseline at rest</a:t>
            </a:r>
            <a:endParaRPr lang="en-US" sz="1467" dirty="0"/>
          </a:p>
        </p:txBody>
      </p:sp>
      <p:sp>
        <p:nvSpPr>
          <p:cNvPr id="33" name="Text 31"/>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22 / 32</a:t>
            </a:r>
            <a:endParaRPr lang="en-US" sz="1200" dirty="0"/>
          </a:p>
        </p:txBody>
      </p:sp>
    </p:spTree>
    <p:extLst>
      <p:ext uri="{BB962C8B-B14F-4D97-AF65-F5344CB8AC3E}">
        <p14:creationId xmlns:p14="http://schemas.microsoft.com/office/powerpoint/2010/main" val="3508419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Signal Quality Considerations</a:t>
            </a:r>
            <a:endParaRPr lang="en-US" sz="4267" dirty="0"/>
          </a:p>
        </p:txBody>
      </p:sp>
      <p:sp>
        <p:nvSpPr>
          <p:cNvPr id="5" name="Shape 3"/>
          <p:cNvSpPr/>
          <p:nvPr/>
        </p:nvSpPr>
        <p:spPr>
          <a:xfrm>
            <a:off x="609600" y="1463040"/>
            <a:ext cx="10972800" cy="548640"/>
          </a:xfrm>
          <a:prstGeom prst="rect">
            <a:avLst/>
          </a:prstGeom>
          <a:solidFill>
            <a:srgbClr val="1A1A1A"/>
          </a:solidFill>
          <a:ln/>
        </p:spPr>
        <p:txBody>
          <a:bodyPr/>
          <a:lstStyle/>
          <a:p>
            <a:endParaRPr lang="en-US" sz="2400"/>
          </a:p>
        </p:txBody>
      </p:sp>
      <p:sp>
        <p:nvSpPr>
          <p:cNvPr id="6" name="Text 4"/>
          <p:cNvSpPr/>
          <p:nvPr/>
        </p:nvSpPr>
        <p:spPr>
          <a:xfrm>
            <a:off x="731520" y="1524000"/>
            <a:ext cx="3048000" cy="426720"/>
          </a:xfrm>
          <a:prstGeom prst="rect">
            <a:avLst/>
          </a:prstGeom>
          <a:noFill/>
          <a:ln/>
        </p:spPr>
        <p:txBody>
          <a:bodyPr wrap="square" rtlCol="0" anchor="ctr"/>
          <a:lstStyle/>
          <a:p>
            <a:r>
              <a:rPr lang="en-US" sz="1600" b="1" dirty="0">
                <a:solidFill>
                  <a:srgbClr val="FFFFFF"/>
                </a:solidFill>
                <a:latin typeface="Calibri" pitchFamily="34" charset="0"/>
                <a:ea typeface="Calibri" pitchFamily="34" charset="-122"/>
                <a:cs typeface="Calibri" pitchFamily="34" charset="-120"/>
              </a:rPr>
              <a:t>Factor</a:t>
            </a:r>
            <a:endParaRPr lang="en-US" sz="1600" dirty="0"/>
          </a:p>
        </p:txBody>
      </p:sp>
      <p:sp>
        <p:nvSpPr>
          <p:cNvPr id="7" name="Text 5"/>
          <p:cNvSpPr/>
          <p:nvPr/>
        </p:nvSpPr>
        <p:spPr>
          <a:xfrm>
            <a:off x="3779520" y="1524000"/>
            <a:ext cx="2438400" cy="426720"/>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Good</a:t>
            </a:r>
            <a:endParaRPr lang="en-US" sz="1600" dirty="0"/>
          </a:p>
        </p:txBody>
      </p:sp>
      <p:sp>
        <p:nvSpPr>
          <p:cNvPr id="8" name="Text 6"/>
          <p:cNvSpPr/>
          <p:nvPr/>
        </p:nvSpPr>
        <p:spPr>
          <a:xfrm>
            <a:off x="6217920" y="1524000"/>
            <a:ext cx="3048000" cy="426720"/>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Acceptable</a:t>
            </a:r>
            <a:endParaRPr lang="en-US" sz="1600" dirty="0"/>
          </a:p>
        </p:txBody>
      </p:sp>
      <p:sp>
        <p:nvSpPr>
          <p:cNvPr id="9" name="Text 7"/>
          <p:cNvSpPr/>
          <p:nvPr/>
        </p:nvSpPr>
        <p:spPr>
          <a:xfrm>
            <a:off x="9265920" y="1524000"/>
            <a:ext cx="2438400" cy="426720"/>
          </a:xfrm>
          <a:prstGeom prst="rect">
            <a:avLst/>
          </a:prstGeom>
          <a:noFill/>
          <a:ln/>
        </p:spPr>
        <p:txBody>
          <a:bodyPr wrap="square" rtlCol="0" anchor="ctr"/>
          <a:lstStyle/>
          <a:p>
            <a:pPr algn="ctr"/>
            <a:r>
              <a:rPr lang="en-US" sz="1600" b="1" dirty="0">
                <a:solidFill>
                  <a:srgbClr val="FFFFFF"/>
                </a:solidFill>
                <a:latin typeface="Calibri" pitchFamily="34" charset="0"/>
                <a:ea typeface="Calibri" pitchFamily="34" charset="-122"/>
                <a:cs typeface="Calibri" pitchFamily="34" charset="-120"/>
              </a:rPr>
              <a:t>Poor</a:t>
            </a:r>
            <a:endParaRPr lang="en-US" sz="1600" dirty="0"/>
          </a:p>
        </p:txBody>
      </p:sp>
      <p:sp>
        <p:nvSpPr>
          <p:cNvPr id="10" name="Shape 8"/>
          <p:cNvSpPr/>
          <p:nvPr/>
        </p:nvSpPr>
        <p:spPr>
          <a:xfrm>
            <a:off x="609600" y="2011680"/>
            <a:ext cx="10972800" cy="609600"/>
          </a:xfrm>
          <a:prstGeom prst="rect">
            <a:avLst/>
          </a:prstGeom>
          <a:solidFill>
            <a:srgbClr val="F5F5F5"/>
          </a:solidFill>
          <a:ln/>
        </p:spPr>
        <p:txBody>
          <a:bodyPr/>
          <a:lstStyle/>
          <a:p>
            <a:endParaRPr lang="en-US" sz="2400"/>
          </a:p>
        </p:txBody>
      </p:sp>
      <p:sp>
        <p:nvSpPr>
          <p:cNvPr id="11" name="Text 9"/>
          <p:cNvSpPr/>
          <p:nvPr/>
        </p:nvSpPr>
        <p:spPr>
          <a:xfrm>
            <a:off x="731520" y="2109216"/>
            <a:ext cx="30480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Electrode Impedance</a:t>
            </a:r>
            <a:endParaRPr lang="en-US" sz="1467" dirty="0"/>
          </a:p>
        </p:txBody>
      </p:sp>
      <p:sp>
        <p:nvSpPr>
          <p:cNvPr id="12" name="Text 10"/>
          <p:cNvSpPr/>
          <p:nvPr/>
        </p:nvSpPr>
        <p:spPr>
          <a:xfrm>
            <a:off x="3779520" y="2109216"/>
            <a:ext cx="2438400" cy="426720"/>
          </a:xfrm>
          <a:prstGeom prst="rect">
            <a:avLst/>
          </a:prstGeom>
          <a:noFill/>
          <a:ln/>
        </p:spPr>
        <p:txBody>
          <a:bodyPr wrap="square" rtlCol="0" anchor="ctr"/>
          <a:lstStyle/>
          <a:p>
            <a:pPr algn="ctr"/>
            <a:r>
              <a:rPr lang="en-US" sz="1467" dirty="0">
                <a:solidFill>
                  <a:srgbClr val="F76902"/>
                </a:solidFill>
                <a:latin typeface="Calibri" pitchFamily="34" charset="0"/>
                <a:ea typeface="Calibri" pitchFamily="34" charset="-122"/>
                <a:cs typeface="Calibri" pitchFamily="34" charset="-120"/>
              </a:rPr>
              <a:t>&lt;5 kΩ</a:t>
            </a:r>
            <a:endParaRPr lang="en-US" sz="1467" dirty="0"/>
          </a:p>
        </p:txBody>
      </p:sp>
      <p:sp>
        <p:nvSpPr>
          <p:cNvPr id="13" name="Text 11"/>
          <p:cNvSpPr/>
          <p:nvPr/>
        </p:nvSpPr>
        <p:spPr>
          <a:xfrm>
            <a:off x="6217920" y="2109216"/>
            <a:ext cx="3048000" cy="426720"/>
          </a:xfrm>
          <a:prstGeom prst="rect">
            <a:avLst/>
          </a:prstGeom>
          <a:noFill/>
          <a:ln/>
        </p:spPr>
        <p:txBody>
          <a:bodyPr wrap="square" rtlCol="0" anchor="ctr"/>
          <a:lstStyle/>
          <a:p>
            <a:pPr algn="ctr"/>
            <a:r>
              <a:rPr lang="en-US" sz="1467" dirty="0">
                <a:solidFill>
                  <a:srgbClr val="FFA726"/>
                </a:solidFill>
                <a:latin typeface="Calibri" pitchFamily="34" charset="0"/>
                <a:ea typeface="Calibri" pitchFamily="34" charset="-122"/>
                <a:cs typeface="Calibri" pitchFamily="34" charset="-120"/>
              </a:rPr>
              <a:t>&lt;10 kΩ</a:t>
            </a:r>
            <a:endParaRPr lang="en-US" sz="1467" dirty="0"/>
          </a:p>
        </p:txBody>
      </p:sp>
      <p:sp>
        <p:nvSpPr>
          <p:cNvPr id="14" name="Text 12"/>
          <p:cNvSpPr/>
          <p:nvPr/>
        </p:nvSpPr>
        <p:spPr>
          <a:xfrm>
            <a:off x="9265920" y="2109216"/>
            <a:ext cx="2438400" cy="426720"/>
          </a:xfrm>
          <a:prstGeom prst="rect">
            <a:avLst/>
          </a:prstGeom>
          <a:noFill/>
          <a:ln/>
        </p:spPr>
        <p:txBody>
          <a:bodyPr wrap="square" rtlCol="0" anchor="ctr"/>
          <a:lstStyle/>
          <a:p>
            <a:pPr algn="ctr"/>
            <a:r>
              <a:rPr lang="en-US" sz="1467" dirty="0">
                <a:solidFill>
                  <a:srgbClr val="D32F2F"/>
                </a:solidFill>
                <a:latin typeface="Calibri" pitchFamily="34" charset="0"/>
                <a:ea typeface="Calibri" pitchFamily="34" charset="-122"/>
                <a:cs typeface="Calibri" pitchFamily="34" charset="-120"/>
              </a:rPr>
              <a:t>&gt;20 kΩ</a:t>
            </a:r>
            <a:endParaRPr lang="en-US" sz="1467" dirty="0"/>
          </a:p>
        </p:txBody>
      </p:sp>
      <p:sp>
        <p:nvSpPr>
          <p:cNvPr id="15" name="Shape 13"/>
          <p:cNvSpPr/>
          <p:nvPr/>
        </p:nvSpPr>
        <p:spPr>
          <a:xfrm>
            <a:off x="609600" y="2621280"/>
            <a:ext cx="10972800" cy="609600"/>
          </a:xfrm>
          <a:prstGeom prst="rect">
            <a:avLst/>
          </a:prstGeom>
          <a:solidFill>
            <a:srgbClr val="FFFFFF"/>
          </a:solidFill>
          <a:ln/>
        </p:spPr>
        <p:txBody>
          <a:bodyPr/>
          <a:lstStyle/>
          <a:p>
            <a:endParaRPr lang="en-US" sz="2400"/>
          </a:p>
        </p:txBody>
      </p:sp>
      <p:sp>
        <p:nvSpPr>
          <p:cNvPr id="16" name="Text 14"/>
          <p:cNvSpPr/>
          <p:nvPr/>
        </p:nvSpPr>
        <p:spPr>
          <a:xfrm>
            <a:off x="731520" y="2718816"/>
            <a:ext cx="30480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Baseline Stability</a:t>
            </a:r>
            <a:endParaRPr lang="en-US" sz="1467" dirty="0"/>
          </a:p>
        </p:txBody>
      </p:sp>
      <p:sp>
        <p:nvSpPr>
          <p:cNvPr id="17" name="Text 15"/>
          <p:cNvSpPr/>
          <p:nvPr/>
        </p:nvSpPr>
        <p:spPr>
          <a:xfrm>
            <a:off x="3779520" y="2718816"/>
            <a:ext cx="2438400" cy="426720"/>
          </a:xfrm>
          <a:prstGeom prst="rect">
            <a:avLst/>
          </a:prstGeom>
          <a:noFill/>
          <a:ln/>
        </p:spPr>
        <p:txBody>
          <a:bodyPr wrap="square" rtlCol="0" anchor="ctr"/>
          <a:lstStyle/>
          <a:p>
            <a:pPr algn="ctr"/>
            <a:r>
              <a:rPr lang="en-US" sz="1467" dirty="0">
                <a:solidFill>
                  <a:srgbClr val="F76902"/>
                </a:solidFill>
                <a:latin typeface="Calibri" pitchFamily="34" charset="0"/>
                <a:ea typeface="Calibri" pitchFamily="34" charset="-122"/>
                <a:cs typeface="Calibri" pitchFamily="34" charset="-120"/>
              </a:rPr>
              <a:t>Minimal drift</a:t>
            </a:r>
            <a:endParaRPr lang="en-US" sz="1467" dirty="0"/>
          </a:p>
        </p:txBody>
      </p:sp>
      <p:sp>
        <p:nvSpPr>
          <p:cNvPr id="18" name="Text 16"/>
          <p:cNvSpPr/>
          <p:nvPr/>
        </p:nvSpPr>
        <p:spPr>
          <a:xfrm>
            <a:off x="6217920" y="2718816"/>
            <a:ext cx="3048000" cy="426720"/>
          </a:xfrm>
          <a:prstGeom prst="rect">
            <a:avLst/>
          </a:prstGeom>
          <a:noFill/>
          <a:ln/>
        </p:spPr>
        <p:txBody>
          <a:bodyPr wrap="square" rtlCol="0" anchor="ctr"/>
          <a:lstStyle/>
          <a:p>
            <a:pPr algn="ctr"/>
            <a:r>
              <a:rPr lang="en-US" sz="1467" dirty="0">
                <a:solidFill>
                  <a:srgbClr val="FFA726"/>
                </a:solidFill>
                <a:latin typeface="Calibri" pitchFamily="34" charset="0"/>
                <a:ea typeface="Calibri" pitchFamily="34" charset="-122"/>
                <a:cs typeface="Calibri" pitchFamily="34" charset="-120"/>
              </a:rPr>
              <a:t>Slow drift (&lt;50μV/min)</a:t>
            </a:r>
            <a:endParaRPr lang="en-US" sz="1467" dirty="0"/>
          </a:p>
        </p:txBody>
      </p:sp>
      <p:sp>
        <p:nvSpPr>
          <p:cNvPr id="19" name="Text 17"/>
          <p:cNvSpPr/>
          <p:nvPr/>
        </p:nvSpPr>
        <p:spPr>
          <a:xfrm>
            <a:off x="9265920" y="2718816"/>
            <a:ext cx="2438400" cy="426720"/>
          </a:xfrm>
          <a:prstGeom prst="rect">
            <a:avLst/>
          </a:prstGeom>
          <a:noFill/>
          <a:ln/>
        </p:spPr>
        <p:txBody>
          <a:bodyPr wrap="square" rtlCol="0" anchor="ctr"/>
          <a:lstStyle/>
          <a:p>
            <a:pPr algn="ctr"/>
            <a:r>
              <a:rPr lang="en-US" sz="1467" dirty="0">
                <a:solidFill>
                  <a:srgbClr val="D32F2F"/>
                </a:solidFill>
                <a:latin typeface="Calibri" pitchFamily="34" charset="0"/>
                <a:ea typeface="Calibri" pitchFamily="34" charset="-122"/>
                <a:cs typeface="Calibri" pitchFamily="34" charset="-120"/>
              </a:rPr>
              <a:t>Rapid drift</a:t>
            </a:r>
            <a:endParaRPr lang="en-US" sz="1467" dirty="0"/>
          </a:p>
        </p:txBody>
      </p:sp>
      <p:sp>
        <p:nvSpPr>
          <p:cNvPr id="20" name="Shape 18"/>
          <p:cNvSpPr/>
          <p:nvPr/>
        </p:nvSpPr>
        <p:spPr>
          <a:xfrm>
            <a:off x="609600" y="3230880"/>
            <a:ext cx="10972800" cy="609600"/>
          </a:xfrm>
          <a:prstGeom prst="rect">
            <a:avLst/>
          </a:prstGeom>
          <a:solidFill>
            <a:srgbClr val="F5F5F5"/>
          </a:solidFill>
          <a:ln/>
        </p:spPr>
        <p:txBody>
          <a:bodyPr/>
          <a:lstStyle/>
          <a:p>
            <a:endParaRPr lang="en-US" sz="2400"/>
          </a:p>
        </p:txBody>
      </p:sp>
      <p:sp>
        <p:nvSpPr>
          <p:cNvPr id="21" name="Text 19"/>
          <p:cNvSpPr/>
          <p:nvPr/>
        </p:nvSpPr>
        <p:spPr>
          <a:xfrm>
            <a:off x="731520" y="3328416"/>
            <a:ext cx="30480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Signal-to-Noise</a:t>
            </a:r>
            <a:endParaRPr lang="en-US" sz="1467" dirty="0"/>
          </a:p>
        </p:txBody>
      </p:sp>
      <p:sp>
        <p:nvSpPr>
          <p:cNvPr id="22" name="Text 20"/>
          <p:cNvSpPr/>
          <p:nvPr/>
        </p:nvSpPr>
        <p:spPr>
          <a:xfrm>
            <a:off x="3779520" y="3328416"/>
            <a:ext cx="2438400" cy="426720"/>
          </a:xfrm>
          <a:prstGeom prst="rect">
            <a:avLst/>
          </a:prstGeom>
          <a:noFill/>
          <a:ln/>
        </p:spPr>
        <p:txBody>
          <a:bodyPr wrap="square" rtlCol="0" anchor="ctr"/>
          <a:lstStyle/>
          <a:p>
            <a:pPr algn="ctr"/>
            <a:r>
              <a:rPr lang="en-US" sz="1467" dirty="0">
                <a:solidFill>
                  <a:srgbClr val="F76902"/>
                </a:solidFill>
                <a:latin typeface="Calibri" pitchFamily="34" charset="0"/>
                <a:ea typeface="Calibri" pitchFamily="34" charset="-122"/>
                <a:cs typeface="Calibri" pitchFamily="34" charset="-120"/>
              </a:rPr>
              <a:t>&gt;10:1</a:t>
            </a:r>
            <a:endParaRPr lang="en-US" sz="1467" dirty="0"/>
          </a:p>
        </p:txBody>
      </p:sp>
      <p:sp>
        <p:nvSpPr>
          <p:cNvPr id="23" name="Text 21"/>
          <p:cNvSpPr/>
          <p:nvPr/>
        </p:nvSpPr>
        <p:spPr>
          <a:xfrm>
            <a:off x="6217920" y="3328416"/>
            <a:ext cx="3048000" cy="426720"/>
          </a:xfrm>
          <a:prstGeom prst="rect">
            <a:avLst/>
          </a:prstGeom>
          <a:noFill/>
          <a:ln/>
        </p:spPr>
        <p:txBody>
          <a:bodyPr wrap="square" rtlCol="0" anchor="ctr"/>
          <a:lstStyle/>
          <a:p>
            <a:pPr algn="ctr"/>
            <a:r>
              <a:rPr lang="en-US" sz="1467" dirty="0">
                <a:solidFill>
                  <a:srgbClr val="FFA726"/>
                </a:solidFill>
                <a:latin typeface="Calibri" pitchFamily="34" charset="0"/>
                <a:ea typeface="Calibri" pitchFamily="34" charset="-122"/>
                <a:cs typeface="Calibri" pitchFamily="34" charset="-120"/>
              </a:rPr>
              <a:t>&gt;5:1</a:t>
            </a:r>
            <a:endParaRPr lang="en-US" sz="1467" dirty="0"/>
          </a:p>
        </p:txBody>
      </p:sp>
      <p:sp>
        <p:nvSpPr>
          <p:cNvPr id="24" name="Text 22"/>
          <p:cNvSpPr/>
          <p:nvPr/>
        </p:nvSpPr>
        <p:spPr>
          <a:xfrm>
            <a:off x="9265920" y="3328416"/>
            <a:ext cx="2438400" cy="426720"/>
          </a:xfrm>
          <a:prstGeom prst="rect">
            <a:avLst/>
          </a:prstGeom>
          <a:noFill/>
          <a:ln/>
        </p:spPr>
        <p:txBody>
          <a:bodyPr wrap="square" rtlCol="0" anchor="ctr"/>
          <a:lstStyle/>
          <a:p>
            <a:pPr algn="ctr"/>
            <a:r>
              <a:rPr lang="en-US" sz="1467" dirty="0">
                <a:solidFill>
                  <a:srgbClr val="D32F2F"/>
                </a:solidFill>
                <a:latin typeface="Calibri" pitchFamily="34" charset="0"/>
                <a:ea typeface="Calibri" pitchFamily="34" charset="-122"/>
                <a:cs typeface="Calibri" pitchFamily="34" charset="-120"/>
              </a:rPr>
              <a:t>&lt;3:1</a:t>
            </a:r>
            <a:endParaRPr lang="en-US" sz="1467" dirty="0"/>
          </a:p>
        </p:txBody>
      </p:sp>
      <p:sp>
        <p:nvSpPr>
          <p:cNvPr id="25" name="Shape 23"/>
          <p:cNvSpPr/>
          <p:nvPr/>
        </p:nvSpPr>
        <p:spPr>
          <a:xfrm>
            <a:off x="609600" y="3840480"/>
            <a:ext cx="10972800" cy="609600"/>
          </a:xfrm>
          <a:prstGeom prst="rect">
            <a:avLst/>
          </a:prstGeom>
          <a:solidFill>
            <a:srgbClr val="FFFFFF"/>
          </a:solidFill>
          <a:ln/>
        </p:spPr>
        <p:txBody>
          <a:bodyPr/>
          <a:lstStyle/>
          <a:p>
            <a:endParaRPr lang="en-US" sz="2400"/>
          </a:p>
        </p:txBody>
      </p:sp>
      <p:sp>
        <p:nvSpPr>
          <p:cNvPr id="26" name="Text 24"/>
          <p:cNvSpPr/>
          <p:nvPr/>
        </p:nvSpPr>
        <p:spPr>
          <a:xfrm>
            <a:off x="731520" y="3938016"/>
            <a:ext cx="30480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60Hz Noise</a:t>
            </a:r>
            <a:endParaRPr lang="en-US" sz="1467" dirty="0"/>
          </a:p>
        </p:txBody>
      </p:sp>
      <p:sp>
        <p:nvSpPr>
          <p:cNvPr id="27" name="Text 25"/>
          <p:cNvSpPr/>
          <p:nvPr/>
        </p:nvSpPr>
        <p:spPr>
          <a:xfrm>
            <a:off x="3779520" y="3938016"/>
            <a:ext cx="2438400" cy="426720"/>
          </a:xfrm>
          <a:prstGeom prst="rect">
            <a:avLst/>
          </a:prstGeom>
          <a:noFill/>
          <a:ln/>
        </p:spPr>
        <p:txBody>
          <a:bodyPr wrap="square" rtlCol="0" anchor="ctr"/>
          <a:lstStyle/>
          <a:p>
            <a:pPr algn="ctr"/>
            <a:r>
              <a:rPr lang="en-US" sz="1467" dirty="0">
                <a:solidFill>
                  <a:srgbClr val="F76902"/>
                </a:solidFill>
                <a:latin typeface="Calibri" pitchFamily="34" charset="0"/>
                <a:ea typeface="Calibri" pitchFamily="34" charset="-122"/>
                <a:cs typeface="Calibri" pitchFamily="34" charset="-120"/>
              </a:rPr>
              <a:t>Not visible</a:t>
            </a:r>
            <a:endParaRPr lang="en-US" sz="1467" dirty="0"/>
          </a:p>
        </p:txBody>
      </p:sp>
      <p:sp>
        <p:nvSpPr>
          <p:cNvPr id="28" name="Text 26"/>
          <p:cNvSpPr/>
          <p:nvPr/>
        </p:nvSpPr>
        <p:spPr>
          <a:xfrm>
            <a:off x="6217920" y="3938016"/>
            <a:ext cx="3048000" cy="426720"/>
          </a:xfrm>
          <a:prstGeom prst="rect">
            <a:avLst/>
          </a:prstGeom>
          <a:noFill/>
          <a:ln/>
        </p:spPr>
        <p:txBody>
          <a:bodyPr wrap="square" rtlCol="0" anchor="ctr"/>
          <a:lstStyle/>
          <a:p>
            <a:pPr algn="ctr"/>
            <a:r>
              <a:rPr lang="en-US" sz="1467" dirty="0">
                <a:solidFill>
                  <a:srgbClr val="FFA726"/>
                </a:solidFill>
                <a:latin typeface="Calibri" pitchFamily="34" charset="0"/>
                <a:ea typeface="Calibri" pitchFamily="34" charset="-122"/>
                <a:cs typeface="Calibri" pitchFamily="34" charset="-120"/>
              </a:rPr>
              <a:t>Minor ripple</a:t>
            </a:r>
            <a:endParaRPr lang="en-US" sz="1467" dirty="0"/>
          </a:p>
        </p:txBody>
      </p:sp>
      <p:sp>
        <p:nvSpPr>
          <p:cNvPr id="29" name="Text 27"/>
          <p:cNvSpPr/>
          <p:nvPr/>
        </p:nvSpPr>
        <p:spPr>
          <a:xfrm>
            <a:off x="9265920" y="3938016"/>
            <a:ext cx="2438400" cy="426720"/>
          </a:xfrm>
          <a:prstGeom prst="rect">
            <a:avLst/>
          </a:prstGeom>
          <a:noFill/>
          <a:ln/>
        </p:spPr>
        <p:txBody>
          <a:bodyPr wrap="square" rtlCol="0" anchor="ctr"/>
          <a:lstStyle/>
          <a:p>
            <a:pPr algn="ctr"/>
            <a:r>
              <a:rPr lang="en-US" sz="1467" dirty="0">
                <a:solidFill>
                  <a:srgbClr val="D32F2F"/>
                </a:solidFill>
                <a:latin typeface="Calibri" pitchFamily="34" charset="0"/>
                <a:ea typeface="Calibri" pitchFamily="34" charset="-122"/>
                <a:cs typeface="Calibri" pitchFamily="34" charset="-120"/>
              </a:rPr>
              <a:t>Dominant</a:t>
            </a:r>
            <a:endParaRPr lang="en-US" sz="1467" dirty="0"/>
          </a:p>
        </p:txBody>
      </p:sp>
      <p:sp>
        <p:nvSpPr>
          <p:cNvPr id="30" name="Text 28"/>
          <p:cNvSpPr/>
          <p:nvPr/>
        </p:nvSpPr>
        <p:spPr>
          <a:xfrm>
            <a:off x="609600" y="4754880"/>
            <a:ext cx="10972800" cy="487680"/>
          </a:xfrm>
          <a:prstGeom prst="rect">
            <a:avLst/>
          </a:prstGeom>
          <a:noFill/>
          <a:ln/>
        </p:spPr>
        <p:txBody>
          <a:bodyPr wrap="square" rtlCol="0" anchor="ctr"/>
          <a:lstStyle/>
          <a:p>
            <a:r>
              <a:rPr lang="en-US" sz="2133" b="1" dirty="0">
                <a:solidFill>
                  <a:srgbClr val="F76902"/>
                </a:solidFill>
                <a:latin typeface="Calibri" pitchFamily="34" charset="0"/>
                <a:ea typeface="Calibri" pitchFamily="34" charset="-122"/>
                <a:cs typeface="Calibri" pitchFamily="34" charset="-120"/>
              </a:rPr>
              <a:t>Quick Troubleshooting</a:t>
            </a:r>
            <a:endParaRPr lang="en-US" sz="2133" dirty="0"/>
          </a:p>
        </p:txBody>
      </p:sp>
      <p:sp>
        <p:nvSpPr>
          <p:cNvPr id="31" name="Text 29"/>
          <p:cNvSpPr/>
          <p:nvPr/>
        </p:nvSpPr>
        <p:spPr>
          <a:xfrm>
            <a:off x="731520" y="5303520"/>
            <a:ext cx="1828800" cy="426720"/>
          </a:xfrm>
          <a:prstGeom prst="rect">
            <a:avLst/>
          </a:prstGeom>
          <a:noFill/>
          <a:ln/>
        </p:spPr>
        <p:txBody>
          <a:bodyPr wrap="square" rtlCol="0" anchor="ctr"/>
          <a:lstStyle/>
          <a:p>
            <a:r>
              <a:rPr lang="en-US" sz="1467" b="1" dirty="0">
                <a:solidFill>
                  <a:srgbClr val="D32F2F"/>
                </a:solidFill>
                <a:latin typeface="Calibri" pitchFamily="34" charset="0"/>
                <a:ea typeface="Calibri" pitchFamily="34" charset="-122"/>
                <a:cs typeface="Calibri" pitchFamily="34" charset="-120"/>
              </a:rPr>
              <a:t>High impedance:</a:t>
            </a:r>
            <a:endParaRPr lang="en-US" sz="1467" dirty="0"/>
          </a:p>
        </p:txBody>
      </p:sp>
      <p:sp>
        <p:nvSpPr>
          <p:cNvPr id="32" name="Text 30"/>
          <p:cNvSpPr/>
          <p:nvPr/>
        </p:nvSpPr>
        <p:spPr>
          <a:xfrm>
            <a:off x="2682240" y="5303520"/>
            <a:ext cx="890016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Re-prep skin, add gel, check cable connections</a:t>
            </a:r>
            <a:endParaRPr lang="en-US" sz="1467" dirty="0"/>
          </a:p>
        </p:txBody>
      </p:sp>
      <p:sp>
        <p:nvSpPr>
          <p:cNvPr id="33" name="Text 31"/>
          <p:cNvSpPr/>
          <p:nvPr/>
        </p:nvSpPr>
        <p:spPr>
          <a:xfrm>
            <a:off x="731520" y="5791200"/>
            <a:ext cx="1828800" cy="426720"/>
          </a:xfrm>
          <a:prstGeom prst="rect">
            <a:avLst/>
          </a:prstGeom>
          <a:noFill/>
          <a:ln/>
        </p:spPr>
        <p:txBody>
          <a:bodyPr wrap="square" rtlCol="0" anchor="ctr"/>
          <a:lstStyle/>
          <a:p>
            <a:r>
              <a:rPr lang="en-US" sz="1467" b="1" dirty="0">
                <a:solidFill>
                  <a:srgbClr val="D32F2F"/>
                </a:solidFill>
                <a:latin typeface="Calibri" pitchFamily="34" charset="0"/>
                <a:ea typeface="Calibri" pitchFamily="34" charset="-122"/>
                <a:cs typeface="Calibri" pitchFamily="34" charset="-120"/>
              </a:rPr>
              <a:t>Baseline drift:</a:t>
            </a:r>
            <a:endParaRPr lang="en-US" sz="1467" dirty="0"/>
          </a:p>
        </p:txBody>
      </p:sp>
      <p:sp>
        <p:nvSpPr>
          <p:cNvPr id="34" name="Text 32"/>
          <p:cNvSpPr/>
          <p:nvPr/>
        </p:nvSpPr>
        <p:spPr>
          <a:xfrm>
            <a:off x="2682240" y="5791200"/>
            <a:ext cx="890016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Allow electrodes to stabilize (2-3 min), check gel moisture</a:t>
            </a:r>
            <a:endParaRPr lang="en-US" sz="1467" dirty="0"/>
          </a:p>
        </p:txBody>
      </p:sp>
      <p:sp>
        <p:nvSpPr>
          <p:cNvPr id="35" name="Text 33"/>
          <p:cNvSpPr/>
          <p:nvPr/>
        </p:nvSpPr>
        <p:spPr>
          <a:xfrm>
            <a:off x="731520" y="6278880"/>
            <a:ext cx="1828800" cy="426720"/>
          </a:xfrm>
          <a:prstGeom prst="rect">
            <a:avLst/>
          </a:prstGeom>
          <a:noFill/>
          <a:ln/>
        </p:spPr>
        <p:txBody>
          <a:bodyPr wrap="square" rtlCol="0" anchor="ctr"/>
          <a:lstStyle/>
          <a:p>
            <a:r>
              <a:rPr lang="en-US" sz="1467" b="1" dirty="0">
                <a:solidFill>
                  <a:srgbClr val="D32F2F"/>
                </a:solidFill>
                <a:latin typeface="Calibri" pitchFamily="34" charset="0"/>
                <a:ea typeface="Calibri" pitchFamily="34" charset="-122"/>
                <a:cs typeface="Calibri" pitchFamily="34" charset="-120"/>
              </a:rPr>
              <a:t>60Hz noise:</a:t>
            </a:r>
            <a:endParaRPr lang="en-US" sz="1467" dirty="0"/>
          </a:p>
        </p:txBody>
      </p:sp>
      <p:sp>
        <p:nvSpPr>
          <p:cNvPr id="36" name="Text 34"/>
          <p:cNvSpPr/>
          <p:nvPr/>
        </p:nvSpPr>
        <p:spPr>
          <a:xfrm>
            <a:off x="2682240" y="6278880"/>
            <a:ext cx="890016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Check ground electrode, shield cables, move away from power sources</a:t>
            </a:r>
            <a:endParaRPr lang="en-US" sz="1467" dirty="0"/>
          </a:p>
        </p:txBody>
      </p:sp>
      <p:sp>
        <p:nvSpPr>
          <p:cNvPr id="37" name="Text 35"/>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23 / 32</a:t>
            </a:r>
            <a:endParaRPr lang="en-US" sz="1200" dirty="0"/>
          </a:p>
        </p:txBody>
      </p:sp>
    </p:spTree>
    <p:extLst>
      <p:ext uri="{BB962C8B-B14F-4D97-AF65-F5344CB8AC3E}">
        <p14:creationId xmlns:p14="http://schemas.microsoft.com/office/powerpoint/2010/main" val="2960155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Common EOG Artifacts</a:t>
            </a:r>
            <a:endParaRPr lang="en-US" sz="4267" dirty="0"/>
          </a:p>
        </p:txBody>
      </p:sp>
      <p:sp>
        <p:nvSpPr>
          <p:cNvPr id="5" name="Shape 3"/>
          <p:cNvSpPr/>
          <p:nvPr/>
        </p:nvSpPr>
        <p:spPr>
          <a:xfrm>
            <a:off x="609600" y="1402080"/>
            <a:ext cx="10972800" cy="1219200"/>
          </a:xfrm>
          <a:prstGeom prst="rect">
            <a:avLst/>
          </a:prstGeom>
          <a:solidFill>
            <a:srgbClr val="F5F5F5"/>
          </a:solidFill>
          <a:ln/>
        </p:spPr>
        <p:txBody>
          <a:bodyPr/>
          <a:lstStyle/>
          <a:p>
            <a:endParaRPr lang="en-US" sz="2400"/>
          </a:p>
        </p:txBody>
      </p:sp>
      <p:sp>
        <p:nvSpPr>
          <p:cNvPr id="6" name="Shape 4"/>
          <p:cNvSpPr/>
          <p:nvPr/>
        </p:nvSpPr>
        <p:spPr>
          <a:xfrm>
            <a:off x="609600" y="1402080"/>
            <a:ext cx="97536" cy="1219200"/>
          </a:xfrm>
          <a:prstGeom prst="rect">
            <a:avLst/>
          </a:prstGeom>
          <a:solidFill>
            <a:srgbClr val="F76902"/>
          </a:solidFill>
          <a:ln/>
        </p:spPr>
        <p:txBody>
          <a:bodyPr/>
          <a:lstStyle/>
          <a:p>
            <a:endParaRPr lang="en-US" sz="2400"/>
          </a:p>
        </p:txBody>
      </p:sp>
      <p:sp>
        <p:nvSpPr>
          <p:cNvPr id="7" name="Text 5"/>
          <p:cNvSpPr/>
          <p:nvPr/>
        </p:nvSpPr>
        <p:spPr>
          <a:xfrm>
            <a:off x="853440" y="1524000"/>
            <a:ext cx="30480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Blink Artifacts</a:t>
            </a:r>
            <a:endParaRPr lang="en-US" sz="1867" dirty="0"/>
          </a:p>
        </p:txBody>
      </p:sp>
      <p:sp>
        <p:nvSpPr>
          <p:cNvPr id="8" name="Text 6"/>
          <p:cNvSpPr/>
          <p:nvPr/>
        </p:nvSpPr>
        <p:spPr>
          <a:xfrm>
            <a:off x="853440" y="1950720"/>
            <a:ext cx="3048000" cy="30480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Channel: VEOG primarily</a:t>
            </a:r>
            <a:endParaRPr lang="en-US" sz="1333" dirty="0"/>
          </a:p>
        </p:txBody>
      </p:sp>
      <p:sp>
        <p:nvSpPr>
          <p:cNvPr id="9" name="Text 7"/>
          <p:cNvSpPr/>
          <p:nvPr/>
        </p:nvSpPr>
        <p:spPr>
          <a:xfrm>
            <a:off x="4023360" y="1524000"/>
            <a:ext cx="36576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Large positive spikes (100-400μV)</a:t>
            </a:r>
            <a:endParaRPr lang="en-US" sz="1467" dirty="0"/>
          </a:p>
        </p:txBody>
      </p:sp>
      <p:sp>
        <p:nvSpPr>
          <p:cNvPr id="10" name="Text 8"/>
          <p:cNvSpPr/>
          <p:nvPr/>
        </p:nvSpPr>
        <p:spPr>
          <a:xfrm>
            <a:off x="4023360" y="2011680"/>
            <a:ext cx="3657600" cy="48768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Detect and reject, or use as control signal</a:t>
            </a:r>
            <a:endParaRPr lang="en-US" sz="1333" dirty="0"/>
          </a:p>
        </p:txBody>
      </p:sp>
      <p:sp>
        <p:nvSpPr>
          <p:cNvPr id="11" name="Text 9"/>
          <p:cNvSpPr/>
          <p:nvPr/>
        </p:nvSpPr>
        <p:spPr>
          <a:xfrm>
            <a:off x="7924800" y="1828800"/>
            <a:ext cx="3657600" cy="365760"/>
          </a:xfrm>
          <a:prstGeom prst="rect">
            <a:avLst/>
          </a:prstGeom>
          <a:noFill/>
          <a:ln/>
        </p:spPr>
        <p:txBody>
          <a:bodyPr wrap="square" rtlCol="0" anchor="ctr"/>
          <a:lstStyle/>
          <a:p>
            <a:r>
              <a:rPr lang="en-US" sz="1333" b="1" dirty="0">
                <a:solidFill>
                  <a:srgbClr val="F76902"/>
                </a:solidFill>
                <a:latin typeface="Calibri" pitchFamily="34" charset="0"/>
                <a:ea typeface="Calibri" pitchFamily="34" charset="-122"/>
                <a:cs typeface="Calibri" pitchFamily="34" charset="-120"/>
              </a:rPr>
              <a:t>Handling:</a:t>
            </a:r>
            <a:endParaRPr lang="en-US" sz="1333" dirty="0"/>
          </a:p>
        </p:txBody>
      </p:sp>
      <p:sp>
        <p:nvSpPr>
          <p:cNvPr id="12" name="Text 10"/>
          <p:cNvSpPr/>
          <p:nvPr/>
        </p:nvSpPr>
        <p:spPr>
          <a:xfrm>
            <a:off x="7924800" y="2133600"/>
            <a:ext cx="3657600" cy="426720"/>
          </a:xfrm>
          <a:prstGeom prst="rect">
            <a:avLst/>
          </a:prstGeom>
          <a:noFill/>
          <a:ln/>
        </p:spPr>
        <p:txBody>
          <a:bodyPr wrap="square" rtlCol="0" anchor="ctr"/>
          <a:lstStyle/>
          <a:p>
            <a:r>
              <a:rPr lang="en-US" sz="1333" dirty="0">
                <a:solidFill>
                  <a:srgbClr val="1A1A1A"/>
                </a:solidFill>
                <a:latin typeface="Calibri" pitchFamily="34" charset="0"/>
                <a:ea typeface="Calibri" pitchFamily="34" charset="-122"/>
                <a:cs typeface="Calibri" pitchFamily="34" charset="-120"/>
              </a:rPr>
              <a:t>Detect and reject, or use as control signal</a:t>
            </a:r>
            <a:endParaRPr lang="en-US" sz="1333" dirty="0"/>
          </a:p>
        </p:txBody>
      </p:sp>
      <p:sp>
        <p:nvSpPr>
          <p:cNvPr id="13" name="Shape 11"/>
          <p:cNvSpPr/>
          <p:nvPr/>
        </p:nvSpPr>
        <p:spPr>
          <a:xfrm>
            <a:off x="609600" y="2718816"/>
            <a:ext cx="10972800" cy="1219200"/>
          </a:xfrm>
          <a:prstGeom prst="rect">
            <a:avLst/>
          </a:prstGeom>
          <a:solidFill>
            <a:srgbClr val="F5F5F5"/>
          </a:solidFill>
          <a:ln/>
        </p:spPr>
        <p:txBody>
          <a:bodyPr/>
          <a:lstStyle/>
          <a:p>
            <a:endParaRPr lang="en-US" sz="2400"/>
          </a:p>
        </p:txBody>
      </p:sp>
      <p:sp>
        <p:nvSpPr>
          <p:cNvPr id="14" name="Shape 12"/>
          <p:cNvSpPr/>
          <p:nvPr/>
        </p:nvSpPr>
        <p:spPr>
          <a:xfrm>
            <a:off x="609600" y="2718816"/>
            <a:ext cx="97536" cy="1219200"/>
          </a:xfrm>
          <a:prstGeom prst="rect">
            <a:avLst/>
          </a:prstGeom>
          <a:solidFill>
            <a:srgbClr val="513127"/>
          </a:solidFill>
          <a:ln/>
        </p:spPr>
        <p:txBody>
          <a:bodyPr/>
          <a:lstStyle/>
          <a:p>
            <a:endParaRPr lang="en-US" sz="2400"/>
          </a:p>
        </p:txBody>
      </p:sp>
      <p:sp>
        <p:nvSpPr>
          <p:cNvPr id="15" name="Text 13"/>
          <p:cNvSpPr/>
          <p:nvPr/>
        </p:nvSpPr>
        <p:spPr>
          <a:xfrm>
            <a:off x="853440" y="2840736"/>
            <a:ext cx="30480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Muscle Artifacts</a:t>
            </a:r>
            <a:endParaRPr lang="en-US" sz="1867" dirty="0"/>
          </a:p>
        </p:txBody>
      </p:sp>
      <p:sp>
        <p:nvSpPr>
          <p:cNvPr id="16" name="Text 14"/>
          <p:cNvSpPr/>
          <p:nvPr/>
        </p:nvSpPr>
        <p:spPr>
          <a:xfrm>
            <a:off x="853440" y="3267456"/>
            <a:ext cx="3048000" cy="30480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Channel: Both channels</a:t>
            </a:r>
            <a:endParaRPr lang="en-US" sz="1333" dirty="0"/>
          </a:p>
        </p:txBody>
      </p:sp>
      <p:sp>
        <p:nvSpPr>
          <p:cNvPr id="17" name="Text 15"/>
          <p:cNvSpPr/>
          <p:nvPr/>
        </p:nvSpPr>
        <p:spPr>
          <a:xfrm>
            <a:off x="4023360" y="2840736"/>
            <a:ext cx="36576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High-frequency noise bursts</a:t>
            </a:r>
            <a:endParaRPr lang="en-US" sz="1467" dirty="0"/>
          </a:p>
        </p:txBody>
      </p:sp>
      <p:sp>
        <p:nvSpPr>
          <p:cNvPr id="18" name="Text 16"/>
          <p:cNvSpPr/>
          <p:nvPr/>
        </p:nvSpPr>
        <p:spPr>
          <a:xfrm>
            <a:off x="4023360" y="3328416"/>
            <a:ext cx="3657600" cy="48768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Low-pass filter (&lt;30 Hz)</a:t>
            </a:r>
            <a:endParaRPr lang="en-US" sz="1333" dirty="0"/>
          </a:p>
        </p:txBody>
      </p:sp>
      <p:sp>
        <p:nvSpPr>
          <p:cNvPr id="19" name="Text 17"/>
          <p:cNvSpPr/>
          <p:nvPr/>
        </p:nvSpPr>
        <p:spPr>
          <a:xfrm>
            <a:off x="7924800" y="3145536"/>
            <a:ext cx="3657600" cy="365760"/>
          </a:xfrm>
          <a:prstGeom prst="rect">
            <a:avLst/>
          </a:prstGeom>
          <a:noFill/>
          <a:ln/>
        </p:spPr>
        <p:txBody>
          <a:bodyPr wrap="square" rtlCol="0" anchor="ctr"/>
          <a:lstStyle/>
          <a:p>
            <a:r>
              <a:rPr lang="en-US" sz="1333" b="1" dirty="0">
                <a:solidFill>
                  <a:srgbClr val="513127"/>
                </a:solidFill>
                <a:latin typeface="Calibri" pitchFamily="34" charset="0"/>
                <a:ea typeface="Calibri" pitchFamily="34" charset="-122"/>
                <a:cs typeface="Calibri" pitchFamily="34" charset="-120"/>
              </a:rPr>
              <a:t>Handling:</a:t>
            </a:r>
            <a:endParaRPr lang="en-US" sz="1333" dirty="0"/>
          </a:p>
        </p:txBody>
      </p:sp>
      <p:sp>
        <p:nvSpPr>
          <p:cNvPr id="20" name="Text 18"/>
          <p:cNvSpPr/>
          <p:nvPr/>
        </p:nvSpPr>
        <p:spPr>
          <a:xfrm>
            <a:off x="7924800" y="3450336"/>
            <a:ext cx="3657600" cy="426720"/>
          </a:xfrm>
          <a:prstGeom prst="rect">
            <a:avLst/>
          </a:prstGeom>
          <a:noFill/>
          <a:ln/>
        </p:spPr>
        <p:txBody>
          <a:bodyPr wrap="square" rtlCol="0" anchor="ctr"/>
          <a:lstStyle/>
          <a:p>
            <a:r>
              <a:rPr lang="en-US" sz="1333" dirty="0">
                <a:solidFill>
                  <a:srgbClr val="1A1A1A"/>
                </a:solidFill>
                <a:latin typeface="Calibri" pitchFamily="34" charset="0"/>
                <a:ea typeface="Calibri" pitchFamily="34" charset="-122"/>
                <a:cs typeface="Calibri" pitchFamily="34" charset="-120"/>
              </a:rPr>
              <a:t>Low-pass filter (&lt;30 Hz)</a:t>
            </a:r>
            <a:endParaRPr lang="en-US" sz="1333" dirty="0"/>
          </a:p>
        </p:txBody>
      </p:sp>
      <p:sp>
        <p:nvSpPr>
          <p:cNvPr id="21" name="Shape 19"/>
          <p:cNvSpPr/>
          <p:nvPr/>
        </p:nvSpPr>
        <p:spPr>
          <a:xfrm>
            <a:off x="609600" y="4035552"/>
            <a:ext cx="10972800" cy="1219200"/>
          </a:xfrm>
          <a:prstGeom prst="rect">
            <a:avLst/>
          </a:prstGeom>
          <a:solidFill>
            <a:srgbClr val="F5F5F5"/>
          </a:solidFill>
          <a:ln/>
        </p:spPr>
        <p:txBody>
          <a:bodyPr/>
          <a:lstStyle/>
          <a:p>
            <a:endParaRPr lang="en-US" sz="2400"/>
          </a:p>
        </p:txBody>
      </p:sp>
      <p:sp>
        <p:nvSpPr>
          <p:cNvPr id="22" name="Shape 20"/>
          <p:cNvSpPr/>
          <p:nvPr/>
        </p:nvSpPr>
        <p:spPr>
          <a:xfrm>
            <a:off x="609600" y="4035552"/>
            <a:ext cx="97536" cy="1219200"/>
          </a:xfrm>
          <a:prstGeom prst="rect">
            <a:avLst/>
          </a:prstGeom>
          <a:solidFill>
            <a:srgbClr val="F76902"/>
          </a:solidFill>
          <a:ln/>
        </p:spPr>
        <p:txBody>
          <a:bodyPr/>
          <a:lstStyle/>
          <a:p>
            <a:endParaRPr lang="en-US" sz="2400"/>
          </a:p>
        </p:txBody>
      </p:sp>
      <p:sp>
        <p:nvSpPr>
          <p:cNvPr id="23" name="Text 21"/>
          <p:cNvSpPr/>
          <p:nvPr/>
        </p:nvSpPr>
        <p:spPr>
          <a:xfrm>
            <a:off x="853440" y="4157472"/>
            <a:ext cx="30480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Baseline Drift</a:t>
            </a:r>
            <a:endParaRPr lang="en-US" sz="1867" dirty="0"/>
          </a:p>
        </p:txBody>
      </p:sp>
      <p:sp>
        <p:nvSpPr>
          <p:cNvPr id="24" name="Text 22"/>
          <p:cNvSpPr/>
          <p:nvPr/>
        </p:nvSpPr>
        <p:spPr>
          <a:xfrm>
            <a:off x="853440" y="4584192"/>
            <a:ext cx="3048000" cy="30480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Channel: Both channels</a:t>
            </a:r>
            <a:endParaRPr lang="en-US" sz="1333" dirty="0"/>
          </a:p>
        </p:txBody>
      </p:sp>
      <p:sp>
        <p:nvSpPr>
          <p:cNvPr id="25" name="Text 23"/>
          <p:cNvSpPr/>
          <p:nvPr/>
        </p:nvSpPr>
        <p:spPr>
          <a:xfrm>
            <a:off x="4023360" y="4157472"/>
            <a:ext cx="36576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Slow wandering of baseline</a:t>
            </a:r>
            <a:endParaRPr lang="en-US" sz="1467" dirty="0"/>
          </a:p>
        </p:txBody>
      </p:sp>
      <p:sp>
        <p:nvSpPr>
          <p:cNvPr id="26" name="Text 24"/>
          <p:cNvSpPr/>
          <p:nvPr/>
        </p:nvSpPr>
        <p:spPr>
          <a:xfrm>
            <a:off x="4023360" y="4645152"/>
            <a:ext cx="3657600" cy="48768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High-pass filter (0.1 Hz) or adaptive baseline</a:t>
            </a:r>
            <a:endParaRPr lang="en-US" sz="1333" dirty="0"/>
          </a:p>
        </p:txBody>
      </p:sp>
      <p:sp>
        <p:nvSpPr>
          <p:cNvPr id="27" name="Text 25"/>
          <p:cNvSpPr/>
          <p:nvPr/>
        </p:nvSpPr>
        <p:spPr>
          <a:xfrm>
            <a:off x="7924800" y="4462272"/>
            <a:ext cx="3657600" cy="365760"/>
          </a:xfrm>
          <a:prstGeom prst="rect">
            <a:avLst/>
          </a:prstGeom>
          <a:noFill/>
          <a:ln/>
        </p:spPr>
        <p:txBody>
          <a:bodyPr wrap="square" rtlCol="0" anchor="ctr"/>
          <a:lstStyle/>
          <a:p>
            <a:r>
              <a:rPr lang="en-US" sz="1333" b="1" dirty="0">
                <a:solidFill>
                  <a:srgbClr val="F76902"/>
                </a:solidFill>
                <a:latin typeface="Calibri" pitchFamily="34" charset="0"/>
                <a:ea typeface="Calibri" pitchFamily="34" charset="-122"/>
                <a:cs typeface="Calibri" pitchFamily="34" charset="-120"/>
              </a:rPr>
              <a:t>Handling:</a:t>
            </a:r>
            <a:endParaRPr lang="en-US" sz="1333" dirty="0"/>
          </a:p>
        </p:txBody>
      </p:sp>
      <p:sp>
        <p:nvSpPr>
          <p:cNvPr id="28" name="Text 26"/>
          <p:cNvSpPr/>
          <p:nvPr/>
        </p:nvSpPr>
        <p:spPr>
          <a:xfrm>
            <a:off x="7924800" y="4767072"/>
            <a:ext cx="3657600" cy="426720"/>
          </a:xfrm>
          <a:prstGeom prst="rect">
            <a:avLst/>
          </a:prstGeom>
          <a:noFill/>
          <a:ln/>
        </p:spPr>
        <p:txBody>
          <a:bodyPr wrap="square" rtlCol="0" anchor="ctr"/>
          <a:lstStyle/>
          <a:p>
            <a:r>
              <a:rPr lang="en-US" sz="1333" dirty="0">
                <a:solidFill>
                  <a:srgbClr val="1A1A1A"/>
                </a:solidFill>
                <a:latin typeface="Calibri" pitchFamily="34" charset="0"/>
                <a:ea typeface="Calibri" pitchFamily="34" charset="-122"/>
                <a:cs typeface="Calibri" pitchFamily="34" charset="-120"/>
              </a:rPr>
              <a:t>High-pass filter (0.1 Hz) or adaptive baseline</a:t>
            </a:r>
            <a:endParaRPr lang="en-US" sz="1333" dirty="0"/>
          </a:p>
        </p:txBody>
      </p:sp>
      <p:sp>
        <p:nvSpPr>
          <p:cNvPr id="29" name="Shape 27"/>
          <p:cNvSpPr/>
          <p:nvPr/>
        </p:nvSpPr>
        <p:spPr>
          <a:xfrm>
            <a:off x="609600" y="5352288"/>
            <a:ext cx="10972800" cy="1219200"/>
          </a:xfrm>
          <a:prstGeom prst="rect">
            <a:avLst/>
          </a:prstGeom>
          <a:solidFill>
            <a:srgbClr val="F5F5F5"/>
          </a:solidFill>
          <a:ln/>
        </p:spPr>
        <p:txBody>
          <a:bodyPr/>
          <a:lstStyle/>
          <a:p>
            <a:endParaRPr lang="en-US" sz="2400"/>
          </a:p>
        </p:txBody>
      </p:sp>
      <p:sp>
        <p:nvSpPr>
          <p:cNvPr id="30" name="Shape 28"/>
          <p:cNvSpPr/>
          <p:nvPr/>
        </p:nvSpPr>
        <p:spPr>
          <a:xfrm>
            <a:off x="609600" y="5352288"/>
            <a:ext cx="97536" cy="1219200"/>
          </a:xfrm>
          <a:prstGeom prst="rect">
            <a:avLst/>
          </a:prstGeom>
          <a:solidFill>
            <a:srgbClr val="D32F2F"/>
          </a:solidFill>
          <a:ln/>
        </p:spPr>
        <p:txBody>
          <a:bodyPr/>
          <a:lstStyle/>
          <a:p>
            <a:endParaRPr lang="en-US" sz="2400"/>
          </a:p>
        </p:txBody>
      </p:sp>
      <p:sp>
        <p:nvSpPr>
          <p:cNvPr id="31" name="Text 29"/>
          <p:cNvSpPr/>
          <p:nvPr/>
        </p:nvSpPr>
        <p:spPr>
          <a:xfrm>
            <a:off x="853440" y="5474208"/>
            <a:ext cx="3048000" cy="426720"/>
          </a:xfrm>
          <a:prstGeom prst="rect">
            <a:avLst/>
          </a:prstGeom>
          <a:noFill/>
          <a:ln/>
        </p:spPr>
        <p:txBody>
          <a:bodyPr wrap="square" rtlCol="0" anchor="ctr"/>
          <a:lstStyle/>
          <a:p>
            <a:r>
              <a:rPr lang="en-US" sz="1867" b="1" dirty="0">
                <a:solidFill>
                  <a:srgbClr val="1A1A1A"/>
                </a:solidFill>
                <a:latin typeface="Calibri" pitchFamily="34" charset="0"/>
                <a:ea typeface="Calibri" pitchFamily="34" charset="-122"/>
                <a:cs typeface="Calibri" pitchFamily="34" charset="-120"/>
              </a:rPr>
              <a:t>Power Line (60Hz)</a:t>
            </a:r>
            <a:endParaRPr lang="en-US" sz="1867" dirty="0"/>
          </a:p>
        </p:txBody>
      </p:sp>
      <p:sp>
        <p:nvSpPr>
          <p:cNvPr id="32" name="Text 30"/>
          <p:cNvSpPr/>
          <p:nvPr/>
        </p:nvSpPr>
        <p:spPr>
          <a:xfrm>
            <a:off x="853440" y="5900928"/>
            <a:ext cx="3048000" cy="30480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Channel: Both channels</a:t>
            </a:r>
            <a:endParaRPr lang="en-US" sz="1333" dirty="0"/>
          </a:p>
        </p:txBody>
      </p:sp>
      <p:sp>
        <p:nvSpPr>
          <p:cNvPr id="33" name="Text 31"/>
          <p:cNvSpPr/>
          <p:nvPr/>
        </p:nvSpPr>
        <p:spPr>
          <a:xfrm>
            <a:off x="4023360" y="5474208"/>
            <a:ext cx="3657600" cy="4267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Regular sinusoidal interference</a:t>
            </a:r>
            <a:endParaRPr lang="en-US" sz="1467" dirty="0"/>
          </a:p>
        </p:txBody>
      </p:sp>
      <p:sp>
        <p:nvSpPr>
          <p:cNvPr id="34" name="Text 32"/>
          <p:cNvSpPr/>
          <p:nvPr/>
        </p:nvSpPr>
        <p:spPr>
          <a:xfrm>
            <a:off x="4023360" y="5961888"/>
            <a:ext cx="3657600" cy="48768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Notch filter or improve shielding</a:t>
            </a:r>
            <a:endParaRPr lang="en-US" sz="1333" dirty="0"/>
          </a:p>
        </p:txBody>
      </p:sp>
      <p:sp>
        <p:nvSpPr>
          <p:cNvPr id="35" name="Text 33"/>
          <p:cNvSpPr/>
          <p:nvPr/>
        </p:nvSpPr>
        <p:spPr>
          <a:xfrm>
            <a:off x="7924800" y="5779008"/>
            <a:ext cx="3657600" cy="365760"/>
          </a:xfrm>
          <a:prstGeom prst="rect">
            <a:avLst/>
          </a:prstGeom>
          <a:noFill/>
          <a:ln/>
        </p:spPr>
        <p:txBody>
          <a:bodyPr wrap="square" rtlCol="0" anchor="ctr"/>
          <a:lstStyle/>
          <a:p>
            <a:r>
              <a:rPr lang="en-US" sz="1333" b="1" dirty="0">
                <a:solidFill>
                  <a:srgbClr val="D32F2F"/>
                </a:solidFill>
                <a:latin typeface="Calibri" pitchFamily="34" charset="0"/>
                <a:ea typeface="Calibri" pitchFamily="34" charset="-122"/>
                <a:cs typeface="Calibri" pitchFamily="34" charset="-120"/>
              </a:rPr>
              <a:t>Handling:</a:t>
            </a:r>
            <a:endParaRPr lang="en-US" sz="1333" dirty="0"/>
          </a:p>
        </p:txBody>
      </p:sp>
      <p:sp>
        <p:nvSpPr>
          <p:cNvPr id="36" name="Text 34"/>
          <p:cNvSpPr/>
          <p:nvPr/>
        </p:nvSpPr>
        <p:spPr>
          <a:xfrm>
            <a:off x="7924800" y="6083808"/>
            <a:ext cx="3657600" cy="426720"/>
          </a:xfrm>
          <a:prstGeom prst="rect">
            <a:avLst/>
          </a:prstGeom>
          <a:noFill/>
          <a:ln/>
        </p:spPr>
        <p:txBody>
          <a:bodyPr wrap="square" rtlCol="0" anchor="ctr"/>
          <a:lstStyle/>
          <a:p>
            <a:r>
              <a:rPr lang="en-US" sz="1333" dirty="0">
                <a:solidFill>
                  <a:srgbClr val="1A1A1A"/>
                </a:solidFill>
                <a:latin typeface="Calibri" pitchFamily="34" charset="0"/>
                <a:ea typeface="Calibri" pitchFamily="34" charset="-122"/>
                <a:cs typeface="Calibri" pitchFamily="34" charset="-120"/>
              </a:rPr>
              <a:t>Notch filter or improve shielding</a:t>
            </a:r>
            <a:endParaRPr lang="en-US" sz="1333" dirty="0"/>
          </a:p>
        </p:txBody>
      </p:sp>
      <p:sp>
        <p:nvSpPr>
          <p:cNvPr id="37" name="Text 35"/>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24 / 32</a:t>
            </a:r>
            <a:endParaRPr lang="en-US" sz="1200" dirty="0"/>
          </a:p>
        </p:txBody>
      </p:sp>
    </p:spTree>
    <p:extLst>
      <p:ext uri="{BB962C8B-B14F-4D97-AF65-F5344CB8AC3E}">
        <p14:creationId xmlns:p14="http://schemas.microsoft.com/office/powerpoint/2010/main" val="3646955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Blink Detection</a:t>
            </a:r>
            <a:endParaRPr lang="en-US" sz="4267" dirty="0"/>
          </a:p>
        </p:txBody>
      </p:sp>
      <p:sp>
        <p:nvSpPr>
          <p:cNvPr id="5" name="Text 3"/>
          <p:cNvSpPr/>
          <p:nvPr/>
        </p:nvSpPr>
        <p:spPr>
          <a:xfrm>
            <a:off x="609600" y="1219200"/>
            <a:ext cx="10972800" cy="365760"/>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Blinks as Artifacts vs. Control Signals</a:t>
            </a:r>
            <a:endParaRPr lang="en-US" sz="2133" dirty="0"/>
          </a:p>
        </p:txBody>
      </p:sp>
      <p:sp>
        <p:nvSpPr>
          <p:cNvPr id="6" name="Shape 4"/>
          <p:cNvSpPr/>
          <p:nvPr/>
        </p:nvSpPr>
        <p:spPr>
          <a:xfrm>
            <a:off x="609600" y="1828800"/>
            <a:ext cx="5364480" cy="2804160"/>
          </a:xfrm>
          <a:prstGeom prst="rect">
            <a:avLst/>
          </a:prstGeom>
          <a:solidFill>
            <a:srgbClr val="D32F2F">
              <a:alpha val="10000"/>
            </a:srgbClr>
          </a:solidFill>
          <a:ln/>
          <a:effectLst>
            <a:outerShdw blurRad="50800" dist="25400" dir="8100000" algn="bl" rotWithShape="0">
              <a:srgbClr val="000000">
                <a:alpha val="10000"/>
              </a:srgbClr>
            </a:outerShdw>
          </a:effectLst>
        </p:spPr>
        <p:txBody>
          <a:bodyPr/>
          <a:lstStyle/>
          <a:p>
            <a:endParaRPr lang="en-US" sz="2400"/>
          </a:p>
        </p:txBody>
      </p:sp>
      <p:sp>
        <p:nvSpPr>
          <p:cNvPr id="7" name="Shape 5"/>
          <p:cNvSpPr/>
          <p:nvPr/>
        </p:nvSpPr>
        <p:spPr>
          <a:xfrm>
            <a:off x="609600" y="1828800"/>
            <a:ext cx="5364480" cy="548640"/>
          </a:xfrm>
          <a:prstGeom prst="rect">
            <a:avLst/>
          </a:prstGeom>
          <a:solidFill>
            <a:srgbClr val="D32F2F"/>
          </a:solidFill>
          <a:ln/>
        </p:spPr>
        <p:txBody>
          <a:bodyPr/>
          <a:lstStyle/>
          <a:p>
            <a:endParaRPr lang="en-US" sz="2400"/>
          </a:p>
        </p:txBody>
      </p:sp>
      <p:sp>
        <p:nvSpPr>
          <p:cNvPr id="8" name="Text 6"/>
          <p:cNvSpPr/>
          <p:nvPr/>
        </p:nvSpPr>
        <p:spPr>
          <a:xfrm>
            <a:off x="731520" y="1889760"/>
            <a:ext cx="5120640" cy="42672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As Artifacts (Remove)</a:t>
            </a:r>
            <a:endParaRPr lang="en-US" sz="1733" dirty="0"/>
          </a:p>
        </p:txBody>
      </p:sp>
      <p:sp>
        <p:nvSpPr>
          <p:cNvPr id="9" name="Text 7"/>
          <p:cNvSpPr/>
          <p:nvPr/>
        </p:nvSpPr>
        <p:spPr>
          <a:xfrm>
            <a:off x="792480" y="2499360"/>
            <a:ext cx="4998720" cy="195072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When analyzing gaze patterns:</a:t>
            </a:r>
            <a:endParaRPr lang="en-US" sz="1600" dirty="0"/>
          </a:p>
          <a:p>
            <a:endParaRPr lang="en-US" sz="1600" dirty="0"/>
          </a:p>
          <a:p>
            <a:r>
              <a:rPr lang="en-US" sz="1600" dirty="0">
                <a:solidFill>
                  <a:srgbClr val="1A1A1A"/>
                </a:solidFill>
                <a:latin typeface="Calibri" pitchFamily="34" charset="0"/>
                <a:ea typeface="Calibri" pitchFamily="34" charset="-122"/>
                <a:cs typeface="Calibri" pitchFamily="34" charset="-120"/>
              </a:rPr>
              <a:t>• Detect using threshold crossing</a:t>
            </a:r>
            <a:endParaRPr lang="en-US" sz="1600" dirty="0"/>
          </a:p>
          <a:p>
            <a:r>
              <a:rPr lang="en-US" sz="1600" dirty="0">
                <a:solidFill>
                  <a:srgbClr val="1A1A1A"/>
                </a:solidFill>
                <a:latin typeface="Calibri" pitchFamily="34" charset="0"/>
                <a:ea typeface="Calibri" pitchFamily="34" charset="-122"/>
                <a:cs typeface="Calibri" pitchFamily="34" charset="-120"/>
              </a:rPr>
              <a:t>• Mark affected epochs</a:t>
            </a:r>
            <a:endParaRPr lang="en-US" sz="1600" dirty="0"/>
          </a:p>
          <a:p>
            <a:r>
              <a:rPr lang="en-US" sz="1600" dirty="0">
                <a:solidFill>
                  <a:srgbClr val="1A1A1A"/>
                </a:solidFill>
                <a:latin typeface="Calibri" pitchFamily="34" charset="0"/>
                <a:ea typeface="Calibri" pitchFamily="34" charset="-122"/>
                <a:cs typeface="Calibri" pitchFamily="34" charset="-120"/>
              </a:rPr>
              <a:t>• Reject or interpolate</a:t>
            </a:r>
            <a:endParaRPr lang="en-US" sz="1600" dirty="0"/>
          </a:p>
          <a:p>
            <a:r>
              <a:rPr lang="en-US" sz="1600" dirty="0">
                <a:solidFill>
                  <a:srgbClr val="1A1A1A"/>
                </a:solidFill>
                <a:latin typeface="Calibri" pitchFamily="34" charset="0"/>
                <a:ea typeface="Calibri" pitchFamily="34" charset="-122"/>
                <a:cs typeface="Calibri" pitchFamily="34" charset="-120"/>
              </a:rPr>
              <a:t>• Typical duration: 100-400ms</a:t>
            </a:r>
            <a:endParaRPr lang="en-US" sz="1600" dirty="0"/>
          </a:p>
        </p:txBody>
      </p:sp>
      <p:sp>
        <p:nvSpPr>
          <p:cNvPr id="10" name="Shape 8"/>
          <p:cNvSpPr/>
          <p:nvPr/>
        </p:nvSpPr>
        <p:spPr>
          <a:xfrm>
            <a:off x="6217920" y="1828800"/>
            <a:ext cx="5364480" cy="2804160"/>
          </a:xfrm>
          <a:prstGeom prst="rect">
            <a:avLst/>
          </a:prstGeom>
          <a:solidFill>
            <a:srgbClr val="F76902">
              <a:alpha val="10000"/>
            </a:srgbClr>
          </a:solidFill>
          <a:ln/>
          <a:effectLst>
            <a:outerShdw blurRad="50800" dist="25400" dir="8100000" algn="bl" rotWithShape="0">
              <a:srgbClr val="000000">
                <a:alpha val="10000"/>
              </a:srgbClr>
            </a:outerShdw>
          </a:effectLst>
        </p:spPr>
        <p:txBody>
          <a:bodyPr/>
          <a:lstStyle/>
          <a:p>
            <a:endParaRPr lang="en-US" sz="2400"/>
          </a:p>
        </p:txBody>
      </p:sp>
      <p:sp>
        <p:nvSpPr>
          <p:cNvPr id="11" name="Shape 9"/>
          <p:cNvSpPr/>
          <p:nvPr/>
        </p:nvSpPr>
        <p:spPr>
          <a:xfrm>
            <a:off x="6217920" y="1828800"/>
            <a:ext cx="5364480" cy="548640"/>
          </a:xfrm>
          <a:prstGeom prst="rect">
            <a:avLst/>
          </a:prstGeom>
          <a:solidFill>
            <a:srgbClr val="F76902"/>
          </a:solidFill>
          <a:ln/>
        </p:spPr>
        <p:txBody>
          <a:bodyPr/>
          <a:lstStyle/>
          <a:p>
            <a:endParaRPr lang="en-US" sz="2400"/>
          </a:p>
        </p:txBody>
      </p:sp>
      <p:sp>
        <p:nvSpPr>
          <p:cNvPr id="12" name="Text 10"/>
          <p:cNvSpPr/>
          <p:nvPr/>
        </p:nvSpPr>
        <p:spPr>
          <a:xfrm>
            <a:off x="6339840" y="1889760"/>
            <a:ext cx="5120640" cy="42672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As Control Signals (Use)</a:t>
            </a:r>
            <a:endParaRPr lang="en-US" sz="1733" dirty="0"/>
          </a:p>
        </p:txBody>
      </p:sp>
      <p:sp>
        <p:nvSpPr>
          <p:cNvPr id="13" name="Text 11"/>
          <p:cNvSpPr/>
          <p:nvPr/>
        </p:nvSpPr>
        <p:spPr>
          <a:xfrm>
            <a:off x="6400800" y="2499360"/>
            <a:ext cx="4998720" cy="195072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For human-computer interaction:</a:t>
            </a:r>
            <a:endParaRPr lang="en-US" sz="1600" dirty="0"/>
          </a:p>
          <a:p>
            <a:endParaRPr lang="en-US" sz="1600" dirty="0"/>
          </a:p>
          <a:p>
            <a:r>
              <a:rPr lang="en-US" sz="1600" dirty="0">
                <a:solidFill>
                  <a:srgbClr val="1A1A1A"/>
                </a:solidFill>
                <a:latin typeface="Calibri" pitchFamily="34" charset="0"/>
                <a:ea typeface="Calibri" pitchFamily="34" charset="-122"/>
                <a:cs typeface="Calibri" pitchFamily="34" charset="-120"/>
              </a:rPr>
              <a:t>• Single blink = click/select</a:t>
            </a:r>
            <a:endParaRPr lang="en-US" sz="1600" dirty="0"/>
          </a:p>
          <a:p>
            <a:r>
              <a:rPr lang="en-US" sz="1600" dirty="0">
                <a:solidFill>
                  <a:srgbClr val="1A1A1A"/>
                </a:solidFill>
                <a:latin typeface="Calibri" pitchFamily="34" charset="0"/>
                <a:ea typeface="Calibri" pitchFamily="34" charset="-122"/>
                <a:cs typeface="Calibri" pitchFamily="34" charset="-120"/>
              </a:rPr>
              <a:t>• Double blink = confirm/enter</a:t>
            </a:r>
            <a:endParaRPr lang="en-US" sz="1600" dirty="0"/>
          </a:p>
          <a:p>
            <a:r>
              <a:rPr lang="en-US" sz="1600" dirty="0">
                <a:solidFill>
                  <a:srgbClr val="1A1A1A"/>
                </a:solidFill>
                <a:latin typeface="Calibri" pitchFamily="34" charset="0"/>
                <a:ea typeface="Calibri" pitchFamily="34" charset="-122"/>
                <a:cs typeface="Calibri" pitchFamily="34" charset="-120"/>
              </a:rPr>
              <a:t>• Long blink = cancel/back</a:t>
            </a:r>
            <a:endParaRPr lang="en-US" sz="1600" dirty="0"/>
          </a:p>
          <a:p>
            <a:r>
              <a:rPr lang="en-US" sz="1600" dirty="0">
                <a:solidFill>
                  <a:srgbClr val="1A1A1A"/>
                </a:solidFill>
                <a:latin typeface="Calibri" pitchFamily="34" charset="0"/>
                <a:ea typeface="Calibri" pitchFamily="34" charset="-122"/>
                <a:cs typeface="Calibri" pitchFamily="34" charset="-120"/>
              </a:rPr>
              <a:t>• Blink patterns as commands</a:t>
            </a:r>
            <a:endParaRPr lang="en-US" sz="1600" dirty="0"/>
          </a:p>
        </p:txBody>
      </p:sp>
      <p:sp>
        <p:nvSpPr>
          <p:cNvPr id="14" name="Text 12"/>
          <p:cNvSpPr/>
          <p:nvPr/>
        </p:nvSpPr>
        <p:spPr>
          <a:xfrm>
            <a:off x="609600" y="4876800"/>
            <a:ext cx="10972800" cy="487680"/>
          </a:xfrm>
          <a:prstGeom prst="rect">
            <a:avLst/>
          </a:prstGeom>
          <a:noFill/>
          <a:ln/>
        </p:spPr>
        <p:txBody>
          <a:bodyPr wrap="square" rtlCol="0" anchor="ctr"/>
          <a:lstStyle/>
          <a:p>
            <a:r>
              <a:rPr lang="en-US" sz="2133" b="1" dirty="0">
                <a:solidFill>
                  <a:srgbClr val="F76902"/>
                </a:solidFill>
                <a:latin typeface="Calibri" pitchFamily="34" charset="0"/>
                <a:ea typeface="Calibri" pitchFamily="34" charset="-122"/>
                <a:cs typeface="Calibri" pitchFamily="34" charset="-120"/>
              </a:rPr>
              <a:t>Simple Detection Algorithm</a:t>
            </a:r>
            <a:endParaRPr lang="en-US" sz="2133" dirty="0"/>
          </a:p>
        </p:txBody>
      </p:sp>
      <p:sp>
        <p:nvSpPr>
          <p:cNvPr id="15" name="Shape 13"/>
          <p:cNvSpPr/>
          <p:nvPr/>
        </p:nvSpPr>
        <p:spPr>
          <a:xfrm>
            <a:off x="609600" y="5364480"/>
            <a:ext cx="10972800" cy="1097280"/>
          </a:xfrm>
          <a:prstGeom prst="rect">
            <a:avLst/>
          </a:prstGeom>
          <a:solidFill>
            <a:srgbClr val="1A1A1A"/>
          </a:solidFill>
          <a:ln/>
        </p:spPr>
        <p:txBody>
          <a:bodyPr/>
          <a:lstStyle/>
          <a:p>
            <a:endParaRPr lang="en-US" sz="2400"/>
          </a:p>
        </p:txBody>
      </p:sp>
      <p:sp>
        <p:nvSpPr>
          <p:cNvPr id="16" name="Text 14"/>
          <p:cNvSpPr/>
          <p:nvPr/>
        </p:nvSpPr>
        <p:spPr>
          <a:xfrm>
            <a:off x="853440" y="5486400"/>
            <a:ext cx="10485120" cy="853440"/>
          </a:xfrm>
          <a:prstGeom prst="rect">
            <a:avLst/>
          </a:prstGeom>
          <a:noFill/>
          <a:ln/>
        </p:spPr>
        <p:txBody>
          <a:bodyPr wrap="square" rtlCol="0" anchor="ctr"/>
          <a:lstStyle/>
          <a:p>
            <a:r>
              <a:rPr lang="en-US" sz="1600" dirty="0">
                <a:solidFill>
                  <a:srgbClr val="FFFFFF"/>
                </a:solidFill>
                <a:latin typeface="Calibri" pitchFamily="34" charset="0"/>
                <a:ea typeface="Calibri" pitchFamily="34" charset="-122"/>
                <a:cs typeface="Calibri" pitchFamily="34" charset="-120"/>
              </a:rPr>
              <a:t>1. Baseline-correct VEOG signal  →  2. Set threshold (e.g., 3× std dev)  →  3. Find samples above threshold  →  4. Check duration (50-400ms typical blink)  →  5. Mark as blink or reject</a:t>
            </a:r>
            <a:endParaRPr lang="en-US" sz="1600" dirty="0"/>
          </a:p>
        </p:txBody>
      </p:sp>
      <p:sp>
        <p:nvSpPr>
          <p:cNvPr id="17" name="Text 15"/>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25 / 32</a:t>
            </a:r>
            <a:endParaRPr lang="en-US" sz="1200" dirty="0"/>
          </a:p>
        </p:txBody>
      </p:sp>
    </p:spTree>
    <p:extLst>
      <p:ext uri="{BB962C8B-B14F-4D97-AF65-F5344CB8AC3E}">
        <p14:creationId xmlns:p14="http://schemas.microsoft.com/office/powerpoint/2010/main" val="3778557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Feature Extraction for Gaze Classification</a:t>
            </a:r>
            <a:endParaRPr lang="en-US" sz="4267" dirty="0"/>
          </a:p>
        </p:txBody>
      </p:sp>
      <p:sp>
        <p:nvSpPr>
          <p:cNvPr id="5" name="Shape 3"/>
          <p:cNvSpPr/>
          <p:nvPr/>
        </p:nvSpPr>
        <p:spPr>
          <a:xfrm>
            <a:off x="609600" y="1341120"/>
            <a:ext cx="5364480" cy="24384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6" name="Shape 4"/>
          <p:cNvSpPr/>
          <p:nvPr/>
        </p:nvSpPr>
        <p:spPr>
          <a:xfrm>
            <a:off x="609600" y="1341120"/>
            <a:ext cx="97536" cy="2438400"/>
          </a:xfrm>
          <a:prstGeom prst="rect">
            <a:avLst/>
          </a:prstGeom>
          <a:solidFill>
            <a:srgbClr val="F76902"/>
          </a:solidFill>
          <a:ln/>
        </p:spPr>
        <p:txBody>
          <a:bodyPr/>
          <a:lstStyle/>
          <a:p>
            <a:endParaRPr lang="en-US" sz="2400"/>
          </a:p>
        </p:txBody>
      </p:sp>
      <p:sp>
        <p:nvSpPr>
          <p:cNvPr id="7" name="Text 5"/>
          <p:cNvSpPr/>
          <p:nvPr/>
        </p:nvSpPr>
        <p:spPr>
          <a:xfrm>
            <a:off x="853440" y="1463040"/>
            <a:ext cx="4876800" cy="426720"/>
          </a:xfrm>
          <a:prstGeom prst="rect">
            <a:avLst/>
          </a:prstGeom>
          <a:noFill/>
          <a:ln/>
        </p:spPr>
        <p:txBody>
          <a:bodyPr wrap="square" rtlCol="0" anchor="ctr"/>
          <a:lstStyle/>
          <a:p>
            <a:r>
              <a:rPr lang="en-US" sz="1867" b="1" dirty="0">
                <a:solidFill>
                  <a:srgbClr val="F76902"/>
                </a:solidFill>
                <a:latin typeface="Calibri" pitchFamily="34" charset="0"/>
                <a:ea typeface="Calibri" pitchFamily="34" charset="-122"/>
                <a:cs typeface="Calibri" pitchFamily="34" charset="-120"/>
              </a:rPr>
              <a:t>Amplitude Features</a:t>
            </a:r>
            <a:endParaRPr lang="en-US" sz="1867" dirty="0"/>
          </a:p>
        </p:txBody>
      </p:sp>
      <p:sp>
        <p:nvSpPr>
          <p:cNvPr id="8" name="Text 6"/>
          <p:cNvSpPr/>
          <p:nvPr/>
        </p:nvSpPr>
        <p:spPr>
          <a:xfrm>
            <a:off x="914400" y="1950720"/>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Mean amplitude (HEOG, VEOG)</a:t>
            </a:r>
            <a:endParaRPr lang="en-US" sz="1467" dirty="0"/>
          </a:p>
        </p:txBody>
      </p:sp>
      <p:sp>
        <p:nvSpPr>
          <p:cNvPr id="9" name="Text 7"/>
          <p:cNvSpPr/>
          <p:nvPr/>
        </p:nvSpPr>
        <p:spPr>
          <a:xfrm>
            <a:off x="914400" y="2340864"/>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Peak amplitude</a:t>
            </a:r>
            <a:endParaRPr lang="en-US" sz="1467" dirty="0"/>
          </a:p>
        </p:txBody>
      </p:sp>
      <p:sp>
        <p:nvSpPr>
          <p:cNvPr id="10" name="Text 8"/>
          <p:cNvSpPr/>
          <p:nvPr/>
        </p:nvSpPr>
        <p:spPr>
          <a:xfrm>
            <a:off x="914400" y="2731008"/>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Peak-to-peak range</a:t>
            </a:r>
            <a:endParaRPr lang="en-US" sz="1467" dirty="0"/>
          </a:p>
        </p:txBody>
      </p:sp>
      <p:sp>
        <p:nvSpPr>
          <p:cNvPr id="11" name="Text 9"/>
          <p:cNvSpPr/>
          <p:nvPr/>
        </p:nvSpPr>
        <p:spPr>
          <a:xfrm>
            <a:off x="853440" y="323088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Most discriminative for gaze direction</a:t>
            </a:r>
            <a:endParaRPr lang="en-US" sz="1333" dirty="0"/>
          </a:p>
        </p:txBody>
      </p:sp>
      <p:sp>
        <p:nvSpPr>
          <p:cNvPr id="12" name="Shape 10"/>
          <p:cNvSpPr/>
          <p:nvPr/>
        </p:nvSpPr>
        <p:spPr>
          <a:xfrm>
            <a:off x="6217920" y="1341120"/>
            <a:ext cx="5364480" cy="24384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3" name="Shape 11"/>
          <p:cNvSpPr/>
          <p:nvPr/>
        </p:nvSpPr>
        <p:spPr>
          <a:xfrm>
            <a:off x="6217920" y="1341120"/>
            <a:ext cx="97536" cy="2438400"/>
          </a:xfrm>
          <a:prstGeom prst="rect">
            <a:avLst/>
          </a:prstGeom>
          <a:solidFill>
            <a:srgbClr val="F76902"/>
          </a:solidFill>
          <a:ln/>
        </p:spPr>
        <p:txBody>
          <a:bodyPr/>
          <a:lstStyle/>
          <a:p>
            <a:endParaRPr lang="en-US" sz="2400"/>
          </a:p>
        </p:txBody>
      </p:sp>
      <p:sp>
        <p:nvSpPr>
          <p:cNvPr id="14" name="Text 12"/>
          <p:cNvSpPr/>
          <p:nvPr/>
        </p:nvSpPr>
        <p:spPr>
          <a:xfrm>
            <a:off x="6461760" y="1463040"/>
            <a:ext cx="4876800" cy="426720"/>
          </a:xfrm>
          <a:prstGeom prst="rect">
            <a:avLst/>
          </a:prstGeom>
          <a:noFill/>
          <a:ln/>
        </p:spPr>
        <p:txBody>
          <a:bodyPr wrap="square" rtlCol="0" anchor="ctr"/>
          <a:lstStyle/>
          <a:p>
            <a:r>
              <a:rPr lang="en-US" sz="1867" b="1" dirty="0">
                <a:solidFill>
                  <a:srgbClr val="F76902"/>
                </a:solidFill>
                <a:latin typeface="Calibri" pitchFamily="34" charset="0"/>
                <a:ea typeface="Calibri" pitchFamily="34" charset="-122"/>
                <a:cs typeface="Calibri" pitchFamily="34" charset="-120"/>
              </a:rPr>
              <a:t>Statistical Features</a:t>
            </a:r>
            <a:endParaRPr lang="en-US" sz="1867" dirty="0"/>
          </a:p>
        </p:txBody>
      </p:sp>
      <p:sp>
        <p:nvSpPr>
          <p:cNvPr id="15" name="Text 13"/>
          <p:cNvSpPr/>
          <p:nvPr/>
        </p:nvSpPr>
        <p:spPr>
          <a:xfrm>
            <a:off x="6522720" y="1950720"/>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Standard deviation</a:t>
            </a:r>
            <a:endParaRPr lang="en-US" sz="1467" dirty="0"/>
          </a:p>
        </p:txBody>
      </p:sp>
      <p:sp>
        <p:nvSpPr>
          <p:cNvPr id="16" name="Text 14"/>
          <p:cNvSpPr/>
          <p:nvPr/>
        </p:nvSpPr>
        <p:spPr>
          <a:xfrm>
            <a:off x="6522720" y="2340864"/>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Skewness</a:t>
            </a:r>
            <a:endParaRPr lang="en-US" sz="1467" dirty="0"/>
          </a:p>
        </p:txBody>
      </p:sp>
      <p:sp>
        <p:nvSpPr>
          <p:cNvPr id="17" name="Text 15"/>
          <p:cNvSpPr/>
          <p:nvPr/>
        </p:nvSpPr>
        <p:spPr>
          <a:xfrm>
            <a:off x="6522720" y="2731008"/>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Kurtosis</a:t>
            </a:r>
            <a:endParaRPr lang="en-US" sz="1467" dirty="0"/>
          </a:p>
        </p:txBody>
      </p:sp>
      <p:sp>
        <p:nvSpPr>
          <p:cNvPr id="18" name="Text 16"/>
          <p:cNvSpPr/>
          <p:nvPr/>
        </p:nvSpPr>
        <p:spPr>
          <a:xfrm>
            <a:off x="6461760" y="323088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Capture signal variability</a:t>
            </a:r>
            <a:endParaRPr lang="en-US" sz="1333" dirty="0"/>
          </a:p>
        </p:txBody>
      </p:sp>
      <p:sp>
        <p:nvSpPr>
          <p:cNvPr id="19" name="Shape 17"/>
          <p:cNvSpPr/>
          <p:nvPr/>
        </p:nvSpPr>
        <p:spPr>
          <a:xfrm>
            <a:off x="609600" y="3962400"/>
            <a:ext cx="5364480" cy="24384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0" name="Shape 18"/>
          <p:cNvSpPr/>
          <p:nvPr/>
        </p:nvSpPr>
        <p:spPr>
          <a:xfrm>
            <a:off x="609600" y="3962400"/>
            <a:ext cx="97536" cy="2438400"/>
          </a:xfrm>
          <a:prstGeom prst="rect">
            <a:avLst/>
          </a:prstGeom>
          <a:solidFill>
            <a:srgbClr val="F76902"/>
          </a:solidFill>
          <a:ln/>
        </p:spPr>
        <p:txBody>
          <a:bodyPr/>
          <a:lstStyle/>
          <a:p>
            <a:endParaRPr lang="en-US" sz="2400"/>
          </a:p>
        </p:txBody>
      </p:sp>
      <p:sp>
        <p:nvSpPr>
          <p:cNvPr id="21" name="Text 19"/>
          <p:cNvSpPr/>
          <p:nvPr/>
        </p:nvSpPr>
        <p:spPr>
          <a:xfrm>
            <a:off x="853440" y="4084320"/>
            <a:ext cx="4876800" cy="426720"/>
          </a:xfrm>
          <a:prstGeom prst="rect">
            <a:avLst/>
          </a:prstGeom>
          <a:noFill/>
          <a:ln/>
        </p:spPr>
        <p:txBody>
          <a:bodyPr wrap="square" rtlCol="0" anchor="ctr"/>
          <a:lstStyle/>
          <a:p>
            <a:r>
              <a:rPr lang="en-US" sz="1867" b="1" dirty="0">
                <a:solidFill>
                  <a:srgbClr val="F76902"/>
                </a:solidFill>
                <a:latin typeface="Calibri" pitchFamily="34" charset="0"/>
                <a:ea typeface="Calibri" pitchFamily="34" charset="-122"/>
                <a:cs typeface="Calibri" pitchFamily="34" charset="-120"/>
              </a:rPr>
              <a:t>Temporal Features</a:t>
            </a:r>
            <a:endParaRPr lang="en-US" sz="1867" dirty="0"/>
          </a:p>
        </p:txBody>
      </p:sp>
      <p:sp>
        <p:nvSpPr>
          <p:cNvPr id="22" name="Text 20"/>
          <p:cNvSpPr/>
          <p:nvPr/>
        </p:nvSpPr>
        <p:spPr>
          <a:xfrm>
            <a:off x="914400" y="4572000"/>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Saccade velocity (max derivative)</a:t>
            </a:r>
            <a:endParaRPr lang="en-US" sz="1467" dirty="0"/>
          </a:p>
        </p:txBody>
      </p:sp>
      <p:sp>
        <p:nvSpPr>
          <p:cNvPr id="23" name="Text 21"/>
          <p:cNvSpPr/>
          <p:nvPr/>
        </p:nvSpPr>
        <p:spPr>
          <a:xfrm>
            <a:off x="914400" y="4962144"/>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Fixation duration</a:t>
            </a:r>
            <a:endParaRPr lang="en-US" sz="1467" dirty="0"/>
          </a:p>
        </p:txBody>
      </p:sp>
      <p:sp>
        <p:nvSpPr>
          <p:cNvPr id="24" name="Text 22"/>
          <p:cNvSpPr/>
          <p:nvPr/>
        </p:nvSpPr>
        <p:spPr>
          <a:xfrm>
            <a:off x="914400" y="5352288"/>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Zero crossings</a:t>
            </a:r>
            <a:endParaRPr lang="en-US" sz="1467" dirty="0"/>
          </a:p>
        </p:txBody>
      </p:sp>
      <p:sp>
        <p:nvSpPr>
          <p:cNvPr id="25" name="Text 23"/>
          <p:cNvSpPr/>
          <p:nvPr/>
        </p:nvSpPr>
        <p:spPr>
          <a:xfrm>
            <a:off x="853440" y="585216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Capture eye movement dynamics</a:t>
            </a:r>
            <a:endParaRPr lang="en-US" sz="1333" dirty="0"/>
          </a:p>
        </p:txBody>
      </p:sp>
      <p:sp>
        <p:nvSpPr>
          <p:cNvPr id="26" name="Shape 24"/>
          <p:cNvSpPr/>
          <p:nvPr/>
        </p:nvSpPr>
        <p:spPr>
          <a:xfrm>
            <a:off x="6217920" y="3962400"/>
            <a:ext cx="5364480" cy="24384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7" name="Shape 25"/>
          <p:cNvSpPr/>
          <p:nvPr/>
        </p:nvSpPr>
        <p:spPr>
          <a:xfrm>
            <a:off x="6217920" y="3962400"/>
            <a:ext cx="97536" cy="2438400"/>
          </a:xfrm>
          <a:prstGeom prst="rect">
            <a:avLst/>
          </a:prstGeom>
          <a:solidFill>
            <a:srgbClr val="F76902"/>
          </a:solidFill>
          <a:ln/>
        </p:spPr>
        <p:txBody>
          <a:bodyPr/>
          <a:lstStyle/>
          <a:p>
            <a:endParaRPr lang="en-US" sz="2400"/>
          </a:p>
        </p:txBody>
      </p:sp>
      <p:sp>
        <p:nvSpPr>
          <p:cNvPr id="28" name="Text 26"/>
          <p:cNvSpPr/>
          <p:nvPr/>
        </p:nvSpPr>
        <p:spPr>
          <a:xfrm>
            <a:off x="6461760" y="4084320"/>
            <a:ext cx="4876800" cy="426720"/>
          </a:xfrm>
          <a:prstGeom prst="rect">
            <a:avLst/>
          </a:prstGeom>
          <a:noFill/>
          <a:ln/>
        </p:spPr>
        <p:txBody>
          <a:bodyPr wrap="square" rtlCol="0" anchor="ctr"/>
          <a:lstStyle/>
          <a:p>
            <a:r>
              <a:rPr lang="en-US" sz="1867" b="1" dirty="0">
                <a:solidFill>
                  <a:srgbClr val="F76902"/>
                </a:solidFill>
                <a:latin typeface="Calibri" pitchFamily="34" charset="0"/>
                <a:ea typeface="Calibri" pitchFamily="34" charset="-122"/>
                <a:cs typeface="Calibri" pitchFamily="34" charset="-120"/>
              </a:rPr>
              <a:t>Energy Features</a:t>
            </a:r>
            <a:endParaRPr lang="en-US" sz="1867" dirty="0"/>
          </a:p>
        </p:txBody>
      </p:sp>
      <p:sp>
        <p:nvSpPr>
          <p:cNvPr id="29" name="Text 27"/>
          <p:cNvSpPr/>
          <p:nvPr/>
        </p:nvSpPr>
        <p:spPr>
          <a:xfrm>
            <a:off x="6522720" y="4572000"/>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RMS amplitude</a:t>
            </a:r>
            <a:endParaRPr lang="en-US" sz="1467" dirty="0"/>
          </a:p>
        </p:txBody>
      </p:sp>
      <p:sp>
        <p:nvSpPr>
          <p:cNvPr id="30" name="Text 28"/>
          <p:cNvSpPr/>
          <p:nvPr/>
        </p:nvSpPr>
        <p:spPr>
          <a:xfrm>
            <a:off x="6522720" y="4962144"/>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Signal energy</a:t>
            </a:r>
            <a:endParaRPr lang="en-US" sz="1467" dirty="0"/>
          </a:p>
        </p:txBody>
      </p:sp>
      <p:sp>
        <p:nvSpPr>
          <p:cNvPr id="31" name="Text 29"/>
          <p:cNvSpPr/>
          <p:nvPr/>
        </p:nvSpPr>
        <p:spPr>
          <a:xfrm>
            <a:off x="6522720" y="5352288"/>
            <a:ext cx="4876800" cy="36576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HEOG/VEOG energy ratio</a:t>
            </a:r>
            <a:endParaRPr lang="en-US" sz="1467" dirty="0"/>
          </a:p>
        </p:txBody>
      </p:sp>
      <p:sp>
        <p:nvSpPr>
          <p:cNvPr id="32" name="Text 30"/>
          <p:cNvSpPr/>
          <p:nvPr/>
        </p:nvSpPr>
        <p:spPr>
          <a:xfrm>
            <a:off x="6461760" y="585216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Robust to baseline offset</a:t>
            </a:r>
            <a:endParaRPr lang="en-US" sz="1333" dirty="0"/>
          </a:p>
        </p:txBody>
      </p:sp>
      <p:sp>
        <p:nvSpPr>
          <p:cNvPr id="33" name="Text 31"/>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27 / 32</a:t>
            </a:r>
            <a:endParaRPr lang="en-US" sz="1200" dirty="0"/>
          </a:p>
        </p:txBody>
      </p:sp>
    </p:spTree>
    <p:extLst>
      <p:ext uri="{BB962C8B-B14F-4D97-AF65-F5344CB8AC3E}">
        <p14:creationId xmlns:p14="http://schemas.microsoft.com/office/powerpoint/2010/main" val="775939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Classification Approaches</a:t>
            </a:r>
            <a:endParaRPr lang="en-US" sz="4267" dirty="0"/>
          </a:p>
        </p:txBody>
      </p:sp>
      <p:sp>
        <p:nvSpPr>
          <p:cNvPr id="5" name="Text 3"/>
          <p:cNvSpPr/>
          <p:nvPr/>
        </p:nvSpPr>
        <p:spPr>
          <a:xfrm>
            <a:off x="609600" y="1219200"/>
            <a:ext cx="10972800" cy="365760"/>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Applying ML methods you've learned to EOG data</a:t>
            </a:r>
            <a:endParaRPr lang="en-US" sz="2133" dirty="0"/>
          </a:p>
        </p:txBody>
      </p:sp>
      <p:sp>
        <p:nvSpPr>
          <p:cNvPr id="6" name="Shape 4"/>
          <p:cNvSpPr/>
          <p:nvPr/>
        </p:nvSpPr>
        <p:spPr>
          <a:xfrm>
            <a:off x="609600" y="1828800"/>
            <a:ext cx="10972800" cy="1097280"/>
          </a:xfrm>
          <a:prstGeom prst="rect">
            <a:avLst/>
          </a:prstGeom>
          <a:solidFill>
            <a:srgbClr val="F5F5F5"/>
          </a:solidFill>
          <a:ln/>
        </p:spPr>
        <p:txBody>
          <a:bodyPr/>
          <a:lstStyle/>
          <a:p>
            <a:endParaRPr lang="en-US" sz="2400"/>
          </a:p>
        </p:txBody>
      </p:sp>
      <p:sp>
        <p:nvSpPr>
          <p:cNvPr id="7" name="Shape 5"/>
          <p:cNvSpPr/>
          <p:nvPr/>
        </p:nvSpPr>
        <p:spPr>
          <a:xfrm>
            <a:off x="609600" y="1828800"/>
            <a:ext cx="97536" cy="1097280"/>
          </a:xfrm>
          <a:prstGeom prst="rect">
            <a:avLst/>
          </a:prstGeom>
          <a:solidFill>
            <a:srgbClr val="666666"/>
          </a:solidFill>
          <a:ln/>
        </p:spPr>
        <p:txBody>
          <a:bodyPr/>
          <a:lstStyle/>
          <a:p>
            <a:endParaRPr lang="en-US" sz="2400"/>
          </a:p>
        </p:txBody>
      </p:sp>
      <p:sp>
        <p:nvSpPr>
          <p:cNvPr id="8" name="Text 6"/>
          <p:cNvSpPr/>
          <p:nvPr/>
        </p:nvSpPr>
        <p:spPr>
          <a:xfrm>
            <a:off x="853440" y="1950720"/>
            <a:ext cx="2438400" cy="426720"/>
          </a:xfrm>
          <a:prstGeom prst="rect">
            <a:avLst/>
          </a:prstGeom>
          <a:noFill/>
          <a:ln/>
        </p:spPr>
        <p:txBody>
          <a:bodyPr wrap="square" rtlCol="0" anchor="ctr"/>
          <a:lstStyle/>
          <a:p>
            <a:r>
              <a:rPr lang="en-US" sz="1733" b="1" dirty="0">
                <a:solidFill>
                  <a:srgbClr val="1A1A1A"/>
                </a:solidFill>
                <a:latin typeface="Calibri" pitchFamily="34" charset="0"/>
                <a:ea typeface="Calibri" pitchFamily="34" charset="-122"/>
                <a:cs typeface="Calibri" pitchFamily="34" charset="-120"/>
              </a:rPr>
              <a:t>Threshold-based</a:t>
            </a:r>
            <a:endParaRPr lang="en-US" sz="1733" dirty="0"/>
          </a:p>
        </p:txBody>
      </p:sp>
      <p:sp>
        <p:nvSpPr>
          <p:cNvPr id="9" name="Text 7"/>
          <p:cNvSpPr/>
          <p:nvPr/>
        </p:nvSpPr>
        <p:spPr>
          <a:xfrm>
            <a:off x="853440" y="2438400"/>
            <a:ext cx="2804160" cy="42672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Simple amplitude thresholds for L/R/U/D</a:t>
            </a:r>
            <a:endParaRPr lang="en-US" sz="1333" dirty="0"/>
          </a:p>
        </p:txBody>
      </p:sp>
      <p:sp>
        <p:nvSpPr>
          <p:cNvPr id="10" name="Text 8"/>
          <p:cNvSpPr/>
          <p:nvPr/>
        </p:nvSpPr>
        <p:spPr>
          <a:xfrm>
            <a:off x="3779520" y="2133600"/>
            <a:ext cx="3657600" cy="487680"/>
          </a:xfrm>
          <a:prstGeom prst="rect">
            <a:avLst/>
          </a:prstGeom>
          <a:noFill/>
          <a:ln/>
        </p:spPr>
        <p:txBody>
          <a:bodyPr wrap="square" rtlCol="0" anchor="ctr"/>
          <a:lstStyle/>
          <a:p>
            <a:r>
              <a:rPr lang="en-US" sz="1467" dirty="0">
                <a:solidFill>
                  <a:srgbClr val="F76902"/>
                </a:solidFill>
                <a:latin typeface="Calibri" pitchFamily="34" charset="0"/>
                <a:ea typeface="Calibri" pitchFamily="34" charset="-122"/>
                <a:cs typeface="Calibri" pitchFamily="34" charset="-120"/>
              </a:rPr>
              <a:t>✓ Fast, interpretable</a:t>
            </a:r>
            <a:endParaRPr lang="en-US" sz="1467" dirty="0"/>
          </a:p>
        </p:txBody>
      </p:sp>
      <p:sp>
        <p:nvSpPr>
          <p:cNvPr id="11" name="Text 9"/>
          <p:cNvSpPr/>
          <p:nvPr/>
        </p:nvSpPr>
        <p:spPr>
          <a:xfrm>
            <a:off x="7559040" y="2133600"/>
            <a:ext cx="3901440" cy="487680"/>
          </a:xfrm>
          <a:prstGeom prst="rect">
            <a:avLst/>
          </a:prstGeom>
          <a:noFill/>
          <a:ln/>
        </p:spPr>
        <p:txBody>
          <a:bodyPr wrap="square" rtlCol="0" anchor="ctr"/>
          <a:lstStyle/>
          <a:p>
            <a:r>
              <a:rPr lang="en-US" sz="1467" dirty="0">
                <a:solidFill>
                  <a:srgbClr val="D32F2F"/>
                </a:solidFill>
                <a:latin typeface="Calibri" pitchFamily="34" charset="0"/>
                <a:ea typeface="Calibri" pitchFamily="34" charset="-122"/>
                <a:cs typeface="Calibri" pitchFamily="34" charset="-120"/>
              </a:rPr>
              <a:t>⚠ Sensitive to calibration</a:t>
            </a:r>
            <a:endParaRPr lang="en-US" sz="1467" dirty="0"/>
          </a:p>
        </p:txBody>
      </p:sp>
      <p:sp>
        <p:nvSpPr>
          <p:cNvPr id="12" name="Shape 10"/>
          <p:cNvSpPr/>
          <p:nvPr/>
        </p:nvSpPr>
        <p:spPr>
          <a:xfrm>
            <a:off x="609600" y="2987040"/>
            <a:ext cx="10972800" cy="1097280"/>
          </a:xfrm>
          <a:prstGeom prst="rect">
            <a:avLst/>
          </a:prstGeom>
          <a:solidFill>
            <a:srgbClr val="F5F5F5"/>
          </a:solidFill>
          <a:ln/>
        </p:spPr>
        <p:txBody>
          <a:bodyPr/>
          <a:lstStyle/>
          <a:p>
            <a:endParaRPr lang="en-US" sz="2400"/>
          </a:p>
        </p:txBody>
      </p:sp>
      <p:sp>
        <p:nvSpPr>
          <p:cNvPr id="13" name="Shape 11"/>
          <p:cNvSpPr/>
          <p:nvPr/>
        </p:nvSpPr>
        <p:spPr>
          <a:xfrm>
            <a:off x="609600" y="2987040"/>
            <a:ext cx="97536" cy="1097280"/>
          </a:xfrm>
          <a:prstGeom prst="rect">
            <a:avLst/>
          </a:prstGeom>
          <a:solidFill>
            <a:srgbClr val="513127"/>
          </a:solidFill>
          <a:ln/>
        </p:spPr>
        <p:txBody>
          <a:bodyPr/>
          <a:lstStyle/>
          <a:p>
            <a:endParaRPr lang="en-US" sz="2400"/>
          </a:p>
        </p:txBody>
      </p:sp>
      <p:sp>
        <p:nvSpPr>
          <p:cNvPr id="14" name="Text 12"/>
          <p:cNvSpPr/>
          <p:nvPr/>
        </p:nvSpPr>
        <p:spPr>
          <a:xfrm>
            <a:off x="853440" y="3108960"/>
            <a:ext cx="2438400" cy="426720"/>
          </a:xfrm>
          <a:prstGeom prst="rect">
            <a:avLst/>
          </a:prstGeom>
          <a:noFill/>
          <a:ln/>
        </p:spPr>
        <p:txBody>
          <a:bodyPr wrap="square" rtlCol="0" anchor="ctr"/>
          <a:lstStyle/>
          <a:p>
            <a:r>
              <a:rPr lang="en-US" sz="1733" b="1" dirty="0">
                <a:solidFill>
                  <a:srgbClr val="1A1A1A"/>
                </a:solidFill>
                <a:latin typeface="Calibri" pitchFamily="34" charset="0"/>
                <a:ea typeface="Calibri" pitchFamily="34" charset="-122"/>
                <a:cs typeface="Calibri" pitchFamily="34" charset="-120"/>
              </a:rPr>
              <a:t>SVM</a:t>
            </a:r>
            <a:endParaRPr lang="en-US" sz="1733" dirty="0"/>
          </a:p>
        </p:txBody>
      </p:sp>
      <p:sp>
        <p:nvSpPr>
          <p:cNvPr id="15" name="Text 13"/>
          <p:cNvSpPr/>
          <p:nvPr/>
        </p:nvSpPr>
        <p:spPr>
          <a:xfrm>
            <a:off x="853440" y="3596640"/>
            <a:ext cx="2804160" cy="42672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Linear or RBF kernel classifiers</a:t>
            </a:r>
            <a:endParaRPr lang="en-US" sz="1333" dirty="0"/>
          </a:p>
        </p:txBody>
      </p:sp>
      <p:sp>
        <p:nvSpPr>
          <p:cNvPr id="16" name="Text 14"/>
          <p:cNvSpPr/>
          <p:nvPr/>
        </p:nvSpPr>
        <p:spPr>
          <a:xfrm>
            <a:off x="3779520" y="3291840"/>
            <a:ext cx="3657600" cy="487680"/>
          </a:xfrm>
          <a:prstGeom prst="rect">
            <a:avLst/>
          </a:prstGeom>
          <a:noFill/>
          <a:ln/>
        </p:spPr>
        <p:txBody>
          <a:bodyPr wrap="square" rtlCol="0" anchor="ctr"/>
          <a:lstStyle/>
          <a:p>
            <a:r>
              <a:rPr lang="en-US" sz="1467" dirty="0">
                <a:solidFill>
                  <a:srgbClr val="F76902"/>
                </a:solidFill>
                <a:latin typeface="Calibri" pitchFamily="34" charset="0"/>
                <a:ea typeface="Calibri" pitchFamily="34" charset="-122"/>
                <a:cs typeface="Calibri" pitchFamily="34" charset="-120"/>
              </a:rPr>
              <a:t>✓ Works well with small data</a:t>
            </a:r>
            <a:endParaRPr lang="en-US" sz="1467" dirty="0"/>
          </a:p>
        </p:txBody>
      </p:sp>
      <p:sp>
        <p:nvSpPr>
          <p:cNvPr id="17" name="Text 15"/>
          <p:cNvSpPr/>
          <p:nvPr/>
        </p:nvSpPr>
        <p:spPr>
          <a:xfrm>
            <a:off x="7559040" y="3291840"/>
            <a:ext cx="3901440" cy="487680"/>
          </a:xfrm>
          <a:prstGeom prst="rect">
            <a:avLst/>
          </a:prstGeom>
          <a:noFill/>
          <a:ln/>
        </p:spPr>
        <p:txBody>
          <a:bodyPr wrap="square" rtlCol="0" anchor="ctr"/>
          <a:lstStyle/>
          <a:p>
            <a:r>
              <a:rPr lang="en-US" sz="1467" dirty="0">
                <a:solidFill>
                  <a:srgbClr val="D32F2F"/>
                </a:solidFill>
                <a:latin typeface="Calibri" pitchFamily="34" charset="0"/>
                <a:ea typeface="Calibri" pitchFamily="34" charset="-122"/>
                <a:cs typeface="Calibri" pitchFamily="34" charset="-120"/>
              </a:rPr>
              <a:t>⚠ Requires feature engineering</a:t>
            </a:r>
            <a:endParaRPr lang="en-US" sz="1467" dirty="0"/>
          </a:p>
        </p:txBody>
      </p:sp>
      <p:sp>
        <p:nvSpPr>
          <p:cNvPr id="18" name="Shape 16"/>
          <p:cNvSpPr/>
          <p:nvPr/>
        </p:nvSpPr>
        <p:spPr>
          <a:xfrm>
            <a:off x="609600" y="4145280"/>
            <a:ext cx="10972800" cy="1097280"/>
          </a:xfrm>
          <a:prstGeom prst="rect">
            <a:avLst/>
          </a:prstGeom>
          <a:solidFill>
            <a:srgbClr val="F5F5F5"/>
          </a:solidFill>
          <a:ln/>
        </p:spPr>
        <p:txBody>
          <a:bodyPr/>
          <a:lstStyle/>
          <a:p>
            <a:endParaRPr lang="en-US" sz="2400"/>
          </a:p>
        </p:txBody>
      </p:sp>
      <p:sp>
        <p:nvSpPr>
          <p:cNvPr id="19" name="Shape 17"/>
          <p:cNvSpPr/>
          <p:nvPr/>
        </p:nvSpPr>
        <p:spPr>
          <a:xfrm>
            <a:off x="609600" y="4145280"/>
            <a:ext cx="97536" cy="1097280"/>
          </a:xfrm>
          <a:prstGeom prst="rect">
            <a:avLst/>
          </a:prstGeom>
          <a:solidFill>
            <a:srgbClr val="F76902"/>
          </a:solidFill>
          <a:ln/>
        </p:spPr>
        <p:txBody>
          <a:bodyPr/>
          <a:lstStyle/>
          <a:p>
            <a:endParaRPr lang="en-US" sz="2400"/>
          </a:p>
        </p:txBody>
      </p:sp>
      <p:sp>
        <p:nvSpPr>
          <p:cNvPr id="20" name="Text 18"/>
          <p:cNvSpPr/>
          <p:nvPr/>
        </p:nvSpPr>
        <p:spPr>
          <a:xfrm>
            <a:off x="853440" y="4267200"/>
            <a:ext cx="2438400" cy="426720"/>
          </a:xfrm>
          <a:prstGeom prst="rect">
            <a:avLst/>
          </a:prstGeom>
          <a:noFill/>
          <a:ln/>
        </p:spPr>
        <p:txBody>
          <a:bodyPr wrap="square" rtlCol="0" anchor="ctr"/>
          <a:lstStyle/>
          <a:p>
            <a:r>
              <a:rPr lang="en-US" sz="1733" b="1" dirty="0">
                <a:solidFill>
                  <a:srgbClr val="1A1A1A"/>
                </a:solidFill>
                <a:latin typeface="Calibri" pitchFamily="34" charset="0"/>
                <a:ea typeface="Calibri" pitchFamily="34" charset="-122"/>
                <a:cs typeface="Calibri" pitchFamily="34" charset="-120"/>
              </a:rPr>
              <a:t>PCA/ICA</a:t>
            </a:r>
            <a:endParaRPr lang="en-US" sz="1733" dirty="0"/>
          </a:p>
        </p:txBody>
      </p:sp>
      <p:sp>
        <p:nvSpPr>
          <p:cNvPr id="21" name="Text 19"/>
          <p:cNvSpPr/>
          <p:nvPr/>
        </p:nvSpPr>
        <p:spPr>
          <a:xfrm>
            <a:off x="853440" y="4754880"/>
            <a:ext cx="2804160" cy="42672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Dimensionality reduction preprocessing</a:t>
            </a:r>
            <a:endParaRPr lang="en-US" sz="1333" dirty="0"/>
          </a:p>
        </p:txBody>
      </p:sp>
      <p:sp>
        <p:nvSpPr>
          <p:cNvPr id="22" name="Text 20"/>
          <p:cNvSpPr/>
          <p:nvPr/>
        </p:nvSpPr>
        <p:spPr>
          <a:xfrm>
            <a:off x="3779520" y="4450080"/>
            <a:ext cx="3657600" cy="487680"/>
          </a:xfrm>
          <a:prstGeom prst="rect">
            <a:avLst/>
          </a:prstGeom>
          <a:noFill/>
          <a:ln/>
        </p:spPr>
        <p:txBody>
          <a:bodyPr wrap="square" rtlCol="0" anchor="ctr"/>
          <a:lstStyle/>
          <a:p>
            <a:r>
              <a:rPr lang="en-US" sz="1467" dirty="0">
                <a:solidFill>
                  <a:srgbClr val="F76902"/>
                </a:solidFill>
                <a:latin typeface="Calibri" pitchFamily="34" charset="0"/>
                <a:ea typeface="Calibri" pitchFamily="34" charset="-122"/>
                <a:cs typeface="Calibri" pitchFamily="34" charset="-120"/>
              </a:rPr>
              <a:t>✓ Separates sources</a:t>
            </a:r>
            <a:endParaRPr lang="en-US" sz="1467" dirty="0"/>
          </a:p>
        </p:txBody>
      </p:sp>
      <p:sp>
        <p:nvSpPr>
          <p:cNvPr id="23" name="Text 21"/>
          <p:cNvSpPr/>
          <p:nvPr/>
        </p:nvSpPr>
        <p:spPr>
          <a:xfrm>
            <a:off x="7559040" y="4450080"/>
            <a:ext cx="3901440" cy="487680"/>
          </a:xfrm>
          <a:prstGeom prst="rect">
            <a:avLst/>
          </a:prstGeom>
          <a:noFill/>
          <a:ln/>
        </p:spPr>
        <p:txBody>
          <a:bodyPr wrap="square" rtlCol="0" anchor="ctr"/>
          <a:lstStyle/>
          <a:p>
            <a:r>
              <a:rPr lang="en-US" sz="1467" dirty="0">
                <a:solidFill>
                  <a:srgbClr val="D32F2F"/>
                </a:solidFill>
                <a:latin typeface="Calibri" pitchFamily="34" charset="0"/>
                <a:ea typeface="Calibri" pitchFamily="34" charset="-122"/>
                <a:cs typeface="Calibri" pitchFamily="34" charset="-120"/>
              </a:rPr>
              <a:t>⚠ May lose information</a:t>
            </a:r>
            <a:endParaRPr lang="en-US" sz="1467" dirty="0"/>
          </a:p>
        </p:txBody>
      </p:sp>
      <p:sp>
        <p:nvSpPr>
          <p:cNvPr id="24" name="Shape 22"/>
          <p:cNvSpPr/>
          <p:nvPr/>
        </p:nvSpPr>
        <p:spPr>
          <a:xfrm>
            <a:off x="609600" y="5303520"/>
            <a:ext cx="10972800" cy="1097280"/>
          </a:xfrm>
          <a:prstGeom prst="rect">
            <a:avLst/>
          </a:prstGeom>
          <a:solidFill>
            <a:srgbClr val="F5F5F5"/>
          </a:solidFill>
          <a:ln/>
        </p:spPr>
        <p:txBody>
          <a:bodyPr/>
          <a:lstStyle/>
          <a:p>
            <a:endParaRPr lang="en-US" sz="2400"/>
          </a:p>
        </p:txBody>
      </p:sp>
      <p:sp>
        <p:nvSpPr>
          <p:cNvPr id="25" name="Shape 23"/>
          <p:cNvSpPr/>
          <p:nvPr/>
        </p:nvSpPr>
        <p:spPr>
          <a:xfrm>
            <a:off x="609600" y="5303520"/>
            <a:ext cx="97536" cy="1097280"/>
          </a:xfrm>
          <a:prstGeom prst="rect">
            <a:avLst/>
          </a:prstGeom>
          <a:solidFill>
            <a:srgbClr val="F76902"/>
          </a:solidFill>
          <a:ln/>
        </p:spPr>
        <p:txBody>
          <a:bodyPr/>
          <a:lstStyle/>
          <a:p>
            <a:endParaRPr lang="en-US" sz="2400"/>
          </a:p>
        </p:txBody>
      </p:sp>
      <p:sp>
        <p:nvSpPr>
          <p:cNvPr id="26" name="Text 24"/>
          <p:cNvSpPr/>
          <p:nvPr/>
        </p:nvSpPr>
        <p:spPr>
          <a:xfrm>
            <a:off x="853440" y="5425440"/>
            <a:ext cx="2438400" cy="426720"/>
          </a:xfrm>
          <a:prstGeom prst="rect">
            <a:avLst/>
          </a:prstGeom>
          <a:noFill/>
          <a:ln/>
        </p:spPr>
        <p:txBody>
          <a:bodyPr wrap="square" rtlCol="0" anchor="ctr"/>
          <a:lstStyle/>
          <a:p>
            <a:r>
              <a:rPr lang="en-US" sz="1733" b="1" dirty="0">
                <a:solidFill>
                  <a:srgbClr val="1A1A1A"/>
                </a:solidFill>
                <a:latin typeface="Calibri" pitchFamily="34" charset="0"/>
                <a:ea typeface="Calibri" pitchFamily="34" charset="-122"/>
                <a:cs typeface="Calibri" pitchFamily="34" charset="-120"/>
              </a:rPr>
              <a:t>Neural Networks</a:t>
            </a:r>
            <a:endParaRPr lang="en-US" sz="1733" dirty="0"/>
          </a:p>
        </p:txBody>
      </p:sp>
      <p:sp>
        <p:nvSpPr>
          <p:cNvPr id="27" name="Text 25"/>
          <p:cNvSpPr/>
          <p:nvPr/>
        </p:nvSpPr>
        <p:spPr>
          <a:xfrm>
            <a:off x="853440" y="5913120"/>
            <a:ext cx="2804160" cy="426720"/>
          </a:xfrm>
          <a:prstGeom prst="rect">
            <a:avLst/>
          </a:prstGeom>
          <a:noFill/>
          <a:ln/>
        </p:spPr>
        <p:txBody>
          <a:bodyPr wrap="square" rtlCol="0" anchor="ctr"/>
          <a:lstStyle/>
          <a:p>
            <a:r>
              <a:rPr lang="en-US" sz="1333" dirty="0">
                <a:solidFill>
                  <a:srgbClr val="666666"/>
                </a:solidFill>
                <a:latin typeface="Calibri" pitchFamily="34" charset="0"/>
                <a:ea typeface="Calibri" pitchFamily="34" charset="-122"/>
                <a:cs typeface="Calibri" pitchFamily="34" charset="-120"/>
              </a:rPr>
              <a:t>CNN/RNN on raw or processed signals</a:t>
            </a:r>
            <a:endParaRPr lang="en-US" sz="1333" dirty="0"/>
          </a:p>
        </p:txBody>
      </p:sp>
      <p:sp>
        <p:nvSpPr>
          <p:cNvPr id="28" name="Text 26"/>
          <p:cNvSpPr/>
          <p:nvPr/>
        </p:nvSpPr>
        <p:spPr>
          <a:xfrm>
            <a:off x="3779520" y="5608320"/>
            <a:ext cx="3657600" cy="487680"/>
          </a:xfrm>
          <a:prstGeom prst="rect">
            <a:avLst/>
          </a:prstGeom>
          <a:noFill/>
          <a:ln/>
        </p:spPr>
        <p:txBody>
          <a:bodyPr wrap="square" rtlCol="0" anchor="ctr"/>
          <a:lstStyle/>
          <a:p>
            <a:r>
              <a:rPr lang="en-US" sz="1467" dirty="0">
                <a:solidFill>
                  <a:srgbClr val="F76902"/>
                </a:solidFill>
                <a:latin typeface="Calibri" pitchFamily="34" charset="0"/>
                <a:ea typeface="Calibri" pitchFamily="34" charset="-122"/>
                <a:cs typeface="Calibri" pitchFamily="34" charset="-120"/>
              </a:rPr>
              <a:t>✓ Learns features</a:t>
            </a:r>
            <a:endParaRPr lang="en-US" sz="1467" dirty="0"/>
          </a:p>
        </p:txBody>
      </p:sp>
      <p:sp>
        <p:nvSpPr>
          <p:cNvPr id="29" name="Text 27"/>
          <p:cNvSpPr/>
          <p:nvPr/>
        </p:nvSpPr>
        <p:spPr>
          <a:xfrm>
            <a:off x="7559040" y="5608320"/>
            <a:ext cx="3901440" cy="487680"/>
          </a:xfrm>
          <a:prstGeom prst="rect">
            <a:avLst/>
          </a:prstGeom>
          <a:noFill/>
          <a:ln/>
        </p:spPr>
        <p:txBody>
          <a:bodyPr wrap="square" rtlCol="0" anchor="ctr"/>
          <a:lstStyle/>
          <a:p>
            <a:r>
              <a:rPr lang="en-US" sz="1467" dirty="0">
                <a:solidFill>
                  <a:srgbClr val="D32F2F"/>
                </a:solidFill>
                <a:latin typeface="Calibri" pitchFamily="34" charset="0"/>
                <a:ea typeface="Calibri" pitchFamily="34" charset="-122"/>
                <a:cs typeface="Calibri" pitchFamily="34" charset="-120"/>
              </a:rPr>
              <a:t>⚠ Needs more training data</a:t>
            </a:r>
            <a:endParaRPr lang="en-US" sz="1467" dirty="0"/>
          </a:p>
        </p:txBody>
      </p:sp>
      <p:sp>
        <p:nvSpPr>
          <p:cNvPr id="30" name="Shape 28"/>
          <p:cNvSpPr/>
          <p:nvPr/>
        </p:nvSpPr>
        <p:spPr>
          <a:xfrm>
            <a:off x="609600" y="6285569"/>
            <a:ext cx="10972800" cy="548640"/>
          </a:xfrm>
          <a:prstGeom prst="rect">
            <a:avLst/>
          </a:prstGeom>
          <a:solidFill>
            <a:srgbClr val="1A1A1A"/>
          </a:solidFill>
          <a:ln/>
        </p:spPr>
        <p:txBody>
          <a:bodyPr/>
          <a:lstStyle/>
          <a:p>
            <a:endParaRPr lang="en-US" sz="2400"/>
          </a:p>
        </p:txBody>
      </p:sp>
      <p:sp>
        <p:nvSpPr>
          <p:cNvPr id="31" name="Text 29"/>
          <p:cNvSpPr/>
          <p:nvPr/>
        </p:nvSpPr>
        <p:spPr>
          <a:xfrm>
            <a:off x="853440" y="6383105"/>
            <a:ext cx="10485120" cy="365760"/>
          </a:xfrm>
          <a:prstGeom prst="rect">
            <a:avLst/>
          </a:prstGeom>
          <a:noFill/>
          <a:ln/>
        </p:spPr>
        <p:txBody>
          <a:bodyPr wrap="square" rtlCol="0" anchor="ctr"/>
          <a:lstStyle/>
          <a:p>
            <a:r>
              <a:rPr lang="en-US" sz="1600" dirty="0">
                <a:solidFill>
                  <a:srgbClr val="FFFFFF"/>
                </a:solidFill>
                <a:latin typeface="Calibri" pitchFamily="34" charset="0"/>
                <a:ea typeface="Calibri" pitchFamily="34" charset="-122"/>
                <a:cs typeface="Calibri" pitchFamily="34" charset="-120"/>
              </a:rPr>
              <a:t>Lab Focus: You'll apply PCA/ICA for dimensionality reduction and SVM for classification of gaze directions.</a:t>
            </a:r>
            <a:endParaRPr lang="en-US" sz="1600" dirty="0"/>
          </a:p>
        </p:txBody>
      </p:sp>
      <p:sp>
        <p:nvSpPr>
          <p:cNvPr id="32" name="Text 30"/>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28 / 32</a:t>
            </a:r>
            <a:endParaRPr lang="en-US" sz="1200" dirty="0"/>
          </a:p>
        </p:txBody>
      </p:sp>
    </p:spTree>
    <p:extLst>
      <p:ext uri="{BB962C8B-B14F-4D97-AF65-F5344CB8AC3E}">
        <p14:creationId xmlns:p14="http://schemas.microsoft.com/office/powerpoint/2010/main" val="12909682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97536"/>
          </a:xfrm>
          <a:prstGeom prst="rect">
            <a:avLst/>
          </a:prstGeom>
          <a:solidFill>
            <a:srgbClr val="F76902"/>
          </a:solidFill>
          <a:ln/>
        </p:spPr>
        <p:txBody>
          <a:bodyPr/>
          <a:lstStyle/>
          <a:p>
            <a:endParaRPr lang="en-US" sz="2400"/>
          </a:p>
        </p:txBody>
      </p:sp>
      <p:sp>
        <p:nvSpPr>
          <p:cNvPr id="4" name="Text 2"/>
          <p:cNvSpPr/>
          <p:nvPr/>
        </p:nvSpPr>
        <p:spPr>
          <a:xfrm>
            <a:off x="609600" y="70104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EOG Applications</a:t>
            </a:r>
            <a:endParaRPr lang="en-US" sz="4267" dirty="0"/>
          </a:p>
        </p:txBody>
      </p:sp>
      <p:sp>
        <p:nvSpPr>
          <p:cNvPr id="5" name="Shape 3"/>
          <p:cNvSpPr/>
          <p:nvPr/>
        </p:nvSpPr>
        <p:spPr>
          <a:xfrm>
            <a:off x="609600" y="1463040"/>
            <a:ext cx="3535680" cy="21945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6" name="Text 4"/>
          <p:cNvSpPr/>
          <p:nvPr/>
        </p:nvSpPr>
        <p:spPr>
          <a:xfrm>
            <a:off x="609600" y="1645920"/>
            <a:ext cx="3535680" cy="609600"/>
          </a:xfrm>
          <a:prstGeom prst="rect">
            <a:avLst/>
          </a:prstGeom>
          <a:noFill/>
          <a:ln/>
        </p:spPr>
        <p:txBody>
          <a:bodyPr wrap="square" rtlCol="0" anchor="ctr"/>
          <a:lstStyle/>
          <a:p>
            <a:pPr algn="ctr"/>
            <a:r>
              <a:rPr lang="en-US" sz="3733" dirty="0">
                <a:solidFill>
                  <a:srgbClr val="000000"/>
                </a:solidFill>
              </a:rPr>
              <a:t>♿</a:t>
            </a:r>
            <a:endParaRPr lang="en-US" sz="3733" dirty="0"/>
          </a:p>
        </p:txBody>
      </p:sp>
      <p:sp>
        <p:nvSpPr>
          <p:cNvPr id="7" name="Text 5"/>
          <p:cNvSpPr/>
          <p:nvPr/>
        </p:nvSpPr>
        <p:spPr>
          <a:xfrm>
            <a:off x="792480" y="2377440"/>
            <a:ext cx="316992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Assistive Technology</a:t>
            </a:r>
            <a:endParaRPr lang="en-US" sz="1733" dirty="0"/>
          </a:p>
        </p:txBody>
      </p:sp>
      <p:sp>
        <p:nvSpPr>
          <p:cNvPr id="8" name="Text 6"/>
          <p:cNvSpPr/>
          <p:nvPr/>
        </p:nvSpPr>
        <p:spPr>
          <a:xfrm>
            <a:off x="792480" y="2865120"/>
            <a:ext cx="3169920" cy="670560"/>
          </a:xfrm>
          <a:prstGeom prst="rect">
            <a:avLst/>
          </a:prstGeom>
          <a:noFill/>
          <a:ln/>
        </p:spPr>
        <p:txBody>
          <a:bodyPr wrap="square" rtlCol="0" anchor="ctr"/>
          <a:lstStyle/>
          <a:p>
            <a:pPr algn="ctr"/>
            <a:r>
              <a:rPr lang="en-US" sz="1333" dirty="0">
                <a:solidFill>
                  <a:srgbClr val="666666"/>
                </a:solidFill>
                <a:latin typeface="Calibri" pitchFamily="34" charset="0"/>
                <a:ea typeface="Calibri" pitchFamily="34" charset="-122"/>
                <a:cs typeface="Calibri" pitchFamily="34" charset="-120"/>
              </a:rPr>
              <a:t>Eye-controlled interfaces for motor disabilities</a:t>
            </a:r>
            <a:endParaRPr lang="en-US" sz="1333" dirty="0"/>
          </a:p>
        </p:txBody>
      </p:sp>
      <p:sp>
        <p:nvSpPr>
          <p:cNvPr id="9" name="Shape 7"/>
          <p:cNvSpPr/>
          <p:nvPr/>
        </p:nvSpPr>
        <p:spPr>
          <a:xfrm>
            <a:off x="4389120" y="1463040"/>
            <a:ext cx="3535680" cy="21945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0" name="Text 8"/>
          <p:cNvSpPr/>
          <p:nvPr/>
        </p:nvSpPr>
        <p:spPr>
          <a:xfrm>
            <a:off x="4389120" y="1645920"/>
            <a:ext cx="3535680" cy="609600"/>
          </a:xfrm>
          <a:prstGeom prst="rect">
            <a:avLst/>
          </a:prstGeom>
          <a:noFill/>
          <a:ln/>
        </p:spPr>
        <p:txBody>
          <a:bodyPr wrap="square" rtlCol="0" anchor="ctr"/>
          <a:lstStyle/>
          <a:p>
            <a:pPr algn="ctr"/>
            <a:r>
              <a:rPr lang="en-US" sz="3733" dirty="0">
                <a:solidFill>
                  <a:srgbClr val="000000"/>
                </a:solidFill>
              </a:rPr>
              <a:t>😴</a:t>
            </a:r>
            <a:endParaRPr lang="en-US" sz="3733" dirty="0"/>
          </a:p>
        </p:txBody>
      </p:sp>
      <p:sp>
        <p:nvSpPr>
          <p:cNvPr id="11" name="Text 9"/>
          <p:cNvSpPr/>
          <p:nvPr/>
        </p:nvSpPr>
        <p:spPr>
          <a:xfrm>
            <a:off x="4572000" y="2377440"/>
            <a:ext cx="316992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Drowsiness Detection</a:t>
            </a:r>
            <a:endParaRPr lang="en-US" sz="1733" dirty="0"/>
          </a:p>
        </p:txBody>
      </p:sp>
      <p:sp>
        <p:nvSpPr>
          <p:cNvPr id="12" name="Text 10"/>
          <p:cNvSpPr/>
          <p:nvPr/>
        </p:nvSpPr>
        <p:spPr>
          <a:xfrm>
            <a:off x="4572000" y="2865120"/>
            <a:ext cx="3169920" cy="670560"/>
          </a:xfrm>
          <a:prstGeom prst="rect">
            <a:avLst/>
          </a:prstGeom>
          <a:noFill/>
          <a:ln/>
        </p:spPr>
        <p:txBody>
          <a:bodyPr wrap="square" rtlCol="0" anchor="ctr"/>
          <a:lstStyle/>
          <a:p>
            <a:pPr algn="ctr"/>
            <a:r>
              <a:rPr lang="en-US" sz="1333" dirty="0">
                <a:solidFill>
                  <a:srgbClr val="666666"/>
                </a:solidFill>
                <a:latin typeface="Calibri" pitchFamily="34" charset="0"/>
                <a:ea typeface="Calibri" pitchFamily="34" charset="-122"/>
                <a:cs typeface="Calibri" pitchFamily="34" charset="-120"/>
              </a:rPr>
              <a:t>Driver monitoring and alertness systems</a:t>
            </a:r>
            <a:endParaRPr lang="en-US" sz="1333" dirty="0"/>
          </a:p>
        </p:txBody>
      </p:sp>
      <p:sp>
        <p:nvSpPr>
          <p:cNvPr id="13" name="Shape 11"/>
          <p:cNvSpPr/>
          <p:nvPr/>
        </p:nvSpPr>
        <p:spPr>
          <a:xfrm>
            <a:off x="8168640" y="1463040"/>
            <a:ext cx="3535680" cy="21945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4" name="Text 12"/>
          <p:cNvSpPr/>
          <p:nvPr/>
        </p:nvSpPr>
        <p:spPr>
          <a:xfrm>
            <a:off x="8168640" y="1645920"/>
            <a:ext cx="3535680" cy="609600"/>
          </a:xfrm>
          <a:prstGeom prst="rect">
            <a:avLst/>
          </a:prstGeom>
          <a:noFill/>
          <a:ln/>
        </p:spPr>
        <p:txBody>
          <a:bodyPr wrap="square" rtlCol="0" anchor="ctr"/>
          <a:lstStyle/>
          <a:p>
            <a:pPr algn="ctr"/>
            <a:r>
              <a:rPr lang="en-US" sz="3733" dirty="0">
                <a:solidFill>
                  <a:srgbClr val="000000"/>
                </a:solidFill>
              </a:rPr>
              <a:t>🌙</a:t>
            </a:r>
            <a:endParaRPr lang="en-US" sz="3733" dirty="0"/>
          </a:p>
        </p:txBody>
      </p:sp>
      <p:sp>
        <p:nvSpPr>
          <p:cNvPr id="15" name="Text 13"/>
          <p:cNvSpPr/>
          <p:nvPr/>
        </p:nvSpPr>
        <p:spPr>
          <a:xfrm>
            <a:off x="8351520" y="2377440"/>
            <a:ext cx="316992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Sleep Studies</a:t>
            </a:r>
            <a:endParaRPr lang="en-US" sz="1733" dirty="0"/>
          </a:p>
        </p:txBody>
      </p:sp>
      <p:sp>
        <p:nvSpPr>
          <p:cNvPr id="16" name="Text 14"/>
          <p:cNvSpPr/>
          <p:nvPr/>
        </p:nvSpPr>
        <p:spPr>
          <a:xfrm>
            <a:off x="8351520" y="2865120"/>
            <a:ext cx="3169920" cy="670560"/>
          </a:xfrm>
          <a:prstGeom prst="rect">
            <a:avLst/>
          </a:prstGeom>
          <a:noFill/>
          <a:ln/>
        </p:spPr>
        <p:txBody>
          <a:bodyPr wrap="square" rtlCol="0" anchor="ctr"/>
          <a:lstStyle/>
          <a:p>
            <a:pPr algn="ctr"/>
            <a:r>
              <a:rPr lang="en-US" sz="1333" dirty="0">
                <a:solidFill>
                  <a:srgbClr val="666666"/>
                </a:solidFill>
                <a:latin typeface="Calibri" pitchFamily="34" charset="0"/>
                <a:ea typeface="Calibri" pitchFamily="34" charset="-122"/>
                <a:cs typeface="Calibri" pitchFamily="34" charset="-120"/>
              </a:rPr>
              <a:t>REM stage detection in polysomnography</a:t>
            </a:r>
            <a:endParaRPr lang="en-US" sz="1333" dirty="0"/>
          </a:p>
        </p:txBody>
      </p:sp>
      <p:sp>
        <p:nvSpPr>
          <p:cNvPr id="17" name="Shape 15"/>
          <p:cNvSpPr/>
          <p:nvPr/>
        </p:nvSpPr>
        <p:spPr>
          <a:xfrm>
            <a:off x="609600" y="3901440"/>
            <a:ext cx="3535680" cy="21945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8" name="Text 16"/>
          <p:cNvSpPr/>
          <p:nvPr/>
        </p:nvSpPr>
        <p:spPr>
          <a:xfrm>
            <a:off x="609600" y="4084320"/>
            <a:ext cx="3535680" cy="609600"/>
          </a:xfrm>
          <a:prstGeom prst="rect">
            <a:avLst/>
          </a:prstGeom>
          <a:noFill/>
          <a:ln/>
        </p:spPr>
        <p:txBody>
          <a:bodyPr wrap="square" rtlCol="0" anchor="ctr"/>
          <a:lstStyle/>
          <a:p>
            <a:pPr algn="ctr"/>
            <a:r>
              <a:rPr lang="en-US" sz="3733" dirty="0">
                <a:solidFill>
                  <a:srgbClr val="000000"/>
                </a:solidFill>
              </a:rPr>
              <a:t>🥽</a:t>
            </a:r>
            <a:endParaRPr lang="en-US" sz="3733" dirty="0"/>
          </a:p>
        </p:txBody>
      </p:sp>
      <p:sp>
        <p:nvSpPr>
          <p:cNvPr id="19" name="Text 17"/>
          <p:cNvSpPr/>
          <p:nvPr/>
        </p:nvSpPr>
        <p:spPr>
          <a:xfrm>
            <a:off x="792480" y="4815840"/>
            <a:ext cx="316992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VR/AR</a:t>
            </a:r>
            <a:endParaRPr lang="en-US" sz="1733" dirty="0"/>
          </a:p>
        </p:txBody>
      </p:sp>
      <p:sp>
        <p:nvSpPr>
          <p:cNvPr id="20" name="Text 18"/>
          <p:cNvSpPr/>
          <p:nvPr/>
        </p:nvSpPr>
        <p:spPr>
          <a:xfrm>
            <a:off x="792480" y="5303520"/>
            <a:ext cx="3169920" cy="670560"/>
          </a:xfrm>
          <a:prstGeom prst="rect">
            <a:avLst/>
          </a:prstGeom>
          <a:noFill/>
          <a:ln/>
        </p:spPr>
        <p:txBody>
          <a:bodyPr wrap="square" rtlCol="0" anchor="ctr"/>
          <a:lstStyle/>
          <a:p>
            <a:pPr algn="ctr"/>
            <a:r>
              <a:rPr lang="en-US" sz="1333" dirty="0">
                <a:solidFill>
                  <a:srgbClr val="666666"/>
                </a:solidFill>
                <a:latin typeface="Calibri" pitchFamily="34" charset="0"/>
                <a:ea typeface="Calibri" pitchFamily="34" charset="-122"/>
                <a:cs typeface="Calibri" pitchFamily="34" charset="-120"/>
              </a:rPr>
              <a:t>Eye tracking for foveated rendering</a:t>
            </a:r>
            <a:endParaRPr lang="en-US" sz="1333" dirty="0"/>
          </a:p>
        </p:txBody>
      </p:sp>
      <p:sp>
        <p:nvSpPr>
          <p:cNvPr id="21" name="Shape 19"/>
          <p:cNvSpPr/>
          <p:nvPr/>
        </p:nvSpPr>
        <p:spPr>
          <a:xfrm>
            <a:off x="4389120" y="3901440"/>
            <a:ext cx="3535680" cy="21945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2" name="Text 20"/>
          <p:cNvSpPr/>
          <p:nvPr/>
        </p:nvSpPr>
        <p:spPr>
          <a:xfrm>
            <a:off x="4389120" y="4084320"/>
            <a:ext cx="3535680" cy="609600"/>
          </a:xfrm>
          <a:prstGeom prst="rect">
            <a:avLst/>
          </a:prstGeom>
          <a:noFill/>
          <a:ln/>
        </p:spPr>
        <p:txBody>
          <a:bodyPr wrap="square" rtlCol="0" anchor="ctr"/>
          <a:lstStyle/>
          <a:p>
            <a:pPr algn="ctr"/>
            <a:r>
              <a:rPr lang="en-US" sz="3733" dirty="0">
                <a:solidFill>
                  <a:srgbClr val="000000"/>
                </a:solidFill>
              </a:rPr>
              <a:t>🏥</a:t>
            </a:r>
            <a:endParaRPr lang="en-US" sz="3733" dirty="0"/>
          </a:p>
        </p:txBody>
      </p:sp>
      <p:sp>
        <p:nvSpPr>
          <p:cNvPr id="23" name="Text 21"/>
          <p:cNvSpPr/>
          <p:nvPr/>
        </p:nvSpPr>
        <p:spPr>
          <a:xfrm>
            <a:off x="4572000" y="4815840"/>
            <a:ext cx="3169920" cy="48768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Clinical Diagnostics</a:t>
            </a:r>
            <a:endParaRPr lang="en-US" sz="1733" dirty="0"/>
          </a:p>
        </p:txBody>
      </p:sp>
      <p:sp>
        <p:nvSpPr>
          <p:cNvPr id="24" name="Text 22"/>
          <p:cNvSpPr/>
          <p:nvPr/>
        </p:nvSpPr>
        <p:spPr>
          <a:xfrm>
            <a:off x="4572000" y="5303520"/>
            <a:ext cx="3169920" cy="670560"/>
          </a:xfrm>
          <a:prstGeom prst="rect">
            <a:avLst/>
          </a:prstGeom>
          <a:noFill/>
          <a:ln/>
        </p:spPr>
        <p:txBody>
          <a:bodyPr wrap="square" rtlCol="0" anchor="ctr"/>
          <a:lstStyle/>
          <a:p>
            <a:pPr algn="ctr"/>
            <a:r>
              <a:rPr lang="en-US" sz="1333" dirty="0">
                <a:solidFill>
                  <a:srgbClr val="666666"/>
                </a:solidFill>
                <a:latin typeface="Calibri" pitchFamily="34" charset="0"/>
                <a:ea typeface="Calibri" pitchFamily="34" charset="-122"/>
                <a:cs typeface="Calibri" pitchFamily="34" charset="-120"/>
              </a:rPr>
              <a:t>Nystagmus and vestibular assessment</a:t>
            </a:r>
            <a:endParaRPr lang="en-US" sz="1333" dirty="0"/>
          </a:p>
        </p:txBody>
      </p:sp>
      <p:sp>
        <p:nvSpPr>
          <p:cNvPr id="25" name="Text 23"/>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14 / 32</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Assistive Technology</a:t>
            </a:r>
            <a:endParaRPr lang="en-US" sz="4267" dirty="0"/>
          </a:p>
        </p:txBody>
      </p:sp>
      <p:sp>
        <p:nvSpPr>
          <p:cNvPr id="5" name="Text 3"/>
          <p:cNvSpPr/>
          <p:nvPr/>
        </p:nvSpPr>
        <p:spPr>
          <a:xfrm>
            <a:off x="609600" y="1219200"/>
            <a:ext cx="10972800" cy="365760"/>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Eye-Controlled Interfaces for Motor Disabilities</a:t>
            </a:r>
            <a:endParaRPr lang="en-US" sz="2133" dirty="0"/>
          </a:p>
        </p:txBody>
      </p:sp>
      <p:sp>
        <p:nvSpPr>
          <p:cNvPr id="6" name="Text 4"/>
          <p:cNvSpPr/>
          <p:nvPr/>
        </p:nvSpPr>
        <p:spPr>
          <a:xfrm>
            <a:off x="609600" y="1828800"/>
            <a:ext cx="4876800" cy="487680"/>
          </a:xfrm>
          <a:prstGeom prst="rect">
            <a:avLst/>
          </a:prstGeom>
          <a:noFill/>
          <a:ln/>
        </p:spPr>
        <p:txBody>
          <a:bodyPr wrap="square" rtlCol="0" anchor="ctr"/>
          <a:lstStyle/>
          <a:p>
            <a:r>
              <a:rPr lang="en-US" sz="2133" b="1" dirty="0">
                <a:solidFill>
                  <a:srgbClr val="F76902"/>
                </a:solidFill>
                <a:latin typeface="Calibri" pitchFamily="34" charset="0"/>
                <a:ea typeface="Calibri" pitchFamily="34" charset="-122"/>
                <a:cs typeface="Calibri" pitchFamily="34" charset="-120"/>
              </a:rPr>
              <a:t>Use Cases</a:t>
            </a:r>
            <a:endParaRPr lang="en-US" sz="2133" dirty="0"/>
          </a:p>
        </p:txBody>
      </p:sp>
      <p:sp>
        <p:nvSpPr>
          <p:cNvPr id="7" name="Shape 5"/>
          <p:cNvSpPr/>
          <p:nvPr/>
        </p:nvSpPr>
        <p:spPr>
          <a:xfrm>
            <a:off x="731520" y="2414016"/>
            <a:ext cx="219456" cy="219456"/>
          </a:xfrm>
          <a:prstGeom prst="ellipse">
            <a:avLst/>
          </a:prstGeom>
          <a:solidFill>
            <a:srgbClr val="F76902"/>
          </a:solidFill>
          <a:ln/>
        </p:spPr>
        <p:txBody>
          <a:bodyPr/>
          <a:lstStyle/>
          <a:p>
            <a:endParaRPr lang="en-US" sz="2400"/>
          </a:p>
        </p:txBody>
      </p:sp>
      <p:sp>
        <p:nvSpPr>
          <p:cNvPr id="8" name="Text 6"/>
          <p:cNvSpPr/>
          <p:nvPr/>
        </p:nvSpPr>
        <p:spPr>
          <a:xfrm>
            <a:off x="1097280" y="2316480"/>
            <a:ext cx="48768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Wheelchair navigation control</a:t>
            </a:r>
            <a:endParaRPr lang="en-US" sz="1733" dirty="0"/>
          </a:p>
        </p:txBody>
      </p:sp>
      <p:sp>
        <p:nvSpPr>
          <p:cNvPr id="9" name="Shape 7"/>
          <p:cNvSpPr/>
          <p:nvPr/>
        </p:nvSpPr>
        <p:spPr>
          <a:xfrm>
            <a:off x="731520" y="2926080"/>
            <a:ext cx="219456" cy="219456"/>
          </a:xfrm>
          <a:prstGeom prst="ellipse">
            <a:avLst/>
          </a:prstGeom>
          <a:solidFill>
            <a:srgbClr val="F76902"/>
          </a:solidFill>
          <a:ln/>
        </p:spPr>
        <p:txBody>
          <a:bodyPr/>
          <a:lstStyle/>
          <a:p>
            <a:endParaRPr lang="en-US" sz="2400"/>
          </a:p>
        </p:txBody>
      </p:sp>
      <p:sp>
        <p:nvSpPr>
          <p:cNvPr id="10" name="Text 8"/>
          <p:cNvSpPr/>
          <p:nvPr/>
        </p:nvSpPr>
        <p:spPr>
          <a:xfrm>
            <a:off x="1097280" y="2828544"/>
            <a:ext cx="48768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Computer cursor control</a:t>
            </a:r>
            <a:endParaRPr lang="en-US" sz="1733" dirty="0"/>
          </a:p>
        </p:txBody>
      </p:sp>
      <p:sp>
        <p:nvSpPr>
          <p:cNvPr id="11" name="Shape 9"/>
          <p:cNvSpPr/>
          <p:nvPr/>
        </p:nvSpPr>
        <p:spPr>
          <a:xfrm>
            <a:off x="731520" y="3438144"/>
            <a:ext cx="219456" cy="219456"/>
          </a:xfrm>
          <a:prstGeom prst="ellipse">
            <a:avLst/>
          </a:prstGeom>
          <a:solidFill>
            <a:srgbClr val="F76902"/>
          </a:solidFill>
          <a:ln/>
        </p:spPr>
        <p:txBody>
          <a:bodyPr/>
          <a:lstStyle/>
          <a:p>
            <a:endParaRPr lang="en-US" sz="2400"/>
          </a:p>
        </p:txBody>
      </p:sp>
      <p:sp>
        <p:nvSpPr>
          <p:cNvPr id="12" name="Text 10"/>
          <p:cNvSpPr/>
          <p:nvPr/>
        </p:nvSpPr>
        <p:spPr>
          <a:xfrm>
            <a:off x="1097280" y="3340608"/>
            <a:ext cx="48768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Communication devices (AAC)</a:t>
            </a:r>
            <a:endParaRPr lang="en-US" sz="1733" dirty="0"/>
          </a:p>
        </p:txBody>
      </p:sp>
      <p:sp>
        <p:nvSpPr>
          <p:cNvPr id="13" name="Shape 11"/>
          <p:cNvSpPr/>
          <p:nvPr/>
        </p:nvSpPr>
        <p:spPr>
          <a:xfrm>
            <a:off x="731520" y="3950208"/>
            <a:ext cx="219456" cy="219456"/>
          </a:xfrm>
          <a:prstGeom prst="ellipse">
            <a:avLst/>
          </a:prstGeom>
          <a:solidFill>
            <a:srgbClr val="F76902"/>
          </a:solidFill>
          <a:ln/>
        </p:spPr>
        <p:txBody>
          <a:bodyPr/>
          <a:lstStyle/>
          <a:p>
            <a:endParaRPr lang="en-US" sz="2400"/>
          </a:p>
        </p:txBody>
      </p:sp>
      <p:sp>
        <p:nvSpPr>
          <p:cNvPr id="14" name="Text 12"/>
          <p:cNvSpPr/>
          <p:nvPr/>
        </p:nvSpPr>
        <p:spPr>
          <a:xfrm>
            <a:off x="1097280" y="3852672"/>
            <a:ext cx="48768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Environmental control (lights, TV)</a:t>
            </a:r>
            <a:endParaRPr lang="en-US" sz="1733" dirty="0"/>
          </a:p>
        </p:txBody>
      </p:sp>
      <p:sp>
        <p:nvSpPr>
          <p:cNvPr id="15" name="Shape 13"/>
          <p:cNvSpPr/>
          <p:nvPr/>
        </p:nvSpPr>
        <p:spPr>
          <a:xfrm>
            <a:off x="731520" y="4462272"/>
            <a:ext cx="219456" cy="219456"/>
          </a:xfrm>
          <a:prstGeom prst="ellipse">
            <a:avLst/>
          </a:prstGeom>
          <a:solidFill>
            <a:srgbClr val="F76902"/>
          </a:solidFill>
          <a:ln/>
        </p:spPr>
        <p:txBody>
          <a:bodyPr/>
          <a:lstStyle/>
          <a:p>
            <a:endParaRPr lang="en-US" sz="2400"/>
          </a:p>
        </p:txBody>
      </p:sp>
      <p:sp>
        <p:nvSpPr>
          <p:cNvPr id="16" name="Text 14"/>
          <p:cNvSpPr/>
          <p:nvPr/>
        </p:nvSpPr>
        <p:spPr>
          <a:xfrm>
            <a:off x="1097280" y="4364736"/>
            <a:ext cx="4876800" cy="42672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Robotic arm assistance</a:t>
            </a:r>
            <a:endParaRPr lang="en-US" sz="1733" dirty="0"/>
          </a:p>
        </p:txBody>
      </p:sp>
      <p:sp>
        <p:nvSpPr>
          <p:cNvPr id="17" name="Shape 15"/>
          <p:cNvSpPr/>
          <p:nvPr/>
        </p:nvSpPr>
        <p:spPr>
          <a:xfrm>
            <a:off x="6217920" y="1828800"/>
            <a:ext cx="5364480" cy="304800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8" name="Shape 16"/>
          <p:cNvSpPr/>
          <p:nvPr/>
        </p:nvSpPr>
        <p:spPr>
          <a:xfrm>
            <a:off x="6217920" y="1828800"/>
            <a:ext cx="5364480" cy="548640"/>
          </a:xfrm>
          <a:prstGeom prst="rect">
            <a:avLst/>
          </a:prstGeom>
          <a:solidFill>
            <a:srgbClr val="F76902"/>
          </a:solidFill>
          <a:ln/>
        </p:spPr>
        <p:txBody>
          <a:bodyPr/>
          <a:lstStyle/>
          <a:p>
            <a:endParaRPr lang="en-US" sz="2400"/>
          </a:p>
        </p:txBody>
      </p:sp>
      <p:sp>
        <p:nvSpPr>
          <p:cNvPr id="19" name="Text 17"/>
          <p:cNvSpPr/>
          <p:nvPr/>
        </p:nvSpPr>
        <p:spPr>
          <a:xfrm>
            <a:off x="6339840" y="1889760"/>
            <a:ext cx="5120640" cy="42672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Why EOG for Assistive Tech?</a:t>
            </a:r>
            <a:endParaRPr lang="en-US" sz="1733" dirty="0"/>
          </a:p>
        </p:txBody>
      </p:sp>
      <p:sp>
        <p:nvSpPr>
          <p:cNvPr id="20" name="Text 18"/>
          <p:cNvSpPr/>
          <p:nvPr/>
        </p:nvSpPr>
        <p:spPr>
          <a:xfrm>
            <a:off x="6461760" y="2560320"/>
            <a:ext cx="4998720" cy="219456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 Works with closed eyes (unlike cameras)</a:t>
            </a:r>
            <a:endParaRPr lang="en-US" sz="1600" dirty="0"/>
          </a:p>
          <a:p>
            <a:r>
              <a:rPr lang="en-US" sz="1600" dirty="0">
                <a:solidFill>
                  <a:srgbClr val="1A1A1A"/>
                </a:solidFill>
                <a:latin typeface="Calibri" pitchFamily="34" charset="0"/>
                <a:ea typeface="Calibri" pitchFamily="34" charset="-122"/>
                <a:cs typeface="Calibri" pitchFamily="34" charset="-120"/>
              </a:rPr>
              <a:t>✓ Works in any lighting condition</a:t>
            </a:r>
            <a:endParaRPr lang="en-US" sz="1600" dirty="0"/>
          </a:p>
          <a:p>
            <a:r>
              <a:rPr lang="en-US" sz="1600" dirty="0">
                <a:solidFill>
                  <a:srgbClr val="1A1A1A"/>
                </a:solidFill>
                <a:latin typeface="Calibri" pitchFamily="34" charset="0"/>
                <a:ea typeface="Calibri" pitchFamily="34" charset="-122"/>
                <a:cs typeface="Calibri" pitchFamily="34" charset="-120"/>
              </a:rPr>
              <a:t>✓ Low cost compared to eye trackers</a:t>
            </a:r>
            <a:endParaRPr lang="en-US" sz="1600" dirty="0"/>
          </a:p>
          <a:p>
            <a:r>
              <a:rPr lang="en-US" sz="1600" dirty="0">
                <a:solidFill>
                  <a:srgbClr val="1A1A1A"/>
                </a:solidFill>
                <a:latin typeface="Calibri" pitchFamily="34" charset="0"/>
                <a:ea typeface="Calibri" pitchFamily="34" charset="-122"/>
                <a:cs typeface="Calibri" pitchFamily="34" charset="-120"/>
              </a:rPr>
              <a:t>✓ Simple electrode setup</a:t>
            </a:r>
            <a:endParaRPr lang="en-US" sz="1600" dirty="0"/>
          </a:p>
          <a:p>
            <a:r>
              <a:rPr lang="en-US" sz="1600" dirty="0">
                <a:solidFill>
                  <a:srgbClr val="1A1A1A"/>
                </a:solidFill>
                <a:latin typeface="Calibri" pitchFamily="34" charset="0"/>
                <a:ea typeface="Calibri" pitchFamily="34" charset="-122"/>
                <a:cs typeface="Calibri" pitchFamily="34" charset="-120"/>
              </a:rPr>
              <a:t>✓ Real-time processing possible</a:t>
            </a:r>
            <a:endParaRPr lang="en-US" sz="1600" dirty="0"/>
          </a:p>
        </p:txBody>
      </p:sp>
      <p:sp>
        <p:nvSpPr>
          <p:cNvPr id="21" name="Shape 19"/>
          <p:cNvSpPr/>
          <p:nvPr/>
        </p:nvSpPr>
        <p:spPr>
          <a:xfrm>
            <a:off x="609600" y="5242560"/>
            <a:ext cx="10972800" cy="1219200"/>
          </a:xfrm>
          <a:prstGeom prst="rect">
            <a:avLst/>
          </a:prstGeom>
          <a:solidFill>
            <a:srgbClr val="1A1A1A"/>
          </a:solidFill>
          <a:ln/>
        </p:spPr>
        <p:txBody>
          <a:bodyPr/>
          <a:lstStyle/>
          <a:p>
            <a:endParaRPr lang="en-US" sz="2400"/>
          </a:p>
        </p:txBody>
      </p:sp>
      <p:sp>
        <p:nvSpPr>
          <p:cNvPr id="22" name="Text 20"/>
          <p:cNvSpPr/>
          <p:nvPr/>
        </p:nvSpPr>
        <p:spPr>
          <a:xfrm>
            <a:off x="853440" y="5364480"/>
            <a:ext cx="2438400" cy="42672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Target Users:</a:t>
            </a:r>
            <a:endParaRPr lang="en-US" sz="1733" dirty="0"/>
          </a:p>
        </p:txBody>
      </p:sp>
      <p:sp>
        <p:nvSpPr>
          <p:cNvPr id="23" name="Text 21"/>
          <p:cNvSpPr/>
          <p:nvPr/>
        </p:nvSpPr>
        <p:spPr>
          <a:xfrm>
            <a:off x="853440" y="5791200"/>
            <a:ext cx="10485120" cy="609600"/>
          </a:xfrm>
          <a:prstGeom prst="rect">
            <a:avLst/>
          </a:prstGeom>
          <a:noFill/>
          <a:ln/>
        </p:spPr>
        <p:txBody>
          <a:bodyPr wrap="square" rtlCol="0" anchor="ctr"/>
          <a:lstStyle/>
          <a:p>
            <a:r>
              <a:rPr lang="en-US" sz="1600" dirty="0">
                <a:solidFill>
                  <a:srgbClr val="FFFFFF"/>
                </a:solidFill>
                <a:latin typeface="Calibri" pitchFamily="34" charset="0"/>
                <a:ea typeface="Calibri" pitchFamily="34" charset="-122"/>
                <a:cs typeface="Calibri" pitchFamily="34" charset="-120"/>
              </a:rPr>
              <a:t>ALS/MND patients, spinal cord injury, locked-in syndrome, severe cerebral palsy, muscular dystrophy — individuals who retain eye movement control when other motor functions are impaired.</a:t>
            </a:r>
            <a:endParaRPr lang="en-US" sz="1600" dirty="0"/>
          </a:p>
        </p:txBody>
      </p:sp>
      <p:sp>
        <p:nvSpPr>
          <p:cNvPr id="24" name="Text 22"/>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15 / 32</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Drowsiness Detection</a:t>
            </a:r>
            <a:endParaRPr lang="en-US" sz="4267" dirty="0"/>
          </a:p>
        </p:txBody>
      </p:sp>
      <p:sp>
        <p:nvSpPr>
          <p:cNvPr id="5" name="Text 3"/>
          <p:cNvSpPr/>
          <p:nvPr/>
        </p:nvSpPr>
        <p:spPr>
          <a:xfrm>
            <a:off x="609600" y="1219200"/>
            <a:ext cx="10972800" cy="365760"/>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Driver Monitoring and Alertness Systems</a:t>
            </a:r>
            <a:endParaRPr lang="en-US" sz="2133" dirty="0"/>
          </a:p>
        </p:txBody>
      </p:sp>
      <p:sp>
        <p:nvSpPr>
          <p:cNvPr id="6" name="Text 4"/>
          <p:cNvSpPr/>
          <p:nvPr/>
        </p:nvSpPr>
        <p:spPr>
          <a:xfrm>
            <a:off x="609600" y="1828800"/>
            <a:ext cx="6096000" cy="487680"/>
          </a:xfrm>
          <a:prstGeom prst="rect">
            <a:avLst/>
          </a:prstGeom>
          <a:noFill/>
          <a:ln/>
        </p:spPr>
        <p:txBody>
          <a:bodyPr wrap="square" rtlCol="0" anchor="ctr"/>
          <a:lstStyle/>
          <a:p>
            <a:r>
              <a:rPr lang="en-US" sz="2133" b="1" dirty="0">
                <a:solidFill>
                  <a:srgbClr val="F76902"/>
                </a:solidFill>
                <a:latin typeface="Calibri" pitchFamily="34" charset="0"/>
                <a:ea typeface="Calibri" pitchFamily="34" charset="-122"/>
                <a:cs typeface="Calibri" pitchFamily="34" charset="-120"/>
              </a:rPr>
              <a:t>EOG Indicators of Drowsiness</a:t>
            </a:r>
            <a:endParaRPr lang="en-US" sz="2133" dirty="0"/>
          </a:p>
        </p:txBody>
      </p:sp>
      <p:sp>
        <p:nvSpPr>
          <p:cNvPr id="7" name="Shape 5"/>
          <p:cNvSpPr/>
          <p:nvPr/>
        </p:nvSpPr>
        <p:spPr>
          <a:xfrm>
            <a:off x="609600" y="2377440"/>
            <a:ext cx="6705600" cy="670560"/>
          </a:xfrm>
          <a:prstGeom prst="rect">
            <a:avLst/>
          </a:prstGeom>
          <a:solidFill>
            <a:srgbClr val="F5F5F5"/>
          </a:solidFill>
          <a:ln/>
        </p:spPr>
        <p:txBody>
          <a:bodyPr/>
          <a:lstStyle/>
          <a:p>
            <a:endParaRPr lang="en-US" sz="2400"/>
          </a:p>
        </p:txBody>
      </p:sp>
      <p:sp>
        <p:nvSpPr>
          <p:cNvPr id="8" name="Text 6"/>
          <p:cNvSpPr/>
          <p:nvPr/>
        </p:nvSpPr>
        <p:spPr>
          <a:xfrm>
            <a:off x="792480" y="2474976"/>
            <a:ext cx="1828800" cy="487680"/>
          </a:xfrm>
          <a:prstGeom prst="rect">
            <a:avLst/>
          </a:prstGeom>
          <a:noFill/>
          <a:ln/>
        </p:spPr>
        <p:txBody>
          <a:bodyPr wrap="square" rtlCol="0" anchor="ctr"/>
          <a:lstStyle/>
          <a:p>
            <a:r>
              <a:rPr lang="en-US" sz="1600" b="1" dirty="0">
                <a:solidFill>
                  <a:srgbClr val="F76902"/>
                </a:solidFill>
                <a:latin typeface="Calibri" pitchFamily="34" charset="0"/>
                <a:ea typeface="Calibri" pitchFamily="34" charset="-122"/>
                <a:cs typeface="Calibri" pitchFamily="34" charset="-120"/>
              </a:rPr>
              <a:t>PERCLOS</a:t>
            </a:r>
            <a:endParaRPr lang="en-US" sz="1600" dirty="0"/>
          </a:p>
        </p:txBody>
      </p:sp>
      <p:sp>
        <p:nvSpPr>
          <p:cNvPr id="9" name="Text 7"/>
          <p:cNvSpPr/>
          <p:nvPr/>
        </p:nvSpPr>
        <p:spPr>
          <a:xfrm>
            <a:off x="2682240" y="2474976"/>
            <a:ext cx="45110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Percentage of eye closure over time</a:t>
            </a:r>
            <a:endParaRPr lang="en-US" sz="1467" dirty="0"/>
          </a:p>
        </p:txBody>
      </p:sp>
      <p:sp>
        <p:nvSpPr>
          <p:cNvPr id="10" name="Shape 8"/>
          <p:cNvSpPr/>
          <p:nvPr/>
        </p:nvSpPr>
        <p:spPr>
          <a:xfrm>
            <a:off x="609600" y="3108960"/>
            <a:ext cx="6705600" cy="670560"/>
          </a:xfrm>
          <a:prstGeom prst="rect">
            <a:avLst/>
          </a:prstGeom>
          <a:solidFill>
            <a:srgbClr val="F5F5F5"/>
          </a:solidFill>
          <a:ln/>
        </p:spPr>
        <p:txBody>
          <a:bodyPr/>
          <a:lstStyle/>
          <a:p>
            <a:endParaRPr lang="en-US" sz="2400"/>
          </a:p>
        </p:txBody>
      </p:sp>
      <p:sp>
        <p:nvSpPr>
          <p:cNvPr id="11" name="Text 9"/>
          <p:cNvSpPr/>
          <p:nvPr/>
        </p:nvSpPr>
        <p:spPr>
          <a:xfrm>
            <a:off x="792480" y="3206496"/>
            <a:ext cx="1828800" cy="487680"/>
          </a:xfrm>
          <a:prstGeom prst="rect">
            <a:avLst/>
          </a:prstGeom>
          <a:noFill/>
          <a:ln/>
        </p:spPr>
        <p:txBody>
          <a:bodyPr wrap="square" rtlCol="0" anchor="ctr"/>
          <a:lstStyle/>
          <a:p>
            <a:r>
              <a:rPr lang="en-US" sz="1600" b="1" dirty="0">
                <a:solidFill>
                  <a:srgbClr val="F76902"/>
                </a:solidFill>
                <a:latin typeface="Calibri" pitchFamily="34" charset="0"/>
                <a:ea typeface="Calibri" pitchFamily="34" charset="-122"/>
                <a:cs typeface="Calibri" pitchFamily="34" charset="-120"/>
              </a:rPr>
              <a:t>Blink Duration</a:t>
            </a:r>
            <a:endParaRPr lang="en-US" sz="1600" dirty="0"/>
          </a:p>
        </p:txBody>
      </p:sp>
      <p:sp>
        <p:nvSpPr>
          <p:cNvPr id="12" name="Text 10"/>
          <p:cNvSpPr/>
          <p:nvPr/>
        </p:nvSpPr>
        <p:spPr>
          <a:xfrm>
            <a:off x="2682240" y="3206496"/>
            <a:ext cx="45110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Increases with fatigue (&gt;300ms = drowsy)</a:t>
            </a:r>
            <a:endParaRPr lang="en-US" sz="1467" dirty="0"/>
          </a:p>
        </p:txBody>
      </p:sp>
      <p:sp>
        <p:nvSpPr>
          <p:cNvPr id="13" name="Shape 11"/>
          <p:cNvSpPr/>
          <p:nvPr/>
        </p:nvSpPr>
        <p:spPr>
          <a:xfrm>
            <a:off x="609600" y="3840480"/>
            <a:ext cx="6705600" cy="670560"/>
          </a:xfrm>
          <a:prstGeom prst="rect">
            <a:avLst/>
          </a:prstGeom>
          <a:solidFill>
            <a:srgbClr val="F5F5F5"/>
          </a:solidFill>
          <a:ln/>
        </p:spPr>
        <p:txBody>
          <a:bodyPr/>
          <a:lstStyle/>
          <a:p>
            <a:endParaRPr lang="en-US" sz="2400"/>
          </a:p>
        </p:txBody>
      </p:sp>
      <p:sp>
        <p:nvSpPr>
          <p:cNvPr id="14" name="Text 12"/>
          <p:cNvSpPr/>
          <p:nvPr/>
        </p:nvSpPr>
        <p:spPr>
          <a:xfrm>
            <a:off x="792480" y="3938016"/>
            <a:ext cx="1828800" cy="487680"/>
          </a:xfrm>
          <a:prstGeom prst="rect">
            <a:avLst/>
          </a:prstGeom>
          <a:noFill/>
          <a:ln/>
        </p:spPr>
        <p:txBody>
          <a:bodyPr wrap="square" rtlCol="0" anchor="ctr"/>
          <a:lstStyle/>
          <a:p>
            <a:r>
              <a:rPr lang="en-US" sz="1600" b="1" dirty="0">
                <a:solidFill>
                  <a:srgbClr val="F76902"/>
                </a:solidFill>
                <a:latin typeface="Calibri" pitchFamily="34" charset="0"/>
                <a:ea typeface="Calibri" pitchFamily="34" charset="-122"/>
                <a:cs typeface="Calibri" pitchFamily="34" charset="-120"/>
              </a:rPr>
              <a:t>Blink Frequency</a:t>
            </a:r>
            <a:endParaRPr lang="en-US" sz="1600" dirty="0"/>
          </a:p>
        </p:txBody>
      </p:sp>
      <p:sp>
        <p:nvSpPr>
          <p:cNvPr id="15" name="Text 13"/>
          <p:cNvSpPr/>
          <p:nvPr/>
        </p:nvSpPr>
        <p:spPr>
          <a:xfrm>
            <a:off x="2682240" y="3938016"/>
            <a:ext cx="45110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Irregular patterns indicate fatigue</a:t>
            </a:r>
            <a:endParaRPr lang="en-US" sz="1467" dirty="0"/>
          </a:p>
        </p:txBody>
      </p:sp>
      <p:sp>
        <p:nvSpPr>
          <p:cNvPr id="16" name="Shape 14"/>
          <p:cNvSpPr/>
          <p:nvPr/>
        </p:nvSpPr>
        <p:spPr>
          <a:xfrm>
            <a:off x="609600" y="4572000"/>
            <a:ext cx="6705600" cy="670560"/>
          </a:xfrm>
          <a:prstGeom prst="rect">
            <a:avLst/>
          </a:prstGeom>
          <a:solidFill>
            <a:srgbClr val="F5F5F5"/>
          </a:solidFill>
          <a:ln/>
        </p:spPr>
        <p:txBody>
          <a:bodyPr/>
          <a:lstStyle/>
          <a:p>
            <a:endParaRPr lang="en-US" sz="2400"/>
          </a:p>
        </p:txBody>
      </p:sp>
      <p:sp>
        <p:nvSpPr>
          <p:cNvPr id="17" name="Text 15"/>
          <p:cNvSpPr/>
          <p:nvPr/>
        </p:nvSpPr>
        <p:spPr>
          <a:xfrm>
            <a:off x="792480" y="4669536"/>
            <a:ext cx="1828800" cy="487680"/>
          </a:xfrm>
          <a:prstGeom prst="rect">
            <a:avLst/>
          </a:prstGeom>
          <a:noFill/>
          <a:ln/>
        </p:spPr>
        <p:txBody>
          <a:bodyPr wrap="square" rtlCol="0" anchor="ctr"/>
          <a:lstStyle/>
          <a:p>
            <a:r>
              <a:rPr lang="en-US" sz="1600" b="1" dirty="0">
                <a:solidFill>
                  <a:srgbClr val="F76902"/>
                </a:solidFill>
                <a:latin typeface="Calibri" pitchFamily="34" charset="0"/>
                <a:ea typeface="Calibri" pitchFamily="34" charset="-122"/>
                <a:cs typeface="Calibri" pitchFamily="34" charset="-120"/>
              </a:rPr>
              <a:t>Slow Eye Movements</a:t>
            </a:r>
            <a:endParaRPr lang="en-US" sz="1600" dirty="0"/>
          </a:p>
        </p:txBody>
      </p:sp>
      <p:sp>
        <p:nvSpPr>
          <p:cNvPr id="18" name="Text 16"/>
          <p:cNvSpPr/>
          <p:nvPr/>
        </p:nvSpPr>
        <p:spPr>
          <a:xfrm>
            <a:off x="2682240" y="4669536"/>
            <a:ext cx="451104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Rolling movements before microsleep</a:t>
            </a:r>
            <a:endParaRPr lang="en-US" sz="1467" dirty="0"/>
          </a:p>
        </p:txBody>
      </p:sp>
      <p:sp>
        <p:nvSpPr>
          <p:cNvPr id="19" name="Shape 17"/>
          <p:cNvSpPr/>
          <p:nvPr/>
        </p:nvSpPr>
        <p:spPr>
          <a:xfrm>
            <a:off x="7559040" y="1828800"/>
            <a:ext cx="4023360" cy="3048000"/>
          </a:xfrm>
          <a:prstGeom prst="rect">
            <a:avLst/>
          </a:prstGeom>
          <a:solidFill>
            <a:srgbClr val="D32F2F">
              <a:alpha val="15000"/>
            </a:srgbClr>
          </a:solidFill>
          <a:ln/>
        </p:spPr>
        <p:txBody>
          <a:bodyPr/>
          <a:lstStyle/>
          <a:p>
            <a:endParaRPr lang="en-US" sz="2400"/>
          </a:p>
        </p:txBody>
      </p:sp>
      <p:sp>
        <p:nvSpPr>
          <p:cNvPr id="20" name="Text 18"/>
          <p:cNvSpPr/>
          <p:nvPr/>
        </p:nvSpPr>
        <p:spPr>
          <a:xfrm>
            <a:off x="7559040" y="1950720"/>
            <a:ext cx="4023360" cy="609600"/>
          </a:xfrm>
          <a:prstGeom prst="rect">
            <a:avLst/>
          </a:prstGeom>
          <a:noFill/>
          <a:ln/>
        </p:spPr>
        <p:txBody>
          <a:bodyPr wrap="square" rtlCol="0" anchor="ctr"/>
          <a:lstStyle/>
          <a:p>
            <a:pPr algn="ctr"/>
            <a:r>
              <a:rPr lang="en-US" sz="4267" dirty="0">
                <a:solidFill>
                  <a:srgbClr val="000000"/>
                </a:solidFill>
              </a:rPr>
              <a:t>🚗</a:t>
            </a:r>
            <a:endParaRPr lang="en-US" sz="4267" dirty="0"/>
          </a:p>
        </p:txBody>
      </p:sp>
      <p:sp>
        <p:nvSpPr>
          <p:cNvPr id="21" name="Text 19"/>
          <p:cNvSpPr/>
          <p:nvPr/>
        </p:nvSpPr>
        <p:spPr>
          <a:xfrm>
            <a:off x="7802880" y="2560320"/>
            <a:ext cx="3535680" cy="365760"/>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Drowsy driving causes</a:t>
            </a:r>
            <a:endParaRPr lang="en-US" sz="1467" dirty="0"/>
          </a:p>
        </p:txBody>
      </p:sp>
      <p:sp>
        <p:nvSpPr>
          <p:cNvPr id="22" name="Text 20"/>
          <p:cNvSpPr/>
          <p:nvPr/>
        </p:nvSpPr>
        <p:spPr>
          <a:xfrm>
            <a:off x="7802880" y="2926080"/>
            <a:ext cx="3535680" cy="609600"/>
          </a:xfrm>
          <a:prstGeom prst="rect">
            <a:avLst/>
          </a:prstGeom>
          <a:noFill/>
          <a:ln/>
        </p:spPr>
        <p:txBody>
          <a:bodyPr wrap="square" rtlCol="0" anchor="ctr"/>
          <a:lstStyle/>
          <a:p>
            <a:pPr algn="ctr"/>
            <a:r>
              <a:rPr lang="en-US" sz="3733" b="1" dirty="0">
                <a:solidFill>
                  <a:srgbClr val="D32F2F"/>
                </a:solidFill>
                <a:latin typeface="Trebuchet MS" pitchFamily="34" charset="0"/>
                <a:ea typeface="Trebuchet MS" pitchFamily="34" charset="-122"/>
                <a:cs typeface="Trebuchet MS" pitchFamily="34" charset="-120"/>
              </a:rPr>
              <a:t>100,000+</a:t>
            </a:r>
            <a:endParaRPr lang="en-US" sz="3733" dirty="0"/>
          </a:p>
        </p:txBody>
      </p:sp>
      <p:sp>
        <p:nvSpPr>
          <p:cNvPr id="23" name="Text 21"/>
          <p:cNvSpPr/>
          <p:nvPr/>
        </p:nvSpPr>
        <p:spPr>
          <a:xfrm>
            <a:off x="7802880" y="3535680"/>
            <a:ext cx="3535680" cy="365760"/>
          </a:xfrm>
          <a:prstGeom prst="rect">
            <a:avLst/>
          </a:prstGeom>
          <a:noFill/>
          <a:ln/>
        </p:spPr>
        <p:txBody>
          <a:bodyPr wrap="square" rtlCol="0" anchor="ctr"/>
          <a:lstStyle/>
          <a:p>
            <a:pPr algn="ctr"/>
            <a:r>
              <a:rPr lang="en-US" sz="1467" dirty="0">
                <a:solidFill>
                  <a:srgbClr val="1A1A1A"/>
                </a:solidFill>
                <a:latin typeface="Calibri" pitchFamily="34" charset="0"/>
                <a:ea typeface="Calibri" pitchFamily="34" charset="-122"/>
                <a:cs typeface="Calibri" pitchFamily="34" charset="-120"/>
              </a:rPr>
              <a:t>crashes per year (US)</a:t>
            </a:r>
            <a:endParaRPr lang="en-US" sz="1467" dirty="0"/>
          </a:p>
        </p:txBody>
      </p:sp>
      <p:sp>
        <p:nvSpPr>
          <p:cNvPr id="24" name="Text 22"/>
          <p:cNvSpPr/>
          <p:nvPr/>
        </p:nvSpPr>
        <p:spPr>
          <a:xfrm>
            <a:off x="7802880" y="4145280"/>
            <a:ext cx="3535680" cy="609600"/>
          </a:xfrm>
          <a:prstGeom prst="rect">
            <a:avLst/>
          </a:prstGeom>
          <a:noFill/>
          <a:ln/>
        </p:spPr>
        <p:txBody>
          <a:bodyPr wrap="square" rtlCol="0" anchor="ctr"/>
          <a:lstStyle/>
          <a:p>
            <a:pPr algn="ctr"/>
            <a:r>
              <a:rPr lang="en-US" sz="1333" i="1" dirty="0">
                <a:solidFill>
                  <a:srgbClr val="666666"/>
                </a:solidFill>
                <a:latin typeface="Calibri" pitchFamily="34" charset="0"/>
                <a:ea typeface="Calibri" pitchFamily="34" charset="-122"/>
                <a:cs typeface="Calibri" pitchFamily="34" charset="-120"/>
              </a:rPr>
              <a:t>EOG can detect drowsiness 1-2 minutes before a microsleep event</a:t>
            </a:r>
            <a:endParaRPr lang="en-US" sz="1333" dirty="0"/>
          </a:p>
        </p:txBody>
      </p:sp>
      <p:sp>
        <p:nvSpPr>
          <p:cNvPr id="25" name="Shape 23"/>
          <p:cNvSpPr/>
          <p:nvPr/>
        </p:nvSpPr>
        <p:spPr>
          <a:xfrm>
            <a:off x="609600" y="5242560"/>
            <a:ext cx="10972800" cy="1219200"/>
          </a:xfrm>
          <a:prstGeom prst="rect">
            <a:avLst/>
          </a:prstGeom>
          <a:solidFill>
            <a:srgbClr val="513127"/>
          </a:solidFill>
          <a:ln/>
        </p:spPr>
        <p:txBody>
          <a:bodyPr/>
          <a:lstStyle/>
          <a:p>
            <a:endParaRPr lang="en-US" sz="2400"/>
          </a:p>
        </p:txBody>
      </p:sp>
      <p:sp>
        <p:nvSpPr>
          <p:cNvPr id="26" name="Text 24"/>
          <p:cNvSpPr/>
          <p:nvPr/>
        </p:nvSpPr>
        <p:spPr>
          <a:xfrm>
            <a:off x="853440" y="5425440"/>
            <a:ext cx="10485120" cy="853440"/>
          </a:xfrm>
          <a:prstGeom prst="rect">
            <a:avLst/>
          </a:prstGeom>
          <a:noFill/>
          <a:ln/>
        </p:spPr>
        <p:txBody>
          <a:bodyPr wrap="square" rtlCol="0" anchor="ctr"/>
          <a:lstStyle/>
          <a:p>
            <a:r>
              <a:rPr lang="en-US" sz="1733" dirty="0">
                <a:solidFill>
                  <a:srgbClr val="FFFFFF"/>
                </a:solidFill>
                <a:latin typeface="Calibri" pitchFamily="34" charset="0"/>
                <a:ea typeface="Calibri" pitchFamily="34" charset="-122"/>
                <a:cs typeface="Calibri" pitchFamily="34" charset="-120"/>
              </a:rPr>
              <a:t>Advantage over camera-based systems: EOG works regardless of sunglasses, lighting conditions, or head position. VEOG directly measures eyelid position.</a:t>
            </a:r>
            <a:endParaRPr lang="en-US" sz="1733" dirty="0"/>
          </a:p>
        </p:txBody>
      </p:sp>
      <p:sp>
        <p:nvSpPr>
          <p:cNvPr id="27" name="Text 25"/>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16 / 32</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Sleep Studies</a:t>
            </a:r>
            <a:endParaRPr lang="en-US" sz="4267" dirty="0"/>
          </a:p>
        </p:txBody>
      </p:sp>
      <p:sp>
        <p:nvSpPr>
          <p:cNvPr id="5" name="Text 3"/>
          <p:cNvSpPr/>
          <p:nvPr/>
        </p:nvSpPr>
        <p:spPr>
          <a:xfrm>
            <a:off x="609600" y="1219200"/>
            <a:ext cx="10972800" cy="365760"/>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REM Detection in Polysomnography (PSG)</a:t>
            </a:r>
            <a:endParaRPr lang="en-US" sz="2133" dirty="0"/>
          </a:p>
        </p:txBody>
      </p:sp>
      <p:sp>
        <p:nvSpPr>
          <p:cNvPr id="6" name="Shape 4"/>
          <p:cNvSpPr/>
          <p:nvPr/>
        </p:nvSpPr>
        <p:spPr>
          <a:xfrm>
            <a:off x="609600" y="1828800"/>
            <a:ext cx="97536" cy="670560"/>
          </a:xfrm>
          <a:prstGeom prst="rect">
            <a:avLst/>
          </a:prstGeom>
          <a:solidFill>
            <a:srgbClr val="FFA726"/>
          </a:solidFill>
          <a:ln/>
        </p:spPr>
        <p:txBody>
          <a:bodyPr/>
          <a:lstStyle/>
          <a:p>
            <a:endParaRPr lang="en-US" sz="2400"/>
          </a:p>
        </p:txBody>
      </p:sp>
      <p:sp>
        <p:nvSpPr>
          <p:cNvPr id="7" name="Shape 5"/>
          <p:cNvSpPr/>
          <p:nvPr/>
        </p:nvSpPr>
        <p:spPr>
          <a:xfrm>
            <a:off x="707136" y="1828800"/>
            <a:ext cx="6705600" cy="670560"/>
          </a:xfrm>
          <a:prstGeom prst="rect">
            <a:avLst/>
          </a:prstGeom>
          <a:solidFill>
            <a:srgbClr val="F5F5F5"/>
          </a:solidFill>
          <a:ln/>
        </p:spPr>
        <p:txBody>
          <a:bodyPr/>
          <a:lstStyle/>
          <a:p>
            <a:endParaRPr lang="en-US" sz="2400"/>
          </a:p>
        </p:txBody>
      </p:sp>
      <p:sp>
        <p:nvSpPr>
          <p:cNvPr id="8" name="Text 6"/>
          <p:cNvSpPr/>
          <p:nvPr/>
        </p:nvSpPr>
        <p:spPr>
          <a:xfrm>
            <a:off x="914400" y="1926336"/>
            <a:ext cx="1463040" cy="48768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Wake</a:t>
            </a:r>
            <a:endParaRPr lang="en-US" sz="1600" dirty="0"/>
          </a:p>
        </p:txBody>
      </p:sp>
      <p:sp>
        <p:nvSpPr>
          <p:cNvPr id="9" name="Text 7"/>
          <p:cNvSpPr/>
          <p:nvPr/>
        </p:nvSpPr>
        <p:spPr>
          <a:xfrm>
            <a:off x="2438400" y="1926336"/>
            <a:ext cx="487680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Blinks, saccades, reading movements</a:t>
            </a:r>
            <a:endParaRPr lang="en-US" sz="1467" dirty="0"/>
          </a:p>
        </p:txBody>
      </p:sp>
      <p:sp>
        <p:nvSpPr>
          <p:cNvPr id="10" name="Shape 8"/>
          <p:cNvSpPr/>
          <p:nvPr/>
        </p:nvSpPr>
        <p:spPr>
          <a:xfrm>
            <a:off x="609600" y="2560320"/>
            <a:ext cx="97536" cy="670560"/>
          </a:xfrm>
          <a:prstGeom prst="rect">
            <a:avLst/>
          </a:prstGeom>
          <a:solidFill>
            <a:srgbClr val="666666"/>
          </a:solidFill>
          <a:ln/>
        </p:spPr>
        <p:txBody>
          <a:bodyPr/>
          <a:lstStyle/>
          <a:p>
            <a:endParaRPr lang="en-US" sz="2400"/>
          </a:p>
        </p:txBody>
      </p:sp>
      <p:sp>
        <p:nvSpPr>
          <p:cNvPr id="11" name="Shape 9"/>
          <p:cNvSpPr/>
          <p:nvPr/>
        </p:nvSpPr>
        <p:spPr>
          <a:xfrm>
            <a:off x="707136" y="2560320"/>
            <a:ext cx="6705600" cy="670560"/>
          </a:xfrm>
          <a:prstGeom prst="rect">
            <a:avLst/>
          </a:prstGeom>
          <a:solidFill>
            <a:srgbClr val="F5F5F5"/>
          </a:solidFill>
          <a:ln/>
        </p:spPr>
        <p:txBody>
          <a:bodyPr/>
          <a:lstStyle/>
          <a:p>
            <a:endParaRPr lang="en-US" sz="2400"/>
          </a:p>
        </p:txBody>
      </p:sp>
      <p:sp>
        <p:nvSpPr>
          <p:cNvPr id="12" name="Text 10"/>
          <p:cNvSpPr/>
          <p:nvPr/>
        </p:nvSpPr>
        <p:spPr>
          <a:xfrm>
            <a:off x="914400" y="2657856"/>
            <a:ext cx="1463040" cy="48768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N1 (Light)</a:t>
            </a:r>
            <a:endParaRPr lang="en-US" sz="1600" dirty="0"/>
          </a:p>
        </p:txBody>
      </p:sp>
      <p:sp>
        <p:nvSpPr>
          <p:cNvPr id="13" name="Text 11"/>
          <p:cNvSpPr/>
          <p:nvPr/>
        </p:nvSpPr>
        <p:spPr>
          <a:xfrm>
            <a:off x="2438400" y="2657856"/>
            <a:ext cx="487680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Slow rolling eye movements (SEMs)</a:t>
            </a:r>
            <a:endParaRPr lang="en-US" sz="1467" dirty="0"/>
          </a:p>
        </p:txBody>
      </p:sp>
      <p:sp>
        <p:nvSpPr>
          <p:cNvPr id="14" name="Shape 12"/>
          <p:cNvSpPr/>
          <p:nvPr/>
        </p:nvSpPr>
        <p:spPr>
          <a:xfrm>
            <a:off x="609600" y="3291840"/>
            <a:ext cx="97536" cy="670560"/>
          </a:xfrm>
          <a:prstGeom prst="rect">
            <a:avLst/>
          </a:prstGeom>
          <a:solidFill>
            <a:srgbClr val="666666"/>
          </a:solidFill>
          <a:ln/>
        </p:spPr>
        <p:txBody>
          <a:bodyPr/>
          <a:lstStyle/>
          <a:p>
            <a:endParaRPr lang="en-US" sz="2400"/>
          </a:p>
        </p:txBody>
      </p:sp>
      <p:sp>
        <p:nvSpPr>
          <p:cNvPr id="15" name="Shape 13"/>
          <p:cNvSpPr/>
          <p:nvPr/>
        </p:nvSpPr>
        <p:spPr>
          <a:xfrm>
            <a:off x="707136" y="3291840"/>
            <a:ext cx="6705600" cy="670560"/>
          </a:xfrm>
          <a:prstGeom prst="rect">
            <a:avLst/>
          </a:prstGeom>
          <a:solidFill>
            <a:srgbClr val="F5F5F5"/>
          </a:solidFill>
          <a:ln/>
        </p:spPr>
        <p:txBody>
          <a:bodyPr/>
          <a:lstStyle/>
          <a:p>
            <a:endParaRPr lang="en-US" sz="2400"/>
          </a:p>
        </p:txBody>
      </p:sp>
      <p:sp>
        <p:nvSpPr>
          <p:cNvPr id="16" name="Text 14"/>
          <p:cNvSpPr/>
          <p:nvPr/>
        </p:nvSpPr>
        <p:spPr>
          <a:xfrm>
            <a:off x="914400" y="3389376"/>
            <a:ext cx="1463040" cy="48768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N2 (Light)</a:t>
            </a:r>
            <a:endParaRPr lang="en-US" sz="1600" dirty="0"/>
          </a:p>
        </p:txBody>
      </p:sp>
      <p:sp>
        <p:nvSpPr>
          <p:cNvPr id="17" name="Text 15"/>
          <p:cNvSpPr/>
          <p:nvPr/>
        </p:nvSpPr>
        <p:spPr>
          <a:xfrm>
            <a:off x="2438400" y="3389376"/>
            <a:ext cx="487680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Minimal eye movements</a:t>
            </a:r>
            <a:endParaRPr lang="en-US" sz="1467" dirty="0"/>
          </a:p>
        </p:txBody>
      </p:sp>
      <p:sp>
        <p:nvSpPr>
          <p:cNvPr id="18" name="Shape 16"/>
          <p:cNvSpPr/>
          <p:nvPr/>
        </p:nvSpPr>
        <p:spPr>
          <a:xfrm>
            <a:off x="609600" y="4023360"/>
            <a:ext cx="97536" cy="670560"/>
          </a:xfrm>
          <a:prstGeom prst="rect">
            <a:avLst/>
          </a:prstGeom>
          <a:solidFill>
            <a:srgbClr val="513127"/>
          </a:solidFill>
          <a:ln/>
        </p:spPr>
        <p:txBody>
          <a:bodyPr/>
          <a:lstStyle/>
          <a:p>
            <a:endParaRPr lang="en-US" sz="2400"/>
          </a:p>
        </p:txBody>
      </p:sp>
      <p:sp>
        <p:nvSpPr>
          <p:cNvPr id="19" name="Shape 17"/>
          <p:cNvSpPr/>
          <p:nvPr/>
        </p:nvSpPr>
        <p:spPr>
          <a:xfrm>
            <a:off x="707136" y="4023360"/>
            <a:ext cx="6705600" cy="670560"/>
          </a:xfrm>
          <a:prstGeom prst="rect">
            <a:avLst/>
          </a:prstGeom>
          <a:solidFill>
            <a:srgbClr val="F5F5F5"/>
          </a:solidFill>
          <a:ln/>
        </p:spPr>
        <p:txBody>
          <a:bodyPr/>
          <a:lstStyle/>
          <a:p>
            <a:endParaRPr lang="en-US" sz="2400"/>
          </a:p>
        </p:txBody>
      </p:sp>
      <p:sp>
        <p:nvSpPr>
          <p:cNvPr id="20" name="Text 18"/>
          <p:cNvSpPr/>
          <p:nvPr/>
        </p:nvSpPr>
        <p:spPr>
          <a:xfrm>
            <a:off x="914400" y="4120896"/>
            <a:ext cx="1463040" cy="48768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N3 (Deep)</a:t>
            </a:r>
            <a:endParaRPr lang="en-US" sz="1600" dirty="0"/>
          </a:p>
        </p:txBody>
      </p:sp>
      <p:sp>
        <p:nvSpPr>
          <p:cNvPr id="21" name="Text 19"/>
          <p:cNvSpPr/>
          <p:nvPr/>
        </p:nvSpPr>
        <p:spPr>
          <a:xfrm>
            <a:off x="2438400" y="4120896"/>
            <a:ext cx="487680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Very rare eye movements</a:t>
            </a:r>
            <a:endParaRPr lang="en-US" sz="1467" dirty="0"/>
          </a:p>
        </p:txBody>
      </p:sp>
      <p:sp>
        <p:nvSpPr>
          <p:cNvPr id="22" name="Shape 20"/>
          <p:cNvSpPr/>
          <p:nvPr/>
        </p:nvSpPr>
        <p:spPr>
          <a:xfrm>
            <a:off x="609600" y="4754880"/>
            <a:ext cx="97536" cy="670560"/>
          </a:xfrm>
          <a:prstGeom prst="rect">
            <a:avLst/>
          </a:prstGeom>
          <a:solidFill>
            <a:srgbClr val="F76902"/>
          </a:solidFill>
          <a:ln/>
        </p:spPr>
        <p:txBody>
          <a:bodyPr/>
          <a:lstStyle/>
          <a:p>
            <a:endParaRPr lang="en-US" sz="2400"/>
          </a:p>
        </p:txBody>
      </p:sp>
      <p:sp>
        <p:nvSpPr>
          <p:cNvPr id="23" name="Shape 21"/>
          <p:cNvSpPr/>
          <p:nvPr/>
        </p:nvSpPr>
        <p:spPr>
          <a:xfrm>
            <a:off x="707136" y="4754880"/>
            <a:ext cx="6705600" cy="670560"/>
          </a:xfrm>
          <a:prstGeom prst="rect">
            <a:avLst/>
          </a:prstGeom>
          <a:solidFill>
            <a:srgbClr val="F5F5F5"/>
          </a:solidFill>
          <a:ln/>
        </p:spPr>
        <p:txBody>
          <a:bodyPr/>
          <a:lstStyle/>
          <a:p>
            <a:endParaRPr lang="en-US" sz="2400"/>
          </a:p>
        </p:txBody>
      </p:sp>
      <p:sp>
        <p:nvSpPr>
          <p:cNvPr id="24" name="Text 22"/>
          <p:cNvSpPr/>
          <p:nvPr/>
        </p:nvSpPr>
        <p:spPr>
          <a:xfrm>
            <a:off x="914400" y="4852416"/>
            <a:ext cx="1463040" cy="48768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REM</a:t>
            </a:r>
            <a:endParaRPr lang="en-US" sz="1600" dirty="0"/>
          </a:p>
        </p:txBody>
      </p:sp>
      <p:sp>
        <p:nvSpPr>
          <p:cNvPr id="25" name="Text 23"/>
          <p:cNvSpPr/>
          <p:nvPr/>
        </p:nvSpPr>
        <p:spPr>
          <a:xfrm>
            <a:off x="2438400" y="4852416"/>
            <a:ext cx="4876800" cy="4876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Rapid conjugate eye movements</a:t>
            </a:r>
            <a:endParaRPr lang="en-US" sz="1467" dirty="0"/>
          </a:p>
        </p:txBody>
      </p:sp>
      <p:sp>
        <p:nvSpPr>
          <p:cNvPr id="26" name="Shape 24"/>
          <p:cNvSpPr/>
          <p:nvPr/>
        </p:nvSpPr>
        <p:spPr>
          <a:xfrm>
            <a:off x="7680960" y="1828800"/>
            <a:ext cx="3901440" cy="3048000"/>
          </a:xfrm>
          <a:prstGeom prst="rect">
            <a:avLst/>
          </a:prstGeom>
          <a:solidFill>
            <a:srgbClr val="F76902">
              <a:alpha val="15000"/>
            </a:srgbClr>
          </a:solidFill>
          <a:ln/>
          <a:effectLst>
            <a:outerShdw blurRad="50800" dist="25400" dir="8100000" algn="bl" rotWithShape="0">
              <a:srgbClr val="000000">
                <a:alpha val="10000"/>
              </a:srgbClr>
            </a:outerShdw>
          </a:effectLst>
        </p:spPr>
        <p:txBody>
          <a:bodyPr/>
          <a:lstStyle/>
          <a:p>
            <a:endParaRPr lang="en-US" sz="2400"/>
          </a:p>
        </p:txBody>
      </p:sp>
      <p:sp>
        <p:nvSpPr>
          <p:cNvPr id="27" name="Text 25"/>
          <p:cNvSpPr/>
          <p:nvPr/>
        </p:nvSpPr>
        <p:spPr>
          <a:xfrm>
            <a:off x="7802880" y="1950720"/>
            <a:ext cx="3657600" cy="426720"/>
          </a:xfrm>
          <a:prstGeom prst="rect">
            <a:avLst/>
          </a:prstGeom>
          <a:noFill/>
          <a:ln/>
        </p:spPr>
        <p:txBody>
          <a:bodyPr wrap="square" rtlCol="0" anchor="ctr"/>
          <a:lstStyle/>
          <a:p>
            <a:pPr algn="ctr"/>
            <a:r>
              <a:rPr lang="en-US" sz="1733" b="1" dirty="0">
                <a:solidFill>
                  <a:srgbClr val="F76902"/>
                </a:solidFill>
                <a:latin typeface="Calibri" pitchFamily="34" charset="0"/>
                <a:ea typeface="Calibri" pitchFamily="34" charset="-122"/>
                <a:cs typeface="Calibri" pitchFamily="34" charset="-120"/>
              </a:rPr>
              <a:t>Why REM Matters</a:t>
            </a:r>
            <a:endParaRPr lang="en-US" sz="1733" dirty="0"/>
          </a:p>
        </p:txBody>
      </p:sp>
      <p:sp>
        <p:nvSpPr>
          <p:cNvPr id="28" name="Text 26"/>
          <p:cNvSpPr/>
          <p:nvPr/>
        </p:nvSpPr>
        <p:spPr>
          <a:xfrm>
            <a:off x="7924800" y="2438400"/>
            <a:ext cx="3535680" cy="231648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 Memory consolidation</a:t>
            </a:r>
            <a:endParaRPr lang="en-US" sz="1467" dirty="0"/>
          </a:p>
          <a:p>
            <a:r>
              <a:rPr lang="en-US" sz="1467" dirty="0">
                <a:solidFill>
                  <a:srgbClr val="1A1A1A"/>
                </a:solidFill>
                <a:latin typeface="Calibri" pitchFamily="34" charset="0"/>
                <a:ea typeface="Calibri" pitchFamily="34" charset="-122"/>
                <a:cs typeface="Calibri" pitchFamily="34" charset="-120"/>
              </a:rPr>
              <a:t>• Dreaming occurs</a:t>
            </a:r>
            <a:endParaRPr lang="en-US" sz="1467" dirty="0"/>
          </a:p>
          <a:p>
            <a:r>
              <a:rPr lang="en-US" sz="1467" dirty="0">
                <a:solidFill>
                  <a:srgbClr val="1A1A1A"/>
                </a:solidFill>
                <a:latin typeface="Calibri" pitchFamily="34" charset="0"/>
                <a:ea typeface="Calibri" pitchFamily="34" charset="-122"/>
                <a:cs typeface="Calibri" pitchFamily="34" charset="-120"/>
              </a:rPr>
              <a:t>• Emotional processing</a:t>
            </a:r>
            <a:endParaRPr lang="en-US" sz="1467" dirty="0"/>
          </a:p>
          <a:p>
            <a:r>
              <a:rPr lang="en-US" sz="1467" dirty="0">
                <a:solidFill>
                  <a:srgbClr val="1A1A1A"/>
                </a:solidFill>
                <a:latin typeface="Calibri" pitchFamily="34" charset="0"/>
                <a:ea typeface="Calibri" pitchFamily="34" charset="-122"/>
                <a:cs typeface="Calibri" pitchFamily="34" charset="-120"/>
              </a:rPr>
              <a:t>• 20-25% of adult sleep</a:t>
            </a:r>
            <a:endParaRPr lang="en-US" sz="1467" dirty="0"/>
          </a:p>
          <a:p>
            <a:endParaRPr lang="en-US" sz="1467" dirty="0"/>
          </a:p>
          <a:p>
            <a:r>
              <a:rPr lang="en-US" sz="1467" i="1" dirty="0">
                <a:solidFill>
                  <a:srgbClr val="1A1A1A"/>
                </a:solidFill>
                <a:latin typeface="Calibri" pitchFamily="34" charset="0"/>
                <a:ea typeface="Calibri" pitchFamily="34" charset="-122"/>
                <a:cs typeface="Calibri" pitchFamily="34" charset="-120"/>
              </a:rPr>
              <a:t>EOG is essential for accurate REM staging</a:t>
            </a:r>
            <a:endParaRPr lang="en-US" sz="1467" dirty="0"/>
          </a:p>
        </p:txBody>
      </p:sp>
      <p:sp>
        <p:nvSpPr>
          <p:cNvPr id="29" name="Shape 27"/>
          <p:cNvSpPr/>
          <p:nvPr/>
        </p:nvSpPr>
        <p:spPr>
          <a:xfrm>
            <a:off x="609600" y="5242560"/>
            <a:ext cx="10972800" cy="1219200"/>
          </a:xfrm>
          <a:prstGeom prst="rect">
            <a:avLst/>
          </a:prstGeom>
          <a:solidFill>
            <a:srgbClr val="1A1A1A"/>
          </a:solidFill>
          <a:ln/>
        </p:spPr>
        <p:txBody>
          <a:bodyPr/>
          <a:lstStyle/>
          <a:p>
            <a:endParaRPr lang="en-US" sz="2400"/>
          </a:p>
        </p:txBody>
      </p:sp>
      <p:sp>
        <p:nvSpPr>
          <p:cNvPr id="30" name="Text 28"/>
          <p:cNvSpPr/>
          <p:nvPr/>
        </p:nvSpPr>
        <p:spPr>
          <a:xfrm>
            <a:off x="853440" y="5364480"/>
            <a:ext cx="3657600" cy="42672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Conjugate Eye Movements:</a:t>
            </a:r>
            <a:endParaRPr lang="en-US" sz="1733" dirty="0"/>
          </a:p>
        </p:txBody>
      </p:sp>
      <p:sp>
        <p:nvSpPr>
          <p:cNvPr id="31" name="Text 29"/>
          <p:cNvSpPr/>
          <p:nvPr/>
        </p:nvSpPr>
        <p:spPr>
          <a:xfrm>
            <a:off x="853440" y="5791200"/>
            <a:ext cx="10485120" cy="609600"/>
          </a:xfrm>
          <a:prstGeom prst="rect">
            <a:avLst/>
          </a:prstGeom>
          <a:noFill/>
          <a:ln/>
        </p:spPr>
        <p:txBody>
          <a:bodyPr wrap="square" rtlCol="0" anchor="ctr"/>
          <a:lstStyle/>
          <a:p>
            <a:r>
              <a:rPr lang="en-US" sz="1600" dirty="0">
                <a:solidFill>
                  <a:srgbClr val="FFFFFF"/>
                </a:solidFill>
                <a:latin typeface="Calibri" pitchFamily="34" charset="0"/>
                <a:ea typeface="Calibri" pitchFamily="34" charset="-122"/>
                <a:cs typeface="Calibri" pitchFamily="34" charset="-120"/>
              </a:rPr>
              <a:t>Both eyes move together in the same direction. In REM sleep, these are rapid and occur in bursts. The HEOG channel shows the characteristic rapid deflections that give REM its name.</a:t>
            </a:r>
            <a:endParaRPr lang="en-US" sz="1600" dirty="0"/>
          </a:p>
        </p:txBody>
      </p:sp>
      <p:sp>
        <p:nvSpPr>
          <p:cNvPr id="32" name="Text 30"/>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17 / 32</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754361"/>
            <a:ext cx="10972800" cy="665018"/>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VR/AR Eye Tracking</a:t>
            </a:r>
            <a:endParaRPr lang="en-US" sz="4267" dirty="0"/>
          </a:p>
        </p:txBody>
      </p:sp>
      <p:sp>
        <p:nvSpPr>
          <p:cNvPr id="5" name="Text 3"/>
          <p:cNvSpPr/>
          <p:nvPr/>
        </p:nvSpPr>
        <p:spPr>
          <a:xfrm>
            <a:off x="609600" y="1347336"/>
            <a:ext cx="10972800" cy="332509"/>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Foveated Rendering and Gaze Interaction</a:t>
            </a:r>
            <a:endParaRPr lang="en-US" sz="2133" dirty="0"/>
          </a:p>
        </p:txBody>
      </p:sp>
      <p:sp>
        <p:nvSpPr>
          <p:cNvPr id="6" name="Shape 4"/>
          <p:cNvSpPr/>
          <p:nvPr/>
        </p:nvSpPr>
        <p:spPr>
          <a:xfrm>
            <a:off x="609600" y="1828800"/>
            <a:ext cx="5364480" cy="28041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7" name="Shape 5"/>
          <p:cNvSpPr/>
          <p:nvPr/>
        </p:nvSpPr>
        <p:spPr>
          <a:xfrm>
            <a:off x="609600" y="1828800"/>
            <a:ext cx="5364480" cy="548640"/>
          </a:xfrm>
          <a:prstGeom prst="rect">
            <a:avLst/>
          </a:prstGeom>
          <a:solidFill>
            <a:srgbClr val="F76902"/>
          </a:solidFill>
          <a:ln/>
        </p:spPr>
        <p:txBody>
          <a:bodyPr/>
          <a:lstStyle/>
          <a:p>
            <a:endParaRPr lang="en-US" sz="2400"/>
          </a:p>
        </p:txBody>
      </p:sp>
      <p:sp>
        <p:nvSpPr>
          <p:cNvPr id="8" name="Text 6"/>
          <p:cNvSpPr/>
          <p:nvPr/>
        </p:nvSpPr>
        <p:spPr>
          <a:xfrm>
            <a:off x="731520" y="1889760"/>
            <a:ext cx="5120640" cy="42672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Foveated Rendering</a:t>
            </a:r>
            <a:endParaRPr lang="en-US" sz="1733" dirty="0"/>
          </a:p>
        </p:txBody>
      </p:sp>
      <p:sp>
        <p:nvSpPr>
          <p:cNvPr id="9" name="Text 7"/>
          <p:cNvSpPr/>
          <p:nvPr/>
        </p:nvSpPr>
        <p:spPr>
          <a:xfrm>
            <a:off x="792480" y="2499360"/>
            <a:ext cx="4998720" cy="195072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Render high resolution only where the user is looking</a:t>
            </a:r>
            <a:endParaRPr lang="en-US" sz="1600" dirty="0"/>
          </a:p>
          <a:p>
            <a:endParaRPr lang="en-US" sz="1600" dirty="0"/>
          </a:p>
          <a:p>
            <a:r>
              <a:rPr lang="en-US" sz="1600" dirty="0">
                <a:solidFill>
                  <a:srgbClr val="1A1A1A"/>
                </a:solidFill>
                <a:latin typeface="Calibri" pitchFamily="34" charset="0"/>
                <a:ea typeface="Calibri" pitchFamily="34" charset="-122"/>
                <a:cs typeface="Calibri" pitchFamily="34" charset="-120"/>
              </a:rPr>
              <a:t>• Reduces GPU load by 50-70%</a:t>
            </a:r>
            <a:endParaRPr lang="en-US" sz="1600" dirty="0"/>
          </a:p>
          <a:p>
            <a:r>
              <a:rPr lang="en-US" sz="1600" dirty="0">
                <a:solidFill>
                  <a:srgbClr val="1A1A1A"/>
                </a:solidFill>
                <a:latin typeface="Calibri" pitchFamily="34" charset="0"/>
                <a:ea typeface="Calibri" pitchFamily="34" charset="-122"/>
                <a:cs typeface="Calibri" pitchFamily="34" charset="-120"/>
              </a:rPr>
              <a:t>• Enables higher quality headsets</a:t>
            </a:r>
            <a:endParaRPr lang="en-US" sz="1600" dirty="0"/>
          </a:p>
          <a:p>
            <a:r>
              <a:rPr lang="en-US" sz="1600" dirty="0">
                <a:solidFill>
                  <a:srgbClr val="1A1A1A"/>
                </a:solidFill>
                <a:latin typeface="Calibri" pitchFamily="34" charset="0"/>
                <a:ea typeface="Calibri" pitchFamily="34" charset="-122"/>
                <a:cs typeface="Calibri" pitchFamily="34" charset="-120"/>
              </a:rPr>
              <a:t>• Critical for wireless VR</a:t>
            </a:r>
            <a:endParaRPr lang="en-US" sz="1600" dirty="0"/>
          </a:p>
        </p:txBody>
      </p:sp>
      <p:sp>
        <p:nvSpPr>
          <p:cNvPr id="10" name="Shape 8"/>
          <p:cNvSpPr/>
          <p:nvPr/>
        </p:nvSpPr>
        <p:spPr>
          <a:xfrm>
            <a:off x="6217920" y="1828800"/>
            <a:ext cx="5364480" cy="280416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1" name="Shape 9"/>
          <p:cNvSpPr/>
          <p:nvPr/>
        </p:nvSpPr>
        <p:spPr>
          <a:xfrm>
            <a:off x="6217920" y="1828800"/>
            <a:ext cx="5364480" cy="548640"/>
          </a:xfrm>
          <a:prstGeom prst="rect">
            <a:avLst/>
          </a:prstGeom>
          <a:solidFill>
            <a:srgbClr val="F76902"/>
          </a:solidFill>
          <a:ln/>
        </p:spPr>
        <p:txBody>
          <a:bodyPr/>
          <a:lstStyle/>
          <a:p>
            <a:endParaRPr lang="en-US" sz="2400"/>
          </a:p>
        </p:txBody>
      </p:sp>
      <p:sp>
        <p:nvSpPr>
          <p:cNvPr id="12" name="Text 10"/>
          <p:cNvSpPr/>
          <p:nvPr/>
        </p:nvSpPr>
        <p:spPr>
          <a:xfrm>
            <a:off x="6339840" y="1889760"/>
            <a:ext cx="5120640" cy="426720"/>
          </a:xfrm>
          <a:prstGeom prst="rect">
            <a:avLst/>
          </a:prstGeom>
          <a:noFill/>
          <a:ln/>
        </p:spPr>
        <p:txBody>
          <a:bodyPr wrap="square" rtlCol="0" anchor="ctr"/>
          <a:lstStyle/>
          <a:p>
            <a:r>
              <a:rPr lang="en-US" sz="1733" b="1" dirty="0">
                <a:solidFill>
                  <a:srgbClr val="FFFFFF"/>
                </a:solidFill>
                <a:latin typeface="Calibri" pitchFamily="34" charset="0"/>
                <a:ea typeface="Calibri" pitchFamily="34" charset="-122"/>
                <a:cs typeface="Calibri" pitchFamily="34" charset="-120"/>
              </a:rPr>
              <a:t>Gaze-Based Interaction</a:t>
            </a:r>
            <a:endParaRPr lang="en-US" sz="1733" dirty="0"/>
          </a:p>
        </p:txBody>
      </p:sp>
      <p:sp>
        <p:nvSpPr>
          <p:cNvPr id="13" name="Text 11"/>
          <p:cNvSpPr/>
          <p:nvPr/>
        </p:nvSpPr>
        <p:spPr>
          <a:xfrm>
            <a:off x="6400800" y="2499360"/>
            <a:ext cx="4998720" cy="1950720"/>
          </a:xfrm>
          <a:prstGeom prst="rect">
            <a:avLst/>
          </a:prstGeom>
          <a:noFill/>
          <a:ln/>
        </p:spPr>
        <p:txBody>
          <a:bodyPr wrap="square" rtlCol="0" anchor="ctr"/>
          <a:lstStyle/>
          <a:p>
            <a:r>
              <a:rPr lang="en-US" sz="1600" b="1" dirty="0">
                <a:solidFill>
                  <a:srgbClr val="1A1A1A"/>
                </a:solidFill>
                <a:latin typeface="Calibri" pitchFamily="34" charset="0"/>
                <a:ea typeface="Calibri" pitchFamily="34" charset="-122"/>
                <a:cs typeface="Calibri" pitchFamily="34" charset="-120"/>
              </a:rPr>
              <a:t>Use eye position as an input modality</a:t>
            </a:r>
            <a:endParaRPr lang="en-US" sz="1600" dirty="0"/>
          </a:p>
          <a:p>
            <a:endParaRPr lang="en-US" sz="1600" dirty="0"/>
          </a:p>
          <a:p>
            <a:r>
              <a:rPr lang="en-US" sz="1600" dirty="0">
                <a:solidFill>
                  <a:srgbClr val="1A1A1A"/>
                </a:solidFill>
                <a:latin typeface="Calibri" pitchFamily="34" charset="0"/>
                <a:ea typeface="Calibri" pitchFamily="34" charset="-122"/>
                <a:cs typeface="Calibri" pitchFamily="34" charset="-120"/>
              </a:rPr>
              <a:t>• Menu selection by looking</a:t>
            </a:r>
            <a:endParaRPr lang="en-US" sz="1600" dirty="0"/>
          </a:p>
          <a:p>
            <a:r>
              <a:rPr lang="en-US" sz="1600" dirty="0">
                <a:solidFill>
                  <a:srgbClr val="1A1A1A"/>
                </a:solidFill>
                <a:latin typeface="Calibri" pitchFamily="34" charset="0"/>
                <a:ea typeface="Calibri" pitchFamily="34" charset="-122"/>
                <a:cs typeface="Calibri" pitchFamily="34" charset="-120"/>
              </a:rPr>
              <a:t>• Social eye contact in VR</a:t>
            </a:r>
            <a:endParaRPr lang="en-US" sz="1600" dirty="0"/>
          </a:p>
          <a:p>
            <a:r>
              <a:rPr lang="en-US" sz="1600" dirty="0">
                <a:solidFill>
                  <a:srgbClr val="1A1A1A"/>
                </a:solidFill>
                <a:latin typeface="Calibri" pitchFamily="34" charset="0"/>
                <a:ea typeface="Calibri" pitchFamily="34" charset="-122"/>
                <a:cs typeface="Calibri" pitchFamily="34" charset="-120"/>
              </a:rPr>
              <a:t>• Attention-aware interfaces</a:t>
            </a:r>
            <a:endParaRPr lang="en-US" sz="1600" dirty="0"/>
          </a:p>
        </p:txBody>
      </p:sp>
      <p:sp>
        <p:nvSpPr>
          <p:cNvPr id="14" name="Text 12"/>
          <p:cNvSpPr/>
          <p:nvPr/>
        </p:nvSpPr>
        <p:spPr>
          <a:xfrm>
            <a:off x="609600" y="4876800"/>
            <a:ext cx="10972800" cy="487680"/>
          </a:xfrm>
          <a:prstGeom prst="rect">
            <a:avLst/>
          </a:prstGeom>
          <a:noFill/>
          <a:ln/>
        </p:spPr>
        <p:txBody>
          <a:bodyPr wrap="square" rtlCol="0" anchor="ctr"/>
          <a:lstStyle/>
          <a:p>
            <a:r>
              <a:rPr lang="en-US" sz="2133" b="1" dirty="0">
                <a:solidFill>
                  <a:srgbClr val="F76902"/>
                </a:solidFill>
                <a:latin typeface="Calibri" pitchFamily="34" charset="0"/>
                <a:ea typeface="Calibri" pitchFamily="34" charset="-122"/>
                <a:cs typeface="Calibri" pitchFamily="34" charset="-120"/>
              </a:rPr>
              <a:t>EOG in VR Headsets</a:t>
            </a:r>
            <a:endParaRPr lang="en-US" sz="2133" dirty="0"/>
          </a:p>
        </p:txBody>
      </p:sp>
      <p:sp>
        <p:nvSpPr>
          <p:cNvPr id="15" name="Shape 13"/>
          <p:cNvSpPr/>
          <p:nvPr/>
        </p:nvSpPr>
        <p:spPr>
          <a:xfrm>
            <a:off x="609600" y="5364480"/>
            <a:ext cx="10972800" cy="1097280"/>
          </a:xfrm>
          <a:prstGeom prst="rect">
            <a:avLst/>
          </a:prstGeom>
          <a:solidFill>
            <a:srgbClr val="FFA726">
              <a:alpha val="25000"/>
            </a:srgbClr>
          </a:solidFill>
          <a:ln/>
        </p:spPr>
        <p:txBody>
          <a:bodyPr/>
          <a:lstStyle/>
          <a:p>
            <a:endParaRPr lang="en-US" sz="2400"/>
          </a:p>
        </p:txBody>
      </p:sp>
      <p:sp>
        <p:nvSpPr>
          <p:cNvPr id="16" name="Text 14"/>
          <p:cNvSpPr/>
          <p:nvPr/>
        </p:nvSpPr>
        <p:spPr>
          <a:xfrm>
            <a:off x="792480" y="5486400"/>
            <a:ext cx="10607040" cy="85344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While most commercial VR headsets use camera-based eye tracking, EOG electrodes integrated into the headset padding offer advantages: lower latency, works when eyes are closed, and no IR illumination needed. Research prototypes are exploring hybrid approaches.</a:t>
            </a:r>
            <a:endParaRPr lang="en-US" sz="1600" dirty="0"/>
          </a:p>
        </p:txBody>
      </p:sp>
      <p:sp>
        <p:nvSpPr>
          <p:cNvPr id="17" name="Text 15"/>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18 / 32</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Clinical Diagnostics</a:t>
            </a:r>
            <a:endParaRPr lang="en-US" sz="4267" dirty="0"/>
          </a:p>
        </p:txBody>
      </p:sp>
      <p:sp>
        <p:nvSpPr>
          <p:cNvPr id="5" name="Text 3"/>
          <p:cNvSpPr/>
          <p:nvPr/>
        </p:nvSpPr>
        <p:spPr>
          <a:xfrm>
            <a:off x="609600" y="1219200"/>
            <a:ext cx="10972800" cy="365760"/>
          </a:xfrm>
          <a:prstGeom prst="rect">
            <a:avLst/>
          </a:prstGeom>
          <a:noFill/>
          <a:ln/>
        </p:spPr>
        <p:txBody>
          <a:bodyPr wrap="square" rtlCol="0" anchor="ctr"/>
          <a:lstStyle/>
          <a:p>
            <a:r>
              <a:rPr lang="en-US" sz="2133" dirty="0">
                <a:solidFill>
                  <a:srgbClr val="666666"/>
                </a:solidFill>
                <a:latin typeface="Calibri" pitchFamily="34" charset="0"/>
                <a:ea typeface="Calibri" pitchFamily="34" charset="-122"/>
                <a:cs typeface="Calibri" pitchFamily="34" charset="-120"/>
              </a:rPr>
              <a:t>Nystagmus and Vestibular Assessment</a:t>
            </a:r>
            <a:endParaRPr lang="en-US" sz="2133" dirty="0"/>
          </a:p>
        </p:txBody>
      </p:sp>
      <p:sp>
        <p:nvSpPr>
          <p:cNvPr id="6" name="Shape 4"/>
          <p:cNvSpPr/>
          <p:nvPr/>
        </p:nvSpPr>
        <p:spPr>
          <a:xfrm>
            <a:off x="609600" y="1828800"/>
            <a:ext cx="5364480" cy="170688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7" name="Shape 5"/>
          <p:cNvSpPr/>
          <p:nvPr/>
        </p:nvSpPr>
        <p:spPr>
          <a:xfrm>
            <a:off x="609600" y="1828800"/>
            <a:ext cx="97536" cy="1706880"/>
          </a:xfrm>
          <a:prstGeom prst="rect">
            <a:avLst/>
          </a:prstGeom>
          <a:solidFill>
            <a:srgbClr val="513127"/>
          </a:solidFill>
          <a:ln/>
        </p:spPr>
        <p:txBody>
          <a:bodyPr/>
          <a:lstStyle/>
          <a:p>
            <a:endParaRPr lang="en-US" sz="2400"/>
          </a:p>
        </p:txBody>
      </p:sp>
      <p:sp>
        <p:nvSpPr>
          <p:cNvPr id="8" name="Text 6"/>
          <p:cNvSpPr/>
          <p:nvPr/>
        </p:nvSpPr>
        <p:spPr>
          <a:xfrm>
            <a:off x="853440" y="1950720"/>
            <a:ext cx="4876800" cy="42672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Nystagmus Detection</a:t>
            </a:r>
            <a:endParaRPr lang="en-US" sz="1733" dirty="0"/>
          </a:p>
        </p:txBody>
      </p:sp>
      <p:sp>
        <p:nvSpPr>
          <p:cNvPr id="9" name="Text 7"/>
          <p:cNvSpPr/>
          <p:nvPr/>
        </p:nvSpPr>
        <p:spPr>
          <a:xfrm>
            <a:off x="853440" y="2377440"/>
            <a:ext cx="4876800" cy="54864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Involuntary rhythmic eye oscillations indicating neurological or vestibular issues</a:t>
            </a:r>
            <a:endParaRPr lang="en-US" sz="1467" dirty="0"/>
          </a:p>
        </p:txBody>
      </p:sp>
      <p:sp>
        <p:nvSpPr>
          <p:cNvPr id="10" name="Text 8"/>
          <p:cNvSpPr/>
          <p:nvPr/>
        </p:nvSpPr>
        <p:spPr>
          <a:xfrm>
            <a:off x="853440" y="298704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Tests: Gaze-evoked, positional, optokinetic</a:t>
            </a:r>
            <a:endParaRPr lang="en-US" sz="1333" dirty="0"/>
          </a:p>
        </p:txBody>
      </p:sp>
      <p:sp>
        <p:nvSpPr>
          <p:cNvPr id="11" name="Shape 9"/>
          <p:cNvSpPr/>
          <p:nvPr/>
        </p:nvSpPr>
        <p:spPr>
          <a:xfrm>
            <a:off x="6217920" y="1828800"/>
            <a:ext cx="5364480" cy="170688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2" name="Shape 10"/>
          <p:cNvSpPr/>
          <p:nvPr/>
        </p:nvSpPr>
        <p:spPr>
          <a:xfrm>
            <a:off x="6217920" y="1828800"/>
            <a:ext cx="97536" cy="1706880"/>
          </a:xfrm>
          <a:prstGeom prst="rect">
            <a:avLst/>
          </a:prstGeom>
          <a:solidFill>
            <a:srgbClr val="513127"/>
          </a:solidFill>
          <a:ln/>
        </p:spPr>
        <p:txBody>
          <a:bodyPr/>
          <a:lstStyle/>
          <a:p>
            <a:endParaRPr lang="en-US" sz="2400"/>
          </a:p>
        </p:txBody>
      </p:sp>
      <p:sp>
        <p:nvSpPr>
          <p:cNvPr id="13" name="Text 11"/>
          <p:cNvSpPr/>
          <p:nvPr/>
        </p:nvSpPr>
        <p:spPr>
          <a:xfrm>
            <a:off x="6461760" y="1950720"/>
            <a:ext cx="4876800" cy="42672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Vestibular Function</a:t>
            </a:r>
            <a:endParaRPr lang="en-US" sz="1733" dirty="0"/>
          </a:p>
        </p:txBody>
      </p:sp>
      <p:sp>
        <p:nvSpPr>
          <p:cNvPr id="14" name="Text 12"/>
          <p:cNvSpPr/>
          <p:nvPr/>
        </p:nvSpPr>
        <p:spPr>
          <a:xfrm>
            <a:off x="6461760" y="2377440"/>
            <a:ext cx="4876800" cy="54864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Assess inner ear and balance system disorders</a:t>
            </a:r>
            <a:endParaRPr lang="en-US" sz="1467" dirty="0"/>
          </a:p>
        </p:txBody>
      </p:sp>
      <p:sp>
        <p:nvSpPr>
          <p:cNvPr id="15" name="Text 13"/>
          <p:cNvSpPr/>
          <p:nvPr/>
        </p:nvSpPr>
        <p:spPr>
          <a:xfrm>
            <a:off x="6461760" y="298704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Tests: Caloric testing, rotational tests</a:t>
            </a:r>
            <a:endParaRPr lang="en-US" sz="1333" dirty="0"/>
          </a:p>
        </p:txBody>
      </p:sp>
      <p:sp>
        <p:nvSpPr>
          <p:cNvPr id="16" name="Shape 14"/>
          <p:cNvSpPr/>
          <p:nvPr/>
        </p:nvSpPr>
        <p:spPr>
          <a:xfrm>
            <a:off x="609600" y="3718560"/>
            <a:ext cx="5364480" cy="170688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17" name="Shape 15"/>
          <p:cNvSpPr/>
          <p:nvPr/>
        </p:nvSpPr>
        <p:spPr>
          <a:xfrm>
            <a:off x="609600" y="3718560"/>
            <a:ext cx="97536" cy="1706880"/>
          </a:xfrm>
          <a:prstGeom prst="rect">
            <a:avLst/>
          </a:prstGeom>
          <a:solidFill>
            <a:srgbClr val="513127"/>
          </a:solidFill>
          <a:ln/>
        </p:spPr>
        <p:txBody>
          <a:bodyPr/>
          <a:lstStyle/>
          <a:p>
            <a:endParaRPr lang="en-US" sz="2400"/>
          </a:p>
        </p:txBody>
      </p:sp>
      <p:sp>
        <p:nvSpPr>
          <p:cNvPr id="18" name="Text 16"/>
          <p:cNvSpPr/>
          <p:nvPr/>
        </p:nvSpPr>
        <p:spPr>
          <a:xfrm>
            <a:off x="853440" y="3840480"/>
            <a:ext cx="4876800" cy="42672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Oculomotor Testing</a:t>
            </a:r>
            <a:endParaRPr lang="en-US" sz="1733" dirty="0"/>
          </a:p>
        </p:txBody>
      </p:sp>
      <p:sp>
        <p:nvSpPr>
          <p:cNvPr id="19" name="Text 17"/>
          <p:cNvSpPr/>
          <p:nvPr/>
        </p:nvSpPr>
        <p:spPr>
          <a:xfrm>
            <a:off x="853440" y="4267200"/>
            <a:ext cx="4876800" cy="54864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Evaluate saccades, pursuit, and vergence</a:t>
            </a:r>
            <a:endParaRPr lang="en-US" sz="1467" dirty="0"/>
          </a:p>
        </p:txBody>
      </p:sp>
      <p:sp>
        <p:nvSpPr>
          <p:cNvPr id="20" name="Text 18"/>
          <p:cNvSpPr/>
          <p:nvPr/>
        </p:nvSpPr>
        <p:spPr>
          <a:xfrm>
            <a:off x="853440" y="487680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Tests: Saccade accuracy, pursuit gain</a:t>
            </a:r>
            <a:endParaRPr lang="en-US" sz="1333" dirty="0"/>
          </a:p>
        </p:txBody>
      </p:sp>
      <p:sp>
        <p:nvSpPr>
          <p:cNvPr id="21" name="Shape 19"/>
          <p:cNvSpPr/>
          <p:nvPr/>
        </p:nvSpPr>
        <p:spPr>
          <a:xfrm>
            <a:off x="6217920" y="3718560"/>
            <a:ext cx="5364480" cy="1706880"/>
          </a:xfrm>
          <a:prstGeom prst="rect">
            <a:avLst/>
          </a:prstGeom>
          <a:solidFill>
            <a:srgbClr val="F5F5F5"/>
          </a:solidFill>
          <a:ln/>
          <a:effectLst>
            <a:outerShdw blurRad="50800" dist="25400" dir="8100000" algn="bl" rotWithShape="0">
              <a:srgbClr val="000000">
                <a:alpha val="10000"/>
              </a:srgbClr>
            </a:outerShdw>
          </a:effectLst>
        </p:spPr>
        <p:txBody>
          <a:bodyPr/>
          <a:lstStyle/>
          <a:p>
            <a:endParaRPr lang="en-US" sz="2400"/>
          </a:p>
        </p:txBody>
      </p:sp>
      <p:sp>
        <p:nvSpPr>
          <p:cNvPr id="22" name="Shape 20"/>
          <p:cNvSpPr/>
          <p:nvPr/>
        </p:nvSpPr>
        <p:spPr>
          <a:xfrm>
            <a:off x="6217920" y="3718560"/>
            <a:ext cx="97536" cy="1706880"/>
          </a:xfrm>
          <a:prstGeom prst="rect">
            <a:avLst/>
          </a:prstGeom>
          <a:solidFill>
            <a:srgbClr val="513127"/>
          </a:solidFill>
          <a:ln/>
        </p:spPr>
        <p:txBody>
          <a:bodyPr/>
          <a:lstStyle/>
          <a:p>
            <a:endParaRPr lang="en-US" sz="2400"/>
          </a:p>
        </p:txBody>
      </p:sp>
      <p:sp>
        <p:nvSpPr>
          <p:cNvPr id="23" name="Text 21"/>
          <p:cNvSpPr/>
          <p:nvPr/>
        </p:nvSpPr>
        <p:spPr>
          <a:xfrm>
            <a:off x="6461760" y="3840480"/>
            <a:ext cx="4876800" cy="42672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Neurological Assessment</a:t>
            </a:r>
            <a:endParaRPr lang="en-US" sz="1733" dirty="0"/>
          </a:p>
        </p:txBody>
      </p:sp>
      <p:sp>
        <p:nvSpPr>
          <p:cNvPr id="24" name="Text 22"/>
          <p:cNvSpPr/>
          <p:nvPr/>
        </p:nvSpPr>
        <p:spPr>
          <a:xfrm>
            <a:off x="6461760" y="4267200"/>
            <a:ext cx="4876800" cy="54864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Detect brainstem and cerebellar lesions</a:t>
            </a:r>
            <a:endParaRPr lang="en-US" sz="1467" dirty="0"/>
          </a:p>
        </p:txBody>
      </p:sp>
      <p:sp>
        <p:nvSpPr>
          <p:cNvPr id="25" name="Text 23"/>
          <p:cNvSpPr/>
          <p:nvPr/>
        </p:nvSpPr>
        <p:spPr>
          <a:xfrm>
            <a:off x="6461760" y="4876800"/>
            <a:ext cx="4876800" cy="426720"/>
          </a:xfrm>
          <a:prstGeom prst="rect">
            <a:avLst/>
          </a:prstGeom>
          <a:noFill/>
          <a:ln/>
        </p:spPr>
        <p:txBody>
          <a:bodyPr wrap="square" rtlCol="0" anchor="ctr"/>
          <a:lstStyle/>
          <a:p>
            <a:r>
              <a:rPr lang="en-US" sz="1333" i="1" dirty="0">
                <a:solidFill>
                  <a:srgbClr val="666666"/>
                </a:solidFill>
                <a:latin typeface="Calibri" pitchFamily="34" charset="0"/>
                <a:ea typeface="Calibri" pitchFamily="34" charset="-122"/>
                <a:cs typeface="Calibri" pitchFamily="34" charset="-120"/>
              </a:rPr>
              <a:t>Tests: Smooth pursuit, gaze holding</a:t>
            </a:r>
            <a:endParaRPr lang="en-US" sz="1333" dirty="0"/>
          </a:p>
        </p:txBody>
      </p:sp>
      <p:sp>
        <p:nvSpPr>
          <p:cNvPr id="26" name="Shape 24"/>
          <p:cNvSpPr/>
          <p:nvPr/>
        </p:nvSpPr>
        <p:spPr>
          <a:xfrm>
            <a:off x="609600" y="5730240"/>
            <a:ext cx="10972800" cy="731520"/>
          </a:xfrm>
          <a:prstGeom prst="rect">
            <a:avLst/>
          </a:prstGeom>
          <a:solidFill>
            <a:srgbClr val="1A1A1A"/>
          </a:solidFill>
          <a:ln/>
        </p:spPr>
        <p:txBody>
          <a:bodyPr/>
          <a:lstStyle/>
          <a:p>
            <a:endParaRPr lang="en-US" sz="2400"/>
          </a:p>
        </p:txBody>
      </p:sp>
      <p:sp>
        <p:nvSpPr>
          <p:cNvPr id="27" name="Text 25"/>
          <p:cNvSpPr/>
          <p:nvPr/>
        </p:nvSpPr>
        <p:spPr>
          <a:xfrm>
            <a:off x="853440" y="5852160"/>
            <a:ext cx="10485120" cy="487680"/>
          </a:xfrm>
          <a:prstGeom prst="rect">
            <a:avLst/>
          </a:prstGeom>
          <a:noFill/>
          <a:ln/>
        </p:spPr>
        <p:txBody>
          <a:bodyPr wrap="square" rtlCol="0" anchor="ctr"/>
          <a:lstStyle/>
          <a:p>
            <a:r>
              <a:rPr lang="en-US" sz="1600" dirty="0">
                <a:solidFill>
                  <a:srgbClr val="FFFFFF"/>
                </a:solidFill>
                <a:latin typeface="Calibri" pitchFamily="34" charset="0"/>
                <a:ea typeface="Calibri" pitchFamily="34" charset="-122"/>
                <a:cs typeface="Calibri" pitchFamily="34" charset="-120"/>
              </a:rPr>
              <a:t>Clinical Advantage: EOG provides objective, quantifiable eye movement data that can be compared to normative databases for diagnosis.</a:t>
            </a:r>
            <a:endParaRPr lang="en-US" sz="1600" dirty="0"/>
          </a:p>
        </p:txBody>
      </p:sp>
      <p:sp>
        <p:nvSpPr>
          <p:cNvPr id="28" name="Text 26"/>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19 / 32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Lab 2: What You Will Do</a:t>
            </a:r>
            <a:endParaRPr lang="en-US" sz="4267" dirty="0"/>
          </a:p>
        </p:txBody>
      </p:sp>
      <p:sp>
        <p:nvSpPr>
          <p:cNvPr id="5" name="Shape 3"/>
          <p:cNvSpPr/>
          <p:nvPr/>
        </p:nvSpPr>
        <p:spPr>
          <a:xfrm>
            <a:off x="670560" y="1524000"/>
            <a:ext cx="487680" cy="487680"/>
          </a:xfrm>
          <a:prstGeom prst="ellipse">
            <a:avLst/>
          </a:prstGeom>
          <a:solidFill>
            <a:srgbClr val="F76902"/>
          </a:solidFill>
          <a:ln/>
        </p:spPr>
        <p:txBody>
          <a:bodyPr/>
          <a:lstStyle/>
          <a:p>
            <a:endParaRPr lang="en-US" sz="2400"/>
          </a:p>
        </p:txBody>
      </p:sp>
      <p:sp>
        <p:nvSpPr>
          <p:cNvPr id="6" name="Text 4"/>
          <p:cNvSpPr/>
          <p:nvPr/>
        </p:nvSpPr>
        <p:spPr>
          <a:xfrm>
            <a:off x="670560" y="152400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1</a:t>
            </a:r>
            <a:endParaRPr lang="en-US" sz="1867" dirty="0"/>
          </a:p>
        </p:txBody>
      </p:sp>
      <p:sp>
        <p:nvSpPr>
          <p:cNvPr id="7" name="Text 5"/>
          <p:cNvSpPr/>
          <p:nvPr/>
        </p:nvSpPr>
        <p:spPr>
          <a:xfrm>
            <a:off x="1341120" y="1463040"/>
            <a:ext cx="3048000" cy="60960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Setup &amp; Calibration</a:t>
            </a:r>
            <a:endParaRPr lang="en-US" sz="1733" dirty="0"/>
          </a:p>
        </p:txBody>
      </p:sp>
      <p:sp>
        <p:nvSpPr>
          <p:cNvPr id="8" name="Text 6"/>
          <p:cNvSpPr/>
          <p:nvPr/>
        </p:nvSpPr>
        <p:spPr>
          <a:xfrm>
            <a:off x="4389120" y="1463040"/>
            <a:ext cx="719328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Connect electrodes, verify signal quality, calibrate for your eyes</a:t>
            </a:r>
            <a:endParaRPr lang="en-US" sz="1600" dirty="0"/>
          </a:p>
        </p:txBody>
      </p:sp>
      <p:sp>
        <p:nvSpPr>
          <p:cNvPr id="9" name="Shape 7"/>
          <p:cNvSpPr/>
          <p:nvPr/>
        </p:nvSpPr>
        <p:spPr>
          <a:xfrm>
            <a:off x="670560" y="2255520"/>
            <a:ext cx="487680" cy="487680"/>
          </a:xfrm>
          <a:prstGeom prst="ellipse">
            <a:avLst/>
          </a:prstGeom>
          <a:solidFill>
            <a:srgbClr val="F76902"/>
          </a:solidFill>
          <a:ln/>
        </p:spPr>
        <p:txBody>
          <a:bodyPr/>
          <a:lstStyle/>
          <a:p>
            <a:endParaRPr lang="en-US" sz="2400"/>
          </a:p>
        </p:txBody>
      </p:sp>
      <p:sp>
        <p:nvSpPr>
          <p:cNvPr id="10" name="Text 8"/>
          <p:cNvSpPr/>
          <p:nvPr/>
        </p:nvSpPr>
        <p:spPr>
          <a:xfrm>
            <a:off x="670560" y="225552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2</a:t>
            </a:r>
            <a:endParaRPr lang="en-US" sz="1867" dirty="0"/>
          </a:p>
        </p:txBody>
      </p:sp>
      <p:sp>
        <p:nvSpPr>
          <p:cNvPr id="11" name="Text 9"/>
          <p:cNvSpPr/>
          <p:nvPr/>
        </p:nvSpPr>
        <p:spPr>
          <a:xfrm>
            <a:off x="1341120" y="2194560"/>
            <a:ext cx="3048000" cy="60960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Data Collection</a:t>
            </a:r>
            <a:endParaRPr lang="en-US" sz="1733" dirty="0"/>
          </a:p>
        </p:txBody>
      </p:sp>
      <p:sp>
        <p:nvSpPr>
          <p:cNvPr id="12" name="Text 10"/>
          <p:cNvSpPr/>
          <p:nvPr/>
        </p:nvSpPr>
        <p:spPr>
          <a:xfrm>
            <a:off x="4389120" y="2194560"/>
            <a:ext cx="719328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Record EOG for 7 gaze classes: center, left, right, up, down, blink, double-blink</a:t>
            </a:r>
            <a:endParaRPr lang="en-US" sz="1600" dirty="0"/>
          </a:p>
        </p:txBody>
      </p:sp>
      <p:sp>
        <p:nvSpPr>
          <p:cNvPr id="13" name="Shape 11"/>
          <p:cNvSpPr/>
          <p:nvPr/>
        </p:nvSpPr>
        <p:spPr>
          <a:xfrm>
            <a:off x="670560" y="2987040"/>
            <a:ext cx="487680" cy="487680"/>
          </a:xfrm>
          <a:prstGeom prst="ellipse">
            <a:avLst/>
          </a:prstGeom>
          <a:solidFill>
            <a:srgbClr val="F76902"/>
          </a:solidFill>
          <a:ln/>
        </p:spPr>
        <p:txBody>
          <a:bodyPr/>
          <a:lstStyle/>
          <a:p>
            <a:endParaRPr lang="en-US" sz="2400"/>
          </a:p>
        </p:txBody>
      </p:sp>
      <p:sp>
        <p:nvSpPr>
          <p:cNvPr id="14" name="Text 12"/>
          <p:cNvSpPr/>
          <p:nvPr/>
        </p:nvSpPr>
        <p:spPr>
          <a:xfrm>
            <a:off x="670560" y="298704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3</a:t>
            </a:r>
            <a:endParaRPr lang="en-US" sz="1867" dirty="0"/>
          </a:p>
        </p:txBody>
      </p:sp>
      <p:sp>
        <p:nvSpPr>
          <p:cNvPr id="15" name="Text 13"/>
          <p:cNvSpPr/>
          <p:nvPr/>
        </p:nvSpPr>
        <p:spPr>
          <a:xfrm>
            <a:off x="1341120" y="2926080"/>
            <a:ext cx="3048000" cy="60960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Signal Processing</a:t>
            </a:r>
            <a:endParaRPr lang="en-US" sz="1733" dirty="0"/>
          </a:p>
        </p:txBody>
      </p:sp>
      <p:sp>
        <p:nvSpPr>
          <p:cNvPr id="16" name="Text 14"/>
          <p:cNvSpPr/>
          <p:nvPr/>
        </p:nvSpPr>
        <p:spPr>
          <a:xfrm>
            <a:off x="4389120" y="2926080"/>
            <a:ext cx="719328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Apply baseline correction and filtering to clean the data</a:t>
            </a:r>
            <a:endParaRPr lang="en-US" sz="1600" dirty="0"/>
          </a:p>
        </p:txBody>
      </p:sp>
      <p:sp>
        <p:nvSpPr>
          <p:cNvPr id="17" name="Shape 15"/>
          <p:cNvSpPr/>
          <p:nvPr/>
        </p:nvSpPr>
        <p:spPr>
          <a:xfrm>
            <a:off x="670560" y="3718560"/>
            <a:ext cx="487680" cy="487680"/>
          </a:xfrm>
          <a:prstGeom prst="ellipse">
            <a:avLst/>
          </a:prstGeom>
          <a:solidFill>
            <a:srgbClr val="F76902"/>
          </a:solidFill>
          <a:ln/>
        </p:spPr>
        <p:txBody>
          <a:bodyPr/>
          <a:lstStyle/>
          <a:p>
            <a:endParaRPr lang="en-US" sz="2400"/>
          </a:p>
        </p:txBody>
      </p:sp>
      <p:sp>
        <p:nvSpPr>
          <p:cNvPr id="18" name="Text 16"/>
          <p:cNvSpPr/>
          <p:nvPr/>
        </p:nvSpPr>
        <p:spPr>
          <a:xfrm>
            <a:off x="670560" y="371856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4</a:t>
            </a:r>
            <a:endParaRPr lang="en-US" sz="1867" dirty="0"/>
          </a:p>
        </p:txBody>
      </p:sp>
      <p:sp>
        <p:nvSpPr>
          <p:cNvPr id="19" name="Text 17"/>
          <p:cNvSpPr/>
          <p:nvPr/>
        </p:nvSpPr>
        <p:spPr>
          <a:xfrm>
            <a:off x="1341120" y="3657600"/>
            <a:ext cx="3048000" cy="60960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Feature Extraction</a:t>
            </a:r>
            <a:endParaRPr lang="en-US" sz="1733" dirty="0"/>
          </a:p>
        </p:txBody>
      </p:sp>
      <p:sp>
        <p:nvSpPr>
          <p:cNvPr id="20" name="Text 18"/>
          <p:cNvSpPr/>
          <p:nvPr/>
        </p:nvSpPr>
        <p:spPr>
          <a:xfrm>
            <a:off x="4389120" y="3657600"/>
            <a:ext cx="719328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Extract amplitude, statistical, and temporal features</a:t>
            </a:r>
            <a:endParaRPr lang="en-US" sz="1600" dirty="0"/>
          </a:p>
        </p:txBody>
      </p:sp>
      <p:sp>
        <p:nvSpPr>
          <p:cNvPr id="21" name="Shape 19"/>
          <p:cNvSpPr/>
          <p:nvPr/>
        </p:nvSpPr>
        <p:spPr>
          <a:xfrm>
            <a:off x="670560" y="4450080"/>
            <a:ext cx="487680" cy="487680"/>
          </a:xfrm>
          <a:prstGeom prst="ellipse">
            <a:avLst/>
          </a:prstGeom>
          <a:solidFill>
            <a:srgbClr val="F76902"/>
          </a:solidFill>
          <a:ln/>
        </p:spPr>
        <p:txBody>
          <a:bodyPr/>
          <a:lstStyle/>
          <a:p>
            <a:endParaRPr lang="en-US" sz="2400"/>
          </a:p>
        </p:txBody>
      </p:sp>
      <p:sp>
        <p:nvSpPr>
          <p:cNvPr id="22" name="Text 20"/>
          <p:cNvSpPr/>
          <p:nvPr/>
        </p:nvSpPr>
        <p:spPr>
          <a:xfrm>
            <a:off x="670560" y="445008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5</a:t>
            </a:r>
            <a:endParaRPr lang="en-US" sz="1867" dirty="0"/>
          </a:p>
        </p:txBody>
      </p:sp>
      <p:sp>
        <p:nvSpPr>
          <p:cNvPr id="23" name="Text 21"/>
          <p:cNvSpPr/>
          <p:nvPr/>
        </p:nvSpPr>
        <p:spPr>
          <a:xfrm>
            <a:off x="1341120" y="4389120"/>
            <a:ext cx="3048000" cy="60960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Dimensionality Reduction</a:t>
            </a:r>
            <a:endParaRPr lang="en-US" sz="1733" dirty="0"/>
          </a:p>
        </p:txBody>
      </p:sp>
      <p:sp>
        <p:nvSpPr>
          <p:cNvPr id="24" name="Text 22"/>
          <p:cNvSpPr/>
          <p:nvPr/>
        </p:nvSpPr>
        <p:spPr>
          <a:xfrm>
            <a:off x="4389120" y="4389120"/>
            <a:ext cx="719328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Apply PCA and ICA to visualize and separate signal components</a:t>
            </a:r>
            <a:endParaRPr lang="en-US" sz="1600" dirty="0"/>
          </a:p>
        </p:txBody>
      </p:sp>
      <p:sp>
        <p:nvSpPr>
          <p:cNvPr id="25" name="Shape 23"/>
          <p:cNvSpPr/>
          <p:nvPr/>
        </p:nvSpPr>
        <p:spPr>
          <a:xfrm>
            <a:off x="670560" y="5181600"/>
            <a:ext cx="487680" cy="487680"/>
          </a:xfrm>
          <a:prstGeom prst="ellipse">
            <a:avLst/>
          </a:prstGeom>
          <a:solidFill>
            <a:srgbClr val="F76902"/>
          </a:solidFill>
          <a:ln/>
        </p:spPr>
        <p:txBody>
          <a:bodyPr/>
          <a:lstStyle/>
          <a:p>
            <a:endParaRPr lang="en-US" sz="2400"/>
          </a:p>
        </p:txBody>
      </p:sp>
      <p:sp>
        <p:nvSpPr>
          <p:cNvPr id="26" name="Text 24"/>
          <p:cNvSpPr/>
          <p:nvPr/>
        </p:nvSpPr>
        <p:spPr>
          <a:xfrm>
            <a:off x="670560" y="518160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6</a:t>
            </a:r>
            <a:endParaRPr lang="en-US" sz="1867" dirty="0"/>
          </a:p>
        </p:txBody>
      </p:sp>
      <p:sp>
        <p:nvSpPr>
          <p:cNvPr id="27" name="Text 25"/>
          <p:cNvSpPr/>
          <p:nvPr/>
        </p:nvSpPr>
        <p:spPr>
          <a:xfrm>
            <a:off x="1341120" y="5120640"/>
            <a:ext cx="3048000" cy="609600"/>
          </a:xfrm>
          <a:prstGeom prst="rect">
            <a:avLst/>
          </a:prstGeom>
          <a:noFill/>
          <a:ln/>
        </p:spPr>
        <p:txBody>
          <a:bodyPr wrap="square" rtlCol="0" anchor="ctr"/>
          <a:lstStyle/>
          <a:p>
            <a:r>
              <a:rPr lang="en-US" sz="1733" b="1" dirty="0">
                <a:solidFill>
                  <a:srgbClr val="F76902"/>
                </a:solidFill>
                <a:latin typeface="Calibri" pitchFamily="34" charset="0"/>
                <a:ea typeface="Calibri" pitchFamily="34" charset="-122"/>
                <a:cs typeface="Calibri" pitchFamily="34" charset="-120"/>
              </a:rPr>
              <a:t>Classification</a:t>
            </a:r>
            <a:endParaRPr lang="en-US" sz="1733" dirty="0"/>
          </a:p>
        </p:txBody>
      </p:sp>
      <p:sp>
        <p:nvSpPr>
          <p:cNvPr id="28" name="Text 26"/>
          <p:cNvSpPr/>
          <p:nvPr/>
        </p:nvSpPr>
        <p:spPr>
          <a:xfrm>
            <a:off x="4389120" y="5120640"/>
            <a:ext cx="7193280" cy="609600"/>
          </a:xfrm>
          <a:prstGeom prst="rect">
            <a:avLst/>
          </a:prstGeom>
          <a:noFill/>
          <a:ln/>
        </p:spPr>
        <p:txBody>
          <a:bodyPr wrap="square" rtlCol="0" anchor="ctr"/>
          <a:lstStyle/>
          <a:p>
            <a:r>
              <a:rPr lang="en-US" sz="1600" dirty="0">
                <a:solidFill>
                  <a:srgbClr val="1A1A1A"/>
                </a:solidFill>
                <a:latin typeface="Calibri" pitchFamily="34" charset="0"/>
                <a:ea typeface="Calibri" pitchFamily="34" charset="-122"/>
                <a:cs typeface="Calibri" pitchFamily="34" charset="-120"/>
              </a:rPr>
              <a:t>Train and evaluate SVM classifiers (Linear and RBF kernels)</a:t>
            </a:r>
            <a:endParaRPr lang="en-US" sz="1600" dirty="0"/>
          </a:p>
        </p:txBody>
      </p:sp>
      <p:sp>
        <p:nvSpPr>
          <p:cNvPr id="29" name="Shape 27"/>
          <p:cNvSpPr/>
          <p:nvPr/>
        </p:nvSpPr>
        <p:spPr>
          <a:xfrm>
            <a:off x="609600" y="5974080"/>
            <a:ext cx="10972800" cy="670560"/>
          </a:xfrm>
          <a:prstGeom prst="rect">
            <a:avLst/>
          </a:prstGeom>
          <a:solidFill>
            <a:srgbClr val="1A1A1A"/>
          </a:solidFill>
          <a:ln/>
        </p:spPr>
        <p:txBody>
          <a:bodyPr/>
          <a:lstStyle/>
          <a:p>
            <a:endParaRPr lang="en-US" sz="2400"/>
          </a:p>
        </p:txBody>
      </p:sp>
      <p:sp>
        <p:nvSpPr>
          <p:cNvPr id="30" name="Text 28"/>
          <p:cNvSpPr/>
          <p:nvPr/>
        </p:nvSpPr>
        <p:spPr>
          <a:xfrm>
            <a:off x="853440" y="6096000"/>
            <a:ext cx="10485120" cy="426720"/>
          </a:xfrm>
          <a:prstGeom prst="rect">
            <a:avLst/>
          </a:prstGeom>
          <a:noFill/>
          <a:ln/>
        </p:spPr>
        <p:txBody>
          <a:bodyPr wrap="square" rtlCol="0" anchor="ctr"/>
          <a:lstStyle/>
          <a:p>
            <a:r>
              <a:rPr lang="en-US" sz="1600" dirty="0">
                <a:solidFill>
                  <a:srgbClr val="FFFFFF"/>
                </a:solidFill>
                <a:latin typeface="Calibri" pitchFamily="34" charset="0"/>
                <a:ea typeface="Calibri" pitchFamily="34" charset="-122"/>
                <a:cs typeface="Calibri" pitchFamily="34" charset="-120"/>
              </a:rPr>
              <a:t>Deliverables: Collected data files, completed analysis notebook, answers to 15 conceptual questions</a:t>
            </a:r>
            <a:endParaRPr lang="en-US" sz="1600" dirty="0"/>
          </a:p>
        </p:txBody>
      </p:sp>
      <p:sp>
        <p:nvSpPr>
          <p:cNvPr id="31" name="Text 29"/>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29 / 32</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Key Takeaways</a:t>
            </a:r>
            <a:endParaRPr lang="en-US" sz="4267" dirty="0"/>
          </a:p>
        </p:txBody>
      </p:sp>
      <p:sp>
        <p:nvSpPr>
          <p:cNvPr id="5" name="Shape 3"/>
          <p:cNvSpPr/>
          <p:nvPr/>
        </p:nvSpPr>
        <p:spPr>
          <a:xfrm>
            <a:off x="609600" y="1463040"/>
            <a:ext cx="10972800" cy="731520"/>
          </a:xfrm>
          <a:prstGeom prst="rect">
            <a:avLst/>
          </a:prstGeom>
          <a:solidFill>
            <a:srgbClr val="F5F5F5"/>
          </a:solidFill>
          <a:ln/>
        </p:spPr>
        <p:txBody>
          <a:bodyPr/>
          <a:lstStyle/>
          <a:p>
            <a:endParaRPr lang="en-US" sz="2400"/>
          </a:p>
        </p:txBody>
      </p:sp>
      <p:sp>
        <p:nvSpPr>
          <p:cNvPr id="6" name="Shape 4"/>
          <p:cNvSpPr/>
          <p:nvPr/>
        </p:nvSpPr>
        <p:spPr>
          <a:xfrm>
            <a:off x="731520" y="1584960"/>
            <a:ext cx="487680" cy="487680"/>
          </a:xfrm>
          <a:prstGeom prst="ellipse">
            <a:avLst/>
          </a:prstGeom>
          <a:solidFill>
            <a:srgbClr val="F76902"/>
          </a:solidFill>
          <a:ln/>
        </p:spPr>
        <p:txBody>
          <a:bodyPr/>
          <a:lstStyle/>
          <a:p>
            <a:endParaRPr lang="en-US" sz="2400"/>
          </a:p>
        </p:txBody>
      </p:sp>
      <p:sp>
        <p:nvSpPr>
          <p:cNvPr id="7" name="Text 5"/>
          <p:cNvSpPr/>
          <p:nvPr/>
        </p:nvSpPr>
        <p:spPr>
          <a:xfrm>
            <a:off x="731520" y="158496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1</a:t>
            </a:r>
            <a:endParaRPr lang="en-US" sz="1867" dirty="0"/>
          </a:p>
        </p:txBody>
      </p:sp>
      <p:sp>
        <p:nvSpPr>
          <p:cNvPr id="8" name="Text 6"/>
          <p:cNvSpPr/>
          <p:nvPr/>
        </p:nvSpPr>
        <p:spPr>
          <a:xfrm>
            <a:off x="1402080" y="1560576"/>
            <a:ext cx="9936480" cy="54864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EOG measures the corneo-retinal potential that changes with eye rotation</a:t>
            </a:r>
            <a:endParaRPr lang="en-US" sz="1733" dirty="0"/>
          </a:p>
        </p:txBody>
      </p:sp>
      <p:sp>
        <p:nvSpPr>
          <p:cNvPr id="9" name="Shape 7"/>
          <p:cNvSpPr/>
          <p:nvPr/>
        </p:nvSpPr>
        <p:spPr>
          <a:xfrm>
            <a:off x="609600" y="2292096"/>
            <a:ext cx="10972800" cy="731520"/>
          </a:xfrm>
          <a:prstGeom prst="rect">
            <a:avLst/>
          </a:prstGeom>
          <a:solidFill>
            <a:srgbClr val="F5F5F5"/>
          </a:solidFill>
          <a:ln/>
        </p:spPr>
        <p:txBody>
          <a:bodyPr/>
          <a:lstStyle/>
          <a:p>
            <a:endParaRPr lang="en-US" sz="2400"/>
          </a:p>
        </p:txBody>
      </p:sp>
      <p:sp>
        <p:nvSpPr>
          <p:cNvPr id="10" name="Shape 8"/>
          <p:cNvSpPr/>
          <p:nvPr/>
        </p:nvSpPr>
        <p:spPr>
          <a:xfrm>
            <a:off x="731520" y="2414016"/>
            <a:ext cx="487680" cy="487680"/>
          </a:xfrm>
          <a:prstGeom prst="ellipse">
            <a:avLst/>
          </a:prstGeom>
          <a:solidFill>
            <a:srgbClr val="F76902"/>
          </a:solidFill>
          <a:ln/>
        </p:spPr>
        <p:txBody>
          <a:bodyPr/>
          <a:lstStyle/>
          <a:p>
            <a:endParaRPr lang="en-US" sz="2400"/>
          </a:p>
        </p:txBody>
      </p:sp>
      <p:sp>
        <p:nvSpPr>
          <p:cNvPr id="11" name="Text 9"/>
          <p:cNvSpPr/>
          <p:nvPr/>
        </p:nvSpPr>
        <p:spPr>
          <a:xfrm>
            <a:off x="731520" y="2414016"/>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2</a:t>
            </a:r>
            <a:endParaRPr lang="en-US" sz="1867" dirty="0"/>
          </a:p>
        </p:txBody>
      </p:sp>
      <p:sp>
        <p:nvSpPr>
          <p:cNvPr id="12" name="Text 10"/>
          <p:cNvSpPr/>
          <p:nvPr/>
        </p:nvSpPr>
        <p:spPr>
          <a:xfrm>
            <a:off x="1402080" y="2389632"/>
            <a:ext cx="9936480" cy="54864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Low frequency content (DC-30Hz) requires DC coupling and simple filtering</a:t>
            </a:r>
            <a:endParaRPr lang="en-US" sz="1733" dirty="0"/>
          </a:p>
        </p:txBody>
      </p:sp>
      <p:sp>
        <p:nvSpPr>
          <p:cNvPr id="13" name="Shape 11"/>
          <p:cNvSpPr/>
          <p:nvPr/>
        </p:nvSpPr>
        <p:spPr>
          <a:xfrm>
            <a:off x="609600" y="3121152"/>
            <a:ext cx="10972800" cy="731520"/>
          </a:xfrm>
          <a:prstGeom prst="rect">
            <a:avLst/>
          </a:prstGeom>
          <a:solidFill>
            <a:srgbClr val="F5F5F5"/>
          </a:solidFill>
          <a:ln/>
        </p:spPr>
        <p:txBody>
          <a:bodyPr/>
          <a:lstStyle/>
          <a:p>
            <a:endParaRPr lang="en-US" sz="2400"/>
          </a:p>
        </p:txBody>
      </p:sp>
      <p:sp>
        <p:nvSpPr>
          <p:cNvPr id="14" name="Shape 12"/>
          <p:cNvSpPr/>
          <p:nvPr/>
        </p:nvSpPr>
        <p:spPr>
          <a:xfrm>
            <a:off x="731520" y="3243072"/>
            <a:ext cx="487680" cy="487680"/>
          </a:xfrm>
          <a:prstGeom prst="ellipse">
            <a:avLst/>
          </a:prstGeom>
          <a:solidFill>
            <a:srgbClr val="F76902"/>
          </a:solidFill>
          <a:ln/>
        </p:spPr>
        <p:txBody>
          <a:bodyPr/>
          <a:lstStyle/>
          <a:p>
            <a:endParaRPr lang="en-US" sz="2400"/>
          </a:p>
        </p:txBody>
      </p:sp>
      <p:sp>
        <p:nvSpPr>
          <p:cNvPr id="15" name="Text 13"/>
          <p:cNvSpPr/>
          <p:nvPr/>
        </p:nvSpPr>
        <p:spPr>
          <a:xfrm>
            <a:off x="731520" y="3243072"/>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3</a:t>
            </a:r>
            <a:endParaRPr lang="en-US" sz="1867" dirty="0"/>
          </a:p>
        </p:txBody>
      </p:sp>
      <p:sp>
        <p:nvSpPr>
          <p:cNvPr id="16" name="Text 14"/>
          <p:cNvSpPr/>
          <p:nvPr/>
        </p:nvSpPr>
        <p:spPr>
          <a:xfrm>
            <a:off x="1402080" y="3218688"/>
            <a:ext cx="9936480" cy="54864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2-channel setup: HEOG for horizontal, VEOG for vertical movements + blinks</a:t>
            </a:r>
            <a:endParaRPr lang="en-US" sz="1733" dirty="0"/>
          </a:p>
        </p:txBody>
      </p:sp>
      <p:sp>
        <p:nvSpPr>
          <p:cNvPr id="17" name="Shape 15"/>
          <p:cNvSpPr/>
          <p:nvPr/>
        </p:nvSpPr>
        <p:spPr>
          <a:xfrm>
            <a:off x="609600" y="3950208"/>
            <a:ext cx="10972800" cy="731520"/>
          </a:xfrm>
          <a:prstGeom prst="rect">
            <a:avLst/>
          </a:prstGeom>
          <a:solidFill>
            <a:srgbClr val="F5F5F5"/>
          </a:solidFill>
          <a:ln/>
        </p:spPr>
        <p:txBody>
          <a:bodyPr/>
          <a:lstStyle/>
          <a:p>
            <a:endParaRPr lang="en-US" sz="2400"/>
          </a:p>
        </p:txBody>
      </p:sp>
      <p:sp>
        <p:nvSpPr>
          <p:cNvPr id="18" name="Shape 16"/>
          <p:cNvSpPr/>
          <p:nvPr/>
        </p:nvSpPr>
        <p:spPr>
          <a:xfrm>
            <a:off x="731520" y="4072128"/>
            <a:ext cx="487680" cy="487680"/>
          </a:xfrm>
          <a:prstGeom prst="ellipse">
            <a:avLst/>
          </a:prstGeom>
          <a:solidFill>
            <a:srgbClr val="F76902"/>
          </a:solidFill>
          <a:ln/>
        </p:spPr>
        <p:txBody>
          <a:bodyPr/>
          <a:lstStyle/>
          <a:p>
            <a:endParaRPr lang="en-US" sz="2400"/>
          </a:p>
        </p:txBody>
      </p:sp>
      <p:sp>
        <p:nvSpPr>
          <p:cNvPr id="19" name="Text 17"/>
          <p:cNvSpPr/>
          <p:nvPr/>
        </p:nvSpPr>
        <p:spPr>
          <a:xfrm>
            <a:off x="731520" y="4072128"/>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4</a:t>
            </a:r>
            <a:endParaRPr lang="en-US" sz="1867" dirty="0"/>
          </a:p>
        </p:txBody>
      </p:sp>
      <p:sp>
        <p:nvSpPr>
          <p:cNvPr id="20" name="Text 18"/>
          <p:cNvSpPr/>
          <p:nvPr/>
        </p:nvSpPr>
        <p:spPr>
          <a:xfrm>
            <a:off x="1402080" y="4047744"/>
            <a:ext cx="9936480" cy="54864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Different from EMG: quasi-DC signal, position-based rather than activity-based</a:t>
            </a:r>
            <a:endParaRPr lang="en-US" sz="1733" dirty="0"/>
          </a:p>
        </p:txBody>
      </p:sp>
      <p:sp>
        <p:nvSpPr>
          <p:cNvPr id="21" name="Shape 19"/>
          <p:cNvSpPr/>
          <p:nvPr/>
        </p:nvSpPr>
        <p:spPr>
          <a:xfrm>
            <a:off x="609600" y="4779264"/>
            <a:ext cx="10972800" cy="731520"/>
          </a:xfrm>
          <a:prstGeom prst="rect">
            <a:avLst/>
          </a:prstGeom>
          <a:solidFill>
            <a:srgbClr val="F5F5F5"/>
          </a:solidFill>
          <a:ln/>
        </p:spPr>
        <p:txBody>
          <a:bodyPr/>
          <a:lstStyle/>
          <a:p>
            <a:endParaRPr lang="en-US" sz="2400"/>
          </a:p>
        </p:txBody>
      </p:sp>
      <p:sp>
        <p:nvSpPr>
          <p:cNvPr id="22" name="Shape 20"/>
          <p:cNvSpPr/>
          <p:nvPr/>
        </p:nvSpPr>
        <p:spPr>
          <a:xfrm>
            <a:off x="731520" y="4901184"/>
            <a:ext cx="487680" cy="487680"/>
          </a:xfrm>
          <a:prstGeom prst="ellipse">
            <a:avLst/>
          </a:prstGeom>
          <a:solidFill>
            <a:srgbClr val="F76902"/>
          </a:solidFill>
          <a:ln/>
        </p:spPr>
        <p:txBody>
          <a:bodyPr/>
          <a:lstStyle/>
          <a:p>
            <a:endParaRPr lang="en-US" sz="2400"/>
          </a:p>
        </p:txBody>
      </p:sp>
      <p:sp>
        <p:nvSpPr>
          <p:cNvPr id="23" name="Text 21"/>
          <p:cNvSpPr/>
          <p:nvPr/>
        </p:nvSpPr>
        <p:spPr>
          <a:xfrm>
            <a:off x="731520" y="4901184"/>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5</a:t>
            </a:r>
            <a:endParaRPr lang="en-US" sz="1867" dirty="0"/>
          </a:p>
        </p:txBody>
      </p:sp>
      <p:sp>
        <p:nvSpPr>
          <p:cNvPr id="24" name="Text 22"/>
          <p:cNvSpPr/>
          <p:nvPr/>
        </p:nvSpPr>
        <p:spPr>
          <a:xfrm>
            <a:off x="1402080" y="4876800"/>
            <a:ext cx="9936480" cy="54864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Applications range from assistive tech to sleep studies to VR</a:t>
            </a:r>
            <a:endParaRPr lang="en-US" sz="1733" dirty="0"/>
          </a:p>
        </p:txBody>
      </p:sp>
      <p:sp>
        <p:nvSpPr>
          <p:cNvPr id="25" name="Shape 23"/>
          <p:cNvSpPr/>
          <p:nvPr/>
        </p:nvSpPr>
        <p:spPr>
          <a:xfrm>
            <a:off x="609600" y="5608320"/>
            <a:ext cx="10972800" cy="731520"/>
          </a:xfrm>
          <a:prstGeom prst="rect">
            <a:avLst/>
          </a:prstGeom>
          <a:solidFill>
            <a:srgbClr val="F5F5F5"/>
          </a:solidFill>
          <a:ln/>
        </p:spPr>
        <p:txBody>
          <a:bodyPr/>
          <a:lstStyle/>
          <a:p>
            <a:endParaRPr lang="en-US" sz="2400"/>
          </a:p>
        </p:txBody>
      </p:sp>
      <p:sp>
        <p:nvSpPr>
          <p:cNvPr id="26" name="Shape 24"/>
          <p:cNvSpPr/>
          <p:nvPr/>
        </p:nvSpPr>
        <p:spPr>
          <a:xfrm>
            <a:off x="731520" y="5730240"/>
            <a:ext cx="487680" cy="487680"/>
          </a:xfrm>
          <a:prstGeom prst="ellipse">
            <a:avLst/>
          </a:prstGeom>
          <a:solidFill>
            <a:srgbClr val="F76902"/>
          </a:solidFill>
          <a:ln/>
        </p:spPr>
        <p:txBody>
          <a:bodyPr/>
          <a:lstStyle/>
          <a:p>
            <a:endParaRPr lang="en-US" sz="2400"/>
          </a:p>
        </p:txBody>
      </p:sp>
      <p:sp>
        <p:nvSpPr>
          <p:cNvPr id="27" name="Text 25"/>
          <p:cNvSpPr/>
          <p:nvPr/>
        </p:nvSpPr>
        <p:spPr>
          <a:xfrm>
            <a:off x="731520" y="5730240"/>
            <a:ext cx="487680" cy="487680"/>
          </a:xfrm>
          <a:prstGeom prst="rect">
            <a:avLst/>
          </a:prstGeom>
          <a:noFill/>
          <a:ln/>
        </p:spPr>
        <p:txBody>
          <a:bodyPr wrap="square" rtlCol="0" anchor="ctr"/>
          <a:lstStyle/>
          <a:p>
            <a:pPr algn="ctr"/>
            <a:r>
              <a:rPr lang="en-US" sz="1867" b="1" dirty="0">
                <a:solidFill>
                  <a:srgbClr val="FFFFFF"/>
                </a:solidFill>
                <a:latin typeface="Calibri" pitchFamily="34" charset="0"/>
                <a:ea typeface="Calibri" pitchFamily="34" charset="-122"/>
                <a:cs typeface="Calibri" pitchFamily="34" charset="-120"/>
              </a:rPr>
              <a:t>6</a:t>
            </a:r>
            <a:endParaRPr lang="en-US" sz="1867" dirty="0"/>
          </a:p>
        </p:txBody>
      </p:sp>
      <p:sp>
        <p:nvSpPr>
          <p:cNvPr id="28" name="Text 26"/>
          <p:cNvSpPr/>
          <p:nvPr/>
        </p:nvSpPr>
        <p:spPr>
          <a:xfrm>
            <a:off x="1402080" y="5705856"/>
            <a:ext cx="9936480" cy="548640"/>
          </a:xfrm>
          <a:prstGeom prst="rect">
            <a:avLst/>
          </a:prstGeom>
          <a:noFill/>
          <a:ln/>
        </p:spPr>
        <p:txBody>
          <a:bodyPr wrap="square" rtlCol="0" anchor="ctr"/>
          <a:lstStyle/>
          <a:p>
            <a:r>
              <a:rPr lang="en-US" sz="1733" dirty="0">
                <a:solidFill>
                  <a:srgbClr val="1A1A1A"/>
                </a:solidFill>
                <a:latin typeface="Calibri" pitchFamily="34" charset="0"/>
                <a:ea typeface="Calibri" pitchFamily="34" charset="-122"/>
                <a:cs typeface="Calibri" pitchFamily="34" charset="-120"/>
              </a:rPr>
              <a:t>Classification uses amplitude features with SVM or threshold-based methods</a:t>
            </a:r>
            <a:endParaRPr lang="en-US" sz="1733" dirty="0"/>
          </a:p>
        </p:txBody>
      </p:sp>
      <p:sp>
        <p:nvSpPr>
          <p:cNvPr id="29" name="Text 27"/>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30 / 32</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609600" y="609600"/>
            <a:ext cx="10972800" cy="731520"/>
          </a:xfrm>
          <a:prstGeom prst="rect">
            <a:avLst/>
          </a:prstGeom>
          <a:noFill/>
          <a:ln/>
        </p:spPr>
        <p:txBody>
          <a:bodyPr wrap="square" rtlCol="0" anchor="ctr"/>
          <a:lstStyle/>
          <a:p>
            <a:r>
              <a:rPr lang="en-US" sz="4267" b="1" dirty="0">
                <a:solidFill>
                  <a:srgbClr val="1A1A1A"/>
                </a:solidFill>
                <a:latin typeface="Trebuchet MS" pitchFamily="34" charset="0"/>
                <a:ea typeface="Trebuchet MS" pitchFamily="34" charset="-122"/>
                <a:cs typeface="Trebuchet MS" pitchFamily="34" charset="-120"/>
              </a:rPr>
              <a:t>Resources &amp; Further Reading</a:t>
            </a:r>
            <a:endParaRPr lang="en-US" sz="4267" dirty="0"/>
          </a:p>
        </p:txBody>
      </p:sp>
      <p:sp>
        <p:nvSpPr>
          <p:cNvPr id="5" name="Text 3"/>
          <p:cNvSpPr/>
          <p:nvPr/>
        </p:nvSpPr>
        <p:spPr>
          <a:xfrm>
            <a:off x="731520" y="1584960"/>
            <a:ext cx="10728960" cy="7315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1. Bulling, A., et al. (2011). Eye Movement Analysis for Activity Recognition Using Electrooculography. IEEE TPAMI, 33(4).</a:t>
            </a:r>
            <a:endParaRPr lang="en-US" sz="1467" dirty="0"/>
          </a:p>
        </p:txBody>
      </p:sp>
      <p:sp>
        <p:nvSpPr>
          <p:cNvPr id="6" name="Text 4"/>
          <p:cNvSpPr/>
          <p:nvPr/>
        </p:nvSpPr>
        <p:spPr>
          <a:xfrm>
            <a:off x="731520" y="2438400"/>
            <a:ext cx="10728960" cy="7315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2. Barea, R., et al. (2002). System for assisted mobility using eye movements based on EOG. IEEE Trans Neural Syst Rehabil Eng.</a:t>
            </a:r>
            <a:endParaRPr lang="en-US" sz="1467" dirty="0"/>
          </a:p>
        </p:txBody>
      </p:sp>
      <p:sp>
        <p:nvSpPr>
          <p:cNvPr id="7" name="Text 5"/>
          <p:cNvSpPr/>
          <p:nvPr/>
        </p:nvSpPr>
        <p:spPr>
          <a:xfrm>
            <a:off x="731520" y="3291840"/>
            <a:ext cx="10728960" cy="7315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3. Malmivuo, J. &amp; Plonsey, R. (1995). Bioelectromagnetism. Chapter 28: Electric Signals of the Eye.</a:t>
            </a:r>
            <a:endParaRPr lang="en-US" sz="1467" dirty="0"/>
          </a:p>
        </p:txBody>
      </p:sp>
      <p:sp>
        <p:nvSpPr>
          <p:cNvPr id="8" name="Text 6"/>
          <p:cNvSpPr/>
          <p:nvPr/>
        </p:nvSpPr>
        <p:spPr>
          <a:xfrm>
            <a:off x="731520" y="4145280"/>
            <a:ext cx="10728960" cy="7315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4. Iber, C. (2007). The AASM Manual for the Scoring of Sleep and Associated Events. (Sleep staging with EOG)</a:t>
            </a:r>
            <a:endParaRPr lang="en-US" sz="1467" dirty="0"/>
          </a:p>
        </p:txBody>
      </p:sp>
      <p:sp>
        <p:nvSpPr>
          <p:cNvPr id="9" name="Text 7"/>
          <p:cNvSpPr/>
          <p:nvPr/>
        </p:nvSpPr>
        <p:spPr>
          <a:xfrm>
            <a:off x="731520" y="4998720"/>
            <a:ext cx="10728960" cy="731520"/>
          </a:xfrm>
          <a:prstGeom prst="rect">
            <a:avLst/>
          </a:prstGeom>
          <a:noFill/>
          <a:ln/>
        </p:spPr>
        <p:txBody>
          <a:bodyPr wrap="square" rtlCol="0" anchor="ctr"/>
          <a:lstStyle/>
          <a:p>
            <a:r>
              <a:rPr lang="en-US" sz="1467" dirty="0">
                <a:solidFill>
                  <a:srgbClr val="1A1A1A"/>
                </a:solidFill>
                <a:latin typeface="Calibri" pitchFamily="34" charset="0"/>
                <a:ea typeface="Calibri" pitchFamily="34" charset="-122"/>
                <a:cs typeface="Calibri" pitchFamily="34" charset="-120"/>
              </a:rPr>
              <a:t>5. Lab Streaming Layer (LSL) documentation: labstreaminglayer.org</a:t>
            </a:r>
            <a:endParaRPr lang="en-US" sz="1467" dirty="0"/>
          </a:p>
        </p:txBody>
      </p:sp>
      <p:sp>
        <p:nvSpPr>
          <p:cNvPr id="10" name="Shape 8"/>
          <p:cNvSpPr/>
          <p:nvPr/>
        </p:nvSpPr>
        <p:spPr>
          <a:xfrm>
            <a:off x="609600" y="5852160"/>
            <a:ext cx="10972800" cy="731520"/>
          </a:xfrm>
          <a:prstGeom prst="rect">
            <a:avLst/>
          </a:prstGeom>
          <a:solidFill>
            <a:srgbClr val="1A1A1A"/>
          </a:solidFill>
          <a:ln/>
        </p:spPr>
        <p:txBody>
          <a:bodyPr/>
          <a:lstStyle/>
          <a:p>
            <a:endParaRPr lang="en-US" sz="2400"/>
          </a:p>
        </p:txBody>
      </p:sp>
      <p:sp>
        <p:nvSpPr>
          <p:cNvPr id="11" name="Text 9"/>
          <p:cNvSpPr/>
          <p:nvPr/>
        </p:nvSpPr>
        <p:spPr>
          <a:xfrm>
            <a:off x="853440" y="5974080"/>
            <a:ext cx="10485120" cy="487680"/>
          </a:xfrm>
          <a:prstGeom prst="rect">
            <a:avLst/>
          </a:prstGeom>
          <a:noFill/>
          <a:ln/>
        </p:spPr>
        <p:txBody>
          <a:bodyPr wrap="square" rtlCol="0" anchor="ctr"/>
          <a:lstStyle/>
          <a:p>
            <a:r>
              <a:rPr lang="en-US" sz="1733" dirty="0">
                <a:solidFill>
                  <a:srgbClr val="FFFFFF"/>
                </a:solidFill>
                <a:latin typeface="Calibri" pitchFamily="34" charset="0"/>
                <a:ea typeface="Calibri" pitchFamily="34" charset="-122"/>
                <a:cs typeface="Calibri" pitchFamily="34" charset="-120"/>
              </a:rPr>
              <a:t>Lab Materials: github.com/AHRTLab/BioRobotics-Lab2</a:t>
            </a:r>
            <a:endParaRPr lang="en-US" sz="1733" dirty="0"/>
          </a:p>
        </p:txBody>
      </p:sp>
      <p:sp>
        <p:nvSpPr>
          <p:cNvPr id="12" name="Text 10"/>
          <p:cNvSpPr/>
          <p:nvPr/>
        </p:nvSpPr>
        <p:spPr>
          <a:xfrm>
            <a:off x="11216640" y="6522720"/>
            <a:ext cx="853440" cy="304800"/>
          </a:xfrm>
          <a:prstGeom prst="rect">
            <a:avLst/>
          </a:prstGeom>
          <a:noFill/>
          <a:ln/>
        </p:spPr>
        <p:txBody>
          <a:bodyPr wrap="square" rtlCol="0" anchor="ctr"/>
          <a:lstStyle/>
          <a:p>
            <a:pPr algn="r"/>
            <a:r>
              <a:rPr lang="en-US" sz="1200" dirty="0">
                <a:solidFill>
                  <a:srgbClr val="666666"/>
                </a:solidFill>
              </a:rPr>
              <a:t>32 / 32</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37246</TotalTime>
  <Words>2267</Words>
  <Application>Microsoft Macintosh PowerPoint</Application>
  <PresentationFormat>Widescreen</PresentationFormat>
  <Paragraphs>481</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Trebuchet MS</vt:lpstr>
      <vt:lpstr>Office Theme</vt:lpstr>
      <vt:lpstr> BioRobotics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Collaborative Robotics</dc:title>
  <dc:creator>Jamison Heard</dc:creator>
  <cp:lastModifiedBy>Jamison Heard</cp:lastModifiedBy>
  <cp:revision>489</cp:revision>
  <dcterms:created xsi:type="dcterms:W3CDTF">2019-02-26T17:25:21Z</dcterms:created>
  <dcterms:modified xsi:type="dcterms:W3CDTF">2026-02-09T14:13:50Z</dcterms:modified>
</cp:coreProperties>
</file>