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9"/>
    <p:sldId id="269" r:id="rId8"/>
    <p:sldId id="270" r:id="rId24"/>
    <p:sldId id="271" r:id="rId25"/>
    <p:sldId id="272" r:id="rId26"/>
    <p:sldId id="273" r:id="rId27"/>
  </p:sldIdLst>
  <p:sldSz cy="5143500" cx="9144000"/>
  <p:notesSz cx="6858000" cy="9144000"/>
  <p:embeddedFontLst>
    <p:embeddedFont>
      <p:font typeface="Gill Sans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A80942-54FC-410B-82C0-A46948659490}">
  <a:tblStyle styleId="{2DA80942-54FC-410B-82C0-A4694865949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font" Target="fonts/GillSans-regular.fntdata"/><Relationship Id="rId23" Type="http://schemas.openxmlformats.org/officeDocument/2006/relationships/font" Target="fonts/GillSans-bold.fntdata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088684" y="603389"/>
            <a:ext cx="7202400" cy="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088684" y="1511799"/>
            <a:ext cx="7202400" cy="25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5665604" y="247778"/>
            <a:ext cx="26256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088684" y="246980"/>
            <a:ext cx="44541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60045" y="599230"/>
            <a:ext cx="608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1090422" y="1385316"/>
            <a:ext cx="7205700" cy="0"/>
          </a:xfrm>
          <a:prstGeom prst="straightConnector1">
            <a:avLst/>
          </a:prstGeom>
          <a:noFill/>
          <a:ln cap="flat" cmpd="sng" w="238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9" name="Google Shape;89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5" name="Google Shape;95;p20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6" name="Google Shape;96;p20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7" name="Google Shape;97;p20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9" name="Google Shape;109;p22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237744" cy="2395728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77072" y="685800"/>
            <a:ext cx="548640" cy="54864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92440" y="822960"/>
            <a:ext cx="1033271" cy="54864"/>
          </a:xfrm>
          <a:prstGeom prst="rect">
            <a:avLst/>
          </a:prstGeom>
          <a:solidFill>
            <a:srgbClr val="00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75438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4100" b="1">
                <a:solidFill>
                  <a:srgbClr val="00B4C8"/>
                </a:solidFill>
                <a:latin typeface="Calibri"/>
              </a:rPr>
              <a:t>AWARE-AI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75438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Drive a robot with your muscles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90672" y="3090672"/>
            <a:ext cx="2953512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337560"/>
            <a:ext cx="6172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700" b="0">
                <a:solidFill>
                  <a:srgbClr val="00B4C8"/>
                </a:solidFill>
                <a:latin typeface="Calibri"/>
              </a:rPr>
              <a:t>⏱  24-Hour Build Challenge  ·  Myo armband → Clearpath Jackal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7896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00B4C8"/>
                </a:solidFill>
                <a:latin typeface="Calibri"/>
              </a:rPr>
              <a:t>Thursday  ·  [DATE TBD]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7373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[TIME]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508760"/>
            <a:ext cx="566928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Kickoff: intro, install check, first drive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00B4C8"/>
                </a:solidFill>
                <a:latin typeface="Calibri"/>
              </a:rPr>
              <a:t>Friday  ·  [DATE TBD]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7373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8:30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468880"/>
            <a:ext cx="566928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Breakfast, hacking starts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17373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12:00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834640"/>
            <a:ext cx="566928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Lunch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00400"/>
            <a:ext cx="17373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5:00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00400"/>
            <a:ext cx="566928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Hacking ends · judged runs · dinner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17373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5:00–6:30 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566160"/>
            <a:ext cx="566928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Presentations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What You'll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32588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E6F8FA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1517904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42850"/>
                </a:solidFill>
                <a:latin typeface="Calibri"/>
              </a:rPr>
              <a:t>Myo Armband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517904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646E82"/>
                </a:solidFill>
                <a:latin typeface="Calibri"/>
              </a:rPr>
              <a:t>(EMG + IMU)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94560" y="1792224"/>
            <a:ext cx="411480" cy="210312"/>
          </a:xfrm>
          <a:prstGeom prst="rightArrow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15768" y="132588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9775" y="1444752"/>
            <a:ext cx="1517904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42850"/>
                </a:solidFill>
                <a:latin typeface="Calibri"/>
              </a:rPr>
              <a:t>Your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9775" y="2011680"/>
            <a:ext cx="1517904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646E82"/>
                </a:solidFill>
                <a:latin typeface="Calibri"/>
              </a:rPr>
              <a:t>(features · model · logic)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425696" y="1792224"/>
            <a:ext cx="411480" cy="210312"/>
          </a:xfrm>
          <a:prstGeom prst="rightArrow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46904" y="132588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912" y="1444752"/>
            <a:ext cx="1517904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42850"/>
                </a:solidFill>
                <a:latin typeface="Calibri"/>
              </a:rPr>
              <a:t>Command 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2011680"/>
            <a:ext cx="1517904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646E82"/>
                </a:solidFill>
                <a:latin typeface="Calibri"/>
              </a:rPr>
              <a:t>((v, w) at 20 Hz)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656832" y="1792224"/>
            <a:ext cx="411480" cy="210312"/>
          </a:xfrm>
          <a:prstGeom prst="rightArrow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78040" y="132588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1444752"/>
            <a:ext cx="1517904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42850"/>
                </a:solidFill>
                <a:latin typeface="Calibri"/>
              </a:rPr>
              <a:t>Jackal Sim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011680"/>
            <a:ext cx="1517904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646E82"/>
                </a:solidFill>
                <a:latin typeface="Calibri"/>
              </a:rPr>
              <a:t>(courses · lidar · score)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880360"/>
            <a:ext cx="7891272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00B4C8"/>
                </a:solidFill>
                <a:latin typeface="Calibri"/>
              </a:rPr>
              <a:t>Read your muscles</a:t>
            </a:r>
            <a:r>
              <a:rPr sz="1700" b="0">
                <a:solidFill>
                  <a:srgbClr val="142850"/>
                </a:solidFill>
                <a:latin typeface="Calibri"/>
              </a:rPr>
              <a:t>, decide a forward speed </a:t>
            </a:r>
            <a:r>
              <a:rPr sz="1700" b="1">
                <a:solidFill>
                  <a:srgbClr val="142850"/>
                </a:solidFill>
                <a:latin typeface="Calibri"/>
              </a:rPr>
              <a:t>v</a:t>
            </a:r>
            <a:r>
              <a:rPr sz="1700" b="0">
                <a:solidFill>
                  <a:srgbClr val="142850"/>
                </a:solidFill>
                <a:latin typeface="Calibri"/>
              </a:rPr>
              <a:t> and turn rate </a:t>
            </a:r>
            <a:r>
              <a:rPr sz="1700" b="1">
                <a:solidFill>
                  <a:srgbClr val="142850"/>
                </a:solidFill>
                <a:latin typeface="Calibri"/>
              </a:rPr>
              <a:t>w</a:t>
            </a:r>
            <a:r>
              <a:rPr sz="1700" b="0">
                <a:solidFill>
                  <a:srgbClr val="142850"/>
                </a:solidFill>
                <a:latin typeface="Calibri"/>
              </a:rPr>
              <a:t>, and drive a Clearpath Jackal through timed courses.</a:t>
            </a:r>
          </a:p>
          <a:p>
            <a:pPr algn="ctr">
              <a:spcAft>
                <a:spcPts val="800"/>
              </a:spcAft>
            </a:pPr>
            <a:r>
              <a:rPr sz="1700" b="0">
                <a:solidFill>
                  <a:srgbClr val="142850"/>
                </a:solidFill>
                <a:latin typeface="Calibri"/>
              </a:rPr>
              <a:t>Then keep it drivable when the link to the robot gets </a:t>
            </a:r>
            <a:r>
              <a:rPr sz="1700" b="1">
                <a:solidFill>
                  <a:srgbClr val="00B4C8"/>
                </a:solidFill>
                <a:latin typeface="Calibri"/>
              </a:rPr>
              <a:t>slow and lossy</a:t>
            </a:r>
            <a:r>
              <a:rPr sz="1700" b="0">
                <a:solidFill>
                  <a:srgbClr val="142850"/>
                </a:solidFill>
                <a:latin typeface="Calibri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69080"/>
            <a:ext cx="7891272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0">
                <a:solidFill>
                  <a:srgbClr val="646E82"/>
                </a:solidFill>
                <a:latin typeface="Calibri"/>
              </a:rPr>
              <a:t>(v, w) is the whole contract: any language, any model, any idea.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The Jackal Simulator</a:t>
            </a:r>
          </a:p>
        </p:txBody>
      </p:sp>
      <p:pic>
        <p:nvPicPr>
          <p:cNvPr id="6" name="Picture 5" descr="sim-c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5120640" cy="2880360"/>
          </a:xfrm>
          <a:prstGeom prst="rect">
            <a:avLst/>
          </a:prstGeom>
          <a:ln w="12700">
            <a:solidFill>
              <a:srgbClr val="C8D7E6"/>
            </a:solidFill>
          </a:ln>
        </p:spPr>
      </p:pic>
      <p:sp>
        <p:nvSpPr>
          <p:cNvPr id="7" name="Diamond 6"/>
          <p:cNvSpPr/>
          <p:nvPr/>
        </p:nvSpPr>
        <p:spPr>
          <a:xfrm>
            <a:off x="5760720" y="1207007"/>
            <a:ext cx="137160" cy="137160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097280"/>
            <a:ext cx="29260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Runs in your browser</a:t>
            </a:r>
            <a:r>
              <a:rPr sz="1200" b="0">
                <a:solidFill>
                  <a:srgbClr val="646E82"/>
                </a:solidFill>
                <a:latin typeface="Calibri"/>
              </a:rPr>
              <a:t> · MuJoCo, real Jackal dimensions</a:t>
            </a:r>
          </a:p>
        </p:txBody>
      </p:sp>
      <p:sp>
        <p:nvSpPr>
          <p:cNvPr id="9" name="Diamond 8"/>
          <p:cNvSpPr/>
          <p:nvPr/>
        </p:nvSpPr>
        <p:spPr>
          <a:xfrm>
            <a:off x="5760720" y="1773936"/>
            <a:ext cx="137160" cy="137160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664207"/>
            <a:ext cx="29260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180-beam lidar</a:t>
            </a:r>
            <a:r>
              <a:rPr sz="1200" b="0">
                <a:solidFill>
                  <a:srgbClr val="646E82"/>
                </a:solidFill>
                <a:latin typeface="Calibri"/>
              </a:rPr>
              <a:t> · your controller can read it</a:t>
            </a:r>
          </a:p>
        </p:txBody>
      </p:sp>
      <p:sp>
        <p:nvSpPr>
          <p:cNvPr id="11" name="Diamond 10"/>
          <p:cNvSpPr/>
          <p:nvPr/>
        </p:nvSpPr>
        <p:spPr>
          <a:xfrm>
            <a:off x="5760720" y="2340864"/>
            <a:ext cx="137160" cy="137160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231136"/>
            <a:ext cx="29260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Chase · Top · FPV</a:t>
            </a:r>
            <a:r>
              <a:rPr sz="1200" b="0">
                <a:solidFill>
                  <a:srgbClr val="646E82"/>
                </a:solidFill>
                <a:latin typeface="Calibri"/>
              </a:rPr>
              <a:t> cameras</a:t>
            </a:r>
          </a:p>
        </p:txBody>
      </p:sp>
      <p:sp>
        <p:nvSpPr>
          <p:cNvPr id="13" name="Diamond 12"/>
          <p:cNvSpPr/>
          <p:nvPr/>
        </p:nvSpPr>
        <p:spPr>
          <a:xfrm>
            <a:off x="5760720" y="2907791"/>
            <a:ext cx="137160" cy="137160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2798063"/>
            <a:ext cx="29260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HUD</a:t>
            </a:r>
            <a:r>
              <a:rPr sz="1200" b="0">
                <a:solidFill>
                  <a:srgbClr val="646E82"/>
                </a:solidFill>
                <a:latin typeface="Calibri"/>
              </a:rPr>
              <a:t> · speed, source, collisions, deadman</a:t>
            </a:r>
          </a:p>
        </p:txBody>
      </p:sp>
      <p:sp>
        <p:nvSpPr>
          <p:cNvPr id="15" name="Diamond 14"/>
          <p:cNvSpPr/>
          <p:nvPr/>
        </p:nvSpPr>
        <p:spPr>
          <a:xfrm>
            <a:off x="5760720" y="3474720"/>
            <a:ext cx="137160" cy="137160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364991"/>
            <a:ext cx="29260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Logs every run</a:t>
            </a:r>
            <a:r>
              <a:rPr sz="1200" b="0">
                <a:solidFill>
                  <a:srgbClr val="646E82"/>
                </a:solidFill>
                <a:latin typeface="Calibri"/>
              </a:rPr>
              <a:t> · Runs CSV + 20 Hz 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041648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646E82"/>
                </a:solidFill>
                <a:latin typeface="Calibri"/>
              </a:rPr>
              <a:t>ahrtlab.github.io/Hackathon  ·  or offline: jackal-bridge --serve-site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The Twist: Telepresence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891272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1E1E32"/>
                </a:solidFill>
                <a:latin typeface="Calibri"/>
              </a:rPr>
              <a:t>Real robots are driven over real networks. Commands arrive late, and some never arrive.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4231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423160" cy="411480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56231"/>
            <a:ext cx="224028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22402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400" b="1">
                <a:solidFill>
                  <a:srgbClr val="00B4C8"/>
                </a:solidFill>
                <a:latin typeface="Calibri"/>
              </a:rPr>
              <a:t>0 – 1000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22402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46E82"/>
                </a:solidFill>
                <a:latin typeface="Calibri"/>
              </a:rPr>
              <a:t>every command is delayed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828800"/>
            <a:ext cx="24231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828800"/>
            <a:ext cx="2423160" cy="411480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856231"/>
            <a:ext cx="224028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Packet drop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377440"/>
            <a:ext cx="22402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400" b="1">
                <a:solidFill>
                  <a:srgbClr val="00B4C8"/>
                </a:solidFill>
                <a:latin typeface="Calibri"/>
              </a:rPr>
              <a:t>0 – 50 %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926080"/>
            <a:ext cx="22402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46E82"/>
                </a:solidFill>
                <a:latin typeface="Calibri"/>
              </a:rPr>
              <a:t>some commands are lost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828800"/>
            <a:ext cx="24231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1828800"/>
            <a:ext cx="2423160" cy="411480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856231"/>
            <a:ext cx="224028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Workload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377440"/>
            <a:ext cx="22402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400" b="1">
                <a:solidFill>
                  <a:srgbClr val="00B4C8"/>
                </a:solidFill>
                <a:latin typeface="Calibri"/>
              </a:rPr>
              <a:t>NASA-RTLX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926080"/>
            <a:ext cx="22402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646E82"/>
                </a:solidFill>
                <a:latin typeface="Calibri"/>
              </a:rPr>
              <a:t>how hard was that, really?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49039"/>
            <a:ext cx="7891272" cy="868680"/>
          </a:xfrm>
          <a:prstGeom prst="roundRect">
            <a:avLst>
              <a:gd name="adj" fmla="val 8000"/>
            </a:avLst>
          </a:prstGeom>
          <a:solidFill>
            <a:srgbClr val="FFF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794760"/>
            <a:ext cx="7498079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850"/>
                </a:solidFill>
                <a:latin typeface="Calibri"/>
              </a:rPr>
              <a:t>Judges will also run your controller under a degraded link. </a:t>
            </a:r>
            <a:r>
              <a:rPr sz="1400" b="0">
                <a:solidFill>
                  <a:srgbClr val="1E1E32"/>
                </a:solidFill>
                <a:latin typeface="Calibri"/>
              </a:rPr>
              <a:t>Test with the latency / drop sliders early. A controller that only works on a perfect connection isn't finished.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The Hackathon 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179576"/>
            <a:ext cx="374904" cy="37490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5" y="1554480"/>
            <a:ext cx="27432" cy="35661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70408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850"/>
                </a:solidFill>
                <a:latin typeface="Calibri"/>
              </a:rPr>
              <a:t>Stream  —  </a:t>
            </a:r>
            <a:r>
              <a:rPr sz="1400" b="0">
                <a:solidFill>
                  <a:srgbClr val="646E82"/>
                </a:solidFill>
                <a:latin typeface="Calibri"/>
              </a:rPr>
              <a:t>myo_lsl_publisher.py sends Myo_EMG + Myo_IMU to LSL (no dongle)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5"/>
            <a:ext cx="374904" cy="37490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5" y="2286000"/>
            <a:ext cx="27432" cy="35661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74519"/>
            <a:ext cx="70408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850"/>
                </a:solidFill>
                <a:latin typeface="Calibri"/>
              </a:rPr>
              <a:t>Look &amp; record  —  </a:t>
            </a:r>
            <a:r>
              <a:rPr sz="1400" b="0">
                <a:solidFill>
                  <a:srgbClr val="646E82"/>
                </a:solidFill>
                <a:latin typeface="Calibri"/>
              </a:rPr>
              <a:t>lsl-web-viewer shows the signals and records labeled training takes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642616"/>
            <a:ext cx="374904" cy="37490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5" y="3017520"/>
            <a:ext cx="27432" cy="35661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606040"/>
            <a:ext cx="70408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850"/>
                </a:solidFill>
                <a:latin typeface="Calibri"/>
              </a:rPr>
              <a:t>Features &amp; model  —  </a:t>
            </a:r>
            <a:r>
              <a:rPr sz="1400" b="0">
                <a:solidFill>
                  <a:srgbClr val="646E82"/>
                </a:solidFill>
                <a:latin typeface="Calibri"/>
              </a:rPr>
              <a:t>RMS, MAV, zero crossings… then a classifier or a proportional map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374136"/>
            <a:ext cx="374904" cy="37490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5" y="3749040"/>
            <a:ext cx="27432" cy="35661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337560"/>
            <a:ext cx="70408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850"/>
                </a:solidFill>
                <a:latin typeface="Calibri"/>
              </a:rPr>
              <a:t>Controller  —  </a:t>
            </a:r>
            <a:r>
              <a:rPr sz="1400" b="0">
                <a:solidFill>
                  <a:srgbClr val="646E82"/>
                </a:solidFill>
                <a:latin typeface="Calibri"/>
              </a:rPr>
              <a:t>copy controller_template.py, fill in my_input() and step() → (v, w)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105656"/>
            <a:ext cx="374904" cy="37490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69080"/>
            <a:ext cx="70408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850"/>
                </a:solidFill>
                <a:latin typeface="Calibri"/>
              </a:rPr>
              <a:t>Drive  —  </a:t>
            </a:r>
            <a:r>
              <a:rPr sz="1400" b="0">
                <a:solidFill>
                  <a:srgbClr val="646E82"/>
                </a:solidFill>
                <a:latin typeface="Calibri"/>
              </a:rPr>
              <a:t>through jackal-bridge into the sim: gates, collisions,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The Courses</a:t>
            </a:r>
          </a:p>
        </p:txBody>
      </p:sp>
      <p:pic>
        <p:nvPicPr>
          <p:cNvPr id="6" name="Picture 5" descr="L0-sand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1371600" cy="1371600"/>
          </a:xfrm>
          <a:prstGeom prst="rect">
            <a:avLst/>
          </a:prstGeom>
          <a:ln w="12700">
            <a:solidFill>
              <a:srgbClr val="C8D7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2414016"/>
            <a:ext cx="3931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42850"/>
                </a:solidFill>
                <a:latin typeface="Calibri"/>
              </a:rPr>
              <a:t>L0 Sandbox</a:t>
            </a:r>
            <a:r>
              <a:rPr sz="1100" b="0">
                <a:solidFill>
                  <a:srgbClr val="646E82"/>
                </a:solidFill>
                <a:latin typeface="Calibri"/>
              </a:rPr>
              <a:t>  free driving, a few obstacles</a:t>
            </a:r>
          </a:p>
        </p:txBody>
      </p:sp>
      <p:pic>
        <p:nvPicPr>
          <p:cNvPr id="8" name="Picture 7" descr="L1-g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24128"/>
            <a:ext cx="2400300" cy="1371600"/>
          </a:xfrm>
          <a:prstGeom prst="rect">
            <a:avLst/>
          </a:prstGeom>
          <a:ln w="12700">
            <a:solidFill>
              <a:srgbClr val="C8D7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663440" y="2414016"/>
            <a:ext cx="3931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42850"/>
                </a:solidFill>
                <a:latin typeface="Calibri"/>
              </a:rPr>
              <a:t>L1 Gates</a:t>
            </a:r>
            <a:r>
              <a:rPr sz="1100" b="0">
                <a:solidFill>
                  <a:srgbClr val="646E82"/>
                </a:solidFill>
                <a:latin typeface="Calibri"/>
              </a:rPr>
              <a:t>  7 gates in order · 120 s</a:t>
            </a:r>
          </a:p>
        </p:txBody>
      </p:sp>
      <p:pic>
        <p:nvPicPr>
          <p:cNvPr id="10" name="Picture 9" descr="L2-slal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44368"/>
            <a:ext cx="3740727" cy="1371600"/>
          </a:xfrm>
          <a:prstGeom prst="rect">
            <a:avLst/>
          </a:prstGeom>
          <a:ln w="12700">
            <a:solidFill>
              <a:srgbClr val="C8D7E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02920" y="4334256"/>
            <a:ext cx="3931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42850"/>
                </a:solidFill>
                <a:latin typeface="Calibri"/>
              </a:rPr>
              <a:t>L2 Slalom</a:t>
            </a:r>
            <a:r>
              <a:rPr sz="1100" b="0">
                <a:solidFill>
                  <a:srgbClr val="646E82"/>
                </a:solidFill>
                <a:latin typeface="Calibri"/>
              </a:rPr>
              <a:t>  8 alternating gates · 120 s</a:t>
            </a:r>
          </a:p>
        </p:txBody>
      </p:sp>
      <p:pic>
        <p:nvPicPr>
          <p:cNvPr id="12" name="Picture 11" descr="L3-corridor-d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944368"/>
            <a:ext cx="2097741" cy="1371600"/>
          </a:xfrm>
          <a:prstGeom prst="rect">
            <a:avLst/>
          </a:prstGeom>
          <a:ln w="12700">
            <a:solidFill>
              <a:srgbClr val="C8D7E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663440" y="4334256"/>
            <a:ext cx="39319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42850"/>
                </a:solidFill>
                <a:latin typeface="Calibri"/>
              </a:rPr>
              <a:t>L3 Corridor + Dock</a:t>
            </a:r>
            <a:r>
              <a:rPr sz="1100" b="0">
                <a:solidFill>
                  <a:srgbClr val="646E82"/>
                </a:solidFill>
                <a:latin typeface="Calibri"/>
              </a:rPr>
              <a:t>  narrow corridor, park in the dock · 150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00600"/>
            <a:ext cx="52120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100" b="0">
                <a:solidFill>
                  <a:srgbClr val="646E82"/>
                </a:solidFill>
                <a:latin typeface="Calibri"/>
              </a:rPr>
              <a:t>Practice on all of them; judged runs are on L1–L3.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How a Run Is Scored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78912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708392" cy="10058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600" b="1">
                <a:solidFill>
                  <a:srgbClr val="142850"/>
                </a:solidFill>
                <a:latin typeface="Calibri"/>
              </a:rPr>
              <a:t>score</a:t>
            </a:r>
            <a:r>
              <a:rPr sz="2600" b="0">
                <a:solidFill>
                  <a:srgbClr val="1E1E32"/>
                </a:solidFill>
                <a:latin typeface="Calibri"/>
              </a:rPr>
              <a:t>  =  time  +  </a:t>
            </a:r>
            <a:r>
              <a:rPr sz="2600" b="1">
                <a:solidFill>
                  <a:srgbClr val="00B4C8"/>
                </a:solidFill>
                <a:latin typeface="Calibri"/>
              </a:rPr>
              <a:t>5 s</a:t>
            </a:r>
            <a:r>
              <a:rPr sz="2600" b="0">
                <a:solidFill>
                  <a:srgbClr val="1E1E32"/>
                </a:solidFill>
                <a:latin typeface="Calibri"/>
              </a:rPr>
              <a:t> × collisions  +  </a:t>
            </a:r>
            <a:r>
              <a:rPr sz="2600" b="1">
                <a:solidFill>
                  <a:srgbClr val="00B4C8"/>
                </a:solidFill>
                <a:latin typeface="Calibri"/>
              </a:rPr>
              <a:t>10 s</a:t>
            </a:r>
            <a:r>
              <a:rPr sz="2600" b="0">
                <a:solidFill>
                  <a:srgbClr val="1E1E32"/>
                </a:solidFill>
                <a:latin typeface="Calibri"/>
              </a:rPr>
              <a:t> × missed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89127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0">
                <a:solidFill>
                  <a:srgbClr val="646E82"/>
                </a:solidFill>
                <a:latin typeface="Calibri"/>
              </a:rPr>
              <a:t>lower is better</a:t>
            </a:r>
          </a:p>
        </p:txBody>
      </p:sp>
      <p:sp>
        <p:nvSpPr>
          <p:cNvPr id="9" name="Diamond 8"/>
          <p:cNvSpPr/>
          <p:nvPr/>
        </p:nvSpPr>
        <p:spPr>
          <a:xfrm>
            <a:off x="548640" y="2898648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88920"/>
            <a:ext cx="75895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The clock starts</a:t>
            </a:r>
            <a:r>
              <a:rPr sz="1500" b="0">
                <a:solidFill>
                  <a:srgbClr val="646E82"/>
                </a:solidFill>
                <a:latin typeface="Calibri"/>
              </a:rPr>
              <a:t> when the robot first moves</a:t>
            </a:r>
          </a:p>
        </p:txBody>
      </p:sp>
      <p:sp>
        <p:nvSpPr>
          <p:cNvPr id="11" name="Diamond 10"/>
          <p:cNvSpPr/>
          <p:nvPr/>
        </p:nvSpPr>
        <p:spPr>
          <a:xfrm>
            <a:off x="548640" y="3374136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64408"/>
            <a:ext cx="75895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Gates in order</a:t>
            </a:r>
            <a:r>
              <a:rPr sz="1500" b="0">
                <a:solidFill>
                  <a:srgbClr val="646E82"/>
                </a:solidFill>
                <a:latin typeface="Calibri"/>
              </a:rPr>
              <a:t>: the next one glows yellow; keep the left post on your left</a:t>
            </a:r>
          </a:p>
        </p:txBody>
      </p:sp>
      <p:sp>
        <p:nvSpPr>
          <p:cNvPr id="13" name="Diamond 12"/>
          <p:cNvSpPr/>
          <p:nvPr/>
        </p:nvSpPr>
        <p:spPr>
          <a:xfrm>
            <a:off x="548640" y="3849624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739896"/>
            <a:ext cx="75895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Finish</a:t>
            </a:r>
            <a:r>
              <a:rPr sz="1500" b="0">
                <a:solidFill>
                  <a:srgbClr val="646E82"/>
                </a:solidFill>
                <a:latin typeface="Calibri"/>
              </a:rPr>
              <a:t>: cross the line (L3: stop inside the dock for 1 s)</a:t>
            </a:r>
          </a:p>
        </p:txBody>
      </p:sp>
      <p:sp>
        <p:nvSpPr>
          <p:cNvPr id="15" name="Diamond 14"/>
          <p:cNvSpPr/>
          <p:nvPr/>
        </p:nvSpPr>
        <p:spPr>
          <a:xfrm>
            <a:off x="548640" y="4325112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215383"/>
            <a:ext cx="75895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Time limit</a:t>
            </a:r>
            <a:r>
              <a:rPr sz="1500" b="0">
                <a:solidFill>
                  <a:srgbClr val="646E82"/>
                </a:solidFill>
                <a:latin typeface="Calibri"/>
              </a:rPr>
              <a:t>: run out and it's a DNF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The Rules Your Controller Lives By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789127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54864" cy="73152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88720"/>
            <a:ext cx="2377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850"/>
                </a:solidFill>
                <a:latin typeface="Calibri"/>
              </a:rPr>
              <a:t>Deadman: 250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188720"/>
            <a:ext cx="51663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E1E32"/>
                </a:solidFill>
                <a:latin typeface="Calibri"/>
              </a:rPr>
              <a:t>No command for 250 ms → the robot stops. Send at a steady 20 Hz.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39112"/>
            <a:ext cx="789127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39112"/>
            <a:ext cx="54864" cy="73152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84831"/>
            <a:ext cx="2377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850"/>
                </a:solidFill>
                <a:latin typeface="Calibri"/>
              </a:rPr>
              <a:t>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084831"/>
            <a:ext cx="51663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E1E32"/>
                </a:solidFill>
                <a:latin typeface="Calibri"/>
              </a:rPr>
              <a:t>v ≤ 2.0 m/s, w ≤ 4.0 rad/s (clamped). The robot ramps; it doesn't jump.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35224"/>
            <a:ext cx="789127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935224"/>
            <a:ext cx="54864" cy="73152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80944"/>
            <a:ext cx="2377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850"/>
                </a:solidFill>
                <a:latin typeface="Calibri"/>
              </a:rPr>
              <a:t>One driver at a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980944"/>
            <a:ext cx="51663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E1E32"/>
                </a:solidFill>
                <a:latin typeface="Calibri"/>
              </a:rPr>
              <a:t>First sender wins; another takes over after 1 s of silence.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31335"/>
            <a:ext cx="789127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31335"/>
            <a:ext cx="54864" cy="73152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77055"/>
            <a:ext cx="2377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850"/>
                </a:solidFill>
                <a:latin typeface="Calibri"/>
              </a:rPr>
              <a:t>E-stop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877055"/>
            <a:ext cx="51663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E1E32"/>
                </a:solidFill>
                <a:latin typeface="Calibri"/>
              </a:rPr>
              <a:t>"estop": true latches a stop; reset clears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7891272" cy="649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54864" cy="649224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1385316"/>
            <a:ext cx="347472" cy="347472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280160"/>
            <a:ext cx="6949440" cy="5577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A person drives with the Myo (EMG and/or IMU); no keyboard or gamepad in judged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7891272" cy="649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54864" cy="649224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2208276"/>
            <a:ext cx="347472" cy="347472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2103120"/>
            <a:ext cx="6949440" cy="5577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Everything runs live, in real time, through jackal-bridge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80360"/>
            <a:ext cx="7891272" cy="649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880360"/>
            <a:ext cx="54864" cy="649224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3031236"/>
            <a:ext cx="347472" cy="347472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" y="2926080"/>
            <a:ext cx="6949440" cy="5577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Assistance is welcome (e.g. lidar keeps you off walls), but no autopilot or pre-planned route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7891272" cy="649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54864" cy="649224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3854196"/>
            <a:ext cx="347472" cy="347472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3749040"/>
            <a:ext cx="6949440" cy="5577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E1E32"/>
                </a:solidFill>
                <a:latin typeface="Calibri"/>
              </a:rPr>
              <a:t>Any language, any ML framework (the bridge speaks plain JSON)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Deliverables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789127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581912"/>
            <a:ext cx="621792" cy="621792"/>
          </a:xfrm>
          <a:prstGeom prst="ellipse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1435608"/>
            <a:ext cx="64008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142850"/>
                </a:solidFill>
                <a:latin typeface="Calibri"/>
              </a:rPr>
              <a:t>Judged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1874519"/>
            <a:ext cx="6400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646E82"/>
                </a:solidFill>
                <a:latin typeface="Calibri"/>
              </a:rPr>
              <a:t>Your controller, driven by a teammate, on L1–L3. Best score per course counts. Plus one run under a degraded link.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789127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227832"/>
            <a:ext cx="621792" cy="621792"/>
          </a:xfrm>
          <a:prstGeom prst="ellipse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3081528"/>
            <a:ext cx="64008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142850"/>
                </a:solidFill>
                <a:latin typeface="Calibri"/>
              </a:rPr>
              <a:t>Presentation (~5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" y="3520440"/>
            <a:ext cx="6400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646E82"/>
                </a:solidFill>
                <a:latin typeface="Calibri"/>
              </a:rPr>
              <a:t>Your approach, what the signals told you, results (scores, CSVs), and what you learned.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Judging Rubric (100 pts + 10 bonus)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61288"/>
            <a:ext cx="41148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Driving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148072" cy="274320"/>
          </a:xfrm>
          <a:prstGeom prst="rect">
            <a:avLst/>
          </a:prstGeom>
          <a:solidFill>
            <a:srgbClr val="DC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5148072" cy="27432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1472184"/>
            <a:ext cx="1371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00B4C8"/>
                </a:solidFill>
                <a:latin typeface="Calibri"/>
              </a:rPr>
              <a:t>30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56816"/>
            <a:ext cx="41148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Creativity &amp; Novelty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04288"/>
            <a:ext cx="5148072" cy="274320"/>
          </a:xfrm>
          <a:prstGeom prst="rect">
            <a:avLst/>
          </a:prstGeom>
          <a:solidFill>
            <a:srgbClr val="DC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04288"/>
            <a:ext cx="4290060" cy="274320"/>
          </a:xfrm>
          <a:prstGeom prst="rect">
            <a:avLst/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267712"/>
            <a:ext cx="1371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4682B4"/>
                </a:solidFill>
                <a:latin typeface="Calibri"/>
              </a:rPr>
              <a:t>25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41148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Control &amp; User Experience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99815"/>
            <a:ext cx="5148072" cy="274320"/>
          </a:xfrm>
          <a:prstGeom prst="rect">
            <a:avLst/>
          </a:prstGeom>
          <a:solidFill>
            <a:srgbClr val="DC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99815"/>
            <a:ext cx="4290060" cy="274320"/>
          </a:xfrm>
          <a:prstGeom prst="rect">
            <a:avLst/>
          </a:prstGeom>
          <a:solidFill>
            <a:srgbClr val="649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3063239"/>
            <a:ext cx="1371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6495ED"/>
                </a:solidFill>
                <a:latin typeface="Calibri"/>
              </a:rPr>
              <a:t>25 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47872"/>
            <a:ext cx="41148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Presentation Quality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95344"/>
            <a:ext cx="5148072" cy="274320"/>
          </a:xfrm>
          <a:prstGeom prst="rect">
            <a:avLst/>
          </a:prstGeom>
          <a:solidFill>
            <a:srgbClr val="DC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95344"/>
            <a:ext cx="3432047" cy="274320"/>
          </a:xfrm>
          <a:prstGeom prst="rect">
            <a:avLst/>
          </a:prstGeom>
          <a:solidFill>
            <a:srgbClr val="1E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3858768"/>
            <a:ext cx="1371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1E3C6E"/>
                </a:solidFill>
                <a:latin typeface="Calibri"/>
              </a:rPr>
              <a:t>20 pts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34840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FFF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62272"/>
            <a:ext cx="74066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FFA500"/>
                </a:solidFill>
                <a:latin typeface="Calibri"/>
              </a:rPr>
              <a:t>★  Up to +10 bonus: degraded-link robustness, cross-user calibration, multi-modal, technical depth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Scoring Breakdown: Driving Performance (30 pts)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863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646E82"/>
                </a:solidFill>
                <a:latin typeface="Calibri"/>
              </a:rPr>
              <a:t>Judges look for: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536192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08760"/>
            <a:ext cx="731520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42850"/>
                </a:solidFill>
                <a:latin typeface="Calibri"/>
              </a:rPr>
              <a:t>The sim's score on L1–L3 (time + collision and gate penalties)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139696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12264"/>
            <a:ext cx="731520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42850"/>
                </a:solidFill>
                <a:latin typeface="Calibri"/>
              </a:rPr>
              <a:t>Completing courses at all: a slow finish beats a DNF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43199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15768"/>
            <a:ext cx="731520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42850"/>
                </a:solidFill>
                <a:latin typeface="Calibri"/>
              </a:rPr>
              <a:t>Smooth, deliberate control: few deadman stops, no oscillation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346703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19272"/>
            <a:ext cx="731520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42850"/>
                </a:solidFill>
                <a:latin typeface="Calibri"/>
              </a:rPr>
              <a:t>Consistency: repeatable runs, not one lucky one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950208"/>
            <a:ext cx="329184" cy="329184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922776"/>
            <a:ext cx="731520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42850"/>
                </a:solidFill>
                <a:latin typeface="Calibri"/>
              </a:rPr>
              <a:t>How much the score degrades under latency / drop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Scoring: Creativity &amp; Control /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61288"/>
            <a:ext cx="3977639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61288"/>
            <a:ext cx="3977639" cy="44805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188720"/>
            <a:ext cx="356616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Creativity &amp; Novelty (25 pts)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83080"/>
            <a:ext cx="3566160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1E32"/>
                </a:solidFill>
                <a:latin typeface="Calibri"/>
              </a:rPr>
              <a:t>•  Original mapping from muscles to motion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1E32"/>
                </a:solidFill>
                <a:latin typeface="Calibri"/>
              </a:rPr>
              <a:t>•  Proportional speed, gestures, IMU steering…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1E32"/>
                </a:solidFill>
                <a:latin typeface="Calibri"/>
              </a:rPr>
              <a:t>•  Smart assistance (lidar) that keeps the human in charge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1E32"/>
                </a:solidFill>
                <a:latin typeface="Calibri"/>
              </a:rPr>
              <a:t>•  "Wow factor"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161288"/>
            <a:ext cx="3977639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682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161288"/>
            <a:ext cx="3977639" cy="44805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3752" y="1188720"/>
            <a:ext cx="356616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Control &amp; UX (25 pts)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783080"/>
            <a:ext cx="3566160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1E32"/>
                </a:solidFill>
                <a:latin typeface="Calibri"/>
              </a:rPr>
              <a:t>•  Easy to learn: a new driver is up in minutes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1E32"/>
                </a:solidFill>
                <a:latin typeface="Calibri"/>
              </a:rPr>
              <a:t>•  Quick calibration for a new user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1E32"/>
                </a:solidFill>
                <a:latin typeface="Calibri"/>
              </a:rPr>
              <a:t>•  Clear feedback: the driver knows what it will do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E1E32"/>
                </a:solidFill>
                <a:latin typeface="Calibri"/>
              </a:rPr>
              <a:t>•  Fails safe: stops when the signal is lost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Bonus Points (up to +10)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78912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9672"/>
                <a:gridCol w="1371600"/>
              </a:tblGrid>
              <a:tr h="457200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Bonus category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Points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  <a:tr h="457200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1E1E32"/>
                          </a:solidFill>
                          <a:latin typeface="Calibri"/>
                        </a:rPr>
                        <a:t>Robust under a degraded link (300 ms latency, 10 % drop)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ctr"/>
                      <a:r>
                        <a:rPr sz="1500" b="1">
                          <a:solidFill>
                            <a:srgbClr val="00B4C8"/>
                          </a:solidFill>
                          <a:latin typeface="Calibri"/>
                        </a:rPr>
                        <a:t>+3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</a:tr>
              <a:tr h="457200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1E1E32"/>
                          </a:solidFill>
                          <a:latin typeface="Calibri"/>
                        </a:rPr>
                        <a:t>Cross-user: a new driver, calibrated in ≤ 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ctr"/>
                      <a:r>
                        <a:rPr sz="1500" b="1">
                          <a:solidFill>
                            <a:srgbClr val="00B4C8"/>
                          </a:solidFill>
                          <a:latin typeface="Calibri"/>
                        </a:rPr>
                        <a:t>+3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1E1E32"/>
                          </a:solidFill>
                          <a:latin typeface="Calibri"/>
                        </a:rPr>
                        <a:t>Multi-modal (EMG + IMU) or shared-control assistance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ctr"/>
                      <a:r>
                        <a:rPr sz="1500" b="1">
                          <a:solidFill>
                            <a:srgbClr val="00B4C8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>
                    <a:solidFill>
                      <a:srgbClr val="EBF5FA"/>
                    </a:solidFill>
                  </a:tcPr>
                </a:tc>
              </a:tr>
              <a:tr h="457200">
                <a:tc>
                  <a:txBody>
                    <a:bodyPr wrap="square" anchor="ctr" lIns="36576" rIns="36576" tIns="36576" bIns="36576"/>
                    <a:lstStyle/>
                    <a:p>
                      <a:pPr algn="l"/>
                      <a:r>
                        <a:rPr sz="1500" b="0">
                          <a:solidFill>
                            <a:srgbClr val="1E1E32"/>
                          </a:solidFill>
                          <a:latin typeface="Calibri"/>
                        </a:rPr>
                        <a:t>Exceptional technical 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6576" rIns="36576" tIns="36576" bIns="36576"/>
                    <a:lstStyle/>
                    <a:p>
                      <a:pPr algn="ctr"/>
                      <a:r>
                        <a:rPr sz="1500" b="1">
                          <a:solidFill>
                            <a:srgbClr val="00B4C8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023360"/>
            <a:ext cx="7891272" cy="548640"/>
          </a:xfrm>
          <a:prstGeom prst="roundRect">
            <a:avLst>
              <a:gd name="adj" fmla="val 8000"/>
            </a:avLst>
          </a:prstGeom>
          <a:solidFill>
            <a:srgbClr val="FFF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50791"/>
            <a:ext cx="74066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FFA500"/>
                </a:solidFill>
                <a:latin typeface="Calibri"/>
              </a:rPr>
              <a:t>★  Bonus points are awarded on top of the 100-point base score by the judges.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Getting Started</a:t>
            </a:r>
          </a:p>
        </p:txBody>
      </p:sp>
      <p:sp>
        <p:nvSpPr>
          <p:cNvPr id="6" name="Oval 5"/>
          <p:cNvSpPr/>
          <p:nvPr/>
        </p:nvSpPr>
        <p:spPr>
          <a:xfrm>
            <a:off x="484632" y="1170432"/>
            <a:ext cx="347472" cy="347472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" y="1517904"/>
            <a:ext cx="27432" cy="31089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115568"/>
            <a:ext cx="75895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Install:  </a:t>
            </a:r>
            <a:r>
              <a:rPr sz="1200" b="0">
                <a:solidFill>
                  <a:srgbClr val="1E1E32"/>
                </a:solidFill>
                <a:latin typeface="Menlo"/>
              </a:rPr>
              <a:t>conda env create -f environment.yml &amp;&amp; conda activate jackal</a:t>
            </a:r>
          </a:p>
        </p:txBody>
      </p:sp>
      <p:sp>
        <p:nvSpPr>
          <p:cNvPr id="9" name="Oval 8"/>
          <p:cNvSpPr/>
          <p:nvPr/>
        </p:nvSpPr>
        <p:spPr>
          <a:xfrm>
            <a:off x="484632" y="1828800"/>
            <a:ext cx="347472" cy="347472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" y="2176272"/>
            <a:ext cx="27432" cy="31089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773936"/>
            <a:ext cx="75895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Sim + bridge:  </a:t>
            </a:r>
            <a:r>
              <a:rPr sz="1200" b="0">
                <a:solidFill>
                  <a:srgbClr val="1E1E32"/>
                </a:solidFill>
                <a:latin typeface="Menlo"/>
              </a:rPr>
              <a:t>jackal-bridge --serve-site --open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" y="2487168"/>
            <a:ext cx="347472" cy="347472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" y="2834640"/>
            <a:ext cx="27432" cy="31089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2432304"/>
            <a:ext cx="75895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First drive:  </a:t>
            </a:r>
            <a:r>
              <a:rPr sz="1200" b="0">
                <a:solidFill>
                  <a:srgbClr val="1E1E32"/>
                </a:solidFill>
                <a:latin typeface="Menlo"/>
              </a:rPr>
              <a:t>python …/examples/keyboard_teleop.py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" y="3145536"/>
            <a:ext cx="347472" cy="347472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" y="3493008"/>
            <a:ext cx="27432" cy="310896"/>
          </a:xfrm>
          <a:prstGeom prst="rect">
            <a:avLst/>
          </a:prstGeom>
          <a:solidFill>
            <a:srgbClr val="B4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3090672"/>
            <a:ext cx="75895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Myo:  </a:t>
            </a:r>
            <a:r>
              <a:rPr sz="1200" b="0">
                <a:solidFill>
                  <a:srgbClr val="1E1E32"/>
                </a:solidFill>
                <a:latin typeface="Menlo"/>
              </a:rPr>
              <a:t>python …/examples/myo_lsl_publisher.py  then  lsl-web-viewer --open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" y="3803903"/>
            <a:ext cx="347472" cy="347472"/>
          </a:xfrm>
          <a:prstGeom prst="ellipse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3749039"/>
            <a:ext cx="75895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Build:  </a:t>
            </a:r>
            <a:r>
              <a:rPr sz="1500" b="0">
                <a:solidFill>
                  <a:srgbClr val="1E1E32"/>
                </a:solidFill>
                <a:latin typeface="Calibri"/>
              </a:rPr>
              <a:t>copy controller_template.py and make it yours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434840"/>
            <a:ext cx="7498079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4C8"/>
                </a:solidFill>
                <a:latin typeface="Calibri"/>
              </a:rPr>
              <a:t>Everything, step by step: </a:t>
            </a:r>
            <a:r>
              <a:rPr sz="1200" b="0">
                <a:solidFill>
                  <a:srgbClr val="1E1E32"/>
                </a:solidFill>
                <a:latin typeface="Menlo"/>
              </a:rPr>
              <a:t>events/2026-aware-ai-jackal/STUDENT_GUIDE.md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9144000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37744"/>
            <a:ext cx="7891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42850"/>
                </a:solidFill>
                <a:latin typeface="Calibri"/>
              </a:rPr>
              <a:t>Tips for Success</a:t>
            </a:r>
          </a:p>
        </p:txBody>
      </p:sp>
      <p:sp>
        <p:nvSpPr>
          <p:cNvPr id="6" name="Diamond 5"/>
          <p:cNvSpPr/>
          <p:nvPr/>
        </p:nvSpPr>
        <p:spPr>
          <a:xfrm>
            <a:off x="548640" y="1216152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097280"/>
            <a:ext cx="768096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Start with the fake Myo</a:t>
            </a:r>
            <a:r>
              <a:rPr sz="1500" b="0">
                <a:solidFill>
                  <a:srgbClr val="646E82"/>
                </a:solidFill>
                <a:latin typeface="Calibri"/>
              </a:rPr>
              <a:t> — fake_myo_lsl.py lets you build the pipeline without the armband</a:t>
            </a:r>
          </a:p>
        </p:txBody>
      </p:sp>
      <p:sp>
        <p:nvSpPr>
          <p:cNvPr id="8" name="Diamond 7"/>
          <p:cNvSpPr/>
          <p:nvPr/>
        </p:nvSpPr>
        <p:spPr>
          <a:xfrm>
            <a:off x="548640" y="1837943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19072"/>
            <a:ext cx="768096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Record training data early</a:t>
            </a:r>
            <a:r>
              <a:rPr sz="1500" b="0">
                <a:solidFill>
                  <a:srgbClr val="646E82"/>
                </a:solidFill>
                <a:latin typeface="Calibri"/>
              </a:rPr>
              <a:t> — lsl-web-viewer saves labeled takes as CSV</a:t>
            </a:r>
          </a:p>
        </p:txBody>
      </p:sp>
      <p:sp>
        <p:nvSpPr>
          <p:cNvPr id="10" name="Diamond 9"/>
          <p:cNvSpPr/>
          <p:nvPr/>
        </p:nvSpPr>
        <p:spPr>
          <a:xfrm>
            <a:off x="548640" y="2459736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340864"/>
            <a:ext cx="768096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Simple first</a:t>
            </a:r>
            <a:r>
              <a:rPr sz="1500" b="0">
                <a:solidFill>
                  <a:srgbClr val="646E82"/>
                </a:solidFill>
                <a:latin typeface="Calibri"/>
              </a:rPr>
              <a:t> — two reliable commands beat six flaky ones</a:t>
            </a:r>
          </a:p>
        </p:txBody>
      </p:sp>
      <p:sp>
        <p:nvSpPr>
          <p:cNvPr id="12" name="Diamond 11"/>
          <p:cNvSpPr/>
          <p:nvPr/>
        </p:nvSpPr>
        <p:spPr>
          <a:xfrm>
            <a:off x="548640" y="3081528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962656"/>
            <a:ext cx="768096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Always send at 20 Hz</a:t>
            </a:r>
            <a:r>
              <a:rPr sz="1500" b="0">
                <a:solidFill>
                  <a:srgbClr val="646E82"/>
                </a:solidFill>
                <a:latin typeface="Calibri"/>
              </a:rPr>
              <a:t> — or the deadman stops you; resend the last value</a:t>
            </a:r>
          </a:p>
        </p:txBody>
      </p:sp>
      <p:sp>
        <p:nvSpPr>
          <p:cNvPr id="14" name="Diamond 13"/>
          <p:cNvSpPr/>
          <p:nvPr/>
        </p:nvSpPr>
        <p:spPr>
          <a:xfrm>
            <a:off x="548640" y="3703320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584448"/>
            <a:ext cx="768096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Turn the latency slider on early</a:t>
            </a:r>
            <a:r>
              <a:rPr sz="1500" b="0">
                <a:solidFill>
                  <a:srgbClr val="646E82"/>
                </a:solidFill>
                <a:latin typeface="Calibri"/>
              </a:rPr>
              <a:t> — don't discover it at judging</a:t>
            </a:r>
          </a:p>
        </p:txBody>
      </p:sp>
      <p:sp>
        <p:nvSpPr>
          <p:cNvPr id="16" name="Diamond 15"/>
          <p:cNvSpPr/>
          <p:nvPr/>
        </p:nvSpPr>
        <p:spPr>
          <a:xfrm>
            <a:off x="548640" y="4325112"/>
            <a:ext cx="155448" cy="155448"/>
          </a:xfrm>
          <a:prstGeom prst="diamond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206240"/>
            <a:ext cx="768096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42850"/>
                </a:solidFill>
                <a:latin typeface="Calibri"/>
              </a:rPr>
              <a:t>Test with a teammate</a:t>
            </a:r>
            <a:r>
              <a:rPr sz="1500" b="0">
                <a:solidFill>
                  <a:srgbClr val="646E82"/>
                </a:solidFill>
                <a:latin typeface="Calibri"/>
              </a:rPr>
              <a:t> — who didn't calibrate it. Then: myo_check.py --off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6E82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237744" cy="2395728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891272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Build Something Amazing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090672" y="2331720"/>
            <a:ext cx="2953512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606040"/>
            <a:ext cx="7205472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800" b="0">
                <a:solidFill>
                  <a:srgbClr val="00D2E6"/>
                </a:solidFill>
                <a:latin typeface="Calibri"/>
              </a:rPr>
              <a:t>Good luck!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61722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C8D7E6"/>
                </a:solidFill>
                <a:latin typeface="Calibri"/>
              </a:rPr>
              <a:t>Repo: github.com/AHRTLab/Hackathon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C8D7E6"/>
                </a:solidFill>
                <a:latin typeface="Calibri"/>
              </a:rPr>
              <a:t>Sim: ahrtlab.github.io/Hackathon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C8D7E6"/>
                </a:solidFill>
                <a:latin typeface="Calibri"/>
              </a:rPr>
              <a:t>Contact: jrheee@rit.edu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837176"/>
            <a:ext cx="8229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47896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