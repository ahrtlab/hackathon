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9"/>
    <p:sldId id="269" r:id="rId8"/>
    <p:sldId id="270" r:id="rId24"/>
    <p:sldId id="271" r:id="rId25"/>
  </p:sldIdLst>
  <p:sldSz cy="5143500" cx="9144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A80942-54FC-410B-82C0-A46948659490}">
  <a:tblStyle styleId="{2DA80942-54FC-410B-82C0-A469486594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font" Target="fonts/GillSans-regular.fntdata"/><Relationship Id="rId23" Type="http://schemas.openxmlformats.org/officeDocument/2006/relationships/font" Target="fonts/GillSans-bold.fntdata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88684" y="603389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88684" y="1511799"/>
            <a:ext cx="7202400" cy="25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665604" y="247778"/>
            <a:ext cx="2625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088684" y="246980"/>
            <a:ext cx="4454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0045" y="599230"/>
            <a:ext cx="60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1090422" y="1385316"/>
            <a:ext cx="7205700" cy="0"/>
          </a:xfrm>
          <a:prstGeom prst="straightConnector1">
            <a:avLst/>
          </a:prstGeom>
          <a:noFill/>
          <a:ln cap="flat" cmpd="sng" w="23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20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237744" cy="239572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7072" y="685800"/>
            <a:ext cx="548640" cy="5486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2440" y="822960"/>
            <a:ext cx="1033271" cy="54864"/>
          </a:xfrm>
          <a:prstGeom prst="rect">
            <a:avLst/>
          </a:prstGeom>
          <a:solidFill>
            <a:srgbClr val="00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75438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4100" b="1">
                <a:solidFill>
                  <a:srgbClr val="00B4C8"/>
                </a:solidFill>
                <a:latin typeface="Calibri"/>
              </a:rPr>
              <a:t>EMG On-Ramp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7543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What your Myo is actually measuring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0672" y="3090672"/>
            <a:ext cx="2953512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37560"/>
            <a:ext cx="6172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700" b="0">
                <a:solidFill>
                  <a:srgbClr val="00B4C8"/>
                </a:solidFill>
                <a:latin typeface="Calibri"/>
              </a:rPr>
              <a:t>⏱  15 minutes  ·  no background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896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Why Understand the Signal?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4231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2423160" cy="54864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224028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Your code only sees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05740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8 streams of numbers, 200 times a second. Knowing what they mean is how you turn them into a good command.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4231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325880"/>
            <a:ext cx="2423160" cy="54864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53312"/>
            <a:ext cx="224028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Intent before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205740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Muscle activity starts ~50–100 ms before the hand actually moves. That is the head start EMG gives a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325880"/>
            <a:ext cx="24231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325880"/>
            <a:ext cx="2423160" cy="54864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353312"/>
            <a:ext cx="224028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Fewer surprises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05740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Noise, fatigue and a shifted band all look like “my classifier broke.” Recognise them and you can fix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Where the Signal Comes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E6F8FA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42850"/>
                </a:solidFill>
                <a:latin typeface="Calibri"/>
              </a:rPr>
              <a:t>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decides to move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28800" y="1572768"/>
            <a:ext cx="256032" cy="182880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30552" y="118872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1261872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42850"/>
                </a:solidFill>
                <a:latin typeface="Calibri"/>
              </a:rPr>
              <a:t>Motor neurons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673352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fire spikes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47872" y="1572768"/>
            <a:ext cx="256032" cy="182880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9624" y="118872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95344" y="1261872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42850"/>
                </a:solidFill>
                <a:latin typeface="Calibri"/>
              </a:rPr>
              <a:t>Muscle fibres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5344" y="1673352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contract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66944" y="1572768"/>
            <a:ext cx="256032" cy="182880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68696" y="118872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1261872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42850"/>
                </a:solidFill>
                <a:latin typeface="Calibri"/>
              </a:rPr>
              <a:t>Electric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1673352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reaches the skin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86016" y="1572768"/>
            <a:ext cx="256032" cy="182880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87768" y="118872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E6F8FA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1261872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42850"/>
                </a:solidFill>
                <a:latin typeface="Calibri"/>
              </a:rPr>
              <a:t>Myo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1673352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8 electrodes</a:t>
            </a:r>
          </a:p>
        </p:txBody>
      </p:sp>
      <p:sp>
        <p:nvSpPr>
          <p:cNvPr id="25" name="Diamond 24"/>
          <p:cNvSpPr/>
          <p:nvPr/>
        </p:nvSpPr>
        <p:spPr>
          <a:xfrm>
            <a:off x="548640" y="262432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514600"/>
            <a:ext cx="753465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Motor unit</a:t>
            </a:r>
            <a:r>
              <a:rPr sz="1400" b="0">
                <a:solidFill>
                  <a:srgbClr val="646E82"/>
                </a:solidFill>
                <a:latin typeface="Calibri"/>
              </a:rPr>
              <a:t> = one motor neuron + all the muscle fibres it controls. It fires all-or-none.</a:t>
            </a:r>
          </a:p>
        </p:txBody>
      </p:sp>
      <p:sp>
        <p:nvSpPr>
          <p:cNvPr id="27" name="Diamond 26"/>
          <p:cNvSpPr/>
          <p:nvPr/>
        </p:nvSpPr>
        <p:spPr>
          <a:xfrm>
            <a:off x="548640" y="317296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063240"/>
            <a:ext cx="753465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More force</a:t>
            </a:r>
            <a:r>
              <a:rPr sz="1400" b="0">
                <a:solidFill>
                  <a:srgbClr val="646E82"/>
                </a:solidFill>
                <a:latin typeface="Calibri"/>
              </a:rPr>
              <a:t> = more motor units switched on, each firing faster.</a:t>
            </a:r>
          </a:p>
        </p:txBody>
      </p:sp>
      <p:sp>
        <p:nvSpPr>
          <p:cNvPr id="29" name="Diamond 28"/>
          <p:cNvSpPr/>
          <p:nvPr/>
        </p:nvSpPr>
        <p:spPr>
          <a:xfrm>
            <a:off x="548640" y="372160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611880"/>
            <a:ext cx="753465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Surface EMG</a:t>
            </a:r>
            <a:r>
              <a:rPr sz="1400" b="0">
                <a:solidFill>
                  <a:srgbClr val="646E82"/>
                </a:solidFill>
                <a:latin typeface="Calibri"/>
              </a:rPr>
              <a:t> = the sum of all those tiny electrical spikes, seen through skin and fat.</a:t>
            </a:r>
          </a:p>
        </p:txBody>
      </p:sp>
      <p:sp>
        <p:nvSpPr>
          <p:cNvPr id="31" name="Diamond 30"/>
          <p:cNvSpPr/>
          <p:nvPr/>
        </p:nvSpPr>
        <p:spPr>
          <a:xfrm>
            <a:off x="548640" y="427024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160520"/>
            <a:ext cx="753465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So</a:t>
            </a:r>
            <a:r>
              <a:rPr sz="1400" b="0">
                <a:solidFill>
                  <a:srgbClr val="646E82"/>
                </a:solidFill>
                <a:latin typeface="Calibri"/>
              </a:rPr>
              <a:t>: it is a crowd's noise, not a single voice. Its loudness is the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More Effort, Bigger Signal</a:t>
            </a:r>
          </a:p>
        </p:txBody>
      </p:sp>
      <p:pic>
        <p:nvPicPr>
          <p:cNvPr id="6" name="Picture 5" descr="eff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7863840" cy="29465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86200"/>
            <a:ext cx="78638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850"/>
                </a:solidFill>
                <a:latin typeface="Calibri"/>
              </a:rPr>
              <a:t>Amplitude tracks effort. </a:t>
            </a:r>
            <a:r>
              <a:rPr sz="1500" b="0">
                <a:solidFill>
                  <a:srgbClr val="1E1E32"/>
                </a:solidFill>
                <a:latin typeface="Calibri"/>
              </a:rPr>
              <a:t>A light squeeze, a medium one and a hard one: the signal gets larger and denser as more motor units join in.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46E82"/>
                </a:solidFill>
                <a:latin typeface="Calibri"/>
              </a:rPr>
              <a:t>Simulated signal at the Myo's 200 Hz, for illustration.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Reading Raw EMG</a:t>
            </a:r>
          </a:p>
        </p:txBody>
      </p:sp>
      <p:sp>
        <p:nvSpPr>
          <p:cNvPr id="6" name="Diamond 5"/>
          <p:cNvSpPr/>
          <p:nvPr/>
        </p:nvSpPr>
        <p:spPr>
          <a:xfrm>
            <a:off x="548640" y="125272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143000"/>
            <a:ext cx="7534656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It looks like noise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and statistically it is: random-looking, centred on zero.</a:t>
            </a:r>
          </a:p>
        </p:txBody>
      </p:sp>
      <p:sp>
        <p:nvSpPr>
          <p:cNvPr id="8" name="Diamond 7"/>
          <p:cNvSpPr/>
          <p:nvPr/>
        </p:nvSpPr>
        <p:spPr>
          <a:xfrm>
            <a:off x="548640" y="1911095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01368"/>
            <a:ext cx="7534656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The sign means nothing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+80 and −80 are the same amount of activity.</a:t>
            </a:r>
          </a:p>
        </p:txBody>
      </p:sp>
      <p:sp>
        <p:nvSpPr>
          <p:cNvPr id="10" name="Diamond 9"/>
          <p:cNvSpPr/>
          <p:nvPr/>
        </p:nvSpPr>
        <p:spPr>
          <a:xfrm>
            <a:off x="548640" y="2569464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459736"/>
            <a:ext cx="7534656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One sample tells you nothing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always look at a window of samples (e.g. the last 200 ms).</a:t>
            </a:r>
          </a:p>
        </p:txBody>
      </p:sp>
      <p:sp>
        <p:nvSpPr>
          <p:cNvPr id="12" name="Diamond 11"/>
          <p:cNvSpPr/>
          <p:nvPr/>
        </p:nvSpPr>
        <p:spPr>
          <a:xfrm>
            <a:off x="548640" y="3227832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118104"/>
            <a:ext cx="7534656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Loudness is the information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how big the wiggles are over a window = how hard the muscle works.</a:t>
            </a:r>
          </a:p>
        </p:txBody>
      </p:sp>
      <p:sp>
        <p:nvSpPr>
          <p:cNvPr id="14" name="Diamond 13"/>
          <p:cNvSpPr/>
          <p:nvPr/>
        </p:nvSpPr>
        <p:spPr>
          <a:xfrm>
            <a:off x="548640" y="3886200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776472"/>
            <a:ext cx="7534656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Where it is loud is the information too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which of the 8 channels light up = which muscles = which gesture.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Meet the Myo Armband</a:t>
            </a:r>
          </a:p>
        </p:txBody>
      </p:sp>
      <p:sp>
        <p:nvSpPr>
          <p:cNvPr id="6" name="Diamond 5"/>
          <p:cNvSpPr/>
          <p:nvPr/>
        </p:nvSpPr>
        <p:spPr>
          <a:xfrm>
            <a:off x="548640" y="1207007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097280"/>
            <a:ext cx="442569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8 EMG channels</a:t>
            </a:r>
            <a:r>
              <a:rPr sz="1400" b="0">
                <a:solidFill>
                  <a:srgbClr val="646E82"/>
                </a:solidFill>
                <a:latin typeface="Calibri"/>
              </a:rPr>
              <a:t> · electrode pods around the forearm</a:t>
            </a:r>
          </a:p>
        </p:txBody>
      </p:sp>
      <p:sp>
        <p:nvSpPr>
          <p:cNvPr id="8" name="Diamond 7"/>
          <p:cNvSpPr/>
          <p:nvPr/>
        </p:nvSpPr>
        <p:spPr>
          <a:xfrm>
            <a:off x="548640" y="175564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45919"/>
            <a:ext cx="442569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200 Hz</a:t>
            </a:r>
            <a:r>
              <a:rPr sz="1400" b="0">
                <a:solidFill>
                  <a:srgbClr val="646E82"/>
                </a:solidFill>
                <a:latin typeface="Calibri"/>
              </a:rPr>
              <a:t> · 200 samples per second per channel</a:t>
            </a:r>
          </a:p>
        </p:txBody>
      </p:sp>
      <p:sp>
        <p:nvSpPr>
          <p:cNvPr id="10" name="Diamond 9"/>
          <p:cNvSpPr/>
          <p:nvPr/>
        </p:nvSpPr>
        <p:spPr>
          <a:xfrm>
            <a:off x="548640" y="230428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94560"/>
            <a:ext cx="442569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8-bit values</a:t>
            </a:r>
            <a:r>
              <a:rPr sz="1400" b="0">
                <a:solidFill>
                  <a:srgbClr val="646E82"/>
                </a:solidFill>
                <a:latin typeface="Calibri"/>
              </a:rPr>
              <a:t> · −128 … 127, unitless (not µV)</a:t>
            </a:r>
          </a:p>
        </p:txBody>
      </p:sp>
      <p:sp>
        <p:nvSpPr>
          <p:cNvPr id="12" name="Diamond 11"/>
          <p:cNvSpPr/>
          <p:nvPr/>
        </p:nvSpPr>
        <p:spPr>
          <a:xfrm>
            <a:off x="548640" y="285292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743200"/>
            <a:ext cx="442569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Dry electrodes</a:t>
            </a:r>
            <a:r>
              <a:rPr sz="1400" b="0">
                <a:solidFill>
                  <a:srgbClr val="646E82"/>
                </a:solidFill>
                <a:latin typeface="Calibri"/>
              </a:rPr>
              <a:t> · no gel: needs a snug fit and ~2 min to settle</a:t>
            </a:r>
          </a:p>
        </p:txBody>
      </p:sp>
      <p:sp>
        <p:nvSpPr>
          <p:cNvPr id="14" name="Diamond 13"/>
          <p:cNvSpPr/>
          <p:nvPr/>
        </p:nvSpPr>
        <p:spPr>
          <a:xfrm>
            <a:off x="548640" y="340156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291839"/>
            <a:ext cx="442569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Plus an IMU</a:t>
            </a:r>
            <a:r>
              <a:rPr sz="1400" b="0">
                <a:solidFill>
                  <a:srgbClr val="646E82"/>
                </a:solidFill>
                <a:latin typeface="Calibri"/>
              </a:rPr>
              <a:t> · orientation, acceleration, rotation at 50 Hz</a:t>
            </a:r>
          </a:p>
        </p:txBody>
      </p:sp>
      <p:sp>
        <p:nvSpPr>
          <p:cNvPr id="16" name="Diamond 15"/>
          <p:cNvSpPr/>
          <p:nvPr/>
        </p:nvSpPr>
        <p:spPr>
          <a:xfrm>
            <a:off x="548640" y="395020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840480"/>
            <a:ext cx="4425696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On LSL</a:t>
            </a:r>
            <a:r>
              <a:rPr sz="1400" b="0">
                <a:solidFill>
                  <a:srgbClr val="646E82"/>
                </a:solidFill>
                <a:latin typeface="Calibri"/>
              </a:rPr>
              <a:t> · Myo_EMG, Myo_IMU, Myo_Events (arm sync)</a:t>
            </a:r>
          </a:p>
        </p:txBody>
      </p:sp>
      <p:sp>
        <p:nvSpPr>
          <p:cNvPr id="18" name="Oval 17"/>
          <p:cNvSpPr/>
          <p:nvPr/>
        </p:nvSpPr>
        <p:spPr>
          <a:xfrm>
            <a:off x="5468112" y="1261872"/>
            <a:ext cx="2871216" cy="2871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2331720"/>
            <a:ext cx="1005840" cy="731520"/>
          </a:xfrm>
          <a:prstGeom prst="ellipse">
            <a:avLst/>
          </a:prstGeom>
          <a:solidFill>
            <a:srgbClr val="E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468880"/>
            <a:ext cx="10972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900" b="0">
                <a:solidFill>
                  <a:srgbClr val="646E82"/>
                </a:solidFill>
                <a:latin typeface="Calibri"/>
              </a:rPr>
              <a:t>forearm
(cross-section)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11696" y="1362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9919" y="1697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54696" y="2505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19919" y="3313679"/>
            <a:ext cx="384048" cy="384048"/>
          </a:xfrm>
          <a:prstGeom prst="roundRect">
            <a:avLst>
              <a:gd name="adj" fmla="val 8000"/>
            </a:avLst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11696" y="3648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03472" y="3313679"/>
            <a:ext cx="384048" cy="384048"/>
          </a:xfrm>
          <a:prstGeom prst="roundRect">
            <a:avLst>
              <a:gd name="adj" fmla="val 8000"/>
            </a:avLst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68696" y="2505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03472" y="169723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16052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00B4C8"/>
                </a:solidFill>
                <a:latin typeface="Calibri"/>
              </a:rPr>
              <a:t>■ </a:t>
            </a:r>
            <a:r>
              <a:rPr sz="1000" b="0">
                <a:solidFill>
                  <a:srgbClr val="646E82"/>
                </a:solidFill>
                <a:latin typeface="Calibri"/>
              </a:rPr>
              <a:t>palm side (flexors)   </a:t>
            </a:r>
            <a:r>
              <a:rPr sz="1000" b="0">
                <a:solidFill>
                  <a:srgbClr val="4682B4"/>
                </a:solidFill>
                <a:latin typeface="Calibri"/>
              </a:rPr>
              <a:t>■ </a:t>
            </a:r>
            <a:r>
              <a:rPr sz="1000" b="0">
                <a:solidFill>
                  <a:srgbClr val="646E82"/>
                </a:solidFill>
                <a:latin typeface="Calibri"/>
              </a:rPr>
              <a:t>back (extensors)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407408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646E82"/>
                </a:solidFill>
                <a:latin typeface="Calibri"/>
              </a:rPr>
              <a:t>which pod sits where depends on how the band is worn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Different Gestures, Different Channels</a:t>
            </a:r>
          </a:p>
        </p:txBody>
      </p:sp>
      <p:pic>
        <p:nvPicPr>
          <p:cNvPr id="6" name="Picture 5" descr="ges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138160" cy="1961138"/>
          </a:xfrm>
          <a:prstGeom prst="rect">
            <a:avLst/>
          </a:prstGeom>
        </p:spPr>
      </p:pic>
      <p:sp>
        <p:nvSpPr>
          <p:cNvPr id="7" name="Diamond 6"/>
          <p:cNvSpPr/>
          <p:nvPr/>
        </p:nvSpPr>
        <p:spPr>
          <a:xfrm>
            <a:off x="548640" y="344728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337560"/>
            <a:ext cx="7534656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A gesture is a pattern</a:t>
            </a:r>
            <a:r>
              <a:rPr sz="1400" b="0">
                <a:solidFill>
                  <a:srgbClr val="646E82"/>
                </a:solidFill>
                <a:latin typeface="Calibri"/>
              </a:rPr>
              <a:t> across the 8 channels, not a single number.</a:t>
            </a:r>
          </a:p>
        </p:txBody>
      </p:sp>
      <p:sp>
        <p:nvSpPr>
          <p:cNvPr id="9" name="Diamond 8"/>
          <p:cNvSpPr/>
          <p:nvPr/>
        </p:nvSpPr>
        <p:spPr>
          <a:xfrm>
            <a:off x="548640" y="395020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840480"/>
            <a:ext cx="7534656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Rotate the band and the pattern rotates too</a:t>
            </a:r>
            <a:r>
              <a:rPr sz="1400" b="0">
                <a:solidFill>
                  <a:srgbClr val="646E82"/>
                </a:solidFill>
                <a:latin typeface="Calibri"/>
              </a:rPr>
              <a:t>: calibrate for each person and each fitting.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646E82"/>
                </a:solidFill>
                <a:latin typeface="Calibri"/>
              </a:rPr>
              <a:t>Illustrative patterns, not measured data. See your own in lsl-web-viewer.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From Raw Signal to Envelope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87552"/>
            <a:ext cx="6345636" cy="374903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720840" y="109728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051560"/>
            <a:ext cx="1828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35331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46E82"/>
                </a:solidFill>
                <a:latin typeface="Calibri"/>
              </a:rPr>
              <a:t>what the Myo sends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196596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1828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Remove offset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21991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46E82"/>
                </a:solidFill>
                <a:latin typeface="Calibri"/>
              </a:rPr>
              <a:t>subtract the mean, so rest sits at 0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2834639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788920"/>
            <a:ext cx="1828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Rectify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9067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46E82"/>
                </a:solidFill>
                <a:latin typeface="Calibri"/>
              </a:rPr>
              <a:t>take |x|: negative wiggles count as activity too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370332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57600"/>
            <a:ext cx="1828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Smooth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959352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46E82"/>
                </a:solidFill>
                <a:latin typeface="Calibri"/>
              </a:rPr>
              <a:t>low-pass or a moving average: a slow “how hard” 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57200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0B4C8"/>
                </a:solidFill>
                <a:latin typeface="Calibri"/>
              </a:rPr>
              <a:t>That curve can drive speed directly.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Windows and Features</a:t>
            </a:r>
          </a:p>
        </p:txBody>
      </p:sp>
      <p:pic>
        <p:nvPicPr>
          <p:cNvPr id="6" name="Picture 5" descr="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87552"/>
            <a:ext cx="4754880" cy="174643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0" y="1051560"/>
          <a:ext cx="3291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00200"/>
              </a:tblGrid>
              <a:tr h="384048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Tells you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84048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1E1E32"/>
                          </a:solidFill>
                          <a:latin typeface="Calibri"/>
                        </a:rPr>
                        <a:t>RMS / MAV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1E1E32"/>
                          </a:solidFill>
                          <a:latin typeface="Calibri"/>
                        </a:rPr>
                        <a:t>how hard (amplitude)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384048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1E1E32"/>
                          </a:solidFill>
                          <a:latin typeface="Calibri"/>
                        </a:rPr>
                        <a:t>WL  waveform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1E1E32"/>
                          </a:solidFill>
                          <a:latin typeface="Calibri"/>
                        </a:rPr>
                        <a:t>how busy the signal 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1E1E32"/>
                          </a:solidFill>
                          <a:latin typeface="Calibri"/>
                        </a:rPr>
                        <a:t>ZC  zero crossings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1E1E32"/>
                          </a:solidFill>
                          <a:latin typeface="Calibri"/>
                        </a:rPr>
                        <a:t>a rough frequency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384048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1">
                          <a:solidFill>
                            <a:srgbClr val="1E1E32"/>
                          </a:solidFill>
                          <a:latin typeface="Calibri"/>
                        </a:rPr>
                        <a:t>SSC  slope sign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100" b="0">
                          <a:solidFill>
                            <a:srgbClr val="1E1E32"/>
                          </a:solidFill>
                          <a:latin typeface="Calibri"/>
                        </a:rPr>
                        <a:t>high-frequency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461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781812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E1E32"/>
                </a:solidFill>
                <a:latin typeface="Calibri"/>
              </a:rPr>
              <a:t>Every 50 ms: </a:t>
            </a:r>
            <a:r>
              <a:rPr sz="1400" b="0">
                <a:solidFill>
                  <a:srgbClr val="1E1E32"/>
                </a:solidFill>
                <a:latin typeface="Calibri"/>
              </a:rPr>
              <a:t>take the last 200 ms (40 samples) of each channel, compute a few features.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E1E32"/>
                </a:solidFill>
                <a:latin typeface="Calibri"/>
              </a:rPr>
              <a:t>8 channels × 4 features = </a:t>
            </a:r>
            <a:r>
              <a:rPr sz="1400" b="1">
                <a:solidFill>
                  <a:srgbClr val="00B4C8"/>
                </a:solidFill>
                <a:latin typeface="Calibri"/>
              </a:rPr>
              <a:t>32 numbers</a:t>
            </a:r>
            <a:r>
              <a:rPr sz="1400" b="0">
                <a:solidFill>
                  <a:srgbClr val="1E1E32"/>
                </a:solidFill>
                <a:latin typeface="Calibri"/>
              </a:rPr>
              <a:t> describing “what the arm is doing right now.” That vector is what a classifier sees.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46E82"/>
                </a:solidFill>
                <a:latin typeface="Calibri"/>
              </a:rPr>
              <a:t>At 200 Hz the Myo only captures up to 100 Hz, so amplitude features (RMS, MAV, WL) work best.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Two Ways to Turn EMG Into (v, 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3977639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3977639" cy="44805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24712"/>
            <a:ext cx="356616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Proportional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91640"/>
            <a:ext cx="35661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Envelope → speed directly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Smooth and fast to build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Squeeze harder = go faster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Needs per-person calibration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e.g. myo_emg_example.py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97280"/>
            <a:ext cx="3977639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8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097280"/>
            <a:ext cx="3977639" cy="44805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124712"/>
            <a:ext cx="356616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Gesture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691640"/>
            <a:ext cx="35661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Features → classifier → a class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fist / wave in / wave out / rest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Each class = a command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Needs labeled training data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32"/>
                </a:solidFill>
                <a:latin typeface="Calibri"/>
              </a:rPr>
              <a:t>•  LDA or SVM is a great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39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777240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FA500"/>
                </a:solidFill>
                <a:latin typeface="Calibri"/>
              </a:rPr>
              <a:t>★  Mix them: </a:t>
            </a:r>
            <a:r>
              <a:rPr sz="1500" b="0">
                <a:solidFill>
                  <a:srgbClr val="FFA500"/>
                </a:solidFill>
                <a:latin typeface="Calibri"/>
              </a:rPr>
              <a:t>the class picks the direction, the envelope picks the speed.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Calibration: Every Arm Is Different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13385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" y="1508760"/>
            <a:ext cx="27432" cy="347472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097280"/>
            <a:ext cx="7040880" cy="6309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Rest  —  </a:t>
            </a:r>
            <a:r>
              <a:rPr sz="1300" b="0">
                <a:solidFill>
                  <a:srgbClr val="646E82"/>
                </a:solidFill>
                <a:latin typeface="Calibri"/>
              </a:rPr>
              <a:t>relax for a few seconds: each channel's baseline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856231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5" y="2231136"/>
            <a:ext cx="27432" cy="347472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19656"/>
            <a:ext cx="7040880" cy="6309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Max  —  </a:t>
            </a:r>
            <a:r>
              <a:rPr sz="1300" b="0">
                <a:solidFill>
                  <a:srgbClr val="646E82"/>
                </a:solidFill>
                <a:latin typeface="Calibri"/>
              </a:rPr>
              <a:t>a firm (not painful) contraction for each gesture you use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78608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5" y="2953512"/>
            <a:ext cx="27432" cy="347472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7040880" cy="6309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Normalise  —  </a:t>
            </a:r>
            <a:r>
              <a:rPr sz="1300" b="0">
                <a:solidFill>
                  <a:srgbClr val="646E82"/>
                </a:solidFill>
                <a:latin typeface="Calibri"/>
              </a:rPr>
              <a:t>(x − rest) / (max − rest) → 0 … 1 per channel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00984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" y="3675888"/>
            <a:ext cx="27432" cy="347472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64408"/>
            <a:ext cx="7040880" cy="6309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Deadband  —  </a:t>
            </a:r>
            <a:r>
              <a:rPr sz="1300" b="0">
                <a:solidFill>
                  <a:srgbClr val="646E82"/>
                </a:solidFill>
                <a:latin typeface="Calibri"/>
              </a:rPr>
              <a:t>treat &lt; ~15 % as zero, so resting noise doesn't drive the robot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23360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86784"/>
            <a:ext cx="7040880" cy="6309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Redo it  —  </a:t>
            </a:r>
            <a:r>
              <a:rPr sz="1300" b="0">
                <a:solidFill>
                  <a:srgbClr val="646E82"/>
                </a:solidFill>
                <a:latin typeface="Calibri"/>
              </a:rPr>
              <a:t>new person, band moved, or after a break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What Goes Wrong (and the Fix)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926080"/>
              </a:tblGrid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 see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Likely cause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2850"/>
                          </a:solidFill>
                          <a:latin typeface="Calibri"/>
                        </a:rPr>
                        <a:t>Big noise on every channel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loose band, dry skin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tighten (sizing clips); wait 2 min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2850"/>
                          </a:solidFill>
                          <a:latin typeface="Calibri"/>
                        </a:rPr>
                        <a:t>Spikes when the arm moves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motion artefacts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steady arm; filter; ignore short spikes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2850"/>
                          </a:solidFill>
                          <a:latin typeface="Calibri"/>
                        </a:rPr>
                        <a:t>Wrong gesture detected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band rotated since calibration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re-sync and recalibrate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2850"/>
                          </a:solidFill>
                          <a:latin typeface="Calibri"/>
                        </a:rPr>
                        <a:t>Signal creeps up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fatigue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rest breaks; recalibrate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2850"/>
                          </a:solidFill>
                          <a:latin typeface="Calibri"/>
                        </a:rPr>
                        <a:t>Two gestures look the same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crosstalk between muscles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more distinct gestures; better features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142850"/>
                          </a:solidFill>
                          <a:latin typeface="Calibri"/>
                        </a:rPr>
                        <a:t>Robot creeps at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rest isn't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300" b="0">
                          <a:solidFill>
                            <a:srgbClr val="1E1E32"/>
                          </a:solidFill>
                          <a:latin typeface="Calibri"/>
                        </a:rPr>
                        <a:t>deadband after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Fatigue Changes the Signal</a:t>
            </a:r>
          </a:p>
        </p:txBody>
      </p:sp>
      <p:pic>
        <p:nvPicPr>
          <p:cNvPr id="6" name="Picture 5" descr="fati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206240" cy="2689928"/>
          </a:xfrm>
          <a:prstGeom prst="rect">
            <a:avLst/>
          </a:prstGeom>
        </p:spPr>
      </p:pic>
      <p:sp>
        <p:nvSpPr>
          <p:cNvPr id="7" name="Diamond 6"/>
          <p:cNvSpPr/>
          <p:nvPr/>
        </p:nvSpPr>
        <p:spPr>
          <a:xfrm>
            <a:off x="4846320" y="129844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5504" y="1188720"/>
            <a:ext cx="369417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Same force, bigger signal</a:t>
            </a:r>
            <a:r>
              <a:rPr sz="1400" b="0">
                <a:solidFill>
                  <a:srgbClr val="646E82"/>
                </a:solidFill>
                <a:latin typeface="Calibri"/>
              </a:rPr>
              <a:t>: tired muscles recruit more units</a:t>
            </a:r>
          </a:p>
        </p:txBody>
      </p:sp>
      <p:sp>
        <p:nvSpPr>
          <p:cNvPr id="9" name="Diamond 8"/>
          <p:cNvSpPr/>
          <p:nvPr/>
        </p:nvSpPr>
        <p:spPr>
          <a:xfrm>
            <a:off x="4846320" y="207568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965960"/>
            <a:ext cx="369417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Lower frequencies</a:t>
            </a:r>
            <a:r>
              <a:rPr sz="1400" b="0">
                <a:solidFill>
                  <a:srgbClr val="646E82"/>
                </a:solidFill>
                <a:latin typeface="Calibri"/>
              </a:rPr>
              <a:t>: the spectrum shifts down (median frequency drops)</a:t>
            </a:r>
          </a:p>
        </p:txBody>
      </p:sp>
      <p:sp>
        <p:nvSpPr>
          <p:cNvPr id="11" name="Diamond 10"/>
          <p:cNvSpPr/>
          <p:nvPr/>
        </p:nvSpPr>
        <p:spPr>
          <a:xfrm>
            <a:off x="4846320" y="285292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2743200"/>
            <a:ext cx="369417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Your thresholds drift</a:t>
            </a:r>
            <a:r>
              <a:rPr sz="1400" b="0">
                <a:solidFill>
                  <a:srgbClr val="646E82"/>
                </a:solidFill>
                <a:latin typeface="Calibri"/>
              </a:rPr>
              <a:t>: what was “medium” at 9 am is “hard” at 3 pm</a:t>
            </a:r>
          </a:p>
        </p:txBody>
      </p:sp>
      <p:sp>
        <p:nvSpPr>
          <p:cNvPr id="13" name="Diamond 12"/>
          <p:cNvSpPr/>
          <p:nvPr/>
        </p:nvSpPr>
        <p:spPr>
          <a:xfrm>
            <a:off x="4846320" y="3630168"/>
            <a:ext cx="146304" cy="146304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3520439"/>
            <a:ext cx="369417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Plan for it</a:t>
            </a:r>
            <a:r>
              <a:rPr sz="1400" b="0">
                <a:solidFill>
                  <a:srgbClr val="646E82"/>
                </a:solidFill>
                <a:latin typeface="Calibri"/>
              </a:rPr>
              <a:t>: short breaks, quick recalibration, relative (normalised)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Try It Now (10 minutes)</a:t>
            </a:r>
          </a:p>
        </p:txBody>
      </p:sp>
      <p:pic>
        <p:nvPicPr>
          <p:cNvPr id="6" name="Picture 5" descr="viewer-e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51560"/>
            <a:ext cx="4206240" cy="2099004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7" name="Oval 6"/>
          <p:cNvSpPr/>
          <p:nvPr/>
        </p:nvSpPr>
        <p:spPr>
          <a:xfrm>
            <a:off x="484632" y="114300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" y="1472184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97280"/>
            <a:ext cx="35661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Stream: </a:t>
            </a:r>
            <a:r>
              <a:rPr sz="1200" b="0">
                <a:solidFill>
                  <a:srgbClr val="1E1E32"/>
                </a:solidFill>
                <a:latin typeface="Calibri"/>
              </a:rPr>
              <a:t>python examples/myo_lsl_publisher.py (or fake_myo_lsl.py)</a:t>
            </a:r>
          </a:p>
        </p:txBody>
      </p:sp>
      <p:sp>
        <p:nvSpPr>
          <p:cNvPr id="10" name="Oval 9"/>
          <p:cNvSpPr/>
          <p:nvPr/>
        </p:nvSpPr>
        <p:spPr>
          <a:xfrm>
            <a:off x="484632" y="182880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" y="2157984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35661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Look: </a:t>
            </a:r>
            <a:r>
              <a:rPr sz="1200" b="0">
                <a:solidFill>
                  <a:srgbClr val="1E1E32"/>
                </a:solidFill>
                <a:latin typeface="Calibri"/>
              </a:rPr>
              <a:t>lsl-web-viewer --open, tick Myo_EMG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" y="251460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" y="2843784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35661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Play: </a:t>
            </a:r>
            <a:r>
              <a:rPr sz="1200" b="0">
                <a:solidFill>
                  <a:srgbClr val="1E1E32"/>
                </a:solidFill>
                <a:latin typeface="Calibri"/>
              </a:rPr>
              <a:t>relax, fist, wave in, wave out. Which bars move?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" y="320040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" y="3529584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154680"/>
            <a:ext cx="35661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Record: </a:t>
            </a:r>
            <a:r>
              <a:rPr sz="1200" b="0">
                <a:solidFill>
                  <a:srgbClr val="1E1E32"/>
                </a:solidFill>
                <a:latin typeface="Calibri"/>
              </a:rPr>
              <a:t>label a few 5 s takes of each gesture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" y="3886200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40480"/>
            <a:ext cx="35661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Drive: </a:t>
            </a:r>
            <a:r>
              <a:rPr sz="1200" b="0">
                <a:solidFill>
                  <a:srgbClr val="1E1E32"/>
                </a:solidFill>
                <a:latin typeface="Calibri"/>
              </a:rPr>
              <a:t>python examples/myo_emg_example.py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00400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646E82"/>
                </a:solidFill>
                <a:latin typeface="Calibri"/>
              </a:rPr>
              <a:t>lsl-web-viewer: live traces + RMS bars (fake Myo shown)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Numbers to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4688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00B4C8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468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646E82"/>
                </a:solidFill>
                <a:latin typeface="Calibri"/>
              </a:rPr>
              <a:t>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887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25880"/>
            <a:ext cx="24688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00B4C8"/>
                </a:solidFill>
                <a:latin typeface="Calibri"/>
              </a:rPr>
              <a:t>200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57400"/>
            <a:ext cx="2468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646E82"/>
                </a:solidFill>
                <a:latin typeface="Calibri"/>
              </a:rPr>
              <a:t>sample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1887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25880"/>
            <a:ext cx="24688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00B4C8"/>
                </a:solidFill>
                <a:latin typeface="Calibri"/>
              </a:rPr>
              <a:t>±128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2468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646E82"/>
                </a:solidFill>
                <a:latin typeface="Calibri"/>
              </a:rPr>
              <a:t>value 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24688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00B4C8"/>
                </a:solidFill>
                <a:latin typeface="Calibri"/>
              </a:rPr>
              <a:t>200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40"/>
            <a:ext cx="2468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646E82"/>
                </a:solidFill>
                <a:latin typeface="Calibri"/>
              </a:rPr>
              <a:t>feature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8803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017520"/>
            <a:ext cx="24688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00B4C8"/>
                </a:solidFill>
                <a:latin typeface="Calibri"/>
              </a:rPr>
              <a:t>20 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749040"/>
            <a:ext cx="2468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646E82"/>
                </a:solidFill>
                <a:latin typeface="Calibri"/>
              </a:rPr>
              <a:t>send commands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8803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24688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00B4C8"/>
                </a:solidFill>
                <a:latin typeface="Calibri"/>
              </a:rPr>
              <a:t>250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749040"/>
            <a:ext cx="2468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0">
                <a:solidFill>
                  <a:srgbClr val="646E82"/>
                </a:solidFill>
                <a:latin typeface="Calibri"/>
              </a:rPr>
              <a:t>deadman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237744" cy="239572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891272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0672" y="2331720"/>
            <a:ext cx="2953512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06040"/>
            <a:ext cx="7205472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0">
                <a:solidFill>
                  <a:srgbClr val="00D2E6"/>
                </a:solidFill>
                <a:latin typeface="Calibri"/>
              </a:rPr>
              <a:t>Go look at your own muscles.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73152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8D7E6"/>
                </a:solidFill>
                <a:latin typeface="Calibri"/>
              </a:rPr>
              <a:t>Setup: STUDENT_GUIDE.md  ·  Smallest controller: examples/myo_emg_example.py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8D7E6"/>
                </a:solidFill>
                <a:latin typeface="Calibri"/>
              </a:rPr>
              <a:t>Deeper dive: electromyography.pptx on the 2026-bioradio branch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8D7E6"/>
                </a:solidFill>
                <a:latin typeface="Calibri"/>
              </a:rPr>
              <a:t>github.com/AHRTLab/Hackathon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896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